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— ESTIMATE (2 min)
Present the problem. Collect estimates only, no exact answers yet.
Anticipated: estimates clustering near 4 or 4.5.
Transition: "Let's see how close our estimates were."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— ESTIMATE (2 min)
Present the problem. Collect estimates only, no exact answers yet.
Anticipated: estimates clustering near 4 or 4.5.
Transition: "Let's see how close our estimates were."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ESTIMATE (3 min)
Walk through all three strategies, then reveal the exact answer 4.537. All three estimates should land close to it.
Common error: rounding both numbers the same direction and getting an estimate that's off by more than a whole number.
Transition: "Let's name the rule behind estimating first."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ESTIMATE (3 min)
Walk through all three strategies, then reveal the exact answer 4.537. All three estimates should land close to it.
Common error: rounding both numbers the same direction and getting an estimate that's off by more than a whole number.
Transition: "Let's name the rule behind estimating first."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Introduce the lesson: today we subtract decimals and regroup, or trade, when a place doesn't have enough.
Transition: "Let's look at our goal for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statement aloud. Emphasize "trade," not "borrow" -- the value never changes, only its form.
Transition: "Before we subtract decimals, let's warm up the skills we'll need."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These review whole-number borrowing, writing equivalent decimals with trailing zeros, and comparing decimal size -- all needed for today.
Anticipated: 262 with a regroup from hundreds to tens; 4.50; 3.8 is greater.
Common error: students may think 3.08 &gt; 3.8 because 08 looks like more digits.
Transition: "Today's trading works the very same way, just with decimal places."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Set the real-world stage: a pharmacist removing exact decimal amounts.
Anticipated: mixed guesses -- some students will connect this to "borrowing."
Transition: "Let's notice and wonder about removing decimal pieces before we build the model."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Let students notice the shortage in the thousandths place before guiding.
Anticipated notices: "4 is less than 6"; wonders: "where do you get more thousandths from?"
Transition: "Let's build this with a hands-on model."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Shade 84 cells, then physically cross out the last 37 shaded cells to remove 0.37, leaving 47 shaded. The crossing-out spills from one tenths-row into the row above it -- that crossing IS the regroup.
Anticipated: "we crossed into the 7th row."
Common error: crossing out the wrong end of the shaded region (should remove from the highest-numbered shaded cells).
Transition: "Now let's zoom in on a trickier trade, down at the thousandths place."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Zoom into the thousandths place for 3.204 minus 1.586. First show only 4 thousandths -- not enough. Then show the trade: 1 hundredth becomes 10 thousandths, making 14, so 6 can be removed leaving 8.
Anticipated: students connect this to the written borrow-the-1 step.
Common error: subtracting 6 − 4 backward instead of trading first.
Transition: "Let's name the rule that makes this work every time."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(3 min)
State the rule in words, then show the written vertical method with today's own worked example.
Anticipated: students connect the trade language directly to "borrowing."
Common error: subtracting the smaller digit from the larger digit regardless of which number it's in (e.g. 6 − 4 instead of trading).
Transition: "Let's build the vocabulary we'll use to talk about this."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term, definition, and example aloud. Point back to the grids and vertical algorithm from prior slides.
Transition: "Let's use these words while we work through a guided problem."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(3 min)
Work this aloud step by step: thousandths 3−7 not enough, hundredths is 0 so trade a tenth into 10 hundredths first, then trade 1 hundredth into 10 thousandths -- 13−7=6; hundredths 9−6=3; tenths 3−1=2; ones 8−5=3. Answer 3.236.
Anticipated error: stopping after one trade when two are needed.
Transition: "Now let's look at two trickier problem types from your practice set."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(4 min)
Cover both remaining IP problem types together: subtracting a decimal from a whole number, and an applied unequal-decimal-place problem.
Anticipated error: treating 20 as having no decimal places to trade from.
Transition: "Your turn — try a problem like this on your own."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
Students work independently, then respond in chat. Correct difference: 6.688 liters, trading first at the thousandths place (18.060 − 11.372).
Anticipated error: forgetting to write 18.06 as 18.060 before subtracting.
Transition: "Here's where this model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the next lesson on multiplying by 0.1 and 0.01.
Transition: "Let's check what you know before we go."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is the same idea as the applied wood problem and the whole-number problem from Guided Practice B: adding trailing zeros never changes value, it only fills in place-value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is the same idea as the applied wood problem and the whole-number problem from Guided Practice B: adding trailing zeros never changes value, it only fills in place-value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DISMISSAL (1 min)
Review the three tasks. Remind students the IP includes both a whole-number-minus-decimal problem and a reasoning question about trailing zeros.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5.10.02 · Estimating Decimal Differences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7.402 − 2.865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Round both numbers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7.402 rounds to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2.865 rounds to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7 − 3 = 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Use compatible numbers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7.4 and 2.9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7.4 − 2.9 = 4.5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Front-end estimate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whole numbers: 7 and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7 − 2 = 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4.537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you subtract decimals, first estimate so you can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before you subtract decimals lets you check that your exact answer is reasonable.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9.15 − 4.6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Exact: 4.55 (estimate about 4 — close, so the exact answer is reasonable)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5.10.02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Subtracting Decimals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10 · The Four Operations of Decimals · Lesson 2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MA.5.NSO.2.3   ·   MTR.2.1   ·   MTR.5.1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subtract decimals by removing matching place values and trading a larger piece for smaller pieces when a place runs out.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a decimal place does not have enough pieces, trade a larger piece for 10 smaller pieces.”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500 − 238 = ? Show where you regrouped.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48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Write 4.5 with a zero in the hundredths place.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46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Which is greater: 3.08 or 3.8?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World · Pharmacy Solution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pharmacist starts with 3.5 liters of solution and pours off exact amounts to fill prescriptions, then needs to know how much solution remains.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predict — will the pharmacist ever need to trade a bigger unit for smaller ones to pour off an amount, and why?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Subtracting Decimals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3.204 liters and need to remove 1.586 liters. What might be hard about removing 6 thousandths when you only see 4 thousandths?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Remove From the Grid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9384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9696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0008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216152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8136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98448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8760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19072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9384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39696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0008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1426464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8136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98448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08760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19072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9384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39696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50008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1636776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7824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98448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08760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19072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9384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9696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50008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1847088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7824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88136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98448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508760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19072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9384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39696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50008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2057400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67512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88136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98448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08760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719072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29384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39696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50008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200" y="2267712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7200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7512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7824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88136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298448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508760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719072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29384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39696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50008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7200" y="2478024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7200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67512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77824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88136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298448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08760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719072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29384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39696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350008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57200" y="2688336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57200" y="268833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7512" y="268833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77824" y="268833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88136" y="268833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298448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508760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19072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929384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139696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350008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57200" y="2898648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57200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67512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7824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88136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298448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508760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719072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29384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139696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350008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57200" y="3108960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57200" y="1005840"/>
            <a:ext cx="2103120" cy="21031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57200" y="31821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Start: 0.84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3017520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227832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438144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648456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858768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069080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279392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489704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00016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910328" y="100584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017520" y="1216152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017520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227832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438144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648456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858768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069080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279392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489704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00016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910328" y="121615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017520" y="1426464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017520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27832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438144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648456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858768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069080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279392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489704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700016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910328" y="142646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017520" y="1636776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017520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227832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438144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648456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858768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069080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79392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489704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700016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910328" y="163677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017520" y="1847088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017520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227832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438144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648456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858768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069080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279392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489704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700016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910328" y="1847088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017520" y="2057400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017520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227832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438144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648456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858768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069080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279392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489704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700016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910328" y="2057400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017520" y="2267712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017520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227832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438144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648456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858768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069080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279392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489704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700016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910328" y="2267712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017520" y="2478024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017520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227832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438144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648456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858768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069080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279392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489704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700016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910328" y="2478024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017520" y="2688336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017520" y="268833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227832" y="268833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438144" y="268833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648456" y="2688336"/>
            <a:ext cx="210312" cy="210312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3858768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069080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279392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489704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700016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910328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017520" y="2898648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017520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227832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438144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648456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858768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069080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279392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489704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700016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910328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3017520" y="3108960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3017520" y="1005840"/>
            <a:ext cx="2103120" cy="21031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3017520" y="31821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Remove 0.37 (crossed out)</a:t>
            </a:r>
            <a:endParaRPr lang="en-US" sz="1100" dirty="0"/>
          </a:p>
        </p:txBody>
      </p:sp>
      <p:sp>
        <p:nvSpPr>
          <p:cNvPr id="230" name="Shape 228"/>
          <p:cNvSpPr/>
          <p:nvPr/>
        </p:nvSpPr>
        <p:spPr>
          <a:xfrm>
            <a:off x="4514941" y="1872325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flipV="1">
            <a:off x="4514941" y="2032163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725253" y="1872325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flipV="1">
            <a:off x="4725253" y="2032163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935565" y="1872325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flipV="1">
            <a:off x="4935565" y="2032163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3042757" y="2082637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flipV="1">
            <a:off x="3042757" y="2242475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3253069" y="2082637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flipV="1">
            <a:off x="3253069" y="2242475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3463381" y="2082637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flipV="1">
            <a:off x="3463381" y="2242475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673693" y="2082637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 flipV="1">
            <a:off x="3673693" y="2242475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884005" y="2082637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 flipV="1">
            <a:off x="3884005" y="2242475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094317" y="2082637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flipV="1">
            <a:off x="4094317" y="2242475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4304629" y="2082637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 flipV="1">
            <a:off x="4304629" y="2242475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514941" y="2082637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flipV="1">
            <a:off x="4514941" y="2242475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725253" y="2082637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flipV="1">
            <a:off x="4725253" y="2242475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935565" y="2082637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 flipV="1">
            <a:off x="4935565" y="2242475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3042757" y="2292949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 flipV="1">
            <a:off x="3042757" y="2452787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253069" y="2292949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 flipV="1">
            <a:off x="3253069" y="2452787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3463381" y="2292949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 flipV="1">
            <a:off x="3463381" y="2452787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3673693" y="2292949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flipV="1">
            <a:off x="3673693" y="2452787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3884005" y="2292949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 flipV="1">
            <a:off x="3884005" y="2452787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094317" y="2292949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 flipV="1">
            <a:off x="4094317" y="2452787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4304629" y="2292949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 flipV="1">
            <a:off x="4304629" y="2452787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514941" y="2292949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 flipV="1">
            <a:off x="4514941" y="2452787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4725253" y="2292949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 flipV="1">
            <a:off x="4725253" y="2452787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4935565" y="2292949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 flipV="1">
            <a:off x="4935565" y="2452787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3042757" y="2503261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 flipV="1">
            <a:off x="3042757" y="2663099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253069" y="2503261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 flipV="1">
            <a:off x="3253069" y="2663099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463381" y="2503261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 flipV="1">
            <a:off x="3463381" y="2663099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3673693" y="2503261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flipV="1">
            <a:off x="3673693" y="2663099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3884005" y="2503261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 flipV="1">
            <a:off x="3884005" y="2663099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4094317" y="2503261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 flipV="1">
            <a:off x="4094317" y="2663099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4304629" y="2503261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flipV="1">
            <a:off x="4304629" y="2663099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4514941" y="2503261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 flipV="1">
            <a:off x="4514941" y="2663099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4725253" y="2503261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 flipV="1">
            <a:off x="4725253" y="2663099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4935565" y="2503261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 flipV="1">
            <a:off x="4935565" y="2663099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3042757" y="2713573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 flipV="1">
            <a:off x="3042757" y="2873411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3253069" y="2713573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 flipV="1">
            <a:off x="3253069" y="2873411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3463381" y="2713573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 flipV="1">
            <a:off x="3463381" y="2873411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3673693" y="2713573"/>
            <a:ext cx="159837" cy="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 flipV="1">
            <a:off x="3673693" y="2873411"/>
            <a:ext cx="159837" cy="-159837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577840" y="1005840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788152" y="1005840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998464" y="1005840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6208776" y="1005840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6419088" y="1005840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6629400" y="1005840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6839712" y="1005840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7050024" y="1005840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7260336" y="1005840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7470648" y="1005840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577840" y="1216152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5577840" y="1216152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5788152" y="1216152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5998464" y="1216152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6208776" y="1216152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6419088" y="1216152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6629400" y="1216152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6839712" y="1216152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7050024" y="1216152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7260336" y="1216152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7470648" y="1216152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5577840" y="1426464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5577840" y="1426464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5788152" y="1426464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5998464" y="1426464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6208776" y="1426464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6419088" y="1426464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6629400" y="1426464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839712" y="1426464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7050024" y="1426464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7260336" y="1426464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7470648" y="1426464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5577840" y="1636776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5577840" y="1636776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5788152" y="1636776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5998464" y="1636776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208776" y="1636776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419088" y="1636776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6629400" y="1636776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839712" y="1636776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050024" y="1636776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260336" y="1636776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7470648" y="1636776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5577840" y="1847088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5577840" y="1847088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5788152" y="1847088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5998464" y="1847088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208776" y="1847088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6419088" y="1847088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629400" y="1847088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839712" y="1847088"/>
            <a:ext cx="210312" cy="210312"/>
          </a:xfrm>
          <a:prstGeom prst="rect">
            <a:avLst/>
          </a:prstGeom>
          <a:solidFill>
            <a:srgbClr val="2E6E4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7050024" y="184708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7260336" y="184708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7470648" y="184708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5577840" y="2057400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5577840" y="2057400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5788152" y="2057400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5998464" y="2057400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6208776" y="2057400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6419088" y="2057400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6629400" y="2057400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6839712" y="2057400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7050024" y="2057400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7260336" y="2057400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7470648" y="2057400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5577840" y="2267712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5577840" y="2267712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5788152" y="2267712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5998464" y="2267712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6208776" y="2267712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6419088" y="2267712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6629400" y="2267712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6839712" y="2267712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7050024" y="2267712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7260336" y="2267712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7470648" y="2267712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5577840" y="2478024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5577840" y="2478024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5788152" y="2478024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5998464" y="2478024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6208776" y="2478024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6419088" y="2478024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6629400" y="2478024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6839712" y="2478024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050024" y="2478024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260336" y="2478024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7470648" y="2478024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5577840" y="2688336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5577840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5788152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5998464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6208776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6419088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6629400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6839712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050024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7260336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7470648" y="2688336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5577840" y="2898648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5577840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5788152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5998464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6208776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6419088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6629400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6839712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050024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7260336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470648" y="2898648"/>
            <a:ext cx="210312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5577840" y="3108960"/>
            <a:ext cx="2103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5577840" y="1005840"/>
            <a:ext cx="2103120" cy="21031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415" name="Text 413"/>
          <p:cNvSpPr/>
          <p:nvPr/>
        </p:nvSpPr>
        <p:spPr>
          <a:xfrm>
            <a:off x="5577840" y="31821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Left: 0.47</a:t>
            </a:r>
            <a:endParaRPr lang="en-US" sz="1100" dirty="0"/>
          </a:p>
        </p:txBody>
      </p:sp>
      <p:sp>
        <p:nvSpPr>
          <p:cNvPr id="416" name="Shape 414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17" name="Text 415"/>
          <p:cNvSpPr/>
          <p:nvPr/>
        </p:nvSpPr>
        <p:spPr>
          <a:xfrm>
            <a:off x="640080" y="34930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the last 37 shaded cells crosses out of the 8th row into the 7th row — that crossing is the same trade the written method calls "regrouping." 0.84 − 0.37 = 0.47</a:t>
            </a:r>
            <a:endParaRPr lang="en-US" sz="1300" dirty="0"/>
          </a:p>
        </p:txBody>
      </p:sp>
      <p:sp>
        <p:nvSpPr>
          <p:cNvPr id="418" name="Shape 416"/>
          <p:cNvSpPr/>
          <p:nvPr/>
        </p:nvSpPr>
        <p:spPr>
          <a:xfrm>
            <a:off x="914400" y="44348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419" name="Text 417"/>
          <p:cNvSpPr/>
          <p:nvPr/>
        </p:nvSpPr>
        <p:spPr>
          <a:xfrm>
            <a:off x="914400" y="4434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row's cells did we have to cross into?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Zoom to the Thousandths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868680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868680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868680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868680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868680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868680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7008" y="868680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6736" y="868680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26464" y="868680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36192" y="868680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978408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978408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978408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978408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978408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978408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978408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7008" y="978408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16736" y="978408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26464" y="978408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36192" y="978408"/>
            <a:ext cx="109728" cy="109728"/>
          </a:xfrm>
          <a:prstGeom prst="rect">
            <a:avLst/>
          </a:prstGeom>
          <a:solidFill>
            <a:srgbClr val="4A3D8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1088136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108813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108813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108813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108813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7552" y="108813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108813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07008" y="108813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16736" y="108813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26464" y="108813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36192" y="108813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1197864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119786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" y="119786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" y="119786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" y="119786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7552" y="119786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7280" y="119786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07008" y="119786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119786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119786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36192" y="119786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1307592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130759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" y="130759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8096" y="130759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" y="130759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7552" y="130759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97280" y="130759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07008" y="130759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16736" y="130759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26464" y="130759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36192" y="130759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" y="1417320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141732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8368" y="141732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8096" y="141732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141732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87552" y="141732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97280" y="141732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207008" y="141732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16736" y="141732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26464" y="141732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536192" y="141732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8640" y="1527048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8640" y="152704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58368" y="152704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68096" y="152704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77824" y="152704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7552" y="152704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97280" y="152704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207008" y="152704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16736" y="152704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426464" y="152704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536192" y="152704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640" y="1636776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" y="163677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58368" y="163677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8096" y="163677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77824" y="163677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87552" y="163677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97280" y="163677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207008" y="163677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16736" y="163677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26464" y="163677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536192" y="163677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48640" y="1746504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48640" y="174650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58368" y="174650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8096" y="174650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7824" y="174650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87552" y="174650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97280" y="174650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07008" y="174650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316736" y="174650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26464" y="174650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536192" y="174650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48640" y="1856232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48640" y="185623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58368" y="185623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68096" y="185623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185623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87552" y="185623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97280" y="185623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207008" y="185623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16736" y="185623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426464" y="185623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536192" y="185623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48640" y="1965960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48640" y="868680"/>
            <a:ext cx="1097280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48640" y="20391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3.204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548640" y="1088136"/>
            <a:ext cx="109728" cy="109728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58368" y="1088136"/>
            <a:ext cx="3364992" cy="32004"/>
          </a:xfrm>
          <a:prstGeom prst="line">
            <a:avLst/>
          </a:prstGeom>
          <a:noFill/>
          <a:ln w="19050">
            <a:solidFill>
              <a:srgbClr val="D9941A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658368" y="1197864"/>
            <a:ext cx="3364992" cy="516636"/>
          </a:xfrm>
          <a:prstGeom prst="line">
            <a:avLst/>
          </a:prstGeom>
          <a:noFill/>
          <a:ln w="19050">
            <a:solidFill>
              <a:srgbClr val="D9941A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4023360" y="1120140"/>
            <a:ext cx="420624" cy="594360"/>
          </a:xfrm>
          <a:prstGeom prst="rect">
            <a:avLst/>
          </a:prstGeom>
          <a:solidFill>
            <a:srgbClr val="4A3D8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443984" y="1120140"/>
            <a:ext cx="420624" cy="594360"/>
          </a:xfrm>
          <a:prstGeom prst="rect">
            <a:avLst/>
          </a:prstGeom>
          <a:solidFill>
            <a:srgbClr val="4A3D8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864608" y="1120140"/>
            <a:ext cx="420624" cy="594360"/>
          </a:xfrm>
          <a:prstGeom prst="rect">
            <a:avLst/>
          </a:prstGeom>
          <a:solidFill>
            <a:srgbClr val="4A3D8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285232" y="1120140"/>
            <a:ext cx="420624" cy="594360"/>
          </a:xfrm>
          <a:prstGeom prst="rect">
            <a:avLst/>
          </a:prstGeom>
          <a:solidFill>
            <a:srgbClr val="4A3D8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705856" y="1120140"/>
            <a:ext cx="42062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26480" y="1120140"/>
            <a:ext cx="42062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547104" y="1120140"/>
            <a:ext cx="42062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967728" y="1120140"/>
            <a:ext cx="42062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388352" y="1120140"/>
            <a:ext cx="42062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808976" y="1120140"/>
            <a:ext cx="42062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023360" y="1120140"/>
            <a:ext cx="420624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023360" y="17876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Only 4 thousandths — not enough to remove 6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548640" y="2514600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8368" y="2514600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68096" y="2514600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77824" y="2514600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87552" y="2514600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97280" y="2514600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207008" y="2514600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16736" y="2514600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426464" y="2514600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536192" y="2514600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48640" y="2624328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48640" y="2624328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58368" y="2624328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68096" y="2624328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77824" y="2624328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87552" y="2624328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97280" y="2624328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207008" y="2624328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316736" y="2624328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426464" y="2624328"/>
            <a:ext cx="109728" cy="109728"/>
          </a:xfrm>
          <a:prstGeom prst="rect">
            <a:avLst/>
          </a:prstGeom>
          <a:solidFill>
            <a:srgbClr val="D9941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536192" y="262432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8640" y="2734056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8640" y="273405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58368" y="273405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68096" y="273405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77824" y="273405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87552" y="273405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97280" y="273405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207008" y="273405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316736" y="273405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426464" y="273405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536192" y="273405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8640" y="2843784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48640" y="284378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58368" y="284378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68096" y="284378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77824" y="284378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87552" y="284378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97280" y="284378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207008" y="284378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316736" y="284378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426464" y="284378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536192" y="284378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48640" y="2953512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48640" y="295351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58368" y="295351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68096" y="295351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77824" y="295351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87552" y="295351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97280" y="295351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207008" y="295351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316736" y="295351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426464" y="295351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536192" y="295351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48640" y="3063240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48640" y="306324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8368" y="306324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68096" y="306324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77824" y="306324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87552" y="306324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97280" y="306324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207008" y="306324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316736" y="306324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426464" y="306324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536192" y="3063240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48640" y="3172968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48640" y="317296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58368" y="317296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8096" y="317296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77824" y="317296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87552" y="317296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97280" y="317296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207008" y="317296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316736" y="317296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426464" y="317296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536192" y="3172968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48640" y="3282696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548640" y="328269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58368" y="328269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68096" y="328269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77824" y="328269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87552" y="328269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97280" y="328269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207008" y="328269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316736" y="328269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426464" y="328269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536192" y="3282696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548640" y="3392424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548640" y="339242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58368" y="339242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68096" y="339242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77824" y="339242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87552" y="339242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97280" y="339242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207008" y="339242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316736" y="339242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426464" y="339242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536192" y="3392424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548640" y="3502152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548640" y="350215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58368" y="350215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68096" y="350215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77824" y="350215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87552" y="350215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97280" y="350215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207008" y="350215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316736" y="350215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426464" y="350215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536192" y="3502152"/>
            <a:ext cx="109728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548640" y="2514600"/>
            <a:ext cx="1097280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548640" y="3685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Trade 1 hundredth to 10 thousandths</a:t>
            </a:r>
            <a:endParaRPr lang="en-US" sz="1100" dirty="0"/>
          </a:p>
        </p:txBody>
      </p:sp>
      <p:sp>
        <p:nvSpPr>
          <p:cNvPr id="245" name="Shape 243"/>
          <p:cNvSpPr/>
          <p:nvPr/>
        </p:nvSpPr>
        <p:spPr>
          <a:xfrm>
            <a:off x="1536192" y="2624328"/>
            <a:ext cx="109728" cy="109728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D9941A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645920" y="2624328"/>
            <a:ext cx="2377440" cy="141732"/>
          </a:xfrm>
          <a:prstGeom prst="line">
            <a:avLst/>
          </a:prstGeom>
          <a:noFill/>
          <a:ln w="19050">
            <a:solidFill>
              <a:srgbClr val="D9941A"/>
            </a:solidFill>
            <a:prstDash val="dash"/>
          </a:ln>
        </p:spPr>
      </p:sp>
      <p:sp>
        <p:nvSpPr>
          <p:cNvPr id="247" name="Shape 245"/>
          <p:cNvSpPr/>
          <p:nvPr/>
        </p:nvSpPr>
        <p:spPr>
          <a:xfrm>
            <a:off x="1645920" y="2734056"/>
            <a:ext cx="2377440" cy="626364"/>
          </a:xfrm>
          <a:prstGeom prst="line">
            <a:avLst/>
          </a:prstGeom>
          <a:noFill/>
          <a:ln w="19050">
            <a:solidFill>
              <a:srgbClr val="D9941A"/>
            </a:solidFill>
            <a:prstDash val="dash"/>
          </a:ln>
        </p:spPr>
      </p:sp>
      <p:sp>
        <p:nvSpPr>
          <p:cNvPr id="248" name="Shape 246"/>
          <p:cNvSpPr/>
          <p:nvPr/>
        </p:nvSpPr>
        <p:spPr>
          <a:xfrm>
            <a:off x="4023360" y="2766060"/>
            <a:ext cx="420624" cy="594360"/>
          </a:xfrm>
          <a:prstGeom prst="rect">
            <a:avLst/>
          </a:prstGeom>
          <a:solidFill>
            <a:srgbClr val="D9941A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443984" y="2766060"/>
            <a:ext cx="420624" cy="594360"/>
          </a:xfrm>
          <a:prstGeom prst="rect">
            <a:avLst/>
          </a:prstGeom>
          <a:solidFill>
            <a:srgbClr val="D9941A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864608" y="2766060"/>
            <a:ext cx="420624" cy="594360"/>
          </a:xfrm>
          <a:prstGeom prst="rect">
            <a:avLst/>
          </a:prstGeom>
          <a:solidFill>
            <a:srgbClr val="D9941A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5285232" y="2766060"/>
            <a:ext cx="420624" cy="594360"/>
          </a:xfrm>
          <a:prstGeom prst="rect">
            <a:avLst/>
          </a:prstGeom>
          <a:solidFill>
            <a:srgbClr val="D9941A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5705856" y="2766060"/>
            <a:ext cx="420624" cy="594360"/>
          </a:xfrm>
          <a:prstGeom prst="rect">
            <a:avLst/>
          </a:prstGeom>
          <a:solidFill>
            <a:srgbClr val="D9941A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126480" y="2766060"/>
            <a:ext cx="420624" cy="594360"/>
          </a:xfrm>
          <a:prstGeom prst="rect">
            <a:avLst/>
          </a:prstGeom>
          <a:solidFill>
            <a:srgbClr val="D9941A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547104" y="2766060"/>
            <a:ext cx="420624" cy="594360"/>
          </a:xfrm>
          <a:prstGeom prst="rect">
            <a:avLst/>
          </a:prstGeom>
          <a:solidFill>
            <a:srgbClr val="D9941A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967728" y="2766060"/>
            <a:ext cx="420624" cy="594360"/>
          </a:xfrm>
          <a:prstGeom prst="rect">
            <a:avLst/>
          </a:prstGeom>
          <a:solidFill>
            <a:srgbClr val="D9941A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388352" y="2766060"/>
            <a:ext cx="420624" cy="594360"/>
          </a:xfrm>
          <a:prstGeom prst="rect">
            <a:avLst/>
          </a:prstGeom>
          <a:solidFill>
            <a:srgbClr val="D9941A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808976" y="2766060"/>
            <a:ext cx="420624" cy="594360"/>
          </a:xfrm>
          <a:prstGeom prst="rect">
            <a:avLst/>
          </a:prstGeom>
          <a:solidFill>
            <a:srgbClr val="D9941A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023360" y="2766060"/>
            <a:ext cx="420624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023360" y="34335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Now 14 thousandths — remove 6, leaving 8</a:t>
            </a:r>
            <a:endParaRPr lang="en-US" sz="1100" dirty="0"/>
          </a:p>
        </p:txBody>
      </p:sp>
      <p:sp>
        <p:nvSpPr>
          <p:cNvPr id="260" name="Shape 258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thousandths isn't enough to remove 6 — trade 1 hundredth for 10 thousandths, then remove 6, leaving 8.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The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up the decimal points so every place value lines up in its own column. Subtract each place from right to left. If a place does not have enough, trade 1 from the next larger place for 10 of the smaller place.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14600" y="26060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6974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3.204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− 1.586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———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1.618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result when one number is subtracted from another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3.204 − 1.586 = 1.618 — 1.618 is the difference.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332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regroup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trade 1 larger piece for 10 smaller pieces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1 hundredth trades for 10 thousandths.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163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amount you start with in subtraction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in 3.204 − 1.586, the minuend is 3.204.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163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subtrahend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amount you remove in subtraction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7490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in 3.204 − 1.586, the subtrahend is 1.586.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Teacher-Led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44752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8.403 − 5.167 = 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14600" y="24688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5603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8.403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− 5.167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———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3.236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Two Problem Types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87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Subtracting From a Whole Number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20 − 7.346 = 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20.000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 7.346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———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12.654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3246120"/>
          </a:xfrm>
          <a:prstGeom prst="roundRect">
            <a:avLst>
              <a:gd name="adj" fmla="val 281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87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Applied: Cutting Wood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board is 3.5 m. Leo cuts off 1.875 m.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is left?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3.500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− 1.875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———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1.625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425196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</a:rPr>
              <a:t>Writing a whole number as 20.000 or a shorter decimal as 3.500 doesn't change the value — it just gives every place something to trade from.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Student-Led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juice pitcher holds 18.06 liters. After pouring servings, 11.372 liters are used. How many liters are left?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difference AND which place value you had to trade first.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Comes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you will see why multiplying by 0.1 or 0.01 can make a number smaller — same place-value thinking, different operation.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helpful to write 6.4 as 6.400 before subtracting 6.4 − 2.375?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It gives every place a digit to subtract from, without changing the value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21031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It makes the number bigger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0" y="21031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It rounds to the nearest thousandth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21031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031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It turns 6.4 into a whole number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helpful to write 6.4 as 6.400 before subtracting 6.4 − 2.375?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It gives every place a digit to subtract from, without changing the value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21031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It makes the number bigger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0" y="21031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It rounds to the nearest thousandth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21031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031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It turns 6.4 into a whole number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Writing 6.400 doesn't change the value of 6.4 — it just fills in the hundredths and thousandths places so every column has a digit to subtract.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every trade we made today opened one bigger piece into ten smaller ones — the total value never changed, only its shape.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checked 3.236 by adding it back to 5.167, and it rebuilt 8.403, so I knew the subtraction was right.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peeling open a tenths piece into ten hundredths pieces whenever a column comes up short.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trade moves value from a larger place to a smaller place — it never adds or removes value from the whole number.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Subtracting Decimals (5 problems)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checks in the online lesson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Be ready to explain why writing extra zeros doesn't change a decimal's value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5.10.02 Subtracting Decimals — Teacher Slides</dc:title>
  <dc:subject>PptxGenJS Presentation</dc:subject>
  <dc:creator>PptxGenJS</dc:creator>
  <cp:lastModifiedBy>PptxGenJS</cp:lastModifiedBy>
  <cp:revision>1</cp:revision>
  <dcterms:created xsi:type="dcterms:W3CDTF">2026-09-24T16:00:45Z</dcterms:created>
  <dcterms:modified xsi:type="dcterms:W3CDTF">2026-09-24T16:00:45Z</dcterms:modified>
</cp:coreProperties>
</file>