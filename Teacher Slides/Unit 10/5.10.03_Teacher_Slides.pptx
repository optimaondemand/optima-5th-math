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(5-7 min). 82 x 0.1 uses different numbers than the lesson's own 4.6 example. Give 60 seconds of silent think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(5-7 min). 82 x 0.1 uses different numbers than the lesson's own 4.6 example. Give 60 seconds of silent think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name it as 'one tenth of' rather than 'ten groups of' -- this is the misconception the lesson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name it as 'one tenth of' rather than 'ten groups of' -- this is the misconception the lesson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(1 min)
Today: multiplying by 0.1 or 0.01 -- a factor less than one shrinks the product.
Transition: "Let's look at today's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(1 min)
Read the I Can aloud. Preview the key idea: multiplying by a factor less than one takes part of the number.
Transition: "Let's check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(3 min)
Surface the ÷10 / ÷100 connection before the lesson names it directly.
Anticipated: 4 and 3.
Common error: confusing 'tenth of' with 'times ten'.
Transition: "Let's notice and wonder."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
Ground the shrink idea in a discount scenario.
Anticipated: 'less, because you're taking a small part.'
Transition: "Let's notice and wonder about 4.6 x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&amp; WONDER (2 min)
Give silent think time before chat.
Anticipated notice: '0.1 is less than 1'. Anticipated wonder: 'will the answer be bigger or smaller?'
Transition: "Let's watch the digits move on the place-value 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(4 min)
Walk the yellow arrows: the 5 slides from tens into ones, the 8 slides from ones into tenths. Point out this is the mirror image of Unit 9's x10 mat, where digits slid left.
Common error: sliding digits left out of habit from whole-number multiplication.
Transition: "Now watch what happens with ×0.01."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PICTORIAL (3 min)
Same starting number, 58, now multiplied by 0.01 instead of 0.1 -- lets students directly compare a one-place shift to a two-place shift.
Anticipated: 'two places'.
Transition: "Let's name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(2 min)
State the rule using decimal-point language now that students have seen the digit-shift mechanism.
Anticipated: 'two places'.
Transition: "Let's name today's key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(2 min)
Read each term, pointing back to the shift mat for 'one tenth' and 'one hundredth'.
Transition: "Let's work an example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A (4 min)
Model both problems side by side so students see the same starting number handled two different ways.
Common error: forgetting the ones digit needs a new zero placeholder in the ×0.01 case (0.076, not 0.76).
Transition: "Now let's try a whole number with no decimal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B (3 min) -- gap-fill: the IP's Applied problem uses a whole-number price (no starting decimal point), which the HTML worked example (7.6) doesn't cover. This slide models that case explicitly.
Common error: writing '.90' or '9.0' instead of correctly placing both shifted digits.
Transition: "Your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TRY (3 min)
Students solve 120 × 0.01 independently, then share in chat.
Anticipated: 1.2 grams.
Common error: answering 12 (only shifting one place) instead of 1.2 (two places).
Transition: "Where does this lead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FORWARD (1 min)
Preview tomorrow's area-model lesson -- the tenths/hundredths reasoning from today carries directly forward.
Transition: "Let's check what you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This checks whether students shift digits the correct number of places when the starting number already has a decimal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This checks whether students shift digits the correct number of places when the starting number already has a decimal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DISMISSAL (1 min)
Confirm the IP assignment and remind students to gather their journal before logging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182880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182880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TALK</a:t>
            </a:r>
            <a:endParaRPr lang="en-US" sz="800" dirty="0"/>
          </a:p>
        </p:txBody>
      </p:sp>
      <p:sp>
        <p:nvSpPr>
          <p:cNvPr id="5" name="Shape 3"/>
          <p:cNvSpPr/>
          <p:nvPr/>
        </p:nvSpPr>
        <p:spPr>
          <a:xfrm>
            <a:off x="2029968" y="164592"/>
            <a:ext cx="667512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029968" y="164592"/>
            <a:ext cx="6675120" cy="292608"/>
          </a:xfrm>
          <a:prstGeom prst="rect">
            <a:avLst/>
          </a:prstGeom>
          <a:noFill/>
          <a:ln/>
        </p:spPr>
        <p:txBody>
          <a:bodyPr wrap="square" lIns="0" tIns="0" rIns="0" bIns="0" rtlCol="0" anchor="ctr"/>
          <a:lstStyle/>
          <a:p>
            <a:pPr indent="0" marL="0">
              <a:buNone/>
            </a:pPr>
            <a:r>
              <a:rPr lang="en-US" sz="900" dirty="0">
                <a:solidFill>
                  <a:srgbClr val="FFFFFF"/>
                </a:solidFill>
              </a:rPr>
              <a:t>  ·  5.10.03 · Shrinking Products</a:t>
            </a:r>
            <a:endParaRPr lang="en-US" sz="900" dirty="0"/>
          </a:p>
        </p:txBody>
      </p:sp>
      <p:sp>
        <p:nvSpPr>
          <p:cNvPr id="7" name="Text 5"/>
          <p:cNvSpPr/>
          <p:nvPr/>
        </p:nvSpPr>
        <p:spPr>
          <a:xfrm>
            <a:off x="457200" y="1097280"/>
            <a:ext cx="8229600" cy="237744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82 × 0.1</a:t>
            </a:r>
            <a:endParaRPr lang="en-US" sz="4400" dirty="0"/>
          </a:p>
        </p:txBody>
      </p:sp>
      <p:sp>
        <p:nvSpPr>
          <p:cNvPr id="8" name="Text 6"/>
          <p:cNvSpPr/>
          <p:nvPr/>
        </p:nvSpPr>
        <p:spPr>
          <a:xfrm>
            <a:off x="457200" y="3931920"/>
            <a:ext cx="8229600" cy="640080"/>
          </a:xfrm>
          <a:prstGeom prst="rect">
            <a:avLst/>
          </a:prstGeom>
          <a:noFill/>
          <a:ln/>
        </p:spPr>
        <p:txBody>
          <a:bodyPr wrap="square" lIns="0" tIns="0" rIns="0" bIns="0" rtlCol="0" anchor="ctr"/>
          <a:lstStyle/>
          <a:p>
            <a:pPr algn="ctr" indent="0" marL="0">
              <a:buNone/>
            </a:pPr>
            <a:r>
              <a:rPr lang="en-US" sz="1500" i="1" dirty="0">
                <a:solidFill>
                  <a:srgbClr val="8899BB"/>
                </a:solidFill>
              </a:rPr>
              <a:t>What do you notice? What strategies come to mind?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Strategy Gallery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Number Talk</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2560320" cy="3474720"/>
          </a:xfrm>
          <a:prstGeom prst="roundRect">
            <a:avLst>
              <a:gd name="adj" fmla="val 3571"/>
            </a:avLst>
          </a:prstGeom>
          <a:solidFill>
            <a:srgbClr val="FFFFFF"/>
          </a:solidFill>
          <a:ln w="6350">
            <a:solidFill>
              <a:srgbClr val="DDDDEE"/>
            </a:solidFill>
            <a:prstDash val="solid"/>
          </a:ln>
        </p:spPr>
      </p:sp>
      <p:sp>
        <p:nvSpPr>
          <p:cNvPr id="7" name="Text 5"/>
          <p:cNvSpPr/>
          <p:nvPr/>
        </p:nvSpPr>
        <p:spPr>
          <a:xfrm>
            <a:off x="5943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Mental math</a:t>
            </a:r>
            <a:endParaRPr lang="en-US" sz="1300" dirty="0"/>
          </a:p>
        </p:txBody>
      </p:sp>
      <p:sp>
        <p:nvSpPr>
          <p:cNvPr id="8" name="Shape 6"/>
          <p:cNvSpPr/>
          <p:nvPr/>
        </p:nvSpPr>
        <p:spPr>
          <a:xfrm>
            <a:off x="594360" y="1508760"/>
            <a:ext cx="2286000" cy="0"/>
          </a:xfrm>
          <a:prstGeom prst="line">
            <a:avLst/>
          </a:prstGeom>
          <a:noFill/>
          <a:ln w="6350">
            <a:solidFill>
              <a:srgbClr val="CCCCCC"/>
            </a:solidFill>
            <a:prstDash val="solid"/>
          </a:ln>
        </p:spPr>
      </p:sp>
      <p:sp>
        <p:nvSpPr>
          <p:cNvPr id="9" name="Text 7"/>
          <p:cNvSpPr/>
          <p:nvPr/>
        </p:nvSpPr>
        <p:spPr>
          <a:xfrm>
            <a:off x="685800" y="1600200"/>
            <a:ext cx="2240280" cy="45720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82 × 0.1 means</a:t>
            </a:r>
            <a:endParaRPr lang="en-US" sz="1300" dirty="0"/>
          </a:p>
        </p:txBody>
      </p:sp>
      <p:sp>
        <p:nvSpPr>
          <p:cNvPr id="10" name="Text 8"/>
          <p:cNvSpPr/>
          <p:nvPr/>
        </p:nvSpPr>
        <p:spPr>
          <a:xfrm>
            <a:off x="685800" y="2103120"/>
            <a:ext cx="2240280" cy="45720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one tenth of 82.</a:t>
            </a:r>
            <a:endParaRPr lang="en-US" sz="1300" dirty="0"/>
          </a:p>
        </p:txBody>
      </p:sp>
      <p:sp>
        <p:nvSpPr>
          <p:cNvPr id="11" name="Text 9"/>
          <p:cNvSpPr/>
          <p:nvPr/>
        </p:nvSpPr>
        <p:spPr>
          <a:xfrm>
            <a:off x="685800" y="2606040"/>
            <a:ext cx="2240280" cy="45720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Answer: 8.2</a:t>
            </a:r>
            <a:endParaRPr lang="en-US" sz="1300" dirty="0"/>
          </a:p>
        </p:txBody>
      </p:sp>
      <p:sp>
        <p:nvSpPr>
          <p:cNvPr id="12" name="Shape 10"/>
          <p:cNvSpPr/>
          <p:nvPr/>
        </p:nvSpPr>
        <p:spPr>
          <a:xfrm>
            <a:off x="3200400" y="960120"/>
            <a:ext cx="2560320" cy="3474720"/>
          </a:xfrm>
          <a:prstGeom prst="roundRect">
            <a:avLst>
              <a:gd name="adj" fmla="val 3571"/>
            </a:avLst>
          </a:prstGeom>
          <a:solidFill>
            <a:srgbClr val="FFFFFF"/>
          </a:solidFill>
          <a:ln w="6350">
            <a:solidFill>
              <a:srgbClr val="DDDDEE"/>
            </a:solidFill>
            <a:prstDash val="solid"/>
          </a:ln>
        </p:spPr>
      </p:sp>
      <p:sp>
        <p:nvSpPr>
          <p:cNvPr id="13" name="Text 11"/>
          <p:cNvSpPr/>
          <p:nvPr/>
        </p:nvSpPr>
        <p:spPr>
          <a:xfrm>
            <a:off x="33375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Think division</a:t>
            </a:r>
            <a:endParaRPr lang="en-US" sz="1300" dirty="0"/>
          </a:p>
        </p:txBody>
      </p:sp>
      <p:sp>
        <p:nvSpPr>
          <p:cNvPr id="14" name="Shape 12"/>
          <p:cNvSpPr/>
          <p:nvPr/>
        </p:nvSpPr>
        <p:spPr>
          <a:xfrm>
            <a:off x="3337560" y="1508760"/>
            <a:ext cx="2286000" cy="0"/>
          </a:xfrm>
          <a:prstGeom prst="line">
            <a:avLst/>
          </a:prstGeom>
          <a:noFill/>
          <a:ln w="6350">
            <a:solidFill>
              <a:srgbClr val="CCCCCC"/>
            </a:solidFill>
            <a:prstDash val="solid"/>
          </a:ln>
        </p:spPr>
      </p:sp>
      <p:sp>
        <p:nvSpPr>
          <p:cNvPr id="15" name="Text 13"/>
          <p:cNvSpPr/>
          <p:nvPr/>
        </p:nvSpPr>
        <p:spPr>
          <a:xfrm>
            <a:off x="3429000" y="1600200"/>
            <a:ext cx="2240280" cy="45720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Multiplying by 0.1</a:t>
            </a:r>
            <a:endParaRPr lang="en-US" sz="1300" dirty="0"/>
          </a:p>
        </p:txBody>
      </p:sp>
      <p:sp>
        <p:nvSpPr>
          <p:cNvPr id="16" name="Text 14"/>
          <p:cNvSpPr/>
          <p:nvPr/>
        </p:nvSpPr>
        <p:spPr>
          <a:xfrm>
            <a:off x="3429000" y="2103120"/>
            <a:ext cx="2240280" cy="45720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is the same as</a:t>
            </a:r>
            <a:endParaRPr lang="en-US" sz="1300" dirty="0"/>
          </a:p>
        </p:txBody>
      </p:sp>
      <p:sp>
        <p:nvSpPr>
          <p:cNvPr id="17" name="Text 15"/>
          <p:cNvSpPr/>
          <p:nvPr/>
        </p:nvSpPr>
        <p:spPr>
          <a:xfrm>
            <a:off x="3429000" y="2606040"/>
            <a:ext cx="2240280" cy="45720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dividing by 10.</a:t>
            </a:r>
            <a:endParaRPr lang="en-US" sz="1300" dirty="0"/>
          </a:p>
        </p:txBody>
      </p:sp>
      <p:sp>
        <p:nvSpPr>
          <p:cNvPr id="18" name="Shape 16"/>
          <p:cNvSpPr/>
          <p:nvPr/>
        </p:nvSpPr>
        <p:spPr>
          <a:xfrm>
            <a:off x="5943600" y="960120"/>
            <a:ext cx="2560320" cy="3474720"/>
          </a:xfrm>
          <a:prstGeom prst="roundRect">
            <a:avLst>
              <a:gd name="adj" fmla="val 3571"/>
            </a:avLst>
          </a:prstGeom>
          <a:solidFill>
            <a:srgbClr val="FFFFFF"/>
          </a:solidFill>
          <a:ln w="6350">
            <a:solidFill>
              <a:srgbClr val="DDDDEE"/>
            </a:solidFill>
            <a:prstDash val="solid"/>
          </a:ln>
        </p:spPr>
      </p:sp>
      <p:sp>
        <p:nvSpPr>
          <p:cNvPr id="19" name="Text 17"/>
          <p:cNvSpPr/>
          <p:nvPr/>
        </p:nvSpPr>
        <p:spPr>
          <a:xfrm>
            <a:off x="60807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Place value</a:t>
            </a:r>
            <a:endParaRPr lang="en-US" sz="1300" dirty="0"/>
          </a:p>
        </p:txBody>
      </p:sp>
      <p:sp>
        <p:nvSpPr>
          <p:cNvPr id="20" name="Shape 18"/>
          <p:cNvSpPr/>
          <p:nvPr/>
        </p:nvSpPr>
        <p:spPr>
          <a:xfrm>
            <a:off x="6080760" y="1508760"/>
            <a:ext cx="2286000" cy="0"/>
          </a:xfrm>
          <a:prstGeom prst="line">
            <a:avLst/>
          </a:prstGeom>
          <a:noFill/>
          <a:ln w="6350">
            <a:solidFill>
              <a:srgbClr val="CCCCCC"/>
            </a:solidFill>
            <a:prstDash val="solid"/>
          </a:ln>
        </p:spPr>
      </p:sp>
      <p:sp>
        <p:nvSpPr>
          <p:cNvPr id="21" name="Text 19"/>
          <p:cNvSpPr/>
          <p:nvPr/>
        </p:nvSpPr>
        <p:spPr>
          <a:xfrm>
            <a:off x="6172200" y="1600200"/>
            <a:ext cx="2240280" cy="45720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Each digit slides</a:t>
            </a:r>
            <a:endParaRPr lang="en-US" sz="1300" dirty="0"/>
          </a:p>
        </p:txBody>
      </p:sp>
      <p:sp>
        <p:nvSpPr>
          <p:cNvPr id="22" name="Text 20"/>
          <p:cNvSpPr/>
          <p:nvPr/>
        </p:nvSpPr>
        <p:spPr>
          <a:xfrm>
            <a:off x="6172200" y="2103120"/>
            <a:ext cx="2240280" cy="45720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one place to the</a:t>
            </a:r>
            <a:endParaRPr lang="en-US" sz="1300" dirty="0"/>
          </a:p>
        </p:txBody>
      </p:sp>
      <p:sp>
        <p:nvSpPr>
          <p:cNvPr id="23" name="Text 21"/>
          <p:cNvSpPr/>
          <p:nvPr/>
        </p:nvSpPr>
        <p:spPr>
          <a:xfrm>
            <a:off x="6172200" y="2606040"/>
            <a:ext cx="2240280" cy="45720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right (smaller).</a:t>
            </a:r>
            <a:endParaRPr lang="en-US" sz="1300" dirty="0"/>
          </a:p>
        </p:txBody>
      </p:sp>
      <p:sp>
        <p:nvSpPr>
          <p:cNvPr id="24" name="Shape 22"/>
          <p:cNvSpPr/>
          <p:nvPr/>
        </p:nvSpPr>
        <p:spPr>
          <a:xfrm>
            <a:off x="1828800" y="4526280"/>
            <a:ext cx="5486400" cy="438912"/>
          </a:xfrm>
          <a:prstGeom prst="roundRect">
            <a:avLst>
              <a:gd name="adj" fmla="val 12500"/>
            </a:avLst>
          </a:prstGeom>
          <a:solidFill>
            <a:srgbClr val="464EB8"/>
          </a:solidFill>
          <a:ln w="12700">
            <a:solidFill>
              <a:srgbClr val="464EB8"/>
            </a:solidFill>
            <a:prstDash val="solid"/>
          </a:ln>
        </p:spPr>
      </p:sp>
      <p:sp>
        <p:nvSpPr>
          <p:cNvPr id="25" name="Text 23"/>
          <p:cNvSpPr/>
          <p:nvPr/>
        </p:nvSpPr>
        <p:spPr>
          <a:xfrm>
            <a:off x="1828800" y="452628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strategy did you try first?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TALK</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The Rule</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08760"/>
            <a:ext cx="8229600" cy="548640"/>
          </a:xfrm>
          <a:prstGeom prst="rect">
            <a:avLst/>
          </a:prstGeom>
          <a:noFill/>
          <a:ln/>
        </p:spPr>
        <p:txBody>
          <a:bodyPr wrap="square" lIns="0" tIns="0" rIns="0" bIns="0" rtlCol="0" anchor="ctr"/>
          <a:lstStyle/>
          <a:p>
            <a:pPr indent="0" marL="0">
              <a:buNone/>
            </a:pPr>
            <a:r>
              <a:rPr lang="en-US" sz="1800" i="1" dirty="0">
                <a:solidFill>
                  <a:srgbClr val="CCCCFF"/>
                </a:solidFill>
              </a:rPr>
              <a:t>Every time you multiply by 0.1, you ___</a:t>
            </a:r>
            <a:endParaRPr lang="en-US" sz="1800" dirty="0"/>
          </a:p>
        </p:txBody>
      </p:sp>
      <p:sp>
        <p:nvSpPr>
          <p:cNvPr id="8" name="Text 6"/>
          <p:cNvSpPr/>
          <p:nvPr/>
        </p:nvSpPr>
        <p:spPr>
          <a:xfrm>
            <a:off x="457200" y="2148840"/>
            <a:ext cx="8229600" cy="1828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Multiplying by 0.1 finds one tenth of a number -- every digit moves one place smaller, the same as dividing by 10.</a:t>
            </a:r>
            <a:endParaRPr lang="en-US" sz="2200" dirty="0"/>
          </a:p>
        </p:txBody>
      </p:sp>
      <p:sp>
        <p:nvSpPr>
          <p:cNvPr id="9" name="Shape 7"/>
          <p:cNvSpPr/>
          <p:nvPr/>
        </p:nvSpPr>
        <p:spPr>
          <a:xfrm>
            <a:off x="2286000" y="4343400"/>
            <a:ext cx="457200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2286000" y="434340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word for the rule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TALK</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It</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Text 5"/>
          <p:cNvSpPr/>
          <p:nvPr/>
        </p:nvSpPr>
        <p:spPr>
          <a:xfrm>
            <a:off x="457200" y="1554480"/>
            <a:ext cx="8229600" cy="155448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350 × 0.01</a:t>
            </a:r>
            <a:endParaRPr lang="en-US" sz="4000" dirty="0"/>
          </a:p>
        </p:txBody>
      </p:sp>
      <p:sp>
        <p:nvSpPr>
          <p:cNvPr id="8" name="Shape 6"/>
          <p:cNvSpPr/>
          <p:nvPr/>
        </p:nvSpPr>
        <p:spPr>
          <a:xfrm>
            <a:off x="2286000" y="3794760"/>
            <a:ext cx="45720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2286000" y="379476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
        <p:nvSpPr>
          <p:cNvPr id="10" name="Shape 8"/>
          <p:cNvSpPr/>
          <p:nvPr/>
        </p:nvSpPr>
        <p:spPr>
          <a:xfrm>
            <a:off x="914400" y="4343400"/>
            <a:ext cx="7315200" cy="457200"/>
          </a:xfrm>
          <a:prstGeom prst="roundRect">
            <a:avLst>
              <a:gd name="adj" fmla="val 16000"/>
            </a:avLst>
          </a:prstGeom>
          <a:solidFill>
            <a:srgbClr val="1A5533"/>
          </a:solidFill>
          <a:ln w="12700">
            <a:solidFill>
              <a:srgbClr val="1A5533"/>
            </a:solidFill>
            <a:prstDash val="solid"/>
          </a:ln>
        </p:spPr>
      </p:sp>
      <p:sp>
        <p:nvSpPr>
          <p:cNvPr id="11" name="Text 9"/>
          <p:cNvSpPr/>
          <p:nvPr/>
        </p:nvSpPr>
        <p:spPr>
          <a:xfrm>
            <a:off x="914400" y="4343400"/>
            <a:ext cx="7315200" cy="457200"/>
          </a:xfrm>
          <a:prstGeom prst="rect">
            <a:avLst/>
          </a:prstGeom>
          <a:noFill/>
          <a:ln/>
        </p:spPr>
        <p:txBody>
          <a:bodyPr wrap="square" lIns="0" tIns="0" rIns="0" bIns="0" rtlCol="0" anchor="ctr"/>
          <a:lstStyle/>
          <a:p>
            <a:pPr algn="ctr" indent="0" marL="0">
              <a:buNone/>
            </a:pPr>
            <a:r>
              <a:rPr lang="en-US" sz="1300" dirty="0">
                <a:solidFill>
                  <a:srgbClr val="CCFFDD"/>
                </a:solidFill>
              </a:rPr>
              <a:t>Answer: 3.5 — multiplying by 0.01 finds one hundredth, so every digit moves two places smaller.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5.10.03</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Multiplying by 0.1 or 0.01</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10: Decimal Operations · Lesson 3 of 8</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MA.5.NSO.2.4   ·   TEKS 5.3.D   ·   5.3.E</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I can multiply a decimal or whole number by 0.1 or 0.01 by shifting digits on a place-value mat.</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“Why can multiplication make a number smaller?”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Warm-Up</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Readiness Check</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417320"/>
          </a:xfrm>
          <a:prstGeom prst="roundRect">
            <a:avLst>
              <a:gd name="adj" fmla="val 6452"/>
            </a:avLst>
          </a:prstGeom>
          <a:solidFill>
            <a:srgbClr val="FFFFFF"/>
          </a:solidFill>
          <a:ln w="6350">
            <a:solidFill>
              <a:srgbClr val="DDDDEE"/>
            </a:solidFill>
            <a:prstDash val="solid"/>
          </a:ln>
        </p:spPr>
      </p:sp>
      <p:sp>
        <p:nvSpPr>
          <p:cNvPr id="7" name="Text 5"/>
          <p:cNvSpPr/>
          <p:nvPr/>
        </p:nvSpPr>
        <p:spPr>
          <a:xfrm>
            <a:off x="685800" y="1143000"/>
            <a:ext cx="7772400" cy="114300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What is 1 tenth of 40? What is 1 hundredth of 300?</a:t>
            </a:r>
            <a:endParaRPr lang="en-US" sz="1800" dirty="0"/>
          </a:p>
        </p:txBody>
      </p:sp>
      <p:sp>
        <p:nvSpPr>
          <p:cNvPr id="8" name="Shape 6"/>
          <p:cNvSpPr/>
          <p:nvPr/>
        </p:nvSpPr>
        <p:spPr>
          <a:xfrm>
            <a:off x="457200" y="2606040"/>
            <a:ext cx="8229600" cy="1051560"/>
          </a:xfrm>
          <a:prstGeom prst="roundRect">
            <a:avLst>
              <a:gd name="adj" fmla="val 8696"/>
            </a:avLst>
          </a:prstGeom>
          <a:solidFill>
            <a:srgbClr val="FFFFFF"/>
          </a:solidFill>
          <a:ln w="6350">
            <a:solidFill>
              <a:srgbClr val="DDDDEE"/>
            </a:solidFill>
            <a:prstDash val="solid"/>
          </a:ln>
        </p:spPr>
      </p:sp>
      <p:sp>
        <p:nvSpPr>
          <p:cNvPr id="9" name="Text 7"/>
          <p:cNvSpPr/>
          <p:nvPr/>
        </p:nvSpPr>
        <p:spPr>
          <a:xfrm>
            <a:off x="685800" y="2724912"/>
            <a:ext cx="7772400" cy="822960"/>
          </a:xfrm>
          <a:prstGeom prst="rect">
            <a:avLst/>
          </a:prstGeom>
          <a:noFill/>
          <a:ln/>
        </p:spPr>
        <p:txBody>
          <a:bodyPr wrap="square" lIns="0" tIns="0" rIns="0" bIns="0" rtlCol="0" anchor="ctr"/>
          <a:lstStyle/>
          <a:p>
            <a:pPr indent="0" marL="0">
              <a:buNone/>
            </a:pPr>
            <a:r>
              <a:rPr lang="en-US" sz="1400" i="1" dirty="0">
                <a:solidFill>
                  <a:srgbClr val="5A5A7A"/>
                </a:solidFill>
              </a:rPr>
              <a:t>Remember: 1 tenth of a number is the same as dividing it by 10.</a:t>
            </a:r>
            <a:endParaRPr lang="en-US" sz="1400" dirty="0"/>
          </a:p>
        </p:txBody>
      </p:sp>
      <p:sp>
        <p:nvSpPr>
          <p:cNvPr id="10" name="Shape 8"/>
          <p:cNvSpPr/>
          <p:nvPr/>
        </p:nvSpPr>
        <p:spPr>
          <a:xfrm>
            <a:off x="2286000" y="3886200"/>
            <a:ext cx="45720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2286000" y="388620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both answers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Hook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Real-World Context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97280"/>
            <a:ext cx="8229600" cy="1554480"/>
          </a:xfrm>
          <a:prstGeom prst="roundRect">
            <a:avLst>
              <a:gd name="adj" fmla="val 5882"/>
            </a:avLst>
          </a:prstGeom>
          <a:solidFill>
            <a:srgbClr val="F3E6EF"/>
          </a:solidFill>
          <a:ln w="6350">
            <a:solidFill>
              <a:srgbClr val="DDDDEE"/>
            </a:solidFill>
            <a:prstDash val="solid"/>
          </a:ln>
        </p:spPr>
      </p:sp>
      <p:sp>
        <p:nvSpPr>
          <p:cNvPr id="7" name="Text 5"/>
          <p:cNvSpPr/>
          <p:nvPr/>
        </p:nvSpPr>
        <p:spPr>
          <a:xfrm>
            <a:off x="685800" y="1280160"/>
            <a:ext cx="7772400" cy="118872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A store multiplies a $60 jacket's price by 0.1 to find a quick discount estimate -- is the discount more or less than $60?</a:t>
            </a:r>
            <a:endParaRPr lang="en-US" sz="1600" dirty="0"/>
          </a:p>
        </p:txBody>
      </p:sp>
      <p:sp>
        <p:nvSpPr>
          <p:cNvPr id="8" name="Shape 6"/>
          <p:cNvSpPr/>
          <p:nvPr/>
        </p:nvSpPr>
        <p:spPr>
          <a:xfrm>
            <a:off x="1371600" y="3108960"/>
            <a:ext cx="64008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371600" y="310896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more or less than $60, and why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Shrink or Grow?</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Think about 4.6 × 0.1.</a:t>
            </a:r>
            <a:endParaRPr lang="en-US" sz="2000" dirty="0"/>
          </a:p>
          <a:p>
            <a:pPr indent="0" marL="0">
              <a:buNone/>
            </a:pPr>
            <a:r>
              <a:rPr lang="en-US" sz="2000" dirty="0">
                <a:solidFill>
                  <a:srgbClr val="1A1A2E"/>
                </a:solidFill>
                <a:latin typeface="Cambria" pitchFamily="34" charset="0"/>
                <a:ea typeface="Cambria" pitchFamily="34" charset="-122"/>
                <a:cs typeface="Cambria" pitchFamily="34" charset="-120"/>
              </a:rPr>
              <a:t>Are we making ten groups of 4.6, or finding one tenth of 4.6?</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Place-Value Shift Mat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Text 4"/>
          <p:cNvSpPr/>
          <p:nvPr/>
        </p:nvSpPr>
        <p:spPr>
          <a:xfrm>
            <a:off x="457200" y="896112"/>
            <a:ext cx="8229600" cy="365760"/>
          </a:xfrm>
          <a:prstGeom prst="rect">
            <a:avLst/>
          </a:prstGeom>
          <a:noFill/>
          <a:ln/>
        </p:spPr>
        <p:txBody>
          <a:bodyPr wrap="square" lIns="0" tIns="0" rIns="0" bIns="0" rtlCol="0" anchor="ctr"/>
          <a:lstStyle/>
          <a:p>
            <a:pPr algn="ctr" indent="0" marL="0">
              <a:buNone/>
            </a:pPr>
            <a:r>
              <a:rPr lang="en-US" sz="1300" i="1" dirty="0">
                <a:solidFill>
                  <a:srgbClr val="5A5A7A"/>
                </a:solidFill>
              </a:rPr>
              <a:t>58 × 0.1 shifts every digit one place right. 58 × 0.01 shifts every digit two places right.</a:t>
            </a:r>
            <a:endParaRPr lang="en-US" sz="1300" dirty="0"/>
          </a:p>
        </p:txBody>
      </p:sp>
      <p:sp>
        <p:nvSpPr>
          <p:cNvPr id="7" name="Shape 5"/>
          <p:cNvSpPr/>
          <p:nvPr/>
        </p:nvSpPr>
        <p:spPr>
          <a:xfrm>
            <a:off x="1920240" y="1371600"/>
            <a:ext cx="1024128" cy="365760"/>
          </a:xfrm>
          <a:prstGeom prst="rect">
            <a:avLst/>
          </a:prstGeom>
          <a:solidFill>
            <a:srgbClr val="1B2A4A"/>
          </a:solidFill>
          <a:ln w="12700">
            <a:solidFill>
              <a:srgbClr val="1B2A4A"/>
            </a:solidFill>
            <a:prstDash val="solid"/>
          </a:ln>
        </p:spPr>
      </p:sp>
      <p:sp>
        <p:nvSpPr>
          <p:cNvPr id="8" name="Text 6"/>
          <p:cNvSpPr/>
          <p:nvPr/>
        </p:nvSpPr>
        <p:spPr>
          <a:xfrm>
            <a:off x="1920240" y="1371600"/>
            <a:ext cx="1024128" cy="365760"/>
          </a:xfrm>
          <a:prstGeom prst="rect">
            <a:avLst/>
          </a:prstGeom>
          <a:noFill/>
          <a:ln/>
        </p:spPr>
        <p:txBody>
          <a:bodyPr wrap="square" lIns="0" tIns="0" rIns="0" bIns="0" rtlCol="0" anchor="ctr"/>
          <a:lstStyle/>
          <a:p>
            <a:pPr algn="ctr" indent="0" marL="0">
              <a:buNone/>
            </a:pPr>
            <a:r>
              <a:rPr lang="en-US" sz="900" b="1" dirty="0">
                <a:solidFill>
                  <a:srgbClr val="FFFFFF"/>
                </a:solidFill>
              </a:rPr>
              <a:t>Tens</a:t>
            </a:r>
            <a:endParaRPr lang="en-US" sz="900" dirty="0"/>
          </a:p>
        </p:txBody>
      </p:sp>
      <p:sp>
        <p:nvSpPr>
          <p:cNvPr id="9" name="Shape 7"/>
          <p:cNvSpPr/>
          <p:nvPr/>
        </p:nvSpPr>
        <p:spPr>
          <a:xfrm>
            <a:off x="2944368" y="1371600"/>
            <a:ext cx="1024128" cy="365760"/>
          </a:xfrm>
          <a:prstGeom prst="rect">
            <a:avLst/>
          </a:prstGeom>
          <a:solidFill>
            <a:srgbClr val="1B2A4A"/>
          </a:solidFill>
          <a:ln w="12700">
            <a:solidFill>
              <a:srgbClr val="1B2A4A"/>
            </a:solidFill>
            <a:prstDash val="solid"/>
          </a:ln>
        </p:spPr>
      </p:sp>
      <p:sp>
        <p:nvSpPr>
          <p:cNvPr id="10" name="Text 8"/>
          <p:cNvSpPr/>
          <p:nvPr/>
        </p:nvSpPr>
        <p:spPr>
          <a:xfrm>
            <a:off x="2944368" y="1371600"/>
            <a:ext cx="1024128" cy="365760"/>
          </a:xfrm>
          <a:prstGeom prst="rect">
            <a:avLst/>
          </a:prstGeom>
          <a:noFill/>
          <a:ln/>
        </p:spPr>
        <p:txBody>
          <a:bodyPr wrap="square" lIns="0" tIns="0" rIns="0" bIns="0" rtlCol="0" anchor="ctr"/>
          <a:lstStyle/>
          <a:p>
            <a:pPr algn="ctr" indent="0" marL="0">
              <a:buNone/>
            </a:pPr>
            <a:r>
              <a:rPr lang="en-US" sz="900" b="1" dirty="0">
                <a:solidFill>
                  <a:srgbClr val="FFFFFF"/>
                </a:solidFill>
              </a:rPr>
              <a:t>Ones</a:t>
            </a:r>
            <a:endParaRPr lang="en-US" sz="900" dirty="0"/>
          </a:p>
        </p:txBody>
      </p:sp>
      <p:sp>
        <p:nvSpPr>
          <p:cNvPr id="11" name="Shape 9"/>
          <p:cNvSpPr/>
          <p:nvPr/>
        </p:nvSpPr>
        <p:spPr>
          <a:xfrm>
            <a:off x="3968496" y="1371600"/>
            <a:ext cx="1024128" cy="365760"/>
          </a:xfrm>
          <a:prstGeom prst="rect">
            <a:avLst/>
          </a:prstGeom>
          <a:solidFill>
            <a:srgbClr val="1B2A4A"/>
          </a:solidFill>
          <a:ln w="12700">
            <a:solidFill>
              <a:srgbClr val="1B2A4A"/>
            </a:solidFill>
            <a:prstDash val="solid"/>
          </a:ln>
        </p:spPr>
      </p:sp>
      <p:sp>
        <p:nvSpPr>
          <p:cNvPr id="12" name="Text 10"/>
          <p:cNvSpPr/>
          <p:nvPr/>
        </p:nvSpPr>
        <p:spPr>
          <a:xfrm>
            <a:off x="3968496" y="1371600"/>
            <a:ext cx="1024128" cy="365760"/>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13" name="Shape 11"/>
          <p:cNvSpPr/>
          <p:nvPr/>
        </p:nvSpPr>
        <p:spPr>
          <a:xfrm>
            <a:off x="4992624" y="1371600"/>
            <a:ext cx="1024128" cy="365760"/>
          </a:xfrm>
          <a:prstGeom prst="rect">
            <a:avLst/>
          </a:prstGeom>
          <a:solidFill>
            <a:srgbClr val="1B2A4A"/>
          </a:solidFill>
          <a:ln w="12700">
            <a:solidFill>
              <a:srgbClr val="1B2A4A"/>
            </a:solidFill>
            <a:prstDash val="solid"/>
          </a:ln>
        </p:spPr>
      </p:sp>
      <p:sp>
        <p:nvSpPr>
          <p:cNvPr id="14" name="Text 12"/>
          <p:cNvSpPr/>
          <p:nvPr/>
        </p:nvSpPr>
        <p:spPr>
          <a:xfrm>
            <a:off x="4992624" y="1371600"/>
            <a:ext cx="1024128" cy="365760"/>
          </a:xfrm>
          <a:prstGeom prst="rect">
            <a:avLst/>
          </a:prstGeom>
          <a:noFill/>
          <a:ln/>
        </p:spPr>
        <p:txBody>
          <a:bodyPr wrap="square" lIns="0" tIns="0" rIns="0" bIns="0" rtlCol="0" anchor="ctr"/>
          <a:lstStyle/>
          <a:p>
            <a:pPr algn="ctr" indent="0" marL="0">
              <a:buNone/>
            </a:pPr>
            <a:r>
              <a:rPr lang="en-US" sz="900" b="1" dirty="0">
                <a:solidFill>
                  <a:srgbClr val="FFFFFF"/>
                </a:solidFill>
              </a:rPr>
              <a:t>Tenths</a:t>
            </a:r>
            <a:endParaRPr lang="en-US" sz="900" dirty="0"/>
          </a:p>
        </p:txBody>
      </p:sp>
      <p:sp>
        <p:nvSpPr>
          <p:cNvPr id="15" name="Shape 13"/>
          <p:cNvSpPr/>
          <p:nvPr/>
        </p:nvSpPr>
        <p:spPr>
          <a:xfrm>
            <a:off x="6016752" y="1371600"/>
            <a:ext cx="1024128" cy="365760"/>
          </a:xfrm>
          <a:prstGeom prst="rect">
            <a:avLst/>
          </a:prstGeom>
          <a:solidFill>
            <a:srgbClr val="1B2A4A"/>
          </a:solidFill>
          <a:ln w="12700">
            <a:solidFill>
              <a:srgbClr val="1B2A4A"/>
            </a:solidFill>
            <a:prstDash val="solid"/>
          </a:ln>
        </p:spPr>
      </p:sp>
      <p:sp>
        <p:nvSpPr>
          <p:cNvPr id="16" name="Text 14"/>
          <p:cNvSpPr/>
          <p:nvPr/>
        </p:nvSpPr>
        <p:spPr>
          <a:xfrm>
            <a:off x="6016752" y="1371600"/>
            <a:ext cx="1024128" cy="365760"/>
          </a:xfrm>
          <a:prstGeom prst="rect">
            <a:avLst/>
          </a:prstGeom>
          <a:noFill/>
          <a:ln/>
        </p:spPr>
        <p:txBody>
          <a:bodyPr wrap="square" lIns="0" tIns="0" rIns="0" bIns="0" rtlCol="0" anchor="ctr"/>
          <a:lstStyle/>
          <a:p>
            <a:pPr algn="ctr" indent="0" marL="0">
              <a:buNone/>
            </a:pPr>
            <a:r>
              <a:rPr lang="en-US" sz="900" b="1" dirty="0">
                <a:solidFill>
                  <a:srgbClr val="FFFFFF"/>
                </a:solidFill>
              </a:rPr>
              <a:t>Hundredths</a:t>
            </a:r>
            <a:endParaRPr lang="en-US" sz="900" dirty="0"/>
          </a:p>
        </p:txBody>
      </p:sp>
      <p:sp>
        <p:nvSpPr>
          <p:cNvPr id="17" name="Shape 15"/>
          <p:cNvSpPr/>
          <p:nvPr/>
        </p:nvSpPr>
        <p:spPr>
          <a:xfrm>
            <a:off x="1920240" y="1737360"/>
            <a:ext cx="1024128" cy="566928"/>
          </a:xfrm>
          <a:prstGeom prst="rect">
            <a:avLst/>
          </a:prstGeom>
          <a:solidFill>
            <a:srgbClr val="FFFFFF"/>
          </a:solidFill>
          <a:ln w="12700">
            <a:solidFill>
              <a:srgbClr val="999999"/>
            </a:solidFill>
            <a:prstDash val="solid"/>
          </a:ln>
        </p:spPr>
      </p:sp>
      <p:sp>
        <p:nvSpPr>
          <p:cNvPr id="18" name="Text 16"/>
          <p:cNvSpPr/>
          <p:nvPr/>
        </p:nvSpPr>
        <p:spPr>
          <a:xfrm>
            <a:off x="1920240" y="1737360"/>
            <a:ext cx="1024128"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5</a:t>
            </a:r>
            <a:endParaRPr lang="en-US" sz="2400" dirty="0"/>
          </a:p>
        </p:txBody>
      </p:sp>
      <p:sp>
        <p:nvSpPr>
          <p:cNvPr id="19" name="Shape 17"/>
          <p:cNvSpPr/>
          <p:nvPr/>
        </p:nvSpPr>
        <p:spPr>
          <a:xfrm>
            <a:off x="2944368" y="1737360"/>
            <a:ext cx="1024128" cy="566928"/>
          </a:xfrm>
          <a:prstGeom prst="rect">
            <a:avLst/>
          </a:prstGeom>
          <a:solidFill>
            <a:srgbClr val="FFFFFF"/>
          </a:solidFill>
          <a:ln w="12700">
            <a:solidFill>
              <a:srgbClr val="999999"/>
            </a:solidFill>
            <a:prstDash val="solid"/>
          </a:ln>
        </p:spPr>
      </p:sp>
      <p:sp>
        <p:nvSpPr>
          <p:cNvPr id="20" name="Text 18"/>
          <p:cNvSpPr/>
          <p:nvPr/>
        </p:nvSpPr>
        <p:spPr>
          <a:xfrm>
            <a:off x="2944368" y="1737360"/>
            <a:ext cx="1024128"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8</a:t>
            </a:r>
            <a:endParaRPr lang="en-US" sz="2400" dirty="0"/>
          </a:p>
        </p:txBody>
      </p:sp>
      <p:sp>
        <p:nvSpPr>
          <p:cNvPr id="21" name="Shape 19"/>
          <p:cNvSpPr/>
          <p:nvPr/>
        </p:nvSpPr>
        <p:spPr>
          <a:xfrm>
            <a:off x="3968496" y="1737360"/>
            <a:ext cx="1024128" cy="566928"/>
          </a:xfrm>
          <a:prstGeom prst="rect">
            <a:avLst/>
          </a:prstGeom>
          <a:solidFill>
            <a:srgbClr val="FFFFFF"/>
          </a:solidFill>
          <a:ln w="12700">
            <a:solidFill>
              <a:srgbClr val="999999"/>
            </a:solidFill>
            <a:prstDash val="solid"/>
          </a:ln>
        </p:spPr>
      </p:sp>
      <p:sp>
        <p:nvSpPr>
          <p:cNvPr id="22" name="Shape 20"/>
          <p:cNvSpPr/>
          <p:nvPr/>
        </p:nvSpPr>
        <p:spPr>
          <a:xfrm>
            <a:off x="4992624" y="1737360"/>
            <a:ext cx="1024128" cy="566928"/>
          </a:xfrm>
          <a:prstGeom prst="rect">
            <a:avLst/>
          </a:prstGeom>
          <a:solidFill>
            <a:srgbClr val="FFFFFF"/>
          </a:solidFill>
          <a:ln w="12700">
            <a:solidFill>
              <a:srgbClr val="999999"/>
            </a:solidFill>
            <a:prstDash val="solid"/>
          </a:ln>
        </p:spPr>
      </p:sp>
      <p:sp>
        <p:nvSpPr>
          <p:cNvPr id="23" name="Shape 21"/>
          <p:cNvSpPr/>
          <p:nvPr/>
        </p:nvSpPr>
        <p:spPr>
          <a:xfrm>
            <a:off x="6016752" y="1737360"/>
            <a:ext cx="1024128" cy="566928"/>
          </a:xfrm>
          <a:prstGeom prst="rect">
            <a:avLst/>
          </a:prstGeom>
          <a:solidFill>
            <a:srgbClr val="FFFFFF"/>
          </a:solidFill>
          <a:ln w="12700">
            <a:solidFill>
              <a:srgbClr val="999999"/>
            </a:solidFill>
            <a:prstDash val="solid"/>
          </a:ln>
        </p:spPr>
      </p:sp>
      <p:sp>
        <p:nvSpPr>
          <p:cNvPr id="24" name="Shape 22"/>
          <p:cNvSpPr/>
          <p:nvPr/>
        </p:nvSpPr>
        <p:spPr>
          <a:xfrm>
            <a:off x="1920240" y="2807208"/>
            <a:ext cx="1024128" cy="566928"/>
          </a:xfrm>
          <a:prstGeom prst="rect">
            <a:avLst/>
          </a:prstGeom>
          <a:solidFill>
            <a:srgbClr val="FFFFFF"/>
          </a:solidFill>
          <a:ln w="12700">
            <a:solidFill>
              <a:srgbClr val="999999"/>
            </a:solidFill>
            <a:prstDash val="solid"/>
          </a:ln>
        </p:spPr>
      </p:sp>
      <p:sp>
        <p:nvSpPr>
          <p:cNvPr id="25" name="Shape 23"/>
          <p:cNvSpPr/>
          <p:nvPr/>
        </p:nvSpPr>
        <p:spPr>
          <a:xfrm>
            <a:off x="2944368" y="2807208"/>
            <a:ext cx="1024128" cy="566928"/>
          </a:xfrm>
          <a:prstGeom prst="rect">
            <a:avLst/>
          </a:prstGeom>
          <a:solidFill>
            <a:srgbClr val="FFFFFF"/>
          </a:solidFill>
          <a:ln w="12700">
            <a:solidFill>
              <a:srgbClr val="999999"/>
            </a:solidFill>
            <a:prstDash val="solid"/>
          </a:ln>
        </p:spPr>
      </p:sp>
      <p:sp>
        <p:nvSpPr>
          <p:cNvPr id="26" name="Text 24"/>
          <p:cNvSpPr/>
          <p:nvPr/>
        </p:nvSpPr>
        <p:spPr>
          <a:xfrm>
            <a:off x="2944368" y="2807208"/>
            <a:ext cx="1024128"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5</a:t>
            </a:r>
            <a:endParaRPr lang="en-US" sz="2400" dirty="0"/>
          </a:p>
        </p:txBody>
      </p:sp>
      <p:sp>
        <p:nvSpPr>
          <p:cNvPr id="27" name="Shape 25"/>
          <p:cNvSpPr/>
          <p:nvPr/>
        </p:nvSpPr>
        <p:spPr>
          <a:xfrm>
            <a:off x="3968496" y="2807208"/>
            <a:ext cx="1024128" cy="566928"/>
          </a:xfrm>
          <a:prstGeom prst="rect">
            <a:avLst/>
          </a:prstGeom>
          <a:solidFill>
            <a:srgbClr val="FFFFFF"/>
          </a:solidFill>
          <a:ln w="12700">
            <a:solidFill>
              <a:srgbClr val="999999"/>
            </a:solidFill>
            <a:prstDash val="solid"/>
          </a:ln>
        </p:spPr>
      </p:sp>
      <p:sp>
        <p:nvSpPr>
          <p:cNvPr id="28" name="Shape 26"/>
          <p:cNvSpPr/>
          <p:nvPr/>
        </p:nvSpPr>
        <p:spPr>
          <a:xfrm>
            <a:off x="4992624" y="2807208"/>
            <a:ext cx="1024128" cy="566928"/>
          </a:xfrm>
          <a:prstGeom prst="rect">
            <a:avLst/>
          </a:prstGeom>
          <a:solidFill>
            <a:srgbClr val="FFFFFF"/>
          </a:solidFill>
          <a:ln w="12700">
            <a:solidFill>
              <a:srgbClr val="999999"/>
            </a:solidFill>
            <a:prstDash val="solid"/>
          </a:ln>
        </p:spPr>
      </p:sp>
      <p:sp>
        <p:nvSpPr>
          <p:cNvPr id="29" name="Text 27"/>
          <p:cNvSpPr/>
          <p:nvPr/>
        </p:nvSpPr>
        <p:spPr>
          <a:xfrm>
            <a:off x="4992624" y="2807208"/>
            <a:ext cx="1024128"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8</a:t>
            </a:r>
            <a:endParaRPr lang="en-US" sz="2400" dirty="0"/>
          </a:p>
        </p:txBody>
      </p:sp>
      <p:sp>
        <p:nvSpPr>
          <p:cNvPr id="30" name="Shape 28"/>
          <p:cNvSpPr/>
          <p:nvPr/>
        </p:nvSpPr>
        <p:spPr>
          <a:xfrm>
            <a:off x="6016752" y="2807208"/>
            <a:ext cx="1024128" cy="566928"/>
          </a:xfrm>
          <a:prstGeom prst="rect">
            <a:avLst/>
          </a:prstGeom>
          <a:solidFill>
            <a:srgbClr val="FFFFFF"/>
          </a:solidFill>
          <a:ln w="12700">
            <a:solidFill>
              <a:srgbClr val="999999"/>
            </a:solidFill>
            <a:prstDash val="solid"/>
          </a:ln>
        </p:spPr>
      </p:sp>
      <p:sp>
        <p:nvSpPr>
          <p:cNvPr id="31" name="Text 29"/>
          <p:cNvSpPr/>
          <p:nvPr/>
        </p:nvSpPr>
        <p:spPr>
          <a:xfrm>
            <a:off x="914400" y="1737360"/>
            <a:ext cx="914400" cy="566928"/>
          </a:xfrm>
          <a:prstGeom prst="rect">
            <a:avLst/>
          </a:prstGeom>
          <a:noFill/>
          <a:ln/>
        </p:spPr>
        <p:txBody>
          <a:bodyPr wrap="square" lIns="0" tIns="0" rIns="0" bIns="0" rtlCol="0" anchor="ctr"/>
          <a:lstStyle/>
          <a:p>
            <a:pPr algn="r" indent="0" marL="0">
              <a:buNone/>
            </a:pPr>
            <a:r>
              <a:rPr lang="en-US" sz="1000" b="1" dirty="0">
                <a:solidFill>
                  <a:srgbClr val="5A5A7A"/>
                </a:solidFill>
              </a:rPr>
              <a:t>58</a:t>
            </a:r>
            <a:endParaRPr lang="en-US" sz="1000" dirty="0"/>
          </a:p>
        </p:txBody>
      </p:sp>
      <p:sp>
        <p:nvSpPr>
          <p:cNvPr id="32" name="Text 30"/>
          <p:cNvSpPr/>
          <p:nvPr/>
        </p:nvSpPr>
        <p:spPr>
          <a:xfrm>
            <a:off x="914400" y="2807208"/>
            <a:ext cx="914400" cy="566928"/>
          </a:xfrm>
          <a:prstGeom prst="rect">
            <a:avLst/>
          </a:prstGeom>
          <a:noFill/>
          <a:ln/>
        </p:spPr>
        <p:txBody>
          <a:bodyPr wrap="square" lIns="0" tIns="0" rIns="0" bIns="0" rtlCol="0" anchor="ctr"/>
          <a:lstStyle/>
          <a:p>
            <a:pPr algn="r" indent="0" marL="0">
              <a:buNone/>
            </a:pPr>
            <a:r>
              <a:rPr lang="en-US" sz="1000" b="1" dirty="0">
                <a:solidFill>
                  <a:srgbClr val="5A5A7A"/>
                </a:solidFill>
              </a:rPr>
              <a:t>× 0.1 = 5.8</a:t>
            </a:r>
            <a:endParaRPr lang="en-US" sz="1000" dirty="0"/>
          </a:p>
        </p:txBody>
      </p:sp>
      <p:sp>
        <p:nvSpPr>
          <p:cNvPr id="33" name="Shape 31"/>
          <p:cNvSpPr/>
          <p:nvPr/>
        </p:nvSpPr>
        <p:spPr>
          <a:xfrm>
            <a:off x="2432304" y="2304288"/>
            <a:ext cx="1024128" cy="502920"/>
          </a:xfrm>
          <a:prstGeom prst="line">
            <a:avLst/>
          </a:prstGeom>
          <a:noFill/>
          <a:ln w="28575">
            <a:solidFill>
              <a:srgbClr val="D9941A"/>
            </a:solidFill>
            <a:prstDash val="solid"/>
            <a:tailEnd type="triangle"/>
          </a:ln>
        </p:spPr>
      </p:sp>
      <p:sp>
        <p:nvSpPr>
          <p:cNvPr id="34" name="Shape 32"/>
          <p:cNvSpPr/>
          <p:nvPr/>
        </p:nvSpPr>
        <p:spPr>
          <a:xfrm>
            <a:off x="3456432" y="2304288"/>
            <a:ext cx="2048256" cy="502920"/>
          </a:xfrm>
          <a:prstGeom prst="line">
            <a:avLst/>
          </a:prstGeom>
          <a:noFill/>
          <a:ln w="28575">
            <a:solidFill>
              <a:srgbClr val="D9941A"/>
            </a:solidFill>
            <a:prstDash val="solid"/>
            <a:tailEnd type="triangle"/>
          </a:ln>
        </p:spPr>
      </p:sp>
      <p:sp>
        <p:nvSpPr>
          <p:cNvPr id="35" name="Text 33"/>
          <p:cNvSpPr/>
          <p:nvPr/>
        </p:nvSpPr>
        <p:spPr>
          <a:xfrm>
            <a:off x="1920240" y="3465576"/>
            <a:ext cx="5120640" cy="365760"/>
          </a:xfrm>
          <a:prstGeom prst="rect">
            <a:avLst/>
          </a:prstGeom>
          <a:noFill/>
          <a:ln/>
        </p:spPr>
        <p:txBody>
          <a:bodyPr wrap="square" lIns="0" tIns="0" rIns="0" bIns="0" rtlCol="0" anchor="ctr"/>
          <a:lstStyle/>
          <a:p>
            <a:pPr algn="ctr" indent="0" marL="0">
              <a:buNone/>
            </a:pPr>
            <a:r>
              <a:rPr lang="en-US" sz="1200" i="1" dirty="0">
                <a:solidFill>
                  <a:srgbClr val="5A5A7A"/>
                </a:solidFill>
              </a:rPr>
              <a:t>Each digit slides ONE place right (smaller) -- opposite direction from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Place-Value Table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1920240" y="1051560"/>
            <a:ext cx="1024128" cy="365760"/>
          </a:xfrm>
          <a:prstGeom prst="rect">
            <a:avLst/>
          </a:prstGeom>
          <a:solidFill>
            <a:srgbClr val="1B2A4A"/>
          </a:solidFill>
          <a:ln w="12700">
            <a:solidFill>
              <a:srgbClr val="1B2A4A"/>
            </a:solidFill>
            <a:prstDash val="solid"/>
          </a:ln>
        </p:spPr>
      </p:sp>
      <p:sp>
        <p:nvSpPr>
          <p:cNvPr id="7" name="Text 5"/>
          <p:cNvSpPr/>
          <p:nvPr/>
        </p:nvSpPr>
        <p:spPr>
          <a:xfrm>
            <a:off x="1920240" y="1051560"/>
            <a:ext cx="1024128" cy="365760"/>
          </a:xfrm>
          <a:prstGeom prst="rect">
            <a:avLst/>
          </a:prstGeom>
          <a:noFill/>
          <a:ln/>
        </p:spPr>
        <p:txBody>
          <a:bodyPr wrap="square" lIns="0" tIns="0" rIns="0" bIns="0" rtlCol="0" anchor="ctr"/>
          <a:lstStyle/>
          <a:p>
            <a:pPr algn="ctr" indent="0" marL="0">
              <a:buNone/>
            </a:pPr>
            <a:r>
              <a:rPr lang="en-US" sz="900" b="1" dirty="0">
                <a:solidFill>
                  <a:srgbClr val="FFFFFF"/>
                </a:solidFill>
              </a:rPr>
              <a:t>Tens</a:t>
            </a:r>
            <a:endParaRPr lang="en-US" sz="900" dirty="0"/>
          </a:p>
        </p:txBody>
      </p:sp>
      <p:sp>
        <p:nvSpPr>
          <p:cNvPr id="8" name="Shape 6"/>
          <p:cNvSpPr/>
          <p:nvPr/>
        </p:nvSpPr>
        <p:spPr>
          <a:xfrm>
            <a:off x="2944368" y="1051560"/>
            <a:ext cx="1024128" cy="365760"/>
          </a:xfrm>
          <a:prstGeom prst="rect">
            <a:avLst/>
          </a:prstGeom>
          <a:solidFill>
            <a:srgbClr val="1B2A4A"/>
          </a:solidFill>
          <a:ln w="12700">
            <a:solidFill>
              <a:srgbClr val="1B2A4A"/>
            </a:solidFill>
            <a:prstDash val="solid"/>
          </a:ln>
        </p:spPr>
      </p:sp>
      <p:sp>
        <p:nvSpPr>
          <p:cNvPr id="9" name="Text 7"/>
          <p:cNvSpPr/>
          <p:nvPr/>
        </p:nvSpPr>
        <p:spPr>
          <a:xfrm>
            <a:off x="2944368" y="1051560"/>
            <a:ext cx="1024128" cy="365760"/>
          </a:xfrm>
          <a:prstGeom prst="rect">
            <a:avLst/>
          </a:prstGeom>
          <a:noFill/>
          <a:ln/>
        </p:spPr>
        <p:txBody>
          <a:bodyPr wrap="square" lIns="0" tIns="0" rIns="0" bIns="0" rtlCol="0" anchor="ctr"/>
          <a:lstStyle/>
          <a:p>
            <a:pPr algn="ctr" indent="0" marL="0">
              <a:buNone/>
            </a:pPr>
            <a:r>
              <a:rPr lang="en-US" sz="900" b="1" dirty="0">
                <a:solidFill>
                  <a:srgbClr val="FFFFFF"/>
                </a:solidFill>
              </a:rPr>
              <a:t>Ones</a:t>
            </a:r>
            <a:endParaRPr lang="en-US" sz="900" dirty="0"/>
          </a:p>
        </p:txBody>
      </p:sp>
      <p:sp>
        <p:nvSpPr>
          <p:cNvPr id="10" name="Shape 8"/>
          <p:cNvSpPr/>
          <p:nvPr/>
        </p:nvSpPr>
        <p:spPr>
          <a:xfrm>
            <a:off x="3968496" y="1051560"/>
            <a:ext cx="1024128" cy="365760"/>
          </a:xfrm>
          <a:prstGeom prst="rect">
            <a:avLst/>
          </a:prstGeom>
          <a:solidFill>
            <a:srgbClr val="1B2A4A"/>
          </a:solidFill>
          <a:ln w="12700">
            <a:solidFill>
              <a:srgbClr val="1B2A4A"/>
            </a:solidFill>
            <a:prstDash val="solid"/>
          </a:ln>
        </p:spPr>
      </p:sp>
      <p:sp>
        <p:nvSpPr>
          <p:cNvPr id="11" name="Text 9"/>
          <p:cNvSpPr/>
          <p:nvPr/>
        </p:nvSpPr>
        <p:spPr>
          <a:xfrm>
            <a:off x="3968496" y="1051560"/>
            <a:ext cx="1024128" cy="365760"/>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12" name="Shape 10"/>
          <p:cNvSpPr/>
          <p:nvPr/>
        </p:nvSpPr>
        <p:spPr>
          <a:xfrm>
            <a:off x="4992624" y="1051560"/>
            <a:ext cx="1024128" cy="365760"/>
          </a:xfrm>
          <a:prstGeom prst="rect">
            <a:avLst/>
          </a:prstGeom>
          <a:solidFill>
            <a:srgbClr val="1B2A4A"/>
          </a:solidFill>
          <a:ln w="12700">
            <a:solidFill>
              <a:srgbClr val="1B2A4A"/>
            </a:solidFill>
            <a:prstDash val="solid"/>
          </a:ln>
        </p:spPr>
      </p:sp>
      <p:sp>
        <p:nvSpPr>
          <p:cNvPr id="13" name="Text 11"/>
          <p:cNvSpPr/>
          <p:nvPr/>
        </p:nvSpPr>
        <p:spPr>
          <a:xfrm>
            <a:off x="4992624" y="1051560"/>
            <a:ext cx="1024128" cy="365760"/>
          </a:xfrm>
          <a:prstGeom prst="rect">
            <a:avLst/>
          </a:prstGeom>
          <a:noFill/>
          <a:ln/>
        </p:spPr>
        <p:txBody>
          <a:bodyPr wrap="square" lIns="0" tIns="0" rIns="0" bIns="0" rtlCol="0" anchor="ctr"/>
          <a:lstStyle/>
          <a:p>
            <a:pPr algn="ctr" indent="0" marL="0">
              <a:buNone/>
            </a:pPr>
            <a:r>
              <a:rPr lang="en-US" sz="900" b="1" dirty="0">
                <a:solidFill>
                  <a:srgbClr val="FFFFFF"/>
                </a:solidFill>
              </a:rPr>
              <a:t>Tenths</a:t>
            </a:r>
            <a:endParaRPr lang="en-US" sz="900" dirty="0"/>
          </a:p>
        </p:txBody>
      </p:sp>
      <p:sp>
        <p:nvSpPr>
          <p:cNvPr id="14" name="Shape 12"/>
          <p:cNvSpPr/>
          <p:nvPr/>
        </p:nvSpPr>
        <p:spPr>
          <a:xfrm>
            <a:off x="6016752" y="1051560"/>
            <a:ext cx="1024128" cy="365760"/>
          </a:xfrm>
          <a:prstGeom prst="rect">
            <a:avLst/>
          </a:prstGeom>
          <a:solidFill>
            <a:srgbClr val="1B2A4A"/>
          </a:solidFill>
          <a:ln w="12700">
            <a:solidFill>
              <a:srgbClr val="1B2A4A"/>
            </a:solidFill>
            <a:prstDash val="solid"/>
          </a:ln>
        </p:spPr>
      </p:sp>
      <p:sp>
        <p:nvSpPr>
          <p:cNvPr id="15" name="Text 13"/>
          <p:cNvSpPr/>
          <p:nvPr/>
        </p:nvSpPr>
        <p:spPr>
          <a:xfrm>
            <a:off x="6016752" y="1051560"/>
            <a:ext cx="1024128" cy="365760"/>
          </a:xfrm>
          <a:prstGeom prst="rect">
            <a:avLst/>
          </a:prstGeom>
          <a:noFill/>
          <a:ln/>
        </p:spPr>
        <p:txBody>
          <a:bodyPr wrap="square" lIns="0" tIns="0" rIns="0" bIns="0" rtlCol="0" anchor="ctr"/>
          <a:lstStyle/>
          <a:p>
            <a:pPr algn="ctr" indent="0" marL="0">
              <a:buNone/>
            </a:pPr>
            <a:r>
              <a:rPr lang="en-US" sz="900" b="1" dirty="0">
                <a:solidFill>
                  <a:srgbClr val="FFFFFF"/>
                </a:solidFill>
              </a:rPr>
              <a:t>Hundredths</a:t>
            </a:r>
            <a:endParaRPr lang="en-US" sz="900" dirty="0"/>
          </a:p>
        </p:txBody>
      </p:sp>
      <p:sp>
        <p:nvSpPr>
          <p:cNvPr id="16" name="Shape 14"/>
          <p:cNvSpPr/>
          <p:nvPr/>
        </p:nvSpPr>
        <p:spPr>
          <a:xfrm>
            <a:off x="1920240" y="1417320"/>
            <a:ext cx="1024128" cy="566928"/>
          </a:xfrm>
          <a:prstGeom prst="rect">
            <a:avLst/>
          </a:prstGeom>
          <a:solidFill>
            <a:srgbClr val="FFFFFF"/>
          </a:solidFill>
          <a:ln w="12700">
            <a:solidFill>
              <a:srgbClr val="999999"/>
            </a:solidFill>
            <a:prstDash val="solid"/>
          </a:ln>
        </p:spPr>
      </p:sp>
      <p:sp>
        <p:nvSpPr>
          <p:cNvPr id="17" name="Text 15"/>
          <p:cNvSpPr/>
          <p:nvPr/>
        </p:nvSpPr>
        <p:spPr>
          <a:xfrm>
            <a:off x="1920240" y="1417320"/>
            <a:ext cx="1024128"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5</a:t>
            </a:r>
            <a:endParaRPr lang="en-US" sz="2400" dirty="0"/>
          </a:p>
        </p:txBody>
      </p:sp>
      <p:sp>
        <p:nvSpPr>
          <p:cNvPr id="18" name="Shape 16"/>
          <p:cNvSpPr/>
          <p:nvPr/>
        </p:nvSpPr>
        <p:spPr>
          <a:xfrm>
            <a:off x="2944368" y="1417320"/>
            <a:ext cx="1024128" cy="566928"/>
          </a:xfrm>
          <a:prstGeom prst="rect">
            <a:avLst/>
          </a:prstGeom>
          <a:solidFill>
            <a:srgbClr val="FFFFFF"/>
          </a:solidFill>
          <a:ln w="12700">
            <a:solidFill>
              <a:srgbClr val="999999"/>
            </a:solidFill>
            <a:prstDash val="solid"/>
          </a:ln>
        </p:spPr>
      </p:sp>
      <p:sp>
        <p:nvSpPr>
          <p:cNvPr id="19" name="Text 17"/>
          <p:cNvSpPr/>
          <p:nvPr/>
        </p:nvSpPr>
        <p:spPr>
          <a:xfrm>
            <a:off x="2944368" y="1417320"/>
            <a:ext cx="1024128"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8</a:t>
            </a:r>
            <a:endParaRPr lang="en-US" sz="2400" dirty="0"/>
          </a:p>
        </p:txBody>
      </p:sp>
      <p:sp>
        <p:nvSpPr>
          <p:cNvPr id="20" name="Shape 18"/>
          <p:cNvSpPr/>
          <p:nvPr/>
        </p:nvSpPr>
        <p:spPr>
          <a:xfrm>
            <a:off x="3968496" y="1417320"/>
            <a:ext cx="1024128" cy="566928"/>
          </a:xfrm>
          <a:prstGeom prst="rect">
            <a:avLst/>
          </a:prstGeom>
          <a:solidFill>
            <a:srgbClr val="FFFFFF"/>
          </a:solidFill>
          <a:ln w="12700">
            <a:solidFill>
              <a:srgbClr val="999999"/>
            </a:solidFill>
            <a:prstDash val="solid"/>
          </a:ln>
        </p:spPr>
      </p:sp>
      <p:sp>
        <p:nvSpPr>
          <p:cNvPr id="21" name="Shape 19"/>
          <p:cNvSpPr/>
          <p:nvPr/>
        </p:nvSpPr>
        <p:spPr>
          <a:xfrm>
            <a:off x="4992624" y="1417320"/>
            <a:ext cx="1024128" cy="566928"/>
          </a:xfrm>
          <a:prstGeom prst="rect">
            <a:avLst/>
          </a:prstGeom>
          <a:solidFill>
            <a:srgbClr val="FFFFFF"/>
          </a:solidFill>
          <a:ln w="12700">
            <a:solidFill>
              <a:srgbClr val="999999"/>
            </a:solidFill>
            <a:prstDash val="solid"/>
          </a:ln>
        </p:spPr>
      </p:sp>
      <p:sp>
        <p:nvSpPr>
          <p:cNvPr id="22" name="Shape 20"/>
          <p:cNvSpPr/>
          <p:nvPr/>
        </p:nvSpPr>
        <p:spPr>
          <a:xfrm>
            <a:off x="6016752" y="1417320"/>
            <a:ext cx="1024128" cy="566928"/>
          </a:xfrm>
          <a:prstGeom prst="rect">
            <a:avLst/>
          </a:prstGeom>
          <a:solidFill>
            <a:srgbClr val="FFFFFF"/>
          </a:solidFill>
          <a:ln w="12700">
            <a:solidFill>
              <a:srgbClr val="999999"/>
            </a:solidFill>
            <a:prstDash val="solid"/>
          </a:ln>
        </p:spPr>
      </p:sp>
      <p:sp>
        <p:nvSpPr>
          <p:cNvPr id="23" name="Shape 21"/>
          <p:cNvSpPr/>
          <p:nvPr/>
        </p:nvSpPr>
        <p:spPr>
          <a:xfrm>
            <a:off x="1920240" y="2487168"/>
            <a:ext cx="1024128" cy="566928"/>
          </a:xfrm>
          <a:prstGeom prst="rect">
            <a:avLst/>
          </a:prstGeom>
          <a:solidFill>
            <a:srgbClr val="FFFFFF"/>
          </a:solidFill>
          <a:ln w="12700">
            <a:solidFill>
              <a:srgbClr val="999999"/>
            </a:solidFill>
            <a:prstDash val="solid"/>
          </a:ln>
        </p:spPr>
      </p:sp>
      <p:sp>
        <p:nvSpPr>
          <p:cNvPr id="24" name="Shape 22"/>
          <p:cNvSpPr/>
          <p:nvPr/>
        </p:nvSpPr>
        <p:spPr>
          <a:xfrm>
            <a:off x="2944368" y="2487168"/>
            <a:ext cx="1024128" cy="566928"/>
          </a:xfrm>
          <a:prstGeom prst="rect">
            <a:avLst/>
          </a:prstGeom>
          <a:solidFill>
            <a:srgbClr val="FFFFFF"/>
          </a:solidFill>
          <a:ln w="12700">
            <a:solidFill>
              <a:srgbClr val="999999"/>
            </a:solidFill>
            <a:prstDash val="solid"/>
          </a:ln>
        </p:spPr>
      </p:sp>
      <p:sp>
        <p:nvSpPr>
          <p:cNvPr id="25" name="Shape 23"/>
          <p:cNvSpPr/>
          <p:nvPr/>
        </p:nvSpPr>
        <p:spPr>
          <a:xfrm>
            <a:off x="3968496" y="2487168"/>
            <a:ext cx="1024128" cy="566928"/>
          </a:xfrm>
          <a:prstGeom prst="rect">
            <a:avLst/>
          </a:prstGeom>
          <a:solidFill>
            <a:srgbClr val="FFFFFF"/>
          </a:solidFill>
          <a:ln w="12700">
            <a:solidFill>
              <a:srgbClr val="999999"/>
            </a:solidFill>
            <a:prstDash val="solid"/>
          </a:ln>
        </p:spPr>
      </p:sp>
      <p:sp>
        <p:nvSpPr>
          <p:cNvPr id="26" name="Shape 24"/>
          <p:cNvSpPr/>
          <p:nvPr/>
        </p:nvSpPr>
        <p:spPr>
          <a:xfrm>
            <a:off x="4992624" y="2487168"/>
            <a:ext cx="1024128" cy="566928"/>
          </a:xfrm>
          <a:prstGeom prst="rect">
            <a:avLst/>
          </a:prstGeom>
          <a:solidFill>
            <a:srgbClr val="FFFFFF"/>
          </a:solidFill>
          <a:ln w="12700">
            <a:solidFill>
              <a:srgbClr val="999999"/>
            </a:solidFill>
            <a:prstDash val="solid"/>
          </a:ln>
        </p:spPr>
      </p:sp>
      <p:sp>
        <p:nvSpPr>
          <p:cNvPr id="27" name="Text 25"/>
          <p:cNvSpPr/>
          <p:nvPr/>
        </p:nvSpPr>
        <p:spPr>
          <a:xfrm>
            <a:off x="4992624" y="2487168"/>
            <a:ext cx="1024128"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5</a:t>
            </a:r>
            <a:endParaRPr lang="en-US" sz="2400" dirty="0"/>
          </a:p>
        </p:txBody>
      </p:sp>
      <p:sp>
        <p:nvSpPr>
          <p:cNvPr id="28" name="Shape 26"/>
          <p:cNvSpPr/>
          <p:nvPr/>
        </p:nvSpPr>
        <p:spPr>
          <a:xfrm>
            <a:off x="6016752" y="2487168"/>
            <a:ext cx="1024128" cy="566928"/>
          </a:xfrm>
          <a:prstGeom prst="rect">
            <a:avLst/>
          </a:prstGeom>
          <a:solidFill>
            <a:srgbClr val="FFFFFF"/>
          </a:solidFill>
          <a:ln w="12700">
            <a:solidFill>
              <a:srgbClr val="999999"/>
            </a:solidFill>
            <a:prstDash val="solid"/>
          </a:ln>
        </p:spPr>
      </p:sp>
      <p:sp>
        <p:nvSpPr>
          <p:cNvPr id="29" name="Text 27"/>
          <p:cNvSpPr/>
          <p:nvPr/>
        </p:nvSpPr>
        <p:spPr>
          <a:xfrm>
            <a:off x="6016752" y="2487168"/>
            <a:ext cx="1024128"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8</a:t>
            </a:r>
            <a:endParaRPr lang="en-US" sz="2400" dirty="0"/>
          </a:p>
        </p:txBody>
      </p:sp>
      <p:sp>
        <p:nvSpPr>
          <p:cNvPr id="30" name="Text 28"/>
          <p:cNvSpPr/>
          <p:nvPr/>
        </p:nvSpPr>
        <p:spPr>
          <a:xfrm>
            <a:off x="914400" y="1417320"/>
            <a:ext cx="914400" cy="566928"/>
          </a:xfrm>
          <a:prstGeom prst="rect">
            <a:avLst/>
          </a:prstGeom>
          <a:noFill/>
          <a:ln/>
        </p:spPr>
        <p:txBody>
          <a:bodyPr wrap="square" lIns="0" tIns="0" rIns="0" bIns="0" rtlCol="0" anchor="ctr"/>
          <a:lstStyle/>
          <a:p>
            <a:pPr algn="r" indent="0" marL="0">
              <a:buNone/>
            </a:pPr>
            <a:r>
              <a:rPr lang="en-US" sz="1000" b="1" dirty="0">
                <a:solidFill>
                  <a:srgbClr val="5A5A7A"/>
                </a:solidFill>
              </a:rPr>
              <a:t>58</a:t>
            </a:r>
            <a:endParaRPr lang="en-US" sz="1000" dirty="0"/>
          </a:p>
        </p:txBody>
      </p:sp>
      <p:sp>
        <p:nvSpPr>
          <p:cNvPr id="31" name="Text 29"/>
          <p:cNvSpPr/>
          <p:nvPr/>
        </p:nvSpPr>
        <p:spPr>
          <a:xfrm>
            <a:off x="914400" y="2487168"/>
            <a:ext cx="914400" cy="566928"/>
          </a:xfrm>
          <a:prstGeom prst="rect">
            <a:avLst/>
          </a:prstGeom>
          <a:noFill/>
          <a:ln/>
        </p:spPr>
        <p:txBody>
          <a:bodyPr wrap="square" lIns="0" tIns="0" rIns="0" bIns="0" rtlCol="0" anchor="ctr"/>
          <a:lstStyle/>
          <a:p>
            <a:pPr algn="r" indent="0" marL="0">
              <a:buNone/>
            </a:pPr>
            <a:r>
              <a:rPr lang="en-US" sz="1000" b="1" dirty="0">
                <a:solidFill>
                  <a:srgbClr val="5A5A7A"/>
                </a:solidFill>
              </a:rPr>
              <a:t>× 0.01 = 0.58</a:t>
            </a:r>
            <a:endParaRPr lang="en-US" sz="1000" dirty="0"/>
          </a:p>
        </p:txBody>
      </p:sp>
      <p:sp>
        <p:nvSpPr>
          <p:cNvPr id="32" name="Shape 30"/>
          <p:cNvSpPr/>
          <p:nvPr/>
        </p:nvSpPr>
        <p:spPr>
          <a:xfrm>
            <a:off x="2432304" y="1984248"/>
            <a:ext cx="3072384" cy="502920"/>
          </a:xfrm>
          <a:prstGeom prst="line">
            <a:avLst/>
          </a:prstGeom>
          <a:noFill/>
          <a:ln w="28575">
            <a:solidFill>
              <a:srgbClr val="D9941A"/>
            </a:solidFill>
            <a:prstDash val="solid"/>
            <a:tailEnd type="triangle"/>
          </a:ln>
        </p:spPr>
      </p:sp>
      <p:sp>
        <p:nvSpPr>
          <p:cNvPr id="33" name="Shape 31"/>
          <p:cNvSpPr/>
          <p:nvPr/>
        </p:nvSpPr>
        <p:spPr>
          <a:xfrm>
            <a:off x="3456432" y="1984248"/>
            <a:ext cx="3072384" cy="502920"/>
          </a:xfrm>
          <a:prstGeom prst="line">
            <a:avLst/>
          </a:prstGeom>
          <a:noFill/>
          <a:ln w="28575">
            <a:solidFill>
              <a:srgbClr val="D9941A"/>
            </a:solidFill>
            <a:prstDash val="solid"/>
            <a:tailEnd type="triangle"/>
          </a:ln>
        </p:spPr>
      </p:sp>
      <p:sp>
        <p:nvSpPr>
          <p:cNvPr id="34" name="Text 32"/>
          <p:cNvSpPr/>
          <p:nvPr/>
        </p:nvSpPr>
        <p:spPr>
          <a:xfrm>
            <a:off x="1920240" y="3145536"/>
            <a:ext cx="5120640" cy="365760"/>
          </a:xfrm>
          <a:prstGeom prst="rect">
            <a:avLst/>
          </a:prstGeom>
          <a:noFill/>
          <a:ln/>
        </p:spPr>
        <p:txBody>
          <a:bodyPr wrap="square" lIns="0" tIns="0" rIns="0" bIns="0" rtlCol="0" anchor="ctr"/>
          <a:lstStyle/>
          <a:p>
            <a:pPr algn="ctr" indent="0" marL="0">
              <a:buNone/>
            </a:pPr>
            <a:r>
              <a:rPr lang="en-US" sz="1200" i="1" dirty="0">
                <a:solidFill>
                  <a:srgbClr val="5A5A7A"/>
                </a:solidFill>
              </a:rPr>
              <a:t>Each digit slides TWO places right -- one tenth as far becomes one hundredth as far.</a:t>
            </a:r>
            <a:endParaRPr lang="en-US" sz="1200" dirty="0"/>
          </a:p>
        </p:txBody>
      </p:sp>
      <p:sp>
        <p:nvSpPr>
          <p:cNvPr id="35" name="Shape 33"/>
          <p:cNvSpPr/>
          <p:nvPr/>
        </p:nvSpPr>
        <p:spPr>
          <a:xfrm>
            <a:off x="1828800" y="4160520"/>
            <a:ext cx="5486400" cy="438912"/>
          </a:xfrm>
          <a:prstGeom prst="roundRect">
            <a:avLst>
              <a:gd name="adj" fmla="val 12500"/>
            </a:avLst>
          </a:prstGeom>
          <a:solidFill>
            <a:srgbClr val="464EB8"/>
          </a:solidFill>
          <a:ln w="12700">
            <a:solidFill>
              <a:srgbClr val="464EB8"/>
            </a:solidFill>
            <a:prstDash val="solid"/>
          </a:ln>
        </p:spPr>
      </p:sp>
      <p:sp>
        <p:nvSpPr>
          <p:cNvPr id="36" name="Text 34"/>
          <p:cNvSpPr/>
          <p:nvPr/>
        </p:nvSpPr>
        <p:spPr>
          <a:xfrm>
            <a:off x="1828800" y="416052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how many places did each digit move?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Abstract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Rule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188720"/>
            <a:ext cx="8229600" cy="2103120"/>
          </a:xfrm>
          <a:prstGeom prst="roundRect">
            <a:avLst>
              <a:gd name="adj" fmla="val 4348"/>
            </a:avLst>
          </a:prstGeom>
          <a:solidFill>
            <a:srgbClr val="F3E6EF"/>
          </a:solidFill>
          <a:ln w="6350">
            <a:solidFill>
              <a:srgbClr val="DDDDEE"/>
            </a:solidFill>
            <a:prstDash val="solid"/>
          </a:ln>
        </p:spPr>
      </p:sp>
      <p:sp>
        <p:nvSpPr>
          <p:cNvPr id="7" name="Text 5"/>
          <p:cNvSpPr/>
          <p:nvPr/>
        </p:nvSpPr>
        <p:spPr>
          <a:xfrm>
            <a:off x="731520" y="1371600"/>
            <a:ext cx="7680960" cy="1737360"/>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To multiply by 0.1, move the decimal point one place to the left in the product (each digit becomes one place smaller). To multiply by 0.01, move the decimal point two places to the left. This is the same as dividing by 10 or by 100.</a:t>
            </a:r>
            <a:endParaRPr lang="en-US" sz="1500" dirty="0"/>
          </a:p>
        </p:txBody>
      </p:sp>
      <p:sp>
        <p:nvSpPr>
          <p:cNvPr id="8" name="Shape 6"/>
          <p:cNvSpPr/>
          <p:nvPr/>
        </p:nvSpPr>
        <p:spPr>
          <a:xfrm>
            <a:off x="914400" y="3520440"/>
            <a:ext cx="73152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914400" y="3520440"/>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how many places does the point move for ×0.01?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Key Terms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77640" cy="1554480"/>
          </a:xfrm>
          <a:prstGeom prst="roundRect">
            <a:avLst>
              <a:gd name="adj" fmla="val 5882"/>
            </a:avLst>
          </a:prstGeom>
          <a:solidFill>
            <a:srgbClr val="FFFFFF"/>
          </a:solidFill>
          <a:ln w="6350">
            <a:solidFill>
              <a:srgbClr val="DDDDEE"/>
            </a:solidFill>
            <a:prstDash val="solid"/>
          </a:ln>
        </p:spPr>
      </p:sp>
      <p:sp>
        <p:nvSpPr>
          <p:cNvPr id="7" name="Text 5"/>
          <p:cNvSpPr/>
          <p:nvPr/>
        </p:nvSpPr>
        <p:spPr>
          <a:xfrm>
            <a:off x="640080" y="1051560"/>
            <a:ext cx="3657600" cy="365760"/>
          </a:xfrm>
          <a:prstGeom prst="rect">
            <a:avLst/>
          </a:prstGeom>
          <a:noFill/>
          <a:ln/>
        </p:spPr>
        <p:txBody>
          <a:bodyPr wrap="square" lIns="0" tIns="0" rIns="0" bIns="0" rtlCol="0" anchor="ctr"/>
          <a:lstStyle/>
          <a:p>
            <a:pPr indent="0" marL="0">
              <a:buNone/>
            </a:pPr>
            <a:r>
              <a:rPr lang="en-US" sz="1600" b="1" dirty="0">
                <a:solidFill>
                  <a:srgbClr val="7A3B6E"/>
                </a:solidFill>
                <a:latin typeface="Cambria" pitchFamily="34" charset="0"/>
                <a:ea typeface="Cambria" pitchFamily="34" charset="-122"/>
                <a:cs typeface="Cambria" pitchFamily="34" charset="-120"/>
              </a:rPr>
              <a:t>one tenth</a:t>
            </a:r>
            <a:endParaRPr lang="en-US" sz="1600" dirty="0"/>
          </a:p>
        </p:txBody>
      </p:sp>
      <p:sp>
        <p:nvSpPr>
          <p:cNvPr id="8" name="Text 6"/>
          <p:cNvSpPr/>
          <p:nvPr/>
        </p:nvSpPr>
        <p:spPr>
          <a:xfrm>
            <a:off x="640080" y="1417320"/>
            <a:ext cx="3657600" cy="548640"/>
          </a:xfrm>
          <a:prstGeom prst="rect">
            <a:avLst/>
          </a:prstGeom>
          <a:noFill/>
          <a:ln/>
        </p:spPr>
        <p:txBody>
          <a:bodyPr wrap="square" lIns="0" tIns="0" rIns="0" bIns="0" rtlCol="0" anchor="ctr"/>
          <a:lstStyle/>
          <a:p>
            <a:pPr indent="0" marL="0">
              <a:buNone/>
            </a:pPr>
            <a:r>
              <a:rPr lang="en-US" sz="1200" dirty="0">
                <a:solidFill>
                  <a:srgbClr val="1A1A2E"/>
                </a:solidFill>
              </a:rPr>
              <a:t>one equal part when a whole is split into 10 parts</a:t>
            </a:r>
            <a:endParaRPr lang="en-US" sz="1200" dirty="0"/>
          </a:p>
        </p:txBody>
      </p:sp>
      <p:sp>
        <p:nvSpPr>
          <p:cNvPr id="9" name="Text 7"/>
          <p:cNvSpPr/>
          <p:nvPr/>
        </p:nvSpPr>
        <p:spPr>
          <a:xfrm>
            <a:off x="640080" y="1965960"/>
            <a:ext cx="3657600" cy="457200"/>
          </a:xfrm>
          <a:prstGeom prst="rect">
            <a:avLst/>
          </a:prstGeom>
          <a:noFill/>
          <a:ln/>
        </p:spPr>
        <p:txBody>
          <a:bodyPr wrap="square" lIns="0" tIns="0" rIns="0" bIns="0" rtlCol="0" anchor="ctr"/>
          <a:lstStyle/>
          <a:p>
            <a:pPr indent="0" marL="0">
              <a:buNone/>
            </a:pPr>
            <a:r>
              <a:rPr lang="en-US" sz="1100" i="1" dirty="0">
                <a:solidFill>
                  <a:srgbClr val="5A5A7A"/>
                </a:solidFill>
              </a:rPr>
              <a:t>e.g. 58 × 0.1 = 5.8</a:t>
            </a:r>
            <a:endParaRPr lang="en-US" sz="1100" dirty="0"/>
          </a:p>
        </p:txBody>
      </p:sp>
      <p:sp>
        <p:nvSpPr>
          <p:cNvPr id="10" name="Shape 8"/>
          <p:cNvSpPr/>
          <p:nvPr/>
        </p:nvSpPr>
        <p:spPr>
          <a:xfrm>
            <a:off x="4663440" y="960120"/>
            <a:ext cx="3977640" cy="1554480"/>
          </a:xfrm>
          <a:prstGeom prst="roundRect">
            <a:avLst>
              <a:gd name="adj" fmla="val 5882"/>
            </a:avLst>
          </a:prstGeom>
          <a:solidFill>
            <a:srgbClr val="FFFFFF"/>
          </a:solidFill>
          <a:ln w="6350">
            <a:solidFill>
              <a:srgbClr val="DDDDEE"/>
            </a:solidFill>
            <a:prstDash val="solid"/>
          </a:ln>
        </p:spPr>
      </p:sp>
      <p:sp>
        <p:nvSpPr>
          <p:cNvPr id="11" name="Text 9"/>
          <p:cNvSpPr/>
          <p:nvPr/>
        </p:nvSpPr>
        <p:spPr>
          <a:xfrm>
            <a:off x="4846320" y="1051560"/>
            <a:ext cx="3657600" cy="365760"/>
          </a:xfrm>
          <a:prstGeom prst="rect">
            <a:avLst/>
          </a:prstGeom>
          <a:noFill/>
          <a:ln/>
        </p:spPr>
        <p:txBody>
          <a:bodyPr wrap="square" lIns="0" tIns="0" rIns="0" bIns="0" rtlCol="0" anchor="ctr"/>
          <a:lstStyle/>
          <a:p>
            <a:pPr indent="0" marL="0">
              <a:buNone/>
            </a:pPr>
            <a:r>
              <a:rPr lang="en-US" sz="1600" b="1" dirty="0">
                <a:solidFill>
                  <a:srgbClr val="7A3B6E"/>
                </a:solidFill>
                <a:latin typeface="Cambria" pitchFamily="34" charset="0"/>
                <a:ea typeface="Cambria" pitchFamily="34" charset="-122"/>
                <a:cs typeface="Cambria" pitchFamily="34" charset="-120"/>
              </a:rPr>
              <a:t>one hundredth</a:t>
            </a:r>
            <a:endParaRPr lang="en-US" sz="1600" dirty="0"/>
          </a:p>
        </p:txBody>
      </p:sp>
      <p:sp>
        <p:nvSpPr>
          <p:cNvPr id="12" name="Text 10"/>
          <p:cNvSpPr/>
          <p:nvPr/>
        </p:nvSpPr>
        <p:spPr>
          <a:xfrm>
            <a:off x="4846320" y="1417320"/>
            <a:ext cx="3657600" cy="548640"/>
          </a:xfrm>
          <a:prstGeom prst="rect">
            <a:avLst/>
          </a:prstGeom>
          <a:noFill/>
          <a:ln/>
        </p:spPr>
        <p:txBody>
          <a:bodyPr wrap="square" lIns="0" tIns="0" rIns="0" bIns="0" rtlCol="0" anchor="ctr"/>
          <a:lstStyle/>
          <a:p>
            <a:pPr indent="0" marL="0">
              <a:buNone/>
            </a:pPr>
            <a:r>
              <a:rPr lang="en-US" sz="1200" dirty="0">
                <a:solidFill>
                  <a:srgbClr val="1A1A2E"/>
                </a:solidFill>
              </a:rPr>
              <a:t>one equal part when a whole is split into 100 parts</a:t>
            </a:r>
            <a:endParaRPr lang="en-US" sz="1200" dirty="0"/>
          </a:p>
        </p:txBody>
      </p:sp>
      <p:sp>
        <p:nvSpPr>
          <p:cNvPr id="13" name="Text 11"/>
          <p:cNvSpPr/>
          <p:nvPr/>
        </p:nvSpPr>
        <p:spPr>
          <a:xfrm>
            <a:off x="4846320" y="1965960"/>
            <a:ext cx="3657600" cy="457200"/>
          </a:xfrm>
          <a:prstGeom prst="rect">
            <a:avLst/>
          </a:prstGeom>
          <a:noFill/>
          <a:ln/>
        </p:spPr>
        <p:txBody>
          <a:bodyPr wrap="square" lIns="0" tIns="0" rIns="0" bIns="0" rtlCol="0" anchor="ctr"/>
          <a:lstStyle/>
          <a:p>
            <a:pPr indent="0" marL="0">
              <a:buNone/>
            </a:pPr>
            <a:r>
              <a:rPr lang="en-US" sz="1100" i="1" dirty="0">
                <a:solidFill>
                  <a:srgbClr val="5A5A7A"/>
                </a:solidFill>
              </a:rPr>
              <a:t>e.g. 58 × 0.01 = 0.58</a:t>
            </a:r>
            <a:endParaRPr lang="en-US" sz="1100" dirty="0"/>
          </a:p>
        </p:txBody>
      </p:sp>
      <p:sp>
        <p:nvSpPr>
          <p:cNvPr id="14" name="Shape 12"/>
          <p:cNvSpPr/>
          <p:nvPr/>
        </p:nvSpPr>
        <p:spPr>
          <a:xfrm>
            <a:off x="457200" y="2651760"/>
            <a:ext cx="3977640" cy="1554480"/>
          </a:xfrm>
          <a:prstGeom prst="roundRect">
            <a:avLst>
              <a:gd name="adj" fmla="val 5882"/>
            </a:avLst>
          </a:prstGeom>
          <a:solidFill>
            <a:srgbClr val="FFFFFF"/>
          </a:solidFill>
          <a:ln w="6350">
            <a:solidFill>
              <a:srgbClr val="DDDDEE"/>
            </a:solidFill>
            <a:prstDash val="solid"/>
          </a:ln>
        </p:spPr>
      </p:sp>
      <p:sp>
        <p:nvSpPr>
          <p:cNvPr id="15" name="Text 13"/>
          <p:cNvSpPr/>
          <p:nvPr/>
        </p:nvSpPr>
        <p:spPr>
          <a:xfrm>
            <a:off x="640080" y="2743200"/>
            <a:ext cx="3657600" cy="365760"/>
          </a:xfrm>
          <a:prstGeom prst="rect">
            <a:avLst/>
          </a:prstGeom>
          <a:noFill/>
          <a:ln/>
        </p:spPr>
        <p:txBody>
          <a:bodyPr wrap="square" lIns="0" tIns="0" rIns="0" bIns="0" rtlCol="0" anchor="ctr"/>
          <a:lstStyle/>
          <a:p>
            <a:pPr indent="0" marL="0">
              <a:buNone/>
            </a:pPr>
            <a:r>
              <a:rPr lang="en-US" sz="1600" b="1" dirty="0">
                <a:solidFill>
                  <a:srgbClr val="7A3B6E"/>
                </a:solidFill>
                <a:latin typeface="Cambria" pitchFamily="34" charset="0"/>
                <a:ea typeface="Cambria" pitchFamily="34" charset="-122"/>
                <a:cs typeface="Cambria" pitchFamily="34" charset="-120"/>
              </a:rPr>
              <a:t>factor</a:t>
            </a:r>
            <a:endParaRPr lang="en-US" sz="1600" dirty="0"/>
          </a:p>
        </p:txBody>
      </p:sp>
      <p:sp>
        <p:nvSpPr>
          <p:cNvPr id="16" name="Text 14"/>
          <p:cNvSpPr/>
          <p:nvPr/>
        </p:nvSpPr>
        <p:spPr>
          <a:xfrm>
            <a:off x="640080" y="3108960"/>
            <a:ext cx="3657600" cy="548640"/>
          </a:xfrm>
          <a:prstGeom prst="rect">
            <a:avLst/>
          </a:prstGeom>
          <a:noFill/>
          <a:ln/>
        </p:spPr>
        <p:txBody>
          <a:bodyPr wrap="square" lIns="0" tIns="0" rIns="0" bIns="0" rtlCol="0" anchor="ctr"/>
          <a:lstStyle/>
          <a:p>
            <a:pPr indent="0" marL="0">
              <a:buNone/>
            </a:pPr>
            <a:r>
              <a:rPr lang="en-US" sz="1200" dirty="0">
                <a:solidFill>
                  <a:srgbClr val="1A1A2E"/>
                </a:solidFill>
              </a:rPr>
              <a:t>a number being multiplied</a:t>
            </a:r>
            <a:endParaRPr lang="en-US" sz="1200" dirty="0"/>
          </a:p>
        </p:txBody>
      </p:sp>
      <p:sp>
        <p:nvSpPr>
          <p:cNvPr id="17" name="Text 15"/>
          <p:cNvSpPr/>
          <p:nvPr/>
        </p:nvSpPr>
        <p:spPr>
          <a:xfrm>
            <a:off x="640080" y="3657600"/>
            <a:ext cx="3657600" cy="457200"/>
          </a:xfrm>
          <a:prstGeom prst="rect">
            <a:avLst/>
          </a:prstGeom>
          <a:noFill/>
          <a:ln/>
        </p:spPr>
        <p:txBody>
          <a:bodyPr wrap="square" lIns="0" tIns="0" rIns="0" bIns="0" rtlCol="0" anchor="ctr"/>
          <a:lstStyle/>
          <a:p>
            <a:pPr indent="0" marL="0">
              <a:buNone/>
            </a:pPr>
            <a:r>
              <a:rPr lang="en-US" sz="1100" i="1" dirty="0">
                <a:solidFill>
                  <a:srgbClr val="5A5A7A"/>
                </a:solidFill>
              </a:rPr>
              <a:t>e.g. in 58 × 0.1, both 58 and 0.1 are factors</a:t>
            </a:r>
            <a:endParaRPr lang="en-US" sz="1100" dirty="0"/>
          </a:p>
        </p:txBody>
      </p:sp>
      <p:sp>
        <p:nvSpPr>
          <p:cNvPr id="18" name="Shape 16"/>
          <p:cNvSpPr/>
          <p:nvPr/>
        </p:nvSpPr>
        <p:spPr>
          <a:xfrm>
            <a:off x="4663440" y="2651760"/>
            <a:ext cx="3977640" cy="1554480"/>
          </a:xfrm>
          <a:prstGeom prst="roundRect">
            <a:avLst>
              <a:gd name="adj" fmla="val 5882"/>
            </a:avLst>
          </a:prstGeom>
          <a:solidFill>
            <a:srgbClr val="FFFFFF"/>
          </a:solidFill>
          <a:ln w="6350">
            <a:solidFill>
              <a:srgbClr val="DDDDEE"/>
            </a:solidFill>
            <a:prstDash val="solid"/>
          </a:ln>
        </p:spPr>
      </p:sp>
      <p:sp>
        <p:nvSpPr>
          <p:cNvPr id="19" name="Text 17"/>
          <p:cNvSpPr/>
          <p:nvPr/>
        </p:nvSpPr>
        <p:spPr>
          <a:xfrm>
            <a:off x="4846320" y="2743200"/>
            <a:ext cx="3657600" cy="365760"/>
          </a:xfrm>
          <a:prstGeom prst="rect">
            <a:avLst/>
          </a:prstGeom>
          <a:noFill/>
          <a:ln/>
        </p:spPr>
        <p:txBody>
          <a:bodyPr wrap="square" lIns="0" tIns="0" rIns="0" bIns="0" rtlCol="0" anchor="ctr"/>
          <a:lstStyle/>
          <a:p>
            <a:pPr indent="0" marL="0">
              <a:buNone/>
            </a:pPr>
            <a:r>
              <a:rPr lang="en-US" sz="1600" b="1" dirty="0">
                <a:solidFill>
                  <a:srgbClr val="7A3B6E"/>
                </a:solidFill>
                <a:latin typeface="Cambria" pitchFamily="34" charset="0"/>
                <a:ea typeface="Cambria" pitchFamily="34" charset="-122"/>
                <a:cs typeface="Cambria" pitchFamily="34" charset="-120"/>
              </a:rPr>
              <a:t>product</a:t>
            </a:r>
            <a:endParaRPr lang="en-US" sz="1600" dirty="0"/>
          </a:p>
        </p:txBody>
      </p:sp>
      <p:sp>
        <p:nvSpPr>
          <p:cNvPr id="20" name="Text 18"/>
          <p:cNvSpPr/>
          <p:nvPr/>
        </p:nvSpPr>
        <p:spPr>
          <a:xfrm>
            <a:off x="4846320" y="3108960"/>
            <a:ext cx="3657600" cy="548640"/>
          </a:xfrm>
          <a:prstGeom prst="rect">
            <a:avLst/>
          </a:prstGeom>
          <a:noFill/>
          <a:ln/>
        </p:spPr>
        <p:txBody>
          <a:bodyPr wrap="square" lIns="0" tIns="0" rIns="0" bIns="0" rtlCol="0" anchor="ctr"/>
          <a:lstStyle/>
          <a:p>
            <a:pPr indent="0" marL="0">
              <a:buNone/>
            </a:pPr>
            <a:r>
              <a:rPr lang="en-US" sz="1200" dirty="0">
                <a:solidFill>
                  <a:srgbClr val="1A1A2E"/>
                </a:solidFill>
              </a:rPr>
              <a:t>the answer to a multiplication problem</a:t>
            </a:r>
            <a:endParaRPr lang="en-US" sz="1200" dirty="0"/>
          </a:p>
        </p:txBody>
      </p:sp>
      <p:sp>
        <p:nvSpPr>
          <p:cNvPr id="21" name="Text 19"/>
          <p:cNvSpPr/>
          <p:nvPr/>
        </p:nvSpPr>
        <p:spPr>
          <a:xfrm>
            <a:off x="4846320" y="3657600"/>
            <a:ext cx="3657600" cy="457200"/>
          </a:xfrm>
          <a:prstGeom prst="rect">
            <a:avLst/>
          </a:prstGeom>
          <a:noFill/>
          <a:ln/>
        </p:spPr>
        <p:txBody>
          <a:bodyPr wrap="square" lIns="0" tIns="0" rIns="0" bIns="0" rtlCol="0" anchor="ctr"/>
          <a:lstStyle/>
          <a:p>
            <a:pPr indent="0" marL="0">
              <a:buNone/>
            </a:pPr>
            <a:r>
              <a:rPr lang="en-US" sz="1100" i="1" dirty="0">
                <a:solidFill>
                  <a:srgbClr val="5A5A7A"/>
                </a:solidFill>
              </a:rPr>
              <a:t>e.g. 5.8 is the product of 58 × 0.1</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WATCH &amp; FOLLOW</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Text 4"/>
          <p:cNvSpPr/>
          <p:nvPr/>
        </p:nvSpPr>
        <p:spPr>
          <a:xfrm>
            <a:off x="457200" y="896112"/>
            <a:ext cx="8229600" cy="365760"/>
          </a:xfrm>
          <a:prstGeom prst="rect">
            <a:avLst/>
          </a:prstGeom>
          <a:noFill/>
          <a:ln/>
        </p:spPr>
        <p:txBody>
          <a:bodyPr wrap="square" lIns="0" tIns="0" rIns="0" bIns="0" rtlCol="0" anchor="ctr"/>
          <a:lstStyle/>
          <a:p>
            <a:pPr indent="0" marL="0">
              <a:buNone/>
            </a:pPr>
            <a:r>
              <a:rPr lang="en-US" sz="1500" b="1" dirty="0">
                <a:solidFill>
                  <a:srgbClr val="7A3B6E"/>
                </a:solidFill>
              </a:rPr>
              <a:t>7.6 × 0.1 and 7.6 × 0.01</a:t>
            </a:r>
            <a:endParaRPr lang="en-US" sz="1500" dirty="0"/>
          </a:p>
        </p:txBody>
      </p:sp>
      <p:sp>
        <p:nvSpPr>
          <p:cNvPr id="7" name="Shape 5"/>
          <p:cNvSpPr/>
          <p:nvPr/>
        </p:nvSpPr>
        <p:spPr>
          <a:xfrm>
            <a:off x="1188720" y="1371600"/>
            <a:ext cx="777240" cy="365760"/>
          </a:xfrm>
          <a:prstGeom prst="rect">
            <a:avLst/>
          </a:prstGeom>
          <a:solidFill>
            <a:srgbClr val="1B2A4A"/>
          </a:solidFill>
          <a:ln w="12700">
            <a:solidFill>
              <a:srgbClr val="1B2A4A"/>
            </a:solidFill>
            <a:prstDash val="solid"/>
          </a:ln>
        </p:spPr>
      </p:sp>
      <p:sp>
        <p:nvSpPr>
          <p:cNvPr id="8" name="Text 6"/>
          <p:cNvSpPr/>
          <p:nvPr/>
        </p:nvSpPr>
        <p:spPr>
          <a:xfrm>
            <a:off x="1188720" y="1371600"/>
            <a:ext cx="777240" cy="365760"/>
          </a:xfrm>
          <a:prstGeom prst="rect">
            <a:avLst/>
          </a:prstGeom>
          <a:noFill/>
          <a:ln/>
        </p:spPr>
        <p:txBody>
          <a:bodyPr wrap="square" lIns="0" tIns="0" rIns="0" bIns="0" rtlCol="0" anchor="ctr"/>
          <a:lstStyle/>
          <a:p>
            <a:pPr algn="ctr" indent="0" marL="0">
              <a:buNone/>
            </a:pPr>
            <a:r>
              <a:rPr lang="en-US" sz="900" b="1" dirty="0">
                <a:solidFill>
                  <a:srgbClr val="FFFFFF"/>
                </a:solidFill>
              </a:rPr>
              <a:t>Ones</a:t>
            </a:r>
            <a:endParaRPr lang="en-US" sz="900" dirty="0"/>
          </a:p>
        </p:txBody>
      </p:sp>
      <p:sp>
        <p:nvSpPr>
          <p:cNvPr id="9" name="Shape 7"/>
          <p:cNvSpPr/>
          <p:nvPr/>
        </p:nvSpPr>
        <p:spPr>
          <a:xfrm>
            <a:off x="1965960" y="1371600"/>
            <a:ext cx="777240" cy="365760"/>
          </a:xfrm>
          <a:prstGeom prst="rect">
            <a:avLst/>
          </a:prstGeom>
          <a:solidFill>
            <a:srgbClr val="1B2A4A"/>
          </a:solidFill>
          <a:ln w="12700">
            <a:solidFill>
              <a:srgbClr val="1B2A4A"/>
            </a:solidFill>
            <a:prstDash val="solid"/>
          </a:ln>
        </p:spPr>
      </p:sp>
      <p:sp>
        <p:nvSpPr>
          <p:cNvPr id="10" name="Text 8"/>
          <p:cNvSpPr/>
          <p:nvPr/>
        </p:nvSpPr>
        <p:spPr>
          <a:xfrm>
            <a:off x="1965960" y="1371600"/>
            <a:ext cx="777240" cy="365760"/>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11" name="Shape 9"/>
          <p:cNvSpPr/>
          <p:nvPr/>
        </p:nvSpPr>
        <p:spPr>
          <a:xfrm>
            <a:off x="2743200" y="1371600"/>
            <a:ext cx="777240" cy="365760"/>
          </a:xfrm>
          <a:prstGeom prst="rect">
            <a:avLst/>
          </a:prstGeom>
          <a:solidFill>
            <a:srgbClr val="1B2A4A"/>
          </a:solidFill>
          <a:ln w="12700">
            <a:solidFill>
              <a:srgbClr val="1B2A4A"/>
            </a:solidFill>
            <a:prstDash val="solid"/>
          </a:ln>
        </p:spPr>
      </p:sp>
      <p:sp>
        <p:nvSpPr>
          <p:cNvPr id="12" name="Text 10"/>
          <p:cNvSpPr/>
          <p:nvPr/>
        </p:nvSpPr>
        <p:spPr>
          <a:xfrm>
            <a:off x="2743200" y="1371600"/>
            <a:ext cx="777240" cy="365760"/>
          </a:xfrm>
          <a:prstGeom prst="rect">
            <a:avLst/>
          </a:prstGeom>
          <a:noFill/>
          <a:ln/>
        </p:spPr>
        <p:txBody>
          <a:bodyPr wrap="square" lIns="0" tIns="0" rIns="0" bIns="0" rtlCol="0" anchor="ctr"/>
          <a:lstStyle/>
          <a:p>
            <a:pPr algn="ctr" indent="0" marL="0">
              <a:buNone/>
            </a:pPr>
            <a:r>
              <a:rPr lang="en-US" sz="900" b="1" dirty="0">
                <a:solidFill>
                  <a:srgbClr val="FFFFFF"/>
                </a:solidFill>
              </a:rPr>
              <a:t>Tenths</a:t>
            </a:r>
            <a:endParaRPr lang="en-US" sz="900" dirty="0"/>
          </a:p>
        </p:txBody>
      </p:sp>
      <p:sp>
        <p:nvSpPr>
          <p:cNvPr id="13" name="Shape 11"/>
          <p:cNvSpPr/>
          <p:nvPr/>
        </p:nvSpPr>
        <p:spPr>
          <a:xfrm>
            <a:off x="3520440" y="1371600"/>
            <a:ext cx="777240" cy="365760"/>
          </a:xfrm>
          <a:prstGeom prst="rect">
            <a:avLst/>
          </a:prstGeom>
          <a:solidFill>
            <a:srgbClr val="1B2A4A"/>
          </a:solidFill>
          <a:ln w="12700">
            <a:solidFill>
              <a:srgbClr val="1B2A4A"/>
            </a:solidFill>
            <a:prstDash val="solid"/>
          </a:ln>
        </p:spPr>
      </p:sp>
      <p:sp>
        <p:nvSpPr>
          <p:cNvPr id="14" name="Text 12"/>
          <p:cNvSpPr/>
          <p:nvPr/>
        </p:nvSpPr>
        <p:spPr>
          <a:xfrm>
            <a:off x="3520440" y="1371600"/>
            <a:ext cx="777240" cy="365760"/>
          </a:xfrm>
          <a:prstGeom prst="rect">
            <a:avLst/>
          </a:prstGeom>
          <a:noFill/>
          <a:ln/>
        </p:spPr>
        <p:txBody>
          <a:bodyPr wrap="square" lIns="0" tIns="0" rIns="0" bIns="0" rtlCol="0" anchor="ctr"/>
          <a:lstStyle/>
          <a:p>
            <a:pPr algn="ctr" indent="0" marL="0">
              <a:buNone/>
            </a:pPr>
            <a:r>
              <a:rPr lang="en-US" sz="900" b="1" dirty="0">
                <a:solidFill>
                  <a:srgbClr val="FFFFFF"/>
                </a:solidFill>
              </a:rPr>
              <a:t>Hundredths</a:t>
            </a:r>
            <a:endParaRPr lang="en-US" sz="900" dirty="0"/>
          </a:p>
        </p:txBody>
      </p:sp>
      <p:sp>
        <p:nvSpPr>
          <p:cNvPr id="15" name="Shape 13"/>
          <p:cNvSpPr/>
          <p:nvPr/>
        </p:nvSpPr>
        <p:spPr>
          <a:xfrm>
            <a:off x="1188720" y="1737360"/>
            <a:ext cx="777240" cy="566928"/>
          </a:xfrm>
          <a:prstGeom prst="rect">
            <a:avLst/>
          </a:prstGeom>
          <a:solidFill>
            <a:srgbClr val="FFFFFF"/>
          </a:solidFill>
          <a:ln w="12700">
            <a:solidFill>
              <a:srgbClr val="999999"/>
            </a:solidFill>
            <a:prstDash val="solid"/>
          </a:ln>
        </p:spPr>
      </p:sp>
      <p:sp>
        <p:nvSpPr>
          <p:cNvPr id="16" name="Text 14"/>
          <p:cNvSpPr/>
          <p:nvPr/>
        </p:nvSpPr>
        <p:spPr>
          <a:xfrm>
            <a:off x="1188720" y="1737360"/>
            <a:ext cx="77724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7</a:t>
            </a:r>
            <a:endParaRPr lang="en-US" sz="2400" dirty="0"/>
          </a:p>
        </p:txBody>
      </p:sp>
      <p:sp>
        <p:nvSpPr>
          <p:cNvPr id="17" name="Shape 15"/>
          <p:cNvSpPr/>
          <p:nvPr/>
        </p:nvSpPr>
        <p:spPr>
          <a:xfrm>
            <a:off x="1965960" y="1737360"/>
            <a:ext cx="777240" cy="566928"/>
          </a:xfrm>
          <a:prstGeom prst="rect">
            <a:avLst/>
          </a:prstGeom>
          <a:solidFill>
            <a:srgbClr val="FFFFFF"/>
          </a:solidFill>
          <a:ln w="12700">
            <a:solidFill>
              <a:srgbClr val="999999"/>
            </a:solidFill>
            <a:prstDash val="solid"/>
          </a:ln>
        </p:spPr>
      </p:sp>
      <p:sp>
        <p:nvSpPr>
          <p:cNvPr id="18" name="Shape 16"/>
          <p:cNvSpPr/>
          <p:nvPr/>
        </p:nvSpPr>
        <p:spPr>
          <a:xfrm>
            <a:off x="2743200" y="1737360"/>
            <a:ext cx="777240" cy="566928"/>
          </a:xfrm>
          <a:prstGeom prst="rect">
            <a:avLst/>
          </a:prstGeom>
          <a:solidFill>
            <a:srgbClr val="FFFFFF"/>
          </a:solidFill>
          <a:ln w="12700">
            <a:solidFill>
              <a:srgbClr val="999999"/>
            </a:solidFill>
            <a:prstDash val="solid"/>
          </a:ln>
        </p:spPr>
      </p:sp>
      <p:sp>
        <p:nvSpPr>
          <p:cNvPr id="19" name="Text 17"/>
          <p:cNvSpPr/>
          <p:nvPr/>
        </p:nvSpPr>
        <p:spPr>
          <a:xfrm>
            <a:off x="2743200" y="1737360"/>
            <a:ext cx="77724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6</a:t>
            </a:r>
            <a:endParaRPr lang="en-US" sz="2400" dirty="0"/>
          </a:p>
        </p:txBody>
      </p:sp>
      <p:sp>
        <p:nvSpPr>
          <p:cNvPr id="20" name="Shape 18"/>
          <p:cNvSpPr/>
          <p:nvPr/>
        </p:nvSpPr>
        <p:spPr>
          <a:xfrm>
            <a:off x="3520440" y="1737360"/>
            <a:ext cx="777240" cy="566928"/>
          </a:xfrm>
          <a:prstGeom prst="rect">
            <a:avLst/>
          </a:prstGeom>
          <a:solidFill>
            <a:srgbClr val="FFFFFF"/>
          </a:solidFill>
          <a:ln w="12700">
            <a:solidFill>
              <a:srgbClr val="999999"/>
            </a:solidFill>
            <a:prstDash val="solid"/>
          </a:ln>
        </p:spPr>
      </p:sp>
      <p:sp>
        <p:nvSpPr>
          <p:cNvPr id="21" name="Shape 19"/>
          <p:cNvSpPr/>
          <p:nvPr/>
        </p:nvSpPr>
        <p:spPr>
          <a:xfrm>
            <a:off x="1188720" y="2807208"/>
            <a:ext cx="777240" cy="566928"/>
          </a:xfrm>
          <a:prstGeom prst="rect">
            <a:avLst/>
          </a:prstGeom>
          <a:solidFill>
            <a:srgbClr val="FFFFFF"/>
          </a:solidFill>
          <a:ln w="12700">
            <a:solidFill>
              <a:srgbClr val="999999"/>
            </a:solidFill>
            <a:prstDash val="solid"/>
          </a:ln>
        </p:spPr>
      </p:sp>
      <p:sp>
        <p:nvSpPr>
          <p:cNvPr id="22" name="Shape 20"/>
          <p:cNvSpPr/>
          <p:nvPr/>
        </p:nvSpPr>
        <p:spPr>
          <a:xfrm>
            <a:off x="1965960" y="2807208"/>
            <a:ext cx="777240" cy="566928"/>
          </a:xfrm>
          <a:prstGeom prst="rect">
            <a:avLst/>
          </a:prstGeom>
          <a:solidFill>
            <a:srgbClr val="FFFFFF"/>
          </a:solidFill>
          <a:ln w="12700">
            <a:solidFill>
              <a:srgbClr val="999999"/>
            </a:solidFill>
            <a:prstDash val="solid"/>
          </a:ln>
        </p:spPr>
      </p:sp>
      <p:sp>
        <p:nvSpPr>
          <p:cNvPr id="23" name="Shape 21"/>
          <p:cNvSpPr/>
          <p:nvPr/>
        </p:nvSpPr>
        <p:spPr>
          <a:xfrm>
            <a:off x="2743200" y="2807208"/>
            <a:ext cx="777240" cy="566928"/>
          </a:xfrm>
          <a:prstGeom prst="rect">
            <a:avLst/>
          </a:prstGeom>
          <a:solidFill>
            <a:srgbClr val="FFFFFF"/>
          </a:solidFill>
          <a:ln w="12700">
            <a:solidFill>
              <a:srgbClr val="999999"/>
            </a:solidFill>
            <a:prstDash val="solid"/>
          </a:ln>
        </p:spPr>
      </p:sp>
      <p:sp>
        <p:nvSpPr>
          <p:cNvPr id="24" name="Text 22"/>
          <p:cNvSpPr/>
          <p:nvPr/>
        </p:nvSpPr>
        <p:spPr>
          <a:xfrm>
            <a:off x="2743200" y="2807208"/>
            <a:ext cx="77724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7</a:t>
            </a:r>
            <a:endParaRPr lang="en-US" sz="2400" dirty="0"/>
          </a:p>
        </p:txBody>
      </p:sp>
      <p:sp>
        <p:nvSpPr>
          <p:cNvPr id="25" name="Shape 23"/>
          <p:cNvSpPr/>
          <p:nvPr/>
        </p:nvSpPr>
        <p:spPr>
          <a:xfrm>
            <a:off x="3520440" y="2807208"/>
            <a:ext cx="777240" cy="566928"/>
          </a:xfrm>
          <a:prstGeom prst="rect">
            <a:avLst/>
          </a:prstGeom>
          <a:solidFill>
            <a:srgbClr val="FFFFFF"/>
          </a:solidFill>
          <a:ln w="12700">
            <a:solidFill>
              <a:srgbClr val="999999"/>
            </a:solidFill>
            <a:prstDash val="solid"/>
          </a:ln>
        </p:spPr>
      </p:sp>
      <p:sp>
        <p:nvSpPr>
          <p:cNvPr id="26" name="Text 24"/>
          <p:cNvSpPr/>
          <p:nvPr/>
        </p:nvSpPr>
        <p:spPr>
          <a:xfrm>
            <a:off x="3520440" y="2807208"/>
            <a:ext cx="77724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6</a:t>
            </a:r>
            <a:endParaRPr lang="en-US" sz="2400" dirty="0"/>
          </a:p>
        </p:txBody>
      </p:sp>
      <p:sp>
        <p:nvSpPr>
          <p:cNvPr id="27" name="Text 25"/>
          <p:cNvSpPr/>
          <p:nvPr/>
        </p:nvSpPr>
        <p:spPr>
          <a:xfrm>
            <a:off x="182880" y="1737360"/>
            <a:ext cx="914400" cy="566928"/>
          </a:xfrm>
          <a:prstGeom prst="rect">
            <a:avLst/>
          </a:prstGeom>
          <a:noFill/>
          <a:ln/>
        </p:spPr>
        <p:txBody>
          <a:bodyPr wrap="square" lIns="0" tIns="0" rIns="0" bIns="0" rtlCol="0" anchor="ctr"/>
          <a:lstStyle/>
          <a:p>
            <a:pPr algn="r" indent="0" marL="0">
              <a:buNone/>
            </a:pPr>
            <a:r>
              <a:rPr lang="en-US" sz="1000" b="1" dirty="0">
                <a:solidFill>
                  <a:srgbClr val="5A5A7A"/>
                </a:solidFill>
              </a:rPr>
              <a:t>7.6</a:t>
            </a:r>
            <a:endParaRPr lang="en-US" sz="1000" dirty="0"/>
          </a:p>
        </p:txBody>
      </p:sp>
      <p:sp>
        <p:nvSpPr>
          <p:cNvPr id="28" name="Text 26"/>
          <p:cNvSpPr/>
          <p:nvPr/>
        </p:nvSpPr>
        <p:spPr>
          <a:xfrm>
            <a:off x="182880" y="2807208"/>
            <a:ext cx="914400" cy="566928"/>
          </a:xfrm>
          <a:prstGeom prst="rect">
            <a:avLst/>
          </a:prstGeom>
          <a:noFill/>
          <a:ln/>
        </p:spPr>
        <p:txBody>
          <a:bodyPr wrap="square" lIns="0" tIns="0" rIns="0" bIns="0" rtlCol="0" anchor="ctr"/>
          <a:lstStyle/>
          <a:p>
            <a:pPr algn="r" indent="0" marL="0">
              <a:buNone/>
            </a:pPr>
            <a:r>
              <a:rPr lang="en-US" sz="1000" b="1" dirty="0">
                <a:solidFill>
                  <a:srgbClr val="5A5A7A"/>
                </a:solidFill>
              </a:rPr>
              <a:t>×0.1 = 0.76</a:t>
            </a:r>
            <a:endParaRPr lang="en-US" sz="1000" dirty="0"/>
          </a:p>
        </p:txBody>
      </p:sp>
      <p:sp>
        <p:nvSpPr>
          <p:cNvPr id="29" name="Shape 27"/>
          <p:cNvSpPr/>
          <p:nvPr/>
        </p:nvSpPr>
        <p:spPr>
          <a:xfrm>
            <a:off x="1577340" y="2304288"/>
            <a:ext cx="1554480" cy="502920"/>
          </a:xfrm>
          <a:prstGeom prst="line">
            <a:avLst/>
          </a:prstGeom>
          <a:noFill/>
          <a:ln w="28575">
            <a:solidFill>
              <a:srgbClr val="D9941A"/>
            </a:solidFill>
            <a:prstDash val="solid"/>
            <a:tailEnd type="triangle"/>
          </a:ln>
        </p:spPr>
      </p:sp>
      <p:sp>
        <p:nvSpPr>
          <p:cNvPr id="30" name="Shape 28"/>
          <p:cNvSpPr/>
          <p:nvPr/>
        </p:nvSpPr>
        <p:spPr>
          <a:xfrm>
            <a:off x="3131820" y="2304288"/>
            <a:ext cx="777240" cy="502920"/>
          </a:xfrm>
          <a:prstGeom prst="line">
            <a:avLst/>
          </a:prstGeom>
          <a:noFill/>
          <a:ln w="28575">
            <a:solidFill>
              <a:srgbClr val="D9941A"/>
            </a:solidFill>
            <a:prstDash val="solid"/>
            <a:tailEnd type="triangle"/>
          </a:ln>
        </p:spPr>
      </p:sp>
      <p:sp>
        <p:nvSpPr>
          <p:cNvPr id="31" name="Shape 29"/>
          <p:cNvSpPr/>
          <p:nvPr/>
        </p:nvSpPr>
        <p:spPr>
          <a:xfrm>
            <a:off x="4937760" y="1371600"/>
            <a:ext cx="621792" cy="365760"/>
          </a:xfrm>
          <a:prstGeom prst="rect">
            <a:avLst/>
          </a:prstGeom>
          <a:solidFill>
            <a:srgbClr val="1B2A4A"/>
          </a:solidFill>
          <a:ln w="12700">
            <a:solidFill>
              <a:srgbClr val="1B2A4A"/>
            </a:solidFill>
            <a:prstDash val="solid"/>
          </a:ln>
        </p:spPr>
      </p:sp>
      <p:sp>
        <p:nvSpPr>
          <p:cNvPr id="32" name="Text 30"/>
          <p:cNvSpPr/>
          <p:nvPr/>
        </p:nvSpPr>
        <p:spPr>
          <a:xfrm>
            <a:off x="4937760" y="1371600"/>
            <a:ext cx="621792" cy="365760"/>
          </a:xfrm>
          <a:prstGeom prst="rect">
            <a:avLst/>
          </a:prstGeom>
          <a:noFill/>
          <a:ln/>
        </p:spPr>
        <p:txBody>
          <a:bodyPr wrap="square" lIns="0" tIns="0" rIns="0" bIns="0" rtlCol="0" anchor="ctr"/>
          <a:lstStyle/>
          <a:p>
            <a:pPr algn="ctr" indent="0" marL="0">
              <a:buNone/>
            </a:pPr>
            <a:r>
              <a:rPr lang="en-US" sz="900" b="1" dirty="0">
                <a:solidFill>
                  <a:srgbClr val="FFFFFF"/>
                </a:solidFill>
              </a:rPr>
              <a:t>Ones</a:t>
            </a:r>
            <a:endParaRPr lang="en-US" sz="900" dirty="0"/>
          </a:p>
        </p:txBody>
      </p:sp>
      <p:sp>
        <p:nvSpPr>
          <p:cNvPr id="33" name="Shape 31"/>
          <p:cNvSpPr/>
          <p:nvPr/>
        </p:nvSpPr>
        <p:spPr>
          <a:xfrm>
            <a:off x="5559552" y="1371600"/>
            <a:ext cx="621792" cy="365760"/>
          </a:xfrm>
          <a:prstGeom prst="rect">
            <a:avLst/>
          </a:prstGeom>
          <a:solidFill>
            <a:srgbClr val="1B2A4A"/>
          </a:solidFill>
          <a:ln w="12700">
            <a:solidFill>
              <a:srgbClr val="1B2A4A"/>
            </a:solidFill>
            <a:prstDash val="solid"/>
          </a:ln>
        </p:spPr>
      </p:sp>
      <p:sp>
        <p:nvSpPr>
          <p:cNvPr id="34" name="Text 32"/>
          <p:cNvSpPr/>
          <p:nvPr/>
        </p:nvSpPr>
        <p:spPr>
          <a:xfrm>
            <a:off x="5559552" y="1371600"/>
            <a:ext cx="621792" cy="365760"/>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35" name="Shape 33"/>
          <p:cNvSpPr/>
          <p:nvPr/>
        </p:nvSpPr>
        <p:spPr>
          <a:xfrm>
            <a:off x="6181344" y="1371600"/>
            <a:ext cx="621792" cy="365760"/>
          </a:xfrm>
          <a:prstGeom prst="rect">
            <a:avLst/>
          </a:prstGeom>
          <a:solidFill>
            <a:srgbClr val="1B2A4A"/>
          </a:solidFill>
          <a:ln w="12700">
            <a:solidFill>
              <a:srgbClr val="1B2A4A"/>
            </a:solidFill>
            <a:prstDash val="solid"/>
          </a:ln>
        </p:spPr>
      </p:sp>
      <p:sp>
        <p:nvSpPr>
          <p:cNvPr id="36" name="Text 34"/>
          <p:cNvSpPr/>
          <p:nvPr/>
        </p:nvSpPr>
        <p:spPr>
          <a:xfrm>
            <a:off x="6181344" y="1371600"/>
            <a:ext cx="621792" cy="365760"/>
          </a:xfrm>
          <a:prstGeom prst="rect">
            <a:avLst/>
          </a:prstGeom>
          <a:noFill/>
          <a:ln/>
        </p:spPr>
        <p:txBody>
          <a:bodyPr wrap="square" lIns="0" tIns="0" rIns="0" bIns="0" rtlCol="0" anchor="ctr"/>
          <a:lstStyle/>
          <a:p>
            <a:pPr algn="ctr" indent="0" marL="0">
              <a:buNone/>
            </a:pPr>
            <a:r>
              <a:rPr lang="en-US" sz="900" b="1" dirty="0">
                <a:solidFill>
                  <a:srgbClr val="FFFFFF"/>
                </a:solidFill>
              </a:rPr>
              <a:t>Tenths</a:t>
            </a:r>
            <a:endParaRPr lang="en-US" sz="900" dirty="0"/>
          </a:p>
        </p:txBody>
      </p:sp>
      <p:sp>
        <p:nvSpPr>
          <p:cNvPr id="37" name="Shape 35"/>
          <p:cNvSpPr/>
          <p:nvPr/>
        </p:nvSpPr>
        <p:spPr>
          <a:xfrm>
            <a:off x="6803136" y="1371600"/>
            <a:ext cx="621792" cy="365760"/>
          </a:xfrm>
          <a:prstGeom prst="rect">
            <a:avLst/>
          </a:prstGeom>
          <a:solidFill>
            <a:srgbClr val="1B2A4A"/>
          </a:solidFill>
          <a:ln w="12700">
            <a:solidFill>
              <a:srgbClr val="1B2A4A"/>
            </a:solidFill>
            <a:prstDash val="solid"/>
          </a:ln>
        </p:spPr>
      </p:sp>
      <p:sp>
        <p:nvSpPr>
          <p:cNvPr id="38" name="Text 36"/>
          <p:cNvSpPr/>
          <p:nvPr/>
        </p:nvSpPr>
        <p:spPr>
          <a:xfrm>
            <a:off x="6803136" y="1371600"/>
            <a:ext cx="621792" cy="365760"/>
          </a:xfrm>
          <a:prstGeom prst="rect">
            <a:avLst/>
          </a:prstGeom>
          <a:noFill/>
          <a:ln/>
        </p:spPr>
        <p:txBody>
          <a:bodyPr wrap="square" lIns="0" tIns="0" rIns="0" bIns="0" rtlCol="0" anchor="ctr"/>
          <a:lstStyle/>
          <a:p>
            <a:pPr algn="ctr" indent="0" marL="0">
              <a:buNone/>
            </a:pPr>
            <a:r>
              <a:rPr lang="en-US" sz="900" b="1" dirty="0">
                <a:solidFill>
                  <a:srgbClr val="FFFFFF"/>
                </a:solidFill>
              </a:rPr>
              <a:t>Hundredths</a:t>
            </a:r>
            <a:endParaRPr lang="en-US" sz="900" dirty="0"/>
          </a:p>
        </p:txBody>
      </p:sp>
      <p:sp>
        <p:nvSpPr>
          <p:cNvPr id="39" name="Shape 37"/>
          <p:cNvSpPr/>
          <p:nvPr/>
        </p:nvSpPr>
        <p:spPr>
          <a:xfrm>
            <a:off x="7424928" y="1371600"/>
            <a:ext cx="621792" cy="365760"/>
          </a:xfrm>
          <a:prstGeom prst="rect">
            <a:avLst/>
          </a:prstGeom>
          <a:solidFill>
            <a:srgbClr val="1B2A4A"/>
          </a:solidFill>
          <a:ln w="12700">
            <a:solidFill>
              <a:srgbClr val="1B2A4A"/>
            </a:solidFill>
            <a:prstDash val="solid"/>
          </a:ln>
        </p:spPr>
      </p:sp>
      <p:sp>
        <p:nvSpPr>
          <p:cNvPr id="40" name="Text 38"/>
          <p:cNvSpPr/>
          <p:nvPr/>
        </p:nvSpPr>
        <p:spPr>
          <a:xfrm>
            <a:off x="7424928" y="1371600"/>
            <a:ext cx="621792" cy="365760"/>
          </a:xfrm>
          <a:prstGeom prst="rect">
            <a:avLst/>
          </a:prstGeom>
          <a:noFill/>
          <a:ln/>
        </p:spPr>
        <p:txBody>
          <a:bodyPr wrap="square" lIns="0" tIns="0" rIns="0" bIns="0" rtlCol="0" anchor="ctr"/>
          <a:lstStyle/>
          <a:p>
            <a:pPr algn="ctr" indent="0" marL="0">
              <a:buNone/>
            </a:pPr>
            <a:r>
              <a:rPr lang="en-US" sz="900" b="1" dirty="0">
                <a:solidFill>
                  <a:srgbClr val="FFFFFF"/>
                </a:solidFill>
              </a:rPr>
              <a:t>Thousandths</a:t>
            </a:r>
            <a:endParaRPr lang="en-US" sz="900" dirty="0"/>
          </a:p>
        </p:txBody>
      </p:sp>
      <p:sp>
        <p:nvSpPr>
          <p:cNvPr id="41" name="Shape 39"/>
          <p:cNvSpPr/>
          <p:nvPr/>
        </p:nvSpPr>
        <p:spPr>
          <a:xfrm>
            <a:off x="4937760" y="1737360"/>
            <a:ext cx="621792" cy="566928"/>
          </a:xfrm>
          <a:prstGeom prst="rect">
            <a:avLst/>
          </a:prstGeom>
          <a:solidFill>
            <a:srgbClr val="FFFFFF"/>
          </a:solidFill>
          <a:ln w="12700">
            <a:solidFill>
              <a:srgbClr val="999999"/>
            </a:solidFill>
            <a:prstDash val="solid"/>
          </a:ln>
        </p:spPr>
      </p:sp>
      <p:sp>
        <p:nvSpPr>
          <p:cNvPr id="42" name="Text 40"/>
          <p:cNvSpPr/>
          <p:nvPr/>
        </p:nvSpPr>
        <p:spPr>
          <a:xfrm>
            <a:off x="4937760" y="1737360"/>
            <a:ext cx="621792"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7</a:t>
            </a:r>
            <a:endParaRPr lang="en-US" sz="2400" dirty="0"/>
          </a:p>
        </p:txBody>
      </p:sp>
      <p:sp>
        <p:nvSpPr>
          <p:cNvPr id="43" name="Shape 41"/>
          <p:cNvSpPr/>
          <p:nvPr/>
        </p:nvSpPr>
        <p:spPr>
          <a:xfrm>
            <a:off x="5559552" y="1737360"/>
            <a:ext cx="621792" cy="566928"/>
          </a:xfrm>
          <a:prstGeom prst="rect">
            <a:avLst/>
          </a:prstGeom>
          <a:solidFill>
            <a:srgbClr val="FFFFFF"/>
          </a:solidFill>
          <a:ln w="12700">
            <a:solidFill>
              <a:srgbClr val="999999"/>
            </a:solidFill>
            <a:prstDash val="solid"/>
          </a:ln>
        </p:spPr>
      </p:sp>
      <p:sp>
        <p:nvSpPr>
          <p:cNvPr id="44" name="Shape 42"/>
          <p:cNvSpPr/>
          <p:nvPr/>
        </p:nvSpPr>
        <p:spPr>
          <a:xfrm>
            <a:off x="6181344" y="1737360"/>
            <a:ext cx="621792" cy="566928"/>
          </a:xfrm>
          <a:prstGeom prst="rect">
            <a:avLst/>
          </a:prstGeom>
          <a:solidFill>
            <a:srgbClr val="FFFFFF"/>
          </a:solidFill>
          <a:ln w="12700">
            <a:solidFill>
              <a:srgbClr val="999999"/>
            </a:solidFill>
            <a:prstDash val="solid"/>
          </a:ln>
        </p:spPr>
      </p:sp>
      <p:sp>
        <p:nvSpPr>
          <p:cNvPr id="45" name="Text 43"/>
          <p:cNvSpPr/>
          <p:nvPr/>
        </p:nvSpPr>
        <p:spPr>
          <a:xfrm>
            <a:off x="6181344" y="1737360"/>
            <a:ext cx="621792"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6</a:t>
            </a:r>
            <a:endParaRPr lang="en-US" sz="2400" dirty="0"/>
          </a:p>
        </p:txBody>
      </p:sp>
      <p:sp>
        <p:nvSpPr>
          <p:cNvPr id="46" name="Shape 44"/>
          <p:cNvSpPr/>
          <p:nvPr/>
        </p:nvSpPr>
        <p:spPr>
          <a:xfrm>
            <a:off x="6803136" y="1737360"/>
            <a:ext cx="621792" cy="566928"/>
          </a:xfrm>
          <a:prstGeom prst="rect">
            <a:avLst/>
          </a:prstGeom>
          <a:solidFill>
            <a:srgbClr val="FFFFFF"/>
          </a:solidFill>
          <a:ln w="12700">
            <a:solidFill>
              <a:srgbClr val="999999"/>
            </a:solidFill>
            <a:prstDash val="solid"/>
          </a:ln>
        </p:spPr>
      </p:sp>
      <p:sp>
        <p:nvSpPr>
          <p:cNvPr id="47" name="Shape 45"/>
          <p:cNvSpPr/>
          <p:nvPr/>
        </p:nvSpPr>
        <p:spPr>
          <a:xfrm>
            <a:off x="7424928" y="1737360"/>
            <a:ext cx="621792" cy="566928"/>
          </a:xfrm>
          <a:prstGeom prst="rect">
            <a:avLst/>
          </a:prstGeom>
          <a:solidFill>
            <a:srgbClr val="FFFFFF"/>
          </a:solidFill>
          <a:ln w="12700">
            <a:solidFill>
              <a:srgbClr val="999999"/>
            </a:solidFill>
            <a:prstDash val="solid"/>
          </a:ln>
        </p:spPr>
      </p:sp>
      <p:sp>
        <p:nvSpPr>
          <p:cNvPr id="48" name="Shape 46"/>
          <p:cNvSpPr/>
          <p:nvPr/>
        </p:nvSpPr>
        <p:spPr>
          <a:xfrm>
            <a:off x="4937760" y="2807208"/>
            <a:ext cx="621792" cy="566928"/>
          </a:xfrm>
          <a:prstGeom prst="rect">
            <a:avLst/>
          </a:prstGeom>
          <a:solidFill>
            <a:srgbClr val="FFFFFF"/>
          </a:solidFill>
          <a:ln w="12700">
            <a:solidFill>
              <a:srgbClr val="999999"/>
            </a:solidFill>
            <a:prstDash val="solid"/>
          </a:ln>
        </p:spPr>
      </p:sp>
      <p:sp>
        <p:nvSpPr>
          <p:cNvPr id="49" name="Shape 47"/>
          <p:cNvSpPr/>
          <p:nvPr/>
        </p:nvSpPr>
        <p:spPr>
          <a:xfrm>
            <a:off x="5559552" y="2807208"/>
            <a:ext cx="621792" cy="566928"/>
          </a:xfrm>
          <a:prstGeom prst="rect">
            <a:avLst/>
          </a:prstGeom>
          <a:solidFill>
            <a:srgbClr val="FFFFFF"/>
          </a:solidFill>
          <a:ln w="12700">
            <a:solidFill>
              <a:srgbClr val="999999"/>
            </a:solidFill>
            <a:prstDash val="solid"/>
          </a:ln>
        </p:spPr>
      </p:sp>
      <p:sp>
        <p:nvSpPr>
          <p:cNvPr id="50" name="Shape 48"/>
          <p:cNvSpPr/>
          <p:nvPr/>
        </p:nvSpPr>
        <p:spPr>
          <a:xfrm>
            <a:off x="6181344" y="2807208"/>
            <a:ext cx="621792" cy="566928"/>
          </a:xfrm>
          <a:prstGeom prst="rect">
            <a:avLst/>
          </a:prstGeom>
          <a:solidFill>
            <a:srgbClr val="FFFFFF"/>
          </a:solidFill>
          <a:ln w="12700">
            <a:solidFill>
              <a:srgbClr val="999999"/>
            </a:solidFill>
            <a:prstDash val="solid"/>
          </a:ln>
        </p:spPr>
      </p:sp>
      <p:sp>
        <p:nvSpPr>
          <p:cNvPr id="51" name="Shape 49"/>
          <p:cNvSpPr/>
          <p:nvPr/>
        </p:nvSpPr>
        <p:spPr>
          <a:xfrm>
            <a:off x="6803136" y="2807208"/>
            <a:ext cx="621792" cy="566928"/>
          </a:xfrm>
          <a:prstGeom prst="rect">
            <a:avLst/>
          </a:prstGeom>
          <a:solidFill>
            <a:srgbClr val="FFFFFF"/>
          </a:solidFill>
          <a:ln w="12700">
            <a:solidFill>
              <a:srgbClr val="999999"/>
            </a:solidFill>
            <a:prstDash val="solid"/>
          </a:ln>
        </p:spPr>
      </p:sp>
      <p:sp>
        <p:nvSpPr>
          <p:cNvPr id="52" name="Text 50"/>
          <p:cNvSpPr/>
          <p:nvPr/>
        </p:nvSpPr>
        <p:spPr>
          <a:xfrm>
            <a:off x="6803136" y="2807208"/>
            <a:ext cx="621792"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7</a:t>
            </a:r>
            <a:endParaRPr lang="en-US" sz="2400" dirty="0"/>
          </a:p>
        </p:txBody>
      </p:sp>
      <p:sp>
        <p:nvSpPr>
          <p:cNvPr id="53" name="Shape 51"/>
          <p:cNvSpPr/>
          <p:nvPr/>
        </p:nvSpPr>
        <p:spPr>
          <a:xfrm>
            <a:off x="7424928" y="2807208"/>
            <a:ext cx="621792" cy="566928"/>
          </a:xfrm>
          <a:prstGeom prst="rect">
            <a:avLst/>
          </a:prstGeom>
          <a:solidFill>
            <a:srgbClr val="FFFFFF"/>
          </a:solidFill>
          <a:ln w="12700">
            <a:solidFill>
              <a:srgbClr val="999999"/>
            </a:solidFill>
            <a:prstDash val="solid"/>
          </a:ln>
        </p:spPr>
      </p:sp>
      <p:sp>
        <p:nvSpPr>
          <p:cNvPr id="54" name="Text 52"/>
          <p:cNvSpPr/>
          <p:nvPr/>
        </p:nvSpPr>
        <p:spPr>
          <a:xfrm>
            <a:off x="7424928" y="2807208"/>
            <a:ext cx="621792"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6</a:t>
            </a:r>
            <a:endParaRPr lang="en-US" sz="2400" dirty="0"/>
          </a:p>
        </p:txBody>
      </p:sp>
      <p:sp>
        <p:nvSpPr>
          <p:cNvPr id="55" name="Text 53"/>
          <p:cNvSpPr/>
          <p:nvPr/>
        </p:nvSpPr>
        <p:spPr>
          <a:xfrm>
            <a:off x="3931920" y="1737360"/>
            <a:ext cx="914400" cy="566928"/>
          </a:xfrm>
          <a:prstGeom prst="rect">
            <a:avLst/>
          </a:prstGeom>
          <a:noFill/>
          <a:ln/>
        </p:spPr>
        <p:txBody>
          <a:bodyPr wrap="square" lIns="0" tIns="0" rIns="0" bIns="0" rtlCol="0" anchor="ctr"/>
          <a:lstStyle/>
          <a:p>
            <a:pPr algn="r" indent="0" marL="0">
              <a:buNone/>
            </a:pPr>
            <a:r>
              <a:rPr lang="en-US" sz="1000" b="1" dirty="0">
                <a:solidFill>
                  <a:srgbClr val="5A5A7A"/>
                </a:solidFill>
              </a:rPr>
              <a:t>7.6</a:t>
            </a:r>
            <a:endParaRPr lang="en-US" sz="1000" dirty="0"/>
          </a:p>
        </p:txBody>
      </p:sp>
      <p:sp>
        <p:nvSpPr>
          <p:cNvPr id="56" name="Text 54"/>
          <p:cNvSpPr/>
          <p:nvPr/>
        </p:nvSpPr>
        <p:spPr>
          <a:xfrm>
            <a:off x="3931920" y="2807208"/>
            <a:ext cx="914400" cy="566928"/>
          </a:xfrm>
          <a:prstGeom prst="rect">
            <a:avLst/>
          </a:prstGeom>
          <a:noFill/>
          <a:ln/>
        </p:spPr>
        <p:txBody>
          <a:bodyPr wrap="square" lIns="0" tIns="0" rIns="0" bIns="0" rtlCol="0" anchor="ctr"/>
          <a:lstStyle/>
          <a:p>
            <a:pPr algn="r" indent="0" marL="0">
              <a:buNone/>
            </a:pPr>
            <a:r>
              <a:rPr lang="en-US" sz="1000" b="1" dirty="0">
                <a:solidFill>
                  <a:srgbClr val="5A5A7A"/>
                </a:solidFill>
              </a:rPr>
              <a:t>×0.01 = 0.076</a:t>
            </a:r>
            <a:endParaRPr lang="en-US" sz="1000" dirty="0"/>
          </a:p>
        </p:txBody>
      </p:sp>
      <p:sp>
        <p:nvSpPr>
          <p:cNvPr id="57" name="Shape 55"/>
          <p:cNvSpPr/>
          <p:nvPr/>
        </p:nvSpPr>
        <p:spPr>
          <a:xfrm>
            <a:off x="5248656" y="2304288"/>
            <a:ext cx="1865376" cy="502920"/>
          </a:xfrm>
          <a:prstGeom prst="line">
            <a:avLst/>
          </a:prstGeom>
          <a:noFill/>
          <a:ln w="28575">
            <a:solidFill>
              <a:srgbClr val="D9941A"/>
            </a:solidFill>
            <a:prstDash val="solid"/>
            <a:tailEnd type="triangle"/>
          </a:ln>
        </p:spPr>
      </p:sp>
      <p:sp>
        <p:nvSpPr>
          <p:cNvPr id="58" name="Shape 56"/>
          <p:cNvSpPr/>
          <p:nvPr/>
        </p:nvSpPr>
        <p:spPr>
          <a:xfrm>
            <a:off x="6492240" y="2304288"/>
            <a:ext cx="1243584" cy="502920"/>
          </a:xfrm>
          <a:prstGeom prst="line">
            <a:avLst/>
          </a:prstGeom>
          <a:noFill/>
          <a:ln w="28575">
            <a:solidFill>
              <a:srgbClr val="D9941A"/>
            </a:solidFill>
            <a:prstDash val="solid"/>
            <a:tailEnd type="triangle"/>
          </a:ln>
        </p:spPr>
      </p:sp>
      <p:sp>
        <p:nvSpPr>
          <p:cNvPr id="59" name="Shape 57"/>
          <p:cNvSpPr/>
          <p:nvPr/>
        </p:nvSpPr>
        <p:spPr>
          <a:xfrm>
            <a:off x="548640" y="3794760"/>
            <a:ext cx="8046720" cy="457200"/>
          </a:xfrm>
          <a:prstGeom prst="roundRect">
            <a:avLst>
              <a:gd name="adj" fmla="val 20000"/>
            </a:avLst>
          </a:prstGeom>
          <a:solidFill>
            <a:srgbClr val="FFFFFF"/>
          </a:solidFill>
          <a:ln w="6350">
            <a:solidFill>
              <a:srgbClr val="DDDDEE"/>
            </a:solidFill>
            <a:prstDash val="solid"/>
          </a:ln>
        </p:spPr>
      </p:sp>
      <p:sp>
        <p:nvSpPr>
          <p:cNvPr id="60" name="Text 58"/>
          <p:cNvSpPr/>
          <p:nvPr/>
        </p:nvSpPr>
        <p:spPr>
          <a:xfrm>
            <a:off x="731520" y="3822192"/>
            <a:ext cx="7680960" cy="402336"/>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Starting with a decimal already in place works the same way -- every digit still slides right the same number of places.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Whole Number × 0.01</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Text 4"/>
          <p:cNvSpPr/>
          <p:nvPr/>
        </p:nvSpPr>
        <p:spPr>
          <a:xfrm>
            <a:off x="457200" y="896112"/>
            <a:ext cx="8229600" cy="45720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A jacket costs $90. A store finds the per-dollar discount by multiplying 90 × 0.01.</a:t>
            </a:r>
            <a:endParaRPr lang="en-US" sz="1400" dirty="0"/>
          </a:p>
        </p:txBody>
      </p:sp>
      <p:sp>
        <p:nvSpPr>
          <p:cNvPr id="7" name="Shape 5"/>
          <p:cNvSpPr/>
          <p:nvPr/>
        </p:nvSpPr>
        <p:spPr>
          <a:xfrm>
            <a:off x="2377440" y="1554480"/>
            <a:ext cx="731520" cy="365760"/>
          </a:xfrm>
          <a:prstGeom prst="rect">
            <a:avLst/>
          </a:prstGeom>
          <a:solidFill>
            <a:srgbClr val="1B2A4A"/>
          </a:solidFill>
          <a:ln w="12700">
            <a:solidFill>
              <a:srgbClr val="1B2A4A"/>
            </a:solidFill>
            <a:prstDash val="solid"/>
          </a:ln>
        </p:spPr>
      </p:sp>
      <p:sp>
        <p:nvSpPr>
          <p:cNvPr id="8" name="Text 6"/>
          <p:cNvSpPr/>
          <p:nvPr/>
        </p:nvSpPr>
        <p:spPr>
          <a:xfrm>
            <a:off x="2377440" y="1554480"/>
            <a:ext cx="731520" cy="365760"/>
          </a:xfrm>
          <a:prstGeom prst="rect">
            <a:avLst/>
          </a:prstGeom>
          <a:noFill/>
          <a:ln/>
        </p:spPr>
        <p:txBody>
          <a:bodyPr wrap="square" lIns="0" tIns="0" rIns="0" bIns="0" rtlCol="0" anchor="ctr"/>
          <a:lstStyle/>
          <a:p>
            <a:pPr algn="ctr" indent="0" marL="0">
              <a:buNone/>
            </a:pPr>
            <a:r>
              <a:rPr lang="en-US" sz="900" b="1" dirty="0">
                <a:solidFill>
                  <a:srgbClr val="FFFFFF"/>
                </a:solidFill>
              </a:rPr>
              <a:t>Hundreds</a:t>
            </a:r>
            <a:endParaRPr lang="en-US" sz="900" dirty="0"/>
          </a:p>
        </p:txBody>
      </p:sp>
      <p:sp>
        <p:nvSpPr>
          <p:cNvPr id="9" name="Shape 7"/>
          <p:cNvSpPr/>
          <p:nvPr/>
        </p:nvSpPr>
        <p:spPr>
          <a:xfrm>
            <a:off x="3108960" y="1554480"/>
            <a:ext cx="731520" cy="365760"/>
          </a:xfrm>
          <a:prstGeom prst="rect">
            <a:avLst/>
          </a:prstGeom>
          <a:solidFill>
            <a:srgbClr val="1B2A4A"/>
          </a:solidFill>
          <a:ln w="12700">
            <a:solidFill>
              <a:srgbClr val="1B2A4A"/>
            </a:solidFill>
            <a:prstDash val="solid"/>
          </a:ln>
        </p:spPr>
      </p:sp>
      <p:sp>
        <p:nvSpPr>
          <p:cNvPr id="10" name="Text 8"/>
          <p:cNvSpPr/>
          <p:nvPr/>
        </p:nvSpPr>
        <p:spPr>
          <a:xfrm>
            <a:off x="3108960" y="1554480"/>
            <a:ext cx="731520" cy="365760"/>
          </a:xfrm>
          <a:prstGeom prst="rect">
            <a:avLst/>
          </a:prstGeom>
          <a:noFill/>
          <a:ln/>
        </p:spPr>
        <p:txBody>
          <a:bodyPr wrap="square" lIns="0" tIns="0" rIns="0" bIns="0" rtlCol="0" anchor="ctr"/>
          <a:lstStyle/>
          <a:p>
            <a:pPr algn="ctr" indent="0" marL="0">
              <a:buNone/>
            </a:pPr>
            <a:r>
              <a:rPr lang="en-US" sz="900" b="1" dirty="0">
                <a:solidFill>
                  <a:srgbClr val="FFFFFF"/>
                </a:solidFill>
              </a:rPr>
              <a:t>Tens</a:t>
            </a:r>
            <a:endParaRPr lang="en-US" sz="900" dirty="0"/>
          </a:p>
        </p:txBody>
      </p:sp>
      <p:sp>
        <p:nvSpPr>
          <p:cNvPr id="11" name="Shape 9"/>
          <p:cNvSpPr/>
          <p:nvPr/>
        </p:nvSpPr>
        <p:spPr>
          <a:xfrm>
            <a:off x="3840480" y="1554480"/>
            <a:ext cx="731520" cy="365760"/>
          </a:xfrm>
          <a:prstGeom prst="rect">
            <a:avLst/>
          </a:prstGeom>
          <a:solidFill>
            <a:srgbClr val="1B2A4A"/>
          </a:solidFill>
          <a:ln w="12700">
            <a:solidFill>
              <a:srgbClr val="1B2A4A"/>
            </a:solidFill>
            <a:prstDash val="solid"/>
          </a:ln>
        </p:spPr>
      </p:sp>
      <p:sp>
        <p:nvSpPr>
          <p:cNvPr id="12" name="Text 10"/>
          <p:cNvSpPr/>
          <p:nvPr/>
        </p:nvSpPr>
        <p:spPr>
          <a:xfrm>
            <a:off x="3840480" y="1554480"/>
            <a:ext cx="731520" cy="365760"/>
          </a:xfrm>
          <a:prstGeom prst="rect">
            <a:avLst/>
          </a:prstGeom>
          <a:noFill/>
          <a:ln/>
        </p:spPr>
        <p:txBody>
          <a:bodyPr wrap="square" lIns="0" tIns="0" rIns="0" bIns="0" rtlCol="0" anchor="ctr"/>
          <a:lstStyle/>
          <a:p>
            <a:pPr algn="ctr" indent="0" marL="0">
              <a:buNone/>
            </a:pPr>
            <a:r>
              <a:rPr lang="en-US" sz="900" b="1" dirty="0">
                <a:solidFill>
                  <a:srgbClr val="FFFFFF"/>
                </a:solidFill>
              </a:rPr>
              <a:t>Ones</a:t>
            </a:r>
            <a:endParaRPr lang="en-US" sz="900" dirty="0"/>
          </a:p>
        </p:txBody>
      </p:sp>
      <p:sp>
        <p:nvSpPr>
          <p:cNvPr id="13" name="Shape 11"/>
          <p:cNvSpPr/>
          <p:nvPr/>
        </p:nvSpPr>
        <p:spPr>
          <a:xfrm>
            <a:off x="4572000" y="1554480"/>
            <a:ext cx="731520" cy="365760"/>
          </a:xfrm>
          <a:prstGeom prst="rect">
            <a:avLst/>
          </a:prstGeom>
          <a:solidFill>
            <a:srgbClr val="1B2A4A"/>
          </a:solidFill>
          <a:ln w="12700">
            <a:solidFill>
              <a:srgbClr val="1B2A4A"/>
            </a:solidFill>
            <a:prstDash val="solid"/>
          </a:ln>
        </p:spPr>
      </p:sp>
      <p:sp>
        <p:nvSpPr>
          <p:cNvPr id="14" name="Text 12"/>
          <p:cNvSpPr/>
          <p:nvPr/>
        </p:nvSpPr>
        <p:spPr>
          <a:xfrm>
            <a:off x="4572000" y="1554480"/>
            <a:ext cx="731520" cy="365760"/>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15" name="Shape 13"/>
          <p:cNvSpPr/>
          <p:nvPr/>
        </p:nvSpPr>
        <p:spPr>
          <a:xfrm>
            <a:off x="5303520" y="1554480"/>
            <a:ext cx="731520" cy="365760"/>
          </a:xfrm>
          <a:prstGeom prst="rect">
            <a:avLst/>
          </a:prstGeom>
          <a:solidFill>
            <a:srgbClr val="1B2A4A"/>
          </a:solidFill>
          <a:ln w="12700">
            <a:solidFill>
              <a:srgbClr val="1B2A4A"/>
            </a:solidFill>
            <a:prstDash val="solid"/>
          </a:ln>
        </p:spPr>
      </p:sp>
      <p:sp>
        <p:nvSpPr>
          <p:cNvPr id="16" name="Text 14"/>
          <p:cNvSpPr/>
          <p:nvPr/>
        </p:nvSpPr>
        <p:spPr>
          <a:xfrm>
            <a:off x="5303520" y="1554480"/>
            <a:ext cx="731520" cy="365760"/>
          </a:xfrm>
          <a:prstGeom prst="rect">
            <a:avLst/>
          </a:prstGeom>
          <a:noFill/>
          <a:ln/>
        </p:spPr>
        <p:txBody>
          <a:bodyPr wrap="square" lIns="0" tIns="0" rIns="0" bIns="0" rtlCol="0" anchor="ctr"/>
          <a:lstStyle/>
          <a:p>
            <a:pPr algn="ctr" indent="0" marL="0">
              <a:buNone/>
            </a:pPr>
            <a:r>
              <a:rPr lang="en-US" sz="900" b="1" dirty="0">
                <a:solidFill>
                  <a:srgbClr val="FFFFFF"/>
                </a:solidFill>
              </a:rPr>
              <a:t>Tenths</a:t>
            </a:r>
            <a:endParaRPr lang="en-US" sz="900" dirty="0"/>
          </a:p>
        </p:txBody>
      </p:sp>
      <p:sp>
        <p:nvSpPr>
          <p:cNvPr id="17" name="Shape 15"/>
          <p:cNvSpPr/>
          <p:nvPr/>
        </p:nvSpPr>
        <p:spPr>
          <a:xfrm>
            <a:off x="6035040" y="1554480"/>
            <a:ext cx="731520" cy="365760"/>
          </a:xfrm>
          <a:prstGeom prst="rect">
            <a:avLst/>
          </a:prstGeom>
          <a:solidFill>
            <a:srgbClr val="1B2A4A"/>
          </a:solidFill>
          <a:ln w="12700">
            <a:solidFill>
              <a:srgbClr val="1B2A4A"/>
            </a:solidFill>
            <a:prstDash val="solid"/>
          </a:ln>
        </p:spPr>
      </p:sp>
      <p:sp>
        <p:nvSpPr>
          <p:cNvPr id="18" name="Text 16"/>
          <p:cNvSpPr/>
          <p:nvPr/>
        </p:nvSpPr>
        <p:spPr>
          <a:xfrm>
            <a:off x="6035040" y="1554480"/>
            <a:ext cx="731520" cy="365760"/>
          </a:xfrm>
          <a:prstGeom prst="rect">
            <a:avLst/>
          </a:prstGeom>
          <a:noFill/>
          <a:ln/>
        </p:spPr>
        <p:txBody>
          <a:bodyPr wrap="square" lIns="0" tIns="0" rIns="0" bIns="0" rtlCol="0" anchor="ctr"/>
          <a:lstStyle/>
          <a:p>
            <a:pPr algn="ctr" indent="0" marL="0">
              <a:buNone/>
            </a:pPr>
            <a:r>
              <a:rPr lang="en-US" sz="900" b="1" dirty="0">
                <a:solidFill>
                  <a:srgbClr val="FFFFFF"/>
                </a:solidFill>
              </a:rPr>
              <a:t>Hundredths</a:t>
            </a:r>
            <a:endParaRPr lang="en-US" sz="900" dirty="0"/>
          </a:p>
        </p:txBody>
      </p:sp>
      <p:sp>
        <p:nvSpPr>
          <p:cNvPr id="19" name="Shape 17"/>
          <p:cNvSpPr/>
          <p:nvPr/>
        </p:nvSpPr>
        <p:spPr>
          <a:xfrm>
            <a:off x="2377440" y="1920240"/>
            <a:ext cx="731520" cy="566928"/>
          </a:xfrm>
          <a:prstGeom prst="rect">
            <a:avLst/>
          </a:prstGeom>
          <a:solidFill>
            <a:srgbClr val="FFFFFF"/>
          </a:solidFill>
          <a:ln w="12700">
            <a:solidFill>
              <a:srgbClr val="999999"/>
            </a:solidFill>
            <a:prstDash val="solid"/>
          </a:ln>
        </p:spPr>
      </p:sp>
      <p:sp>
        <p:nvSpPr>
          <p:cNvPr id="20" name="Shape 18"/>
          <p:cNvSpPr/>
          <p:nvPr/>
        </p:nvSpPr>
        <p:spPr>
          <a:xfrm>
            <a:off x="3108960" y="1920240"/>
            <a:ext cx="731520" cy="566928"/>
          </a:xfrm>
          <a:prstGeom prst="rect">
            <a:avLst/>
          </a:prstGeom>
          <a:solidFill>
            <a:srgbClr val="FFFFFF"/>
          </a:solidFill>
          <a:ln w="12700">
            <a:solidFill>
              <a:srgbClr val="999999"/>
            </a:solidFill>
            <a:prstDash val="solid"/>
          </a:ln>
        </p:spPr>
      </p:sp>
      <p:sp>
        <p:nvSpPr>
          <p:cNvPr id="21" name="Text 19"/>
          <p:cNvSpPr/>
          <p:nvPr/>
        </p:nvSpPr>
        <p:spPr>
          <a:xfrm>
            <a:off x="3108960" y="1920240"/>
            <a:ext cx="73152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9</a:t>
            </a:r>
            <a:endParaRPr lang="en-US" sz="2400" dirty="0"/>
          </a:p>
        </p:txBody>
      </p:sp>
      <p:sp>
        <p:nvSpPr>
          <p:cNvPr id="22" name="Shape 20"/>
          <p:cNvSpPr/>
          <p:nvPr/>
        </p:nvSpPr>
        <p:spPr>
          <a:xfrm>
            <a:off x="3840480" y="1920240"/>
            <a:ext cx="731520" cy="566928"/>
          </a:xfrm>
          <a:prstGeom prst="rect">
            <a:avLst/>
          </a:prstGeom>
          <a:solidFill>
            <a:srgbClr val="FFFFFF"/>
          </a:solidFill>
          <a:ln w="12700">
            <a:solidFill>
              <a:srgbClr val="999999"/>
            </a:solidFill>
            <a:prstDash val="solid"/>
          </a:ln>
        </p:spPr>
      </p:sp>
      <p:sp>
        <p:nvSpPr>
          <p:cNvPr id="23" name="Text 21"/>
          <p:cNvSpPr/>
          <p:nvPr/>
        </p:nvSpPr>
        <p:spPr>
          <a:xfrm>
            <a:off x="3840480" y="1920240"/>
            <a:ext cx="73152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0</a:t>
            </a:r>
            <a:endParaRPr lang="en-US" sz="2400" dirty="0"/>
          </a:p>
        </p:txBody>
      </p:sp>
      <p:sp>
        <p:nvSpPr>
          <p:cNvPr id="24" name="Shape 22"/>
          <p:cNvSpPr/>
          <p:nvPr/>
        </p:nvSpPr>
        <p:spPr>
          <a:xfrm>
            <a:off x="4572000" y="1920240"/>
            <a:ext cx="731520" cy="566928"/>
          </a:xfrm>
          <a:prstGeom prst="rect">
            <a:avLst/>
          </a:prstGeom>
          <a:solidFill>
            <a:srgbClr val="FFFFFF"/>
          </a:solidFill>
          <a:ln w="12700">
            <a:solidFill>
              <a:srgbClr val="999999"/>
            </a:solidFill>
            <a:prstDash val="solid"/>
          </a:ln>
        </p:spPr>
      </p:sp>
      <p:sp>
        <p:nvSpPr>
          <p:cNvPr id="25" name="Shape 23"/>
          <p:cNvSpPr/>
          <p:nvPr/>
        </p:nvSpPr>
        <p:spPr>
          <a:xfrm>
            <a:off x="5303520" y="1920240"/>
            <a:ext cx="731520" cy="566928"/>
          </a:xfrm>
          <a:prstGeom prst="rect">
            <a:avLst/>
          </a:prstGeom>
          <a:solidFill>
            <a:srgbClr val="FFFFFF"/>
          </a:solidFill>
          <a:ln w="12700">
            <a:solidFill>
              <a:srgbClr val="999999"/>
            </a:solidFill>
            <a:prstDash val="solid"/>
          </a:ln>
        </p:spPr>
      </p:sp>
      <p:sp>
        <p:nvSpPr>
          <p:cNvPr id="26" name="Shape 24"/>
          <p:cNvSpPr/>
          <p:nvPr/>
        </p:nvSpPr>
        <p:spPr>
          <a:xfrm>
            <a:off x="6035040" y="1920240"/>
            <a:ext cx="731520" cy="566928"/>
          </a:xfrm>
          <a:prstGeom prst="rect">
            <a:avLst/>
          </a:prstGeom>
          <a:solidFill>
            <a:srgbClr val="FFFFFF"/>
          </a:solidFill>
          <a:ln w="12700">
            <a:solidFill>
              <a:srgbClr val="999999"/>
            </a:solidFill>
            <a:prstDash val="solid"/>
          </a:ln>
        </p:spPr>
      </p:sp>
      <p:sp>
        <p:nvSpPr>
          <p:cNvPr id="27" name="Shape 25"/>
          <p:cNvSpPr/>
          <p:nvPr/>
        </p:nvSpPr>
        <p:spPr>
          <a:xfrm>
            <a:off x="2377440" y="2990088"/>
            <a:ext cx="731520" cy="566928"/>
          </a:xfrm>
          <a:prstGeom prst="rect">
            <a:avLst/>
          </a:prstGeom>
          <a:solidFill>
            <a:srgbClr val="FFFFFF"/>
          </a:solidFill>
          <a:ln w="12700">
            <a:solidFill>
              <a:srgbClr val="999999"/>
            </a:solidFill>
            <a:prstDash val="solid"/>
          </a:ln>
        </p:spPr>
      </p:sp>
      <p:sp>
        <p:nvSpPr>
          <p:cNvPr id="28" name="Shape 26"/>
          <p:cNvSpPr/>
          <p:nvPr/>
        </p:nvSpPr>
        <p:spPr>
          <a:xfrm>
            <a:off x="3108960" y="2990088"/>
            <a:ext cx="731520" cy="566928"/>
          </a:xfrm>
          <a:prstGeom prst="rect">
            <a:avLst/>
          </a:prstGeom>
          <a:solidFill>
            <a:srgbClr val="FFFFFF"/>
          </a:solidFill>
          <a:ln w="12700">
            <a:solidFill>
              <a:srgbClr val="999999"/>
            </a:solidFill>
            <a:prstDash val="solid"/>
          </a:ln>
        </p:spPr>
      </p:sp>
      <p:sp>
        <p:nvSpPr>
          <p:cNvPr id="29" name="Shape 27"/>
          <p:cNvSpPr/>
          <p:nvPr/>
        </p:nvSpPr>
        <p:spPr>
          <a:xfrm>
            <a:off x="3840480" y="2990088"/>
            <a:ext cx="731520" cy="566928"/>
          </a:xfrm>
          <a:prstGeom prst="rect">
            <a:avLst/>
          </a:prstGeom>
          <a:solidFill>
            <a:srgbClr val="FFFFFF"/>
          </a:solidFill>
          <a:ln w="12700">
            <a:solidFill>
              <a:srgbClr val="999999"/>
            </a:solidFill>
            <a:prstDash val="solid"/>
          </a:ln>
        </p:spPr>
      </p:sp>
      <p:sp>
        <p:nvSpPr>
          <p:cNvPr id="30" name="Text 28"/>
          <p:cNvSpPr/>
          <p:nvPr/>
        </p:nvSpPr>
        <p:spPr>
          <a:xfrm>
            <a:off x="3840480" y="2990088"/>
            <a:ext cx="73152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0</a:t>
            </a:r>
            <a:endParaRPr lang="en-US" sz="2400" dirty="0"/>
          </a:p>
        </p:txBody>
      </p:sp>
      <p:sp>
        <p:nvSpPr>
          <p:cNvPr id="31" name="Shape 29"/>
          <p:cNvSpPr/>
          <p:nvPr/>
        </p:nvSpPr>
        <p:spPr>
          <a:xfrm>
            <a:off x="4572000" y="2990088"/>
            <a:ext cx="731520" cy="566928"/>
          </a:xfrm>
          <a:prstGeom prst="rect">
            <a:avLst/>
          </a:prstGeom>
          <a:solidFill>
            <a:srgbClr val="FFFFFF"/>
          </a:solidFill>
          <a:ln w="12700">
            <a:solidFill>
              <a:srgbClr val="999999"/>
            </a:solidFill>
            <a:prstDash val="solid"/>
          </a:ln>
        </p:spPr>
      </p:sp>
      <p:sp>
        <p:nvSpPr>
          <p:cNvPr id="32" name="Shape 30"/>
          <p:cNvSpPr/>
          <p:nvPr/>
        </p:nvSpPr>
        <p:spPr>
          <a:xfrm>
            <a:off x="5303520" y="2990088"/>
            <a:ext cx="731520" cy="566928"/>
          </a:xfrm>
          <a:prstGeom prst="rect">
            <a:avLst/>
          </a:prstGeom>
          <a:solidFill>
            <a:srgbClr val="FFFFFF"/>
          </a:solidFill>
          <a:ln w="12700">
            <a:solidFill>
              <a:srgbClr val="999999"/>
            </a:solidFill>
            <a:prstDash val="solid"/>
          </a:ln>
        </p:spPr>
      </p:sp>
      <p:sp>
        <p:nvSpPr>
          <p:cNvPr id="33" name="Text 31"/>
          <p:cNvSpPr/>
          <p:nvPr/>
        </p:nvSpPr>
        <p:spPr>
          <a:xfrm>
            <a:off x="5303520" y="2990088"/>
            <a:ext cx="73152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9</a:t>
            </a:r>
            <a:endParaRPr lang="en-US" sz="2400" dirty="0"/>
          </a:p>
        </p:txBody>
      </p:sp>
      <p:sp>
        <p:nvSpPr>
          <p:cNvPr id="34" name="Shape 32"/>
          <p:cNvSpPr/>
          <p:nvPr/>
        </p:nvSpPr>
        <p:spPr>
          <a:xfrm>
            <a:off x="6035040" y="2990088"/>
            <a:ext cx="731520" cy="566928"/>
          </a:xfrm>
          <a:prstGeom prst="rect">
            <a:avLst/>
          </a:prstGeom>
          <a:solidFill>
            <a:srgbClr val="FFFFFF"/>
          </a:solidFill>
          <a:ln w="12700">
            <a:solidFill>
              <a:srgbClr val="999999"/>
            </a:solidFill>
            <a:prstDash val="solid"/>
          </a:ln>
        </p:spPr>
      </p:sp>
      <p:sp>
        <p:nvSpPr>
          <p:cNvPr id="35" name="Text 33"/>
          <p:cNvSpPr/>
          <p:nvPr/>
        </p:nvSpPr>
        <p:spPr>
          <a:xfrm>
            <a:off x="6035040" y="2990088"/>
            <a:ext cx="73152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0</a:t>
            </a:r>
            <a:endParaRPr lang="en-US" sz="2400" dirty="0"/>
          </a:p>
        </p:txBody>
      </p:sp>
      <p:sp>
        <p:nvSpPr>
          <p:cNvPr id="36" name="Text 34"/>
          <p:cNvSpPr/>
          <p:nvPr/>
        </p:nvSpPr>
        <p:spPr>
          <a:xfrm>
            <a:off x="1371600" y="1920240"/>
            <a:ext cx="914400" cy="566928"/>
          </a:xfrm>
          <a:prstGeom prst="rect">
            <a:avLst/>
          </a:prstGeom>
          <a:noFill/>
          <a:ln/>
        </p:spPr>
        <p:txBody>
          <a:bodyPr wrap="square" lIns="0" tIns="0" rIns="0" bIns="0" rtlCol="0" anchor="ctr"/>
          <a:lstStyle/>
          <a:p>
            <a:pPr algn="r" indent="0" marL="0">
              <a:buNone/>
            </a:pPr>
            <a:r>
              <a:rPr lang="en-US" sz="1000" b="1" dirty="0">
                <a:solidFill>
                  <a:srgbClr val="5A5A7A"/>
                </a:solidFill>
              </a:rPr>
              <a:t>90</a:t>
            </a:r>
            <a:endParaRPr lang="en-US" sz="1000" dirty="0"/>
          </a:p>
        </p:txBody>
      </p:sp>
      <p:sp>
        <p:nvSpPr>
          <p:cNvPr id="37" name="Text 35"/>
          <p:cNvSpPr/>
          <p:nvPr/>
        </p:nvSpPr>
        <p:spPr>
          <a:xfrm>
            <a:off x="1371600" y="2990088"/>
            <a:ext cx="914400" cy="566928"/>
          </a:xfrm>
          <a:prstGeom prst="rect">
            <a:avLst/>
          </a:prstGeom>
          <a:noFill/>
          <a:ln/>
        </p:spPr>
        <p:txBody>
          <a:bodyPr wrap="square" lIns="0" tIns="0" rIns="0" bIns="0" rtlCol="0" anchor="ctr"/>
          <a:lstStyle/>
          <a:p>
            <a:pPr algn="r" indent="0" marL="0">
              <a:buNone/>
            </a:pPr>
            <a:r>
              <a:rPr lang="en-US" sz="1000" b="1" dirty="0">
                <a:solidFill>
                  <a:srgbClr val="5A5A7A"/>
                </a:solidFill>
              </a:rPr>
              <a:t>× 0.01 = 0.90</a:t>
            </a:r>
            <a:endParaRPr lang="en-US" sz="1000" dirty="0"/>
          </a:p>
        </p:txBody>
      </p:sp>
      <p:sp>
        <p:nvSpPr>
          <p:cNvPr id="38" name="Shape 36"/>
          <p:cNvSpPr/>
          <p:nvPr/>
        </p:nvSpPr>
        <p:spPr>
          <a:xfrm>
            <a:off x="3474720" y="2487168"/>
            <a:ext cx="2194560" cy="502920"/>
          </a:xfrm>
          <a:prstGeom prst="line">
            <a:avLst/>
          </a:prstGeom>
          <a:noFill/>
          <a:ln w="28575">
            <a:solidFill>
              <a:srgbClr val="D9941A"/>
            </a:solidFill>
            <a:prstDash val="solid"/>
            <a:tailEnd type="triangle"/>
          </a:ln>
        </p:spPr>
      </p:sp>
      <p:sp>
        <p:nvSpPr>
          <p:cNvPr id="39" name="Shape 37"/>
          <p:cNvSpPr/>
          <p:nvPr/>
        </p:nvSpPr>
        <p:spPr>
          <a:xfrm>
            <a:off x="4206240" y="2487168"/>
            <a:ext cx="2194560" cy="502920"/>
          </a:xfrm>
          <a:prstGeom prst="line">
            <a:avLst/>
          </a:prstGeom>
          <a:noFill/>
          <a:ln w="28575">
            <a:solidFill>
              <a:srgbClr val="D9941A"/>
            </a:solidFill>
            <a:prstDash val="solid"/>
            <a:tailEnd type="triangle"/>
          </a:ln>
        </p:spPr>
      </p:sp>
      <p:sp>
        <p:nvSpPr>
          <p:cNvPr id="40" name="Text 38"/>
          <p:cNvSpPr/>
          <p:nvPr/>
        </p:nvSpPr>
        <p:spPr>
          <a:xfrm>
            <a:off x="2377440" y="3648456"/>
            <a:ext cx="4389120" cy="365760"/>
          </a:xfrm>
          <a:prstGeom prst="rect">
            <a:avLst/>
          </a:prstGeom>
          <a:noFill/>
          <a:ln/>
        </p:spPr>
        <p:txBody>
          <a:bodyPr wrap="square" lIns="0" tIns="0" rIns="0" bIns="0" rtlCol="0" anchor="ctr"/>
          <a:lstStyle/>
          <a:p>
            <a:pPr algn="ctr" indent="0" marL="0">
              <a:buNone/>
            </a:pPr>
            <a:r>
              <a:rPr lang="en-US" sz="1200" i="1" dirty="0">
                <a:solidFill>
                  <a:srgbClr val="5A5A7A"/>
                </a:solidFill>
              </a:rPr>
              <a:t>90 × 0.01 = 0.90 — the discount is 90 cents per dollar.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Your Turn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188720"/>
            <a:ext cx="7772400" cy="1645920"/>
          </a:xfrm>
          <a:prstGeom prst="rect">
            <a:avLst/>
          </a:prstGeom>
          <a:noFill/>
          <a:ln/>
        </p:spPr>
        <p:txBody>
          <a:bodyPr wrap="square" lIns="0" tIns="0" rIns="0" bIns="0" rtlCol="0" anchor="ctr"/>
          <a:lstStyle/>
          <a:p>
            <a:pPr indent="0" marL="0">
              <a:buNone/>
            </a:pPr>
            <a:r>
              <a:rPr lang="en-US" sz="1700" dirty="0">
                <a:solidFill>
                  <a:srgbClr val="1A1A2E"/>
                </a:solidFill>
                <a:latin typeface="Cambria" pitchFamily="34" charset="0"/>
                <a:ea typeface="Cambria" pitchFamily="34" charset="-122"/>
                <a:cs typeface="Cambria" pitchFamily="34" charset="-120"/>
              </a:rPr>
              <a:t>A recipe calls for 120 grams of flour. A baker wants one hundredth of that amount for a taste-test batch. How many grams is that?</a:t>
            </a:r>
            <a:endParaRPr lang="en-US" sz="1700" dirty="0"/>
          </a:p>
        </p:txBody>
      </p:sp>
      <p:sp>
        <p:nvSpPr>
          <p:cNvPr id="8" name="Shape 6"/>
          <p:cNvSpPr/>
          <p:nvPr/>
        </p:nvSpPr>
        <p:spPr>
          <a:xfrm>
            <a:off x="457200" y="3200400"/>
            <a:ext cx="1920240" cy="292608"/>
          </a:xfrm>
          <a:prstGeom prst="roundRect">
            <a:avLst>
              <a:gd name="adj" fmla="val 18750"/>
            </a:avLst>
          </a:prstGeom>
          <a:solidFill>
            <a:srgbClr val="7A3B6E"/>
          </a:solidFill>
          <a:ln w="12700">
            <a:solidFill>
              <a:srgbClr val="7A3B6E"/>
            </a:solidFill>
            <a:prstDash val="solid"/>
          </a:ln>
        </p:spPr>
      </p:sp>
      <p:sp>
        <p:nvSpPr>
          <p:cNvPr id="9" name="Text 7"/>
          <p:cNvSpPr/>
          <p:nvPr/>
        </p:nvSpPr>
        <p:spPr>
          <a:xfrm>
            <a:off x="457200" y="3200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TRY IT</a:t>
            </a:r>
            <a:endParaRPr lang="en-US" sz="800" dirty="0"/>
          </a:p>
        </p:txBody>
      </p:sp>
      <p:sp>
        <p:nvSpPr>
          <p:cNvPr id="10" name="Shape 8"/>
          <p:cNvSpPr/>
          <p:nvPr/>
        </p:nvSpPr>
        <p:spPr>
          <a:xfrm>
            <a:off x="914400" y="3749040"/>
            <a:ext cx="73152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914400" y="3749040"/>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 AND which direction the digits moved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Where This Leads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371600"/>
            <a:ext cx="8229600" cy="1828800"/>
          </a:xfrm>
          <a:prstGeom prst="roundRect">
            <a:avLst>
              <a:gd name="adj" fmla="val 5000"/>
            </a:avLst>
          </a:prstGeom>
          <a:solidFill>
            <a:srgbClr val="F3E6EF"/>
          </a:solidFill>
          <a:ln w="6350">
            <a:solidFill>
              <a:srgbClr val="DDDDEE"/>
            </a:solidFill>
            <a:prstDash val="solid"/>
          </a:ln>
        </p:spPr>
      </p:sp>
      <p:sp>
        <p:nvSpPr>
          <p:cNvPr id="7" name="Text 5"/>
          <p:cNvSpPr/>
          <p:nvPr/>
        </p:nvSpPr>
        <p:spPr>
          <a:xfrm>
            <a:off x="731520" y="1645920"/>
            <a:ext cx="7680960" cy="128016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Next, you will multiply a decimal by another decimal using an area model -- tenths and hundredths will return inside the rectangle.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3.5 × 0.01 = ______</a:t>
            </a:r>
            <a:endParaRPr lang="en-US" sz="2000" dirty="0"/>
          </a:p>
        </p:txBody>
      </p:sp>
      <p:sp>
        <p:nvSpPr>
          <p:cNvPr id="8" name="Shape 6"/>
          <p:cNvSpPr/>
          <p:nvPr/>
        </p:nvSpPr>
        <p:spPr>
          <a:xfrm>
            <a:off x="914400" y="2103120"/>
            <a:ext cx="173736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91440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0.035</a:t>
            </a:r>
            <a:endParaRPr lang="en-US" sz="2000" dirty="0"/>
          </a:p>
        </p:txBody>
      </p:sp>
      <p:sp>
        <p:nvSpPr>
          <p:cNvPr id="10" name="Shape 8"/>
          <p:cNvSpPr/>
          <p:nvPr/>
        </p:nvSpPr>
        <p:spPr>
          <a:xfrm>
            <a:off x="2834640" y="2103120"/>
            <a:ext cx="173736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83464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0.35</a:t>
            </a:r>
            <a:endParaRPr lang="en-US" sz="2000" dirty="0"/>
          </a:p>
        </p:txBody>
      </p:sp>
      <p:sp>
        <p:nvSpPr>
          <p:cNvPr id="12" name="Shape 10"/>
          <p:cNvSpPr/>
          <p:nvPr/>
        </p:nvSpPr>
        <p:spPr>
          <a:xfrm>
            <a:off x="4754880" y="2103120"/>
            <a:ext cx="173736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75488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3.5</a:t>
            </a:r>
            <a:endParaRPr lang="en-US" sz="2000" dirty="0"/>
          </a:p>
        </p:txBody>
      </p:sp>
      <p:sp>
        <p:nvSpPr>
          <p:cNvPr id="14" name="Shape 12"/>
          <p:cNvSpPr/>
          <p:nvPr/>
        </p:nvSpPr>
        <p:spPr>
          <a:xfrm>
            <a:off x="6675120" y="2103120"/>
            <a:ext cx="173736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67512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35</a:t>
            </a:r>
            <a:endParaRPr lang="en-US" sz="2000" dirty="0"/>
          </a:p>
        </p:txBody>
      </p:sp>
      <p:sp>
        <p:nvSpPr>
          <p:cNvPr id="16" name="Shape 14"/>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7" name="Text 15"/>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3.5 × 0.01 = ______</a:t>
            </a:r>
            <a:endParaRPr lang="en-US" sz="2000" dirty="0"/>
          </a:p>
        </p:txBody>
      </p:sp>
      <p:sp>
        <p:nvSpPr>
          <p:cNvPr id="8" name="Shape 6"/>
          <p:cNvSpPr/>
          <p:nvPr/>
        </p:nvSpPr>
        <p:spPr>
          <a:xfrm>
            <a:off x="914400" y="2103120"/>
            <a:ext cx="1737360" cy="822960"/>
          </a:xfrm>
          <a:prstGeom prst="roundRect">
            <a:avLst>
              <a:gd name="adj" fmla="val 8889"/>
            </a:avLst>
          </a:prstGeom>
          <a:solidFill>
            <a:srgbClr val="2E6E44"/>
          </a:solidFill>
          <a:ln w="12700">
            <a:solidFill>
              <a:srgbClr val="2E6E44"/>
            </a:solidFill>
            <a:prstDash val="solid"/>
          </a:ln>
        </p:spPr>
      </p:sp>
      <p:sp>
        <p:nvSpPr>
          <p:cNvPr id="9" name="Text 7"/>
          <p:cNvSpPr/>
          <p:nvPr/>
        </p:nvSpPr>
        <p:spPr>
          <a:xfrm>
            <a:off x="914400" y="2103120"/>
            <a:ext cx="1737360" cy="822960"/>
          </a:xfrm>
          <a:prstGeom prst="rect">
            <a:avLst/>
          </a:prstGeom>
          <a:noFill/>
          <a:ln/>
        </p:spPr>
        <p:txBody>
          <a:bodyPr wrap="square" lIns="0" tIns="0" rIns="0" bIns="0" rtlCol="0" anchor="ctr"/>
          <a:lstStyle/>
          <a:p>
            <a:pPr algn="ctr" indent="0" marL="0">
              <a:buNone/>
            </a:pPr>
            <a:r>
              <a:rPr lang="en-US" sz="2000" b="1" dirty="0">
                <a:solidFill>
                  <a:srgbClr val="FFFFFF"/>
                </a:solidFill>
              </a:rPr>
              <a:t>0.035</a:t>
            </a:r>
            <a:endParaRPr lang="en-US" sz="2000" dirty="0"/>
          </a:p>
        </p:txBody>
      </p:sp>
      <p:sp>
        <p:nvSpPr>
          <p:cNvPr id="10" name="Shape 8"/>
          <p:cNvSpPr/>
          <p:nvPr/>
        </p:nvSpPr>
        <p:spPr>
          <a:xfrm>
            <a:off x="2834640" y="2103120"/>
            <a:ext cx="173736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83464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0.35</a:t>
            </a:r>
            <a:endParaRPr lang="en-US" sz="2000" dirty="0"/>
          </a:p>
        </p:txBody>
      </p:sp>
      <p:sp>
        <p:nvSpPr>
          <p:cNvPr id="12" name="Shape 10"/>
          <p:cNvSpPr/>
          <p:nvPr/>
        </p:nvSpPr>
        <p:spPr>
          <a:xfrm>
            <a:off x="4754880" y="2103120"/>
            <a:ext cx="173736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75488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3.5</a:t>
            </a:r>
            <a:endParaRPr lang="en-US" sz="2000" dirty="0"/>
          </a:p>
        </p:txBody>
      </p:sp>
      <p:sp>
        <p:nvSpPr>
          <p:cNvPr id="14" name="Shape 12"/>
          <p:cNvSpPr/>
          <p:nvPr/>
        </p:nvSpPr>
        <p:spPr>
          <a:xfrm>
            <a:off x="6675120" y="2103120"/>
            <a:ext cx="173736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67512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35</a:t>
            </a:r>
            <a:endParaRPr lang="en-US" sz="2000" dirty="0"/>
          </a:p>
        </p:txBody>
      </p:sp>
      <p:sp>
        <p:nvSpPr>
          <p:cNvPr id="16" name="Text 14"/>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Multiplying by 0.01 shifts every digit two places right (smaller): 3.5 × 0.01 = 0.035.</a:t>
            </a:r>
            <a:endParaRPr lang="en-US" sz="1200" dirty="0"/>
          </a:p>
        </p:txBody>
      </p:sp>
      <p:sp>
        <p:nvSpPr>
          <p:cNvPr id="17" name="Shape 15"/>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the digits slide right this time, the opposite direction from Unit 9's ×10 mat, where they slid left.</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check my work by rewriting ×0.1 as ÷10 and ×0.01 as ÷100 -- if my shifted answer doesn't match the division, I know I moved the wrong way.</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the place-value mat with the digits stepping down into the smaller boxes, one box at a time, like they're taking a step down a staircase toward the decimal point.</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The precise way to say it: multiplying by a factor less than one produces a product smaller than the original factor, because you are finding a fractional part of it, not repeating it.</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Finish the Independent Practice: multiplying by 0.1 or 0.01.</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Gather your Math Journal responses from today's lesson.</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Preview tomorrow: multiplying a decimal by a decimal using an area model.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5.10.03 Multiplying by 0.1 or 0.01 — Teacher Slides</dc:title>
  <dc:subject>PptxGenJS Presentation</dc:subject>
  <dc:creator>PptxGenJS</dc:creator>
  <cp:lastModifiedBy>PptxGenJS</cp:lastModifiedBy>
  <cp:revision>1</cp:revision>
  <dcterms:created xsi:type="dcterms:W3CDTF">2026-09-24T15:56:28Z</dcterms:created>
  <dcterms:modified xsi:type="dcterms:W3CDTF">2026-09-24T15:56:28Z</dcterms:modified>
</cp:coreProperties>
</file>