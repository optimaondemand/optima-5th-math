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(5-7 min). Uses different numbers than the lesson's own 2.4 x 1.3 example, but the same skill: partial products by place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(5-7 min). Uses different numbers than the lesson's own 2.4 x 1.3 example, but the same skill: partial products by place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 carefully: the whole-number fact (15 x 22 = 330) is correct, but the decimal point lands two places from the right, not left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 carefully: the whole-number fact (15 x 22 = 330) is correct, but the decimal point lands two places from the right, not left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Today: multiplying a decimal by a decimal using an area model.
Transition: "Let's look at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Read the I Can aloud. Preview the key idea: the same area model from whole-number multiplication still works.
Transition: "Let's check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Surface the whole-number fact (286) and the place-count idea (two total) before the lesson connects them.
Anticipated: 286, two places.
Transition: "Let's notice and wonder."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Ground decimal multiplication in a real garden-area scenario.
Anticipated: guesses near 3 square meters.
Transition: "Let's notice and wonder about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Give silent think time before chat.
Anticipated notice: '1.3 is more than 1'. Anticipated wonder: 'the answer should be a little more than 2.4'.
Transition: "Let's build the whole-number fact first, then shift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 min)
First confirm the whole-number fact 15 x 22 = 330 is correct on its own. Then show every digit physically sliding two places right on the mat, landing on 3.30 -- the same shift mechanism from Lesson 3, now driven by counting decimal places in the factors.
Common error: shifting only one place, or shifting the wrong direction.
Transition: "Now let's see the same idea as a split rectangle."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A fresh pair of side lengths (1.6 x 2.3) split into the same 4-piece structure as the lesson's own 2.4 x 1.3 example.
Anticipated: the tenths-by-tenths corner, because tenths times tenths makes hundredths.
Transition: "Let's name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State the rule in words now that students have seen both the shift mat and the area model support it.
Anticipated: 'two places'.
Transition: "Let's name today's key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Read each term, pointing back to the area model pieces for 'partial product'.
Transition: "Let's work an example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(4 min)
Model the same whole-number-fact-plus-shift method from the Concrete slide with new numbers.
Common error: placing the point one place instead of two.
Transition: "Now let's estimate before we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 min) -- gap-fill: the IP includes an 'Estimate Then Compute' problem type (6.3 x 4.7) that the HTML worked example doesn't teach. This slide models estimating first as a check on decimal placement.
Common error: skipping the estimate and not catching a misplaced decimal point.
Transition: "What if someone makes that exact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C (3 min) -- gap-fill: the IP's Reasoning problem asks students to diagnose a decimal-placement error. Walk through why the whole-number fact was right but the point placement was wrong.
Common error: students may also forget to count decimal places, matching the mistake shown here.
Transition: "Your turn to find 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(3 min)
Students solve 4.5 x 2.5 independently, then share in chat.
Anticipated: 11.25 square meters.
Common error: computing 45 x 25 = 1,125 correctly but placing the point after only one digit instead of two.
Transition: "Where does this lead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the upcoming division lessons -- the same place-value reasoning will apply in reverse.
Transition: "Let's check what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This checks whether students correctly count and combine decimal places from both factors, including a factor with two decimal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This checks whether students correctly count and combine decimal places from both factors, including a factor with two decimal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DISMISSAL (1 min)
Confirm the IP assignment and remind students to gather their journal before logging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19456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Shape 3"/>
          <p:cNvSpPr/>
          <p:nvPr/>
        </p:nvSpPr>
        <p:spPr>
          <a:xfrm>
            <a:off x="2395728" y="164592"/>
            <a:ext cx="630936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395728" y="164592"/>
            <a:ext cx="6309360" cy="292608"/>
          </a:xfrm>
          <a:prstGeom prst="rect">
            <a:avLst/>
          </a:prstGeom>
          <a:noFill/>
          <a:ln/>
        </p:spPr>
        <p:txBody>
          <a:bodyPr wrap="square" lIns="0" tIns="0" rIns="0" bIns="0" rtlCol="0" anchor="ctr"/>
          <a:lstStyle/>
          <a:p>
            <a:pPr indent="0" marL="0">
              <a:buNone/>
            </a:pPr>
            <a:r>
              <a:rPr lang="en-US" sz="900" dirty="0">
                <a:solidFill>
                  <a:srgbClr val="FFFFFF"/>
                </a:solidFill>
              </a:rPr>
              <a:t>  ·  5.10.04 · Decimal × Decimal Warm-Up</a:t>
            </a:r>
            <a:endParaRPr lang="en-US" sz="900" dirty="0"/>
          </a:p>
        </p:txBody>
      </p:sp>
      <p:sp>
        <p:nvSpPr>
          <p:cNvPr id="7" name="Text 5"/>
          <p:cNvSpPr/>
          <p:nvPr/>
        </p:nvSpPr>
        <p:spPr>
          <a:xfrm>
            <a:off x="457200" y="1097280"/>
            <a:ext cx="82296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1.5 × 2.2 = 3.30</a:t>
            </a:r>
            <a:endParaRPr lang="en-US" sz="30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Is this true or false? Be ready to prove 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Prove It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True or False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31920" cy="3474720"/>
          </a:xfrm>
          <a:prstGeom prst="roundRect">
            <a:avLst>
              <a:gd name="adj" fmla="val 2632"/>
            </a:avLst>
          </a:prstGeom>
          <a:solidFill>
            <a:srgbClr val="E6F2EA"/>
          </a:solidFill>
          <a:ln w="6350">
            <a:solidFill>
              <a:srgbClr val="DDDDEE"/>
            </a:solidFill>
            <a:prstDash val="solid"/>
          </a:ln>
        </p:spPr>
      </p:sp>
      <p:sp>
        <p:nvSpPr>
          <p:cNvPr id="7" name="Text 5"/>
          <p:cNvSpPr/>
          <p:nvPr/>
        </p:nvSpPr>
        <p:spPr>
          <a:xfrm>
            <a:off x="640080" y="1051560"/>
            <a:ext cx="3566160" cy="548640"/>
          </a:xfrm>
          <a:prstGeom prst="rect">
            <a:avLst/>
          </a:prstGeom>
          <a:noFill/>
          <a:ln/>
        </p:spPr>
        <p:txBody>
          <a:bodyPr wrap="square" lIns="0" tIns="0" rIns="0" bIns="0" rtlCol="0" anchor="ctr"/>
          <a:lstStyle/>
          <a:p>
            <a:pPr indent="0" marL="0">
              <a:buNone/>
            </a:pPr>
            <a:r>
              <a:rPr lang="en-US" sz="1300" b="1" dirty="0">
                <a:solidFill>
                  <a:srgbClr val="2E6E44"/>
                </a:solidFill>
              </a:rPr>
              <a:t>Some students think TRUE because…</a:t>
            </a:r>
            <a:endParaRPr lang="en-US" sz="1300" dirty="0"/>
          </a:p>
        </p:txBody>
      </p:sp>
      <p:sp>
        <p:nvSpPr>
          <p:cNvPr id="8" name="Text 6"/>
          <p:cNvSpPr/>
          <p:nvPr/>
        </p:nvSpPr>
        <p:spPr>
          <a:xfrm>
            <a:off x="640080" y="169164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1 × 2 = 2</a:t>
            </a:r>
            <a:endParaRPr lang="en-US" sz="1300" dirty="0"/>
          </a:p>
        </p:txBody>
      </p:sp>
      <p:sp>
        <p:nvSpPr>
          <p:cNvPr id="9" name="Text 7"/>
          <p:cNvSpPr/>
          <p:nvPr/>
        </p:nvSpPr>
        <p:spPr>
          <a:xfrm>
            <a:off x="640080" y="228600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1 × 0.2 = 0.2</a:t>
            </a:r>
            <a:endParaRPr lang="en-US" sz="1300" dirty="0"/>
          </a:p>
        </p:txBody>
      </p:sp>
      <p:sp>
        <p:nvSpPr>
          <p:cNvPr id="10" name="Text 8"/>
          <p:cNvSpPr/>
          <p:nvPr/>
        </p:nvSpPr>
        <p:spPr>
          <a:xfrm>
            <a:off x="640080" y="288036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0.5 × 2 = 1</a:t>
            </a:r>
            <a:endParaRPr lang="en-US" sz="1300" dirty="0"/>
          </a:p>
        </p:txBody>
      </p:sp>
      <p:sp>
        <p:nvSpPr>
          <p:cNvPr id="11" name="Text 9"/>
          <p:cNvSpPr/>
          <p:nvPr/>
        </p:nvSpPr>
        <p:spPr>
          <a:xfrm>
            <a:off x="640080" y="347472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0.5 × 0.2 = 0.1</a:t>
            </a:r>
            <a:endParaRPr lang="en-US" sz="1300" dirty="0"/>
          </a:p>
        </p:txBody>
      </p:sp>
      <p:sp>
        <p:nvSpPr>
          <p:cNvPr id="12" name="Text 10"/>
          <p:cNvSpPr/>
          <p:nvPr/>
        </p:nvSpPr>
        <p:spPr>
          <a:xfrm>
            <a:off x="640080" y="406908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2 + 0.2 + 1 + 0.1 = 3.3</a:t>
            </a:r>
            <a:endParaRPr lang="en-US" sz="1300" dirty="0"/>
          </a:p>
        </p:txBody>
      </p:sp>
      <p:sp>
        <p:nvSpPr>
          <p:cNvPr id="13" name="Shape 11"/>
          <p:cNvSpPr/>
          <p:nvPr/>
        </p:nvSpPr>
        <p:spPr>
          <a:xfrm>
            <a:off x="4754880" y="960120"/>
            <a:ext cx="3931920" cy="3474720"/>
          </a:xfrm>
          <a:prstGeom prst="roundRect">
            <a:avLst>
              <a:gd name="adj" fmla="val 2632"/>
            </a:avLst>
          </a:prstGeom>
          <a:solidFill>
            <a:srgbClr val="FFFFFF"/>
          </a:solidFill>
          <a:ln w="6350">
            <a:solidFill>
              <a:srgbClr val="DDDDEE"/>
            </a:solidFill>
            <a:prstDash val="solid"/>
          </a:ln>
        </p:spPr>
      </p:sp>
      <p:sp>
        <p:nvSpPr>
          <p:cNvPr id="14" name="Text 12"/>
          <p:cNvSpPr/>
          <p:nvPr/>
        </p:nvSpPr>
        <p:spPr>
          <a:xfrm>
            <a:off x="4937760" y="1051560"/>
            <a:ext cx="3566160" cy="548640"/>
          </a:xfrm>
          <a:prstGeom prst="rect">
            <a:avLst/>
          </a:prstGeom>
          <a:noFill/>
          <a:ln/>
        </p:spPr>
        <p:txBody>
          <a:bodyPr wrap="square" lIns="0" tIns="0" rIns="0" bIns="0" rtlCol="0" anchor="ctr"/>
          <a:lstStyle/>
          <a:p>
            <a:pPr indent="0" marL="0">
              <a:buNone/>
            </a:pPr>
            <a:r>
              <a:rPr lang="en-US" sz="1300" b="1" dirty="0">
                <a:solidFill>
                  <a:srgbClr val="A66E10"/>
                </a:solidFill>
              </a:rPr>
              <a:t>Some students think FALSE because…</a:t>
            </a:r>
            <a:endParaRPr lang="en-US" sz="1300" dirty="0"/>
          </a:p>
        </p:txBody>
      </p:sp>
      <p:sp>
        <p:nvSpPr>
          <p:cNvPr id="15" name="Text 13"/>
          <p:cNvSpPr/>
          <p:nvPr/>
        </p:nvSpPr>
        <p:spPr>
          <a:xfrm>
            <a:off x="4937760" y="169164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Some students multiply</a:t>
            </a:r>
            <a:endParaRPr lang="en-US" sz="1300" dirty="0"/>
          </a:p>
        </p:txBody>
      </p:sp>
      <p:sp>
        <p:nvSpPr>
          <p:cNvPr id="16" name="Text 14"/>
          <p:cNvSpPr/>
          <p:nvPr/>
        </p:nvSpPr>
        <p:spPr>
          <a:xfrm>
            <a:off x="4937760" y="228600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15 × 22 = 330 and</a:t>
            </a:r>
            <a:endParaRPr lang="en-US" sz="1300" dirty="0"/>
          </a:p>
        </p:txBody>
      </p:sp>
      <p:sp>
        <p:nvSpPr>
          <p:cNvPr id="17" name="Text 15"/>
          <p:cNvSpPr/>
          <p:nvPr/>
        </p:nvSpPr>
        <p:spPr>
          <a:xfrm>
            <a:off x="4937760" y="288036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misplace the point,</a:t>
            </a:r>
            <a:endParaRPr lang="en-US" sz="1300" dirty="0"/>
          </a:p>
        </p:txBody>
      </p:sp>
      <p:sp>
        <p:nvSpPr>
          <p:cNvPr id="18" name="Text 16"/>
          <p:cNvSpPr/>
          <p:nvPr/>
        </p:nvSpPr>
        <p:spPr>
          <a:xfrm>
            <a:off x="4937760" y="347472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landing on 33 instead.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To multiply two decimals, you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Multiply as if both factors were whole numbers, then count the total decimal places in both factors to place the point in the product.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endParaRPr lang="en-US" sz="3200" dirty="0"/>
          </a:p>
        </p:txBody>
      </p:sp>
      <p:sp>
        <p:nvSpPr>
          <p:cNvPr id="8" name="Shape 6"/>
          <p:cNvSpPr/>
          <p:nvPr/>
        </p:nvSpPr>
        <p:spPr>
          <a:xfrm>
            <a:off x="2286000" y="3794760"/>
            <a:ext cx="45720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2286000" y="379476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true or false?</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True — 6 × 9 = 54, and 0.6 and 0.9 each have one decimal place, so the product needs two: 0.54.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5.10.04</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Multiplying by a Decimal</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10: Decimal Operations · Lesson 4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MA.5.NSO.2.4   ·   TEKS 5.3.D   ·   5.3.E</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multiply a decimal by a decimal by splitting an area model into partial products.</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“How can an area model help us multiply decimals accurately?”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417320"/>
          </a:xfrm>
          <a:prstGeom prst="roundRect">
            <a:avLst>
              <a:gd name="adj" fmla="val 6452"/>
            </a:avLst>
          </a:prstGeom>
          <a:solidFill>
            <a:srgbClr val="FFFFFF"/>
          </a:solidFill>
          <a:ln w="6350">
            <a:solidFill>
              <a:srgbClr val="DDDDEE"/>
            </a:solidFill>
            <a:prstDash val="solid"/>
          </a:ln>
        </p:spPr>
      </p:sp>
      <p:sp>
        <p:nvSpPr>
          <p:cNvPr id="7" name="Text 5"/>
          <p:cNvSpPr/>
          <p:nvPr/>
        </p:nvSpPr>
        <p:spPr>
          <a:xfrm>
            <a:off x="685800" y="1143000"/>
            <a:ext cx="7772400" cy="114300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What is 13 × 22? Now, how many decimal places would 1.3 × 2.2 need in the product?</a:t>
            </a:r>
            <a:endParaRPr lang="en-US" sz="1700" dirty="0"/>
          </a:p>
        </p:txBody>
      </p:sp>
      <p:sp>
        <p:nvSpPr>
          <p:cNvPr id="8" name="Shape 6"/>
          <p:cNvSpPr/>
          <p:nvPr/>
        </p:nvSpPr>
        <p:spPr>
          <a:xfrm>
            <a:off x="457200" y="2606040"/>
            <a:ext cx="8229600" cy="1051560"/>
          </a:xfrm>
          <a:prstGeom prst="roundRect">
            <a:avLst>
              <a:gd name="adj" fmla="val 8696"/>
            </a:avLst>
          </a:prstGeom>
          <a:solidFill>
            <a:srgbClr val="FFFFFF"/>
          </a:solidFill>
          <a:ln w="6350">
            <a:solidFill>
              <a:srgbClr val="DDDDEE"/>
            </a:solidFill>
            <a:prstDash val="solid"/>
          </a:ln>
        </p:spPr>
      </p:sp>
      <p:sp>
        <p:nvSpPr>
          <p:cNvPr id="9" name="Text 7"/>
          <p:cNvSpPr/>
          <p:nvPr/>
        </p:nvSpPr>
        <p:spPr>
          <a:xfrm>
            <a:off x="685800" y="2724912"/>
            <a:ext cx="7772400" cy="822960"/>
          </a:xfrm>
          <a:prstGeom prst="rect">
            <a:avLst/>
          </a:prstGeom>
          <a:noFill/>
          <a:ln/>
        </p:spPr>
        <p:txBody>
          <a:bodyPr wrap="square" lIns="0" tIns="0" rIns="0" bIns="0" rtlCol="0" anchor="ctr"/>
          <a:lstStyle/>
          <a:p>
            <a:pPr indent="0" marL="0">
              <a:buNone/>
            </a:pPr>
            <a:r>
              <a:rPr lang="en-US" sz="1400" i="1" dirty="0">
                <a:solidFill>
                  <a:srgbClr val="5A5A7A"/>
                </a:solidFill>
              </a:rPr>
              <a:t>Remember: each decimal factor contributes its own number of decimal places to the product.</a:t>
            </a:r>
            <a:endParaRPr lang="en-US" sz="1400" dirty="0"/>
          </a:p>
        </p:txBody>
      </p:sp>
      <p:sp>
        <p:nvSpPr>
          <p:cNvPr id="10" name="Shape 8"/>
          <p:cNvSpPr/>
          <p:nvPr/>
        </p:nvSpPr>
        <p:spPr>
          <a:xfrm>
            <a:off x="1828800" y="38862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38862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13 × 22 AND total decimal places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Context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97280"/>
            <a:ext cx="8229600" cy="1554480"/>
          </a:xfrm>
          <a:prstGeom prst="roundRect">
            <a:avLst>
              <a:gd name="adj" fmla="val 5882"/>
            </a:avLst>
          </a:prstGeom>
          <a:solidFill>
            <a:srgbClr val="F3E6EF"/>
          </a:solidFill>
          <a:ln w="6350">
            <a:solidFill>
              <a:srgbClr val="DDDDEE"/>
            </a:solidFill>
            <a:prstDash val="solid"/>
          </a:ln>
        </p:spPr>
      </p:sp>
      <p:sp>
        <p:nvSpPr>
          <p:cNvPr id="7" name="Text 5"/>
          <p:cNvSpPr/>
          <p:nvPr/>
        </p:nvSpPr>
        <p:spPr>
          <a:xfrm>
            <a:off x="685800" y="1280160"/>
            <a:ext cx="7772400" cy="11887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A garden bed is 2.4 meters wide and 1.3 meters tall. How much area does it cover?</a:t>
            </a:r>
            <a:endParaRPr lang="en-US" sz="1600" dirty="0"/>
          </a:p>
        </p:txBody>
      </p:sp>
      <p:sp>
        <p:nvSpPr>
          <p:cNvPr id="8" name="Shape 6"/>
          <p:cNvSpPr/>
          <p:nvPr/>
        </p:nvSpPr>
        <p:spPr>
          <a:xfrm>
            <a:off x="1371600" y="3108960"/>
            <a:ext cx="64008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371600" y="310896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 for the area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Estimate First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If 2.4 × 1 is 2.4, what should happen when we multiply 2.4 × 1.3?</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Will the product be less than, equal to, or greater than 2.4?</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Whole-Number Fact + Place-Value Shift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502920"/>
          </a:xfrm>
          <a:prstGeom prst="rect">
            <a:avLst/>
          </a:prstGeom>
          <a:noFill/>
          <a:ln/>
        </p:spPr>
        <p:txBody>
          <a:bodyPr wrap="square" lIns="0" tIns="0" rIns="0" bIns="0" rtlCol="0" anchor="ctr"/>
          <a:lstStyle/>
          <a:p>
            <a:pPr algn="ctr" indent="0" marL="0">
              <a:buNone/>
            </a:pPr>
            <a:r>
              <a:rPr lang="en-US" sz="1200" i="1" dirty="0">
                <a:solidFill>
                  <a:srgbClr val="5A5A7A"/>
                </a:solidFill>
              </a:rPr>
              <a:t>Step 1: multiply as whole numbers, 15 × 22 = 330. Step 2: 1.5 has 1 decimal place and 2.2 has 1 decimal place, so slide the digits of 330 two places right.</a:t>
            </a:r>
            <a:endParaRPr lang="en-US" sz="1200" dirty="0"/>
          </a:p>
        </p:txBody>
      </p:sp>
      <p:sp>
        <p:nvSpPr>
          <p:cNvPr id="7" name="Shape 5"/>
          <p:cNvSpPr/>
          <p:nvPr/>
        </p:nvSpPr>
        <p:spPr>
          <a:xfrm>
            <a:off x="2103120" y="1600200"/>
            <a:ext cx="853440" cy="365760"/>
          </a:xfrm>
          <a:prstGeom prst="rect">
            <a:avLst/>
          </a:prstGeom>
          <a:solidFill>
            <a:srgbClr val="1B2A4A"/>
          </a:solidFill>
          <a:ln w="12700">
            <a:solidFill>
              <a:srgbClr val="1B2A4A"/>
            </a:solidFill>
            <a:prstDash val="solid"/>
          </a:ln>
        </p:spPr>
      </p:sp>
      <p:sp>
        <p:nvSpPr>
          <p:cNvPr id="8" name="Text 6"/>
          <p:cNvSpPr/>
          <p:nvPr/>
        </p:nvSpPr>
        <p:spPr>
          <a:xfrm>
            <a:off x="2103120" y="160020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Hundreds</a:t>
            </a:r>
            <a:endParaRPr lang="en-US" sz="900" dirty="0"/>
          </a:p>
        </p:txBody>
      </p:sp>
      <p:sp>
        <p:nvSpPr>
          <p:cNvPr id="9" name="Shape 7"/>
          <p:cNvSpPr/>
          <p:nvPr/>
        </p:nvSpPr>
        <p:spPr>
          <a:xfrm>
            <a:off x="2956560" y="1600200"/>
            <a:ext cx="853440" cy="365760"/>
          </a:xfrm>
          <a:prstGeom prst="rect">
            <a:avLst/>
          </a:prstGeom>
          <a:solidFill>
            <a:srgbClr val="1B2A4A"/>
          </a:solidFill>
          <a:ln w="12700">
            <a:solidFill>
              <a:srgbClr val="1B2A4A"/>
            </a:solidFill>
            <a:prstDash val="solid"/>
          </a:ln>
        </p:spPr>
      </p:sp>
      <p:sp>
        <p:nvSpPr>
          <p:cNvPr id="10" name="Text 8"/>
          <p:cNvSpPr/>
          <p:nvPr/>
        </p:nvSpPr>
        <p:spPr>
          <a:xfrm>
            <a:off x="2956560" y="160020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Tens</a:t>
            </a:r>
            <a:endParaRPr lang="en-US" sz="900" dirty="0"/>
          </a:p>
        </p:txBody>
      </p:sp>
      <p:sp>
        <p:nvSpPr>
          <p:cNvPr id="11" name="Shape 9"/>
          <p:cNvSpPr/>
          <p:nvPr/>
        </p:nvSpPr>
        <p:spPr>
          <a:xfrm>
            <a:off x="3810000" y="1600200"/>
            <a:ext cx="853440" cy="365760"/>
          </a:xfrm>
          <a:prstGeom prst="rect">
            <a:avLst/>
          </a:prstGeom>
          <a:solidFill>
            <a:srgbClr val="1B2A4A"/>
          </a:solidFill>
          <a:ln w="12700">
            <a:solidFill>
              <a:srgbClr val="1B2A4A"/>
            </a:solidFill>
            <a:prstDash val="solid"/>
          </a:ln>
        </p:spPr>
      </p:sp>
      <p:sp>
        <p:nvSpPr>
          <p:cNvPr id="12" name="Text 10"/>
          <p:cNvSpPr/>
          <p:nvPr/>
        </p:nvSpPr>
        <p:spPr>
          <a:xfrm>
            <a:off x="3810000" y="160020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13" name="Shape 11"/>
          <p:cNvSpPr/>
          <p:nvPr/>
        </p:nvSpPr>
        <p:spPr>
          <a:xfrm>
            <a:off x="4663440" y="1600200"/>
            <a:ext cx="853440" cy="365760"/>
          </a:xfrm>
          <a:prstGeom prst="rect">
            <a:avLst/>
          </a:prstGeom>
          <a:solidFill>
            <a:srgbClr val="1B2A4A"/>
          </a:solidFill>
          <a:ln w="12700">
            <a:solidFill>
              <a:srgbClr val="1B2A4A"/>
            </a:solidFill>
            <a:prstDash val="solid"/>
          </a:ln>
        </p:spPr>
      </p:sp>
      <p:sp>
        <p:nvSpPr>
          <p:cNvPr id="14" name="Text 12"/>
          <p:cNvSpPr/>
          <p:nvPr/>
        </p:nvSpPr>
        <p:spPr>
          <a:xfrm>
            <a:off x="4663440" y="160020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5" name="Shape 13"/>
          <p:cNvSpPr/>
          <p:nvPr/>
        </p:nvSpPr>
        <p:spPr>
          <a:xfrm>
            <a:off x="5516880" y="1600200"/>
            <a:ext cx="853440" cy="365760"/>
          </a:xfrm>
          <a:prstGeom prst="rect">
            <a:avLst/>
          </a:prstGeom>
          <a:solidFill>
            <a:srgbClr val="1B2A4A"/>
          </a:solidFill>
          <a:ln w="12700">
            <a:solidFill>
              <a:srgbClr val="1B2A4A"/>
            </a:solidFill>
            <a:prstDash val="solid"/>
          </a:ln>
        </p:spPr>
      </p:sp>
      <p:sp>
        <p:nvSpPr>
          <p:cNvPr id="16" name="Text 14"/>
          <p:cNvSpPr/>
          <p:nvPr/>
        </p:nvSpPr>
        <p:spPr>
          <a:xfrm>
            <a:off x="5516880" y="160020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Tenths</a:t>
            </a:r>
            <a:endParaRPr lang="en-US" sz="900" dirty="0"/>
          </a:p>
        </p:txBody>
      </p:sp>
      <p:sp>
        <p:nvSpPr>
          <p:cNvPr id="17" name="Shape 15"/>
          <p:cNvSpPr/>
          <p:nvPr/>
        </p:nvSpPr>
        <p:spPr>
          <a:xfrm>
            <a:off x="6370320" y="1600200"/>
            <a:ext cx="853440" cy="365760"/>
          </a:xfrm>
          <a:prstGeom prst="rect">
            <a:avLst/>
          </a:prstGeom>
          <a:solidFill>
            <a:srgbClr val="1B2A4A"/>
          </a:solidFill>
          <a:ln w="12700">
            <a:solidFill>
              <a:srgbClr val="1B2A4A"/>
            </a:solidFill>
            <a:prstDash val="solid"/>
          </a:ln>
        </p:spPr>
      </p:sp>
      <p:sp>
        <p:nvSpPr>
          <p:cNvPr id="18" name="Text 16"/>
          <p:cNvSpPr/>
          <p:nvPr/>
        </p:nvSpPr>
        <p:spPr>
          <a:xfrm>
            <a:off x="6370320" y="160020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Hundredths</a:t>
            </a:r>
            <a:endParaRPr lang="en-US" sz="900" dirty="0"/>
          </a:p>
        </p:txBody>
      </p:sp>
      <p:sp>
        <p:nvSpPr>
          <p:cNvPr id="19" name="Shape 17"/>
          <p:cNvSpPr/>
          <p:nvPr/>
        </p:nvSpPr>
        <p:spPr>
          <a:xfrm>
            <a:off x="2103120" y="1965960"/>
            <a:ext cx="853440" cy="566928"/>
          </a:xfrm>
          <a:prstGeom prst="rect">
            <a:avLst/>
          </a:prstGeom>
          <a:solidFill>
            <a:srgbClr val="FFFFFF"/>
          </a:solidFill>
          <a:ln w="12700">
            <a:solidFill>
              <a:srgbClr val="999999"/>
            </a:solidFill>
            <a:prstDash val="solid"/>
          </a:ln>
        </p:spPr>
      </p:sp>
      <p:sp>
        <p:nvSpPr>
          <p:cNvPr id="20" name="Text 18"/>
          <p:cNvSpPr/>
          <p:nvPr/>
        </p:nvSpPr>
        <p:spPr>
          <a:xfrm>
            <a:off x="2103120" y="1965960"/>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21" name="Shape 19"/>
          <p:cNvSpPr/>
          <p:nvPr/>
        </p:nvSpPr>
        <p:spPr>
          <a:xfrm>
            <a:off x="2956560" y="1965960"/>
            <a:ext cx="853440" cy="566928"/>
          </a:xfrm>
          <a:prstGeom prst="rect">
            <a:avLst/>
          </a:prstGeom>
          <a:solidFill>
            <a:srgbClr val="FFFFFF"/>
          </a:solidFill>
          <a:ln w="12700">
            <a:solidFill>
              <a:srgbClr val="999999"/>
            </a:solidFill>
            <a:prstDash val="solid"/>
          </a:ln>
        </p:spPr>
      </p:sp>
      <p:sp>
        <p:nvSpPr>
          <p:cNvPr id="22" name="Text 20"/>
          <p:cNvSpPr/>
          <p:nvPr/>
        </p:nvSpPr>
        <p:spPr>
          <a:xfrm>
            <a:off x="2956560" y="1965960"/>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23" name="Shape 21"/>
          <p:cNvSpPr/>
          <p:nvPr/>
        </p:nvSpPr>
        <p:spPr>
          <a:xfrm>
            <a:off x="3810000" y="1965960"/>
            <a:ext cx="853440" cy="566928"/>
          </a:xfrm>
          <a:prstGeom prst="rect">
            <a:avLst/>
          </a:prstGeom>
          <a:solidFill>
            <a:srgbClr val="FFFFFF"/>
          </a:solidFill>
          <a:ln w="12700">
            <a:solidFill>
              <a:srgbClr val="999999"/>
            </a:solidFill>
            <a:prstDash val="solid"/>
          </a:ln>
        </p:spPr>
      </p:sp>
      <p:sp>
        <p:nvSpPr>
          <p:cNvPr id="24" name="Text 22"/>
          <p:cNvSpPr/>
          <p:nvPr/>
        </p:nvSpPr>
        <p:spPr>
          <a:xfrm>
            <a:off x="3810000" y="1965960"/>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0</a:t>
            </a:r>
            <a:endParaRPr lang="en-US" sz="2400" dirty="0"/>
          </a:p>
        </p:txBody>
      </p:sp>
      <p:sp>
        <p:nvSpPr>
          <p:cNvPr id="25" name="Shape 23"/>
          <p:cNvSpPr/>
          <p:nvPr/>
        </p:nvSpPr>
        <p:spPr>
          <a:xfrm>
            <a:off x="4663440" y="1965960"/>
            <a:ext cx="853440" cy="566928"/>
          </a:xfrm>
          <a:prstGeom prst="rect">
            <a:avLst/>
          </a:prstGeom>
          <a:solidFill>
            <a:srgbClr val="FFFFFF"/>
          </a:solidFill>
          <a:ln w="12700">
            <a:solidFill>
              <a:srgbClr val="999999"/>
            </a:solidFill>
            <a:prstDash val="solid"/>
          </a:ln>
        </p:spPr>
      </p:sp>
      <p:sp>
        <p:nvSpPr>
          <p:cNvPr id="26" name="Shape 24"/>
          <p:cNvSpPr/>
          <p:nvPr/>
        </p:nvSpPr>
        <p:spPr>
          <a:xfrm>
            <a:off x="5516880" y="1965960"/>
            <a:ext cx="853440" cy="566928"/>
          </a:xfrm>
          <a:prstGeom prst="rect">
            <a:avLst/>
          </a:prstGeom>
          <a:solidFill>
            <a:srgbClr val="FFFFFF"/>
          </a:solidFill>
          <a:ln w="12700">
            <a:solidFill>
              <a:srgbClr val="999999"/>
            </a:solidFill>
            <a:prstDash val="solid"/>
          </a:ln>
        </p:spPr>
      </p:sp>
      <p:sp>
        <p:nvSpPr>
          <p:cNvPr id="27" name="Shape 25"/>
          <p:cNvSpPr/>
          <p:nvPr/>
        </p:nvSpPr>
        <p:spPr>
          <a:xfrm>
            <a:off x="6370320" y="1965960"/>
            <a:ext cx="853440" cy="566928"/>
          </a:xfrm>
          <a:prstGeom prst="rect">
            <a:avLst/>
          </a:prstGeom>
          <a:solidFill>
            <a:srgbClr val="FFFFFF"/>
          </a:solidFill>
          <a:ln w="12700">
            <a:solidFill>
              <a:srgbClr val="999999"/>
            </a:solidFill>
            <a:prstDash val="solid"/>
          </a:ln>
        </p:spPr>
      </p:sp>
      <p:sp>
        <p:nvSpPr>
          <p:cNvPr id="28" name="Shape 26"/>
          <p:cNvSpPr/>
          <p:nvPr/>
        </p:nvSpPr>
        <p:spPr>
          <a:xfrm>
            <a:off x="2103120" y="3035808"/>
            <a:ext cx="853440" cy="566928"/>
          </a:xfrm>
          <a:prstGeom prst="rect">
            <a:avLst/>
          </a:prstGeom>
          <a:solidFill>
            <a:srgbClr val="FFFFFF"/>
          </a:solidFill>
          <a:ln w="12700">
            <a:solidFill>
              <a:srgbClr val="999999"/>
            </a:solidFill>
            <a:prstDash val="solid"/>
          </a:ln>
        </p:spPr>
      </p:sp>
      <p:sp>
        <p:nvSpPr>
          <p:cNvPr id="29" name="Shape 27"/>
          <p:cNvSpPr/>
          <p:nvPr/>
        </p:nvSpPr>
        <p:spPr>
          <a:xfrm>
            <a:off x="2956560" y="3035808"/>
            <a:ext cx="853440" cy="566928"/>
          </a:xfrm>
          <a:prstGeom prst="rect">
            <a:avLst/>
          </a:prstGeom>
          <a:solidFill>
            <a:srgbClr val="FFFFFF"/>
          </a:solidFill>
          <a:ln w="12700">
            <a:solidFill>
              <a:srgbClr val="999999"/>
            </a:solidFill>
            <a:prstDash val="solid"/>
          </a:ln>
        </p:spPr>
      </p:sp>
      <p:sp>
        <p:nvSpPr>
          <p:cNvPr id="30" name="Shape 28"/>
          <p:cNvSpPr/>
          <p:nvPr/>
        </p:nvSpPr>
        <p:spPr>
          <a:xfrm>
            <a:off x="3810000" y="3035808"/>
            <a:ext cx="853440" cy="566928"/>
          </a:xfrm>
          <a:prstGeom prst="rect">
            <a:avLst/>
          </a:prstGeom>
          <a:solidFill>
            <a:srgbClr val="FFFFFF"/>
          </a:solidFill>
          <a:ln w="12700">
            <a:solidFill>
              <a:srgbClr val="999999"/>
            </a:solidFill>
            <a:prstDash val="solid"/>
          </a:ln>
        </p:spPr>
      </p:sp>
      <p:sp>
        <p:nvSpPr>
          <p:cNvPr id="31" name="Text 29"/>
          <p:cNvSpPr/>
          <p:nvPr/>
        </p:nvSpPr>
        <p:spPr>
          <a:xfrm>
            <a:off x="3810000" y="3035808"/>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32" name="Shape 30"/>
          <p:cNvSpPr/>
          <p:nvPr/>
        </p:nvSpPr>
        <p:spPr>
          <a:xfrm>
            <a:off x="4663440" y="3035808"/>
            <a:ext cx="853440" cy="566928"/>
          </a:xfrm>
          <a:prstGeom prst="rect">
            <a:avLst/>
          </a:prstGeom>
          <a:solidFill>
            <a:srgbClr val="FFFFFF"/>
          </a:solidFill>
          <a:ln w="12700">
            <a:solidFill>
              <a:srgbClr val="999999"/>
            </a:solidFill>
            <a:prstDash val="solid"/>
          </a:ln>
        </p:spPr>
      </p:sp>
      <p:sp>
        <p:nvSpPr>
          <p:cNvPr id="33" name="Shape 31"/>
          <p:cNvSpPr/>
          <p:nvPr/>
        </p:nvSpPr>
        <p:spPr>
          <a:xfrm>
            <a:off x="5516880" y="3035808"/>
            <a:ext cx="853440" cy="566928"/>
          </a:xfrm>
          <a:prstGeom prst="rect">
            <a:avLst/>
          </a:prstGeom>
          <a:solidFill>
            <a:srgbClr val="FFFFFF"/>
          </a:solidFill>
          <a:ln w="12700">
            <a:solidFill>
              <a:srgbClr val="999999"/>
            </a:solidFill>
            <a:prstDash val="solid"/>
          </a:ln>
        </p:spPr>
      </p:sp>
      <p:sp>
        <p:nvSpPr>
          <p:cNvPr id="34" name="Text 32"/>
          <p:cNvSpPr/>
          <p:nvPr/>
        </p:nvSpPr>
        <p:spPr>
          <a:xfrm>
            <a:off x="5516880" y="3035808"/>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35" name="Shape 33"/>
          <p:cNvSpPr/>
          <p:nvPr/>
        </p:nvSpPr>
        <p:spPr>
          <a:xfrm>
            <a:off x="6370320" y="3035808"/>
            <a:ext cx="853440" cy="566928"/>
          </a:xfrm>
          <a:prstGeom prst="rect">
            <a:avLst/>
          </a:prstGeom>
          <a:solidFill>
            <a:srgbClr val="FFFFFF"/>
          </a:solidFill>
          <a:ln w="12700">
            <a:solidFill>
              <a:srgbClr val="999999"/>
            </a:solidFill>
            <a:prstDash val="solid"/>
          </a:ln>
        </p:spPr>
      </p:sp>
      <p:sp>
        <p:nvSpPr>
          <p:cNvPr id="36" name="Text 34"/>
          <p:cNvSpPr/>
          <p:nvPr/>
        </p:nvSpPr>
        <p:spPr>
          <a:xfrm>
            <a:off x="6370320" y="3035808"/>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0</a:t>
            </a:r>
            <a:endParaRPr lang="en-US" sz="2400" dirty="0"/>
          </a:p>
        </p:txBody>
      </p:sp>
      <p:sp>
        <p:nvSpPr>
          <p:cNvPr id="37" name="Text 35"/>
          <p:cNvSpPr/>
          <p:nvPr/>
        </p:nvSpPr>
        <p:spPr>
          <a:xfrm>
            <a:off x="1097280" y="196596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15×22=330</a:t>
            </a:r>
            <a:endParaRPr lang="en-US" sz="1000" dirty="0"/>
          </a:p>
        </p:txBody>
      </p:sp>
      <p:sp>
        <p:nvSpPr>
          <p:cNvPr id="38" name="Text 36"/>
          <p:cNvSpPr/>
          <p:nvPr/>
        </p:nvSpPr>
        <p:spPr>
          <a:xfrm>
            <a:off x="1097280" y="303580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1.5×2.2=3.30</a:t>
            </a:r>
            <a:endParaRPr lang="en-US" sz="1000" dirty="0"/>
          </a:p>
        </p:txBody>
      </p:sp>
      <p:sp>
        <p:nvSpPr>
          <p:cNvPr id="39" name="Shape 37"/>
          <p:cNvSpPr/>
          <p:nvPr/>
        </p:nvSpPr>
        <p:spPr>
          <a:xfrm>
            <a:off x="2529840" y="2532888"/>
            <a:ext cx="1706880" cy="502920"/>
          </a:xfrm>
          <a:prstGeom prst="line">
            <a:avLst/>
          </a:prstGeom>
          <a:noFill/>
          <a:ln w="28575">
            <a:solidFill>
              <a:srgbClr val="D9941A"/>
            </a:solidFill>
            <a:prstDash val="solid"/>
            <a:tailEnd type="triangle"/>
          </a:ln>
        </p:spPr>
      </p:sp>
      <p:sp>
        <p:nvSpPr>
          <p:cNvPr id="40" name="Shape 38"/>
          <p:cNvSpPr/>
          <p:nvPr/>
        </p:nvSpPr>
        <p:spPr>
          <a:xfrm>
            <a:off x="3383280" y="2532888"/>
            <a:ext cx="2560320" cy="502920"/>
          </a:xfrm>
          <a:prstGeom prst="line">
            <a:avLst/>
          </a:prstGeom>
          <a:noFill/>
          <a:ln w="28575">
            <a:solidFill>
              <a:srgbClr val="D9941A"/>
            </a:solidFill>
            <a:prstDash val="solid"/>
            <a:tailEnd type="triangle"/>
          </a:ln>
        </p:spPr>
      </p:sp>
      <p:sp>
        <p:nvSpPr>
          <p:cNvPr id="41" name="Shape 39"/>
          <p:cNvSpPr/>
          <p:nvPr/>
        </p:nvSpPr>
        <p:spPr>
          <a:xfrm>
            <a:off x="4236720" y="2532888"/>
            <a:ext cx="2560320" cy="502920"/>
          </a:xfrm>
          <a:prstGeom prst="line">
            <a:avLst/>
          </a:prstGeom>
          <a:noFill/>
          <a:ln w="28575">
            <a:solidFill>
              <a:srgbClr val="D9941A"/>
            </a:solidFill>
            <a:prstDash val="solid"/>
            <a:tailEnd type="triangle"/>
          </a:ln>
        </p:spPr>
      </p:sp>
      <p:sp>
        <p:nvSpPr>
          <p:cNvPr id="42" name="Text 40"/>
          <p:cNvSpPr/>
          <p:nvPr/>
        </p:nvSpPr>
        <p:spPr>
          <a:xfrm>
            <a:off x="2103120" y="3694176"/>
            <a:ext cx="5120640" cy="365760"/>
          </a:xfrm>
          <a:prstGeom prst="rect">
            <a:avLst/>
          </a:prstGeom>
          <a:noFill/>
          <a:ln/>
        </p:spPr>
        <p:txBody>
          <a:bodyPr wrap="square" lIns="0" tIns="0" rIns="0" bIns="0" rtlCol="0" anchor="ctr"/>
          <a:lstStyle/>
          <a:p>
            <a:pPr algn="ctr" indent="0" marL="0">
              <a:buNone/>
            </a:pPr>
            <a:r>
              <a:rPr lang="en-US" sz="1200" i="1" dirty="0">
                <a:solidFill>
                  <a:srgbClr val="5A5A7A"/>
                </a:solidFill>
              </a:rPr>
              <a:t>Every digit of 330 slides TWO places right -- one for each decimal factor.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Decimal Area Model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365760"/>
          </a:xfrm>
          <a:prstGeom prst="rect">
            <a:avLst/>
          </a:prstGeom>
          <a:noFill/>
          <a:ln/>
        </p:spPr>
        <p:txBody>
          <a:bodyPr wrap="square" lIns="0" tIns="0" rIns="0" bIns="0" rtlCol="0" anchor="ctr"/>
          <a:lstStyle/>
          <a:p>
            <a:pPr algn="ctr" indent="0" marL="0">
              <a:buNone/>
            </a:pPr>
            <a:r>
              <a:rPr lang="en-US" sz="1400" i="1" dirty="0">
                <a:solidFill>
                  <a:srgbClr val="5A5A7A"/>
                </a:solidFill>
              </a:rPr>
              <a:t>1.6 × 2.3 split into four partial-product rectangles.</a:t>
            </a:r>
            <a:endParaRPr lang="en-US" sz="1400" dirty="0"/>
          </a:p>
        </p:txBody>
      </p:sp>
      <p:sp>
        <p:nvSpPr>
          <p:cNvPr id="7" name="Shape 5"/>
          <p:cNvSpPr/>
          <p:nvPr/>
        </p:nvSpPr>
        <p:spPr>
          <a:xfrm>
            <a:off x="2377440" y="1371600"/>
            <a:ext cx="2743200" cy="1987826"/>
          </a:xfrm>
          <a:prstGeom prst="rect">
            <a:avLst/>
          </a:prstGeom>
          <a:solidFill>
            <a:srgbClr val="7A3B6E"/>
          </a:solidFill>
          <a:ln w="19050">
            <a:solidFill>
              <a:srgbClr val="FFFFFF"/>
            </a:solidFill>
            <a:prstDash val="solid"/>
          </a:ln>
        </p:spPr>
      </p:sp>
      <p:sp>
        <p:nvSpPr>
          <p:cNvPr id="8" name="Text 6"/>
          <p:cNvSpPr/>
          <p:nvPr/>
        </p:nvSpPr>
        <p:spPr>
          <a:xfrm>
            <a:off x="2377440" y="1371600"/>
            <a:ext cx="2743200" cy="198782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1×2</a:t>
            </a:r>
            <a:endParaRPr lang="en-US" sz="1200" dirty="0"/>
          </a:p>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9" name="Shape 7"/>
          <p:cNvSpPr/>
          <p:nvPr/>
        </p:nvSpPr>
        <p:spPr>
          <a:xfrm>
            <a:off x="5120640" y="1371600"/>
            <a:ext cx="1645920" cy="1987826"/>
          </a:xfrm>
          <a:prstGeom prst="rect">
            <a:avLst/>
          </a:prstGeom>
          <a:solidFill>
            <a:srgbClr val="9A5E8E"/>
          </a:solidFill>
          <a:ln w="19050">
            <a:solidFill>
              <a:srgbClr val="FFFFFF"/>
            </a:solidFill>
            <a:prstDash val="solid"/>
          </a:ln>
        </p:spPr>
      </p:sp>
      <p:sp>
        <p:nvSpPr>
          <p:cNvPr id="10" name="Text 8"/>
          <p:cNvSpPr/>
          <p:nvPr/>
        </p:nvSpPr>
        <p:spPr>
          <a:xfrm>
            <a:off x="5120640" y="1371600"/>
            <a:ext cx="1645920" cy="198782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0.6×2</a:t>
            </a:r>
            <a:endParaRPr lang="en-US" sz="1200" dirty="0"/>
          </a:p>
          <a:p>
            <a:pPr algn="ctr" indent="0" marL="0">
              <a:buNone/>
            </a:pPr>
            <a:r>
              <a:rPr lang="en-US" sz="1200" b="1" dirty="0">
                <a:solidFill>
                  <a:srgbClr val="FFFFFF"/>
                </a:solidFill>
                <a:latin typeface="Cambria" pitchFamily="34" charset="0"/>
                <a:ea typeface="Cambria" pitchFamily="34" charset="-122"/>
                <a:cs typeface="Cambria" pitchFamily="34" charset="-120"/>
              </a:rPr>
              <a:t>=1.2</a:t>
            </a:r>
            <a:endParaRPr lang="en-US" sz="1200" dirty="0"/>
          </a:p>
        </p:txBody>
      </p:sp>
      <p:sp>
        <p:nvSpPr>
          <p:cNvPr id="11" name="Shape 9"/>
          <p:cNvSpPr/>
          <p:nvPr/>
        </p:nvSpPr>
        <p:spPr>
          <a:xfrm>
            <a:off x="2377440" y="3359426"/>
            <a:ext cx="2743200" cy="298174"/>
          </a:xfrm>
          <a:prstGeom prst="rect">
            <a:avLst/>
          </a:prstGeom>
          <a:solidFill>
            <a:srgbClr val="9A5E8E"/>
          </a:solidFill>
          <a:ln w="19050">
            <a:solidFill>
              <a:srgbClr val="FFFFFF"/>
            </a:solidFill>
            <a:prstDash val="solid"/>
          </a:ln>
        </p:spPr>
      </p:sp>
      <p:sp>
        <p:nvSpPr>
          <p:cNvPr id="12" name="Text 10"/>
          <p:cNvSpPr/>
          <p:nvPr/>
        </p:nvSpPr>
        <p:spPr>
          <a:xfrm>
            <a:off x="2377440" y="3359426"/>
            <a:ext cx="2743200" cy="29817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1×0.3</a:t>
            </a:r>
            <a:endParaRPr lang="en-US" sz="1200" dirty="0"/>
          </a:p>
          <a:p>
            <a:pPr algn="ctr" indent="0" marL="0">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sp>
        <p:nvSpPr>
          <p:cNvPr id="13" name="Shape 11"/>
          <p:cNvSpPr/>
          <p:nvPr/>
        </p:nvSpPr>
        <p:spPr>
          <a:xfrm>
            <a:off x="5120640" y="3359426"/>
            <a:ext cx="1645920" cy="298174"/>
          </a:xfrm>
          <a:prstGeom prst="rect">
            <a:avLst/>
          </a:prstGeom>
          <a:solidFill>
            <a:srgbClr val="D9941A"/>
          </a:solidFill>
          <a:ln w="19050">
            <a:solidFill>
              <a:srgbClr val="FFFFFF"/>
            </a:solidFill>
            <a:prstDash val="solid"/>
          </a:ln>
        </p:spPr>
      </p:sp>
      <p:sp>
        <p:nvSpPr>
          <p:cNvPr id="14" name="Text 12"/>
          <p:cNvSpPr/>
          <p:nvPr/>
        </p:nvSpPr>
        <p:spPr>
          <a:xfrm>
            <a:off x="5120640" y="3359426"/>
            <a:ext cx="1645920" cy="298174"/>
          </a:xfrm>
          <a:prstGeom prst="rect">
            <a:avLst/>
          </a:prstGeom>
          <a:noFill/>
          <a:ln/>
        </p:spPr>
        <p:txBody>
          <a:bodyPr wrap="square" lIns="0" tIns="0" rIns="0" bIns="0" rtlCol="0" anchor="ctr"/>
          <a:lstStyle/>
          <a:p>
            <a:pPr algn="ctr" indent="0" marL="0">
              <a:buNone/>
            </a:pPr>
            <a:r>
              <a:rPr lang="en-US" sz="1200" b="1" dirty="0">
                <a:solidFill>
                  <a:srgbClr val="1A1A2E"/>
                </a:solidFill>
                <a:latin typeface="Cambria" pitchFamily="34" charset="0"/>
                <a:ea typeface="Cambria" pitchFamily="34" charset="-122"/>
                <a:cs typeface="Cambria" pitchFamily="34" charset="-120"/>
              </a:rPr>
              <a:t>0.6×0.3</a:t>
            </a:r>
            <a:endParaRPr lang="en-US" sz="1200" dirty="0"/>
          </a:p>
          <a:p>
            <a:pPr algn="ctr" indent="0" marL="0">
              <a:buNone/>
            </a:pPr>
            <a:r>
              <a:rPr lang="en-US" sz="1200" b="1" dirty="0">
                <a:solidFill>
                  <a:srgbClr val="1A1A2E"/>
                </a:solidFill>
                <a:latin typeface="Cambria" pitchFamily="34" charset="0"/>
                <a:ea typeface="Cambria" pitchFamily="34" charset="-122"/>
                <a:cs typeface="Cambria" pitchFamily="34" charset="-120"/>
              </a:rPr>
              <a:t>=0.18</a:t>
            </a:r>
            <a:endParaRPr lang="en-US" sz="1200" dirty="0"/>
          </a:p>
        </p:txBody>
      </p:sp>
      <p:sp>
        <p:nvSpPr>
          <p:cNvPr id="15" name="Shape 13"/>
          <p:cNvSpPr/>
          <p:nvPr/>
        </p:nvSpPr>
        <p:spPr>
          <a:xfrm>
            <a:off x="2377440" y="1371600"/>
            <a:ext cx="4389120" cy="2286000"/>
          </a:xfrm>
          <a:prstGeom prst="rect">
            <a:avLst/>
          </a:prstGeom>
          <a:solidFill>
            <a:srgbClr val="FFFFFF">
              <a:alpha val="0"/>
            </a:srgbClr>
          </a:solidFill>
          <a:ln w="31750">
            <a:solidFill>
              <a:srgbClr val="1B2A4A"/>
            </a:solidFill>
            <a:prstDash val="solid"/>
          </a:ln>
        </p:spPr>
      </p:sp>
      <p:sp>
        <p:nvSpPr>
          <p:cNvPr id="16" name="Text 14"/>
          <p:cNvSpPr/>
          <p:nvPr/>
        </p:nvSpPr>
        <p:spPr>
          <a:xfrm>
            <a:off x="2377440" y="3712464"/>
            <a:ext cx="4389120" cy="274320"/>
          </a:xfrm>
          <a:prstGeom prst="rect">
            <a:avLst/>
          </a:prstGeom>
          <a:noFill/>
          <a:ln/>
        </p:spPr>
        <p:txBody>
          <a:bodyPr wrap="square" lIns="0" tIns="0" rIns="0" bIns="0" rtlCol="0" anchor="ctr"/>
          <a:lstStyle/>
          <a:p>
            <a:pPr algn="ctr" indent="0" marL="0">
              <a:buNone/>
            </a:pPr>
            <a:r>
              <a:rPr lang="en-US" sz="1100" i="1" dirty="0">
                <a:solidFill>
                  <a:srgbClr val="5A5A7A"/>
                </a:solidFill>
              </a:rPr>
              <a:t>1.6 units wide</a:t>
            </a:r>
            <a:endParaRPr lang="en-US" sz="1100" dirty="0"/>
          </a:p>
        </p:txBody>
      </p:sp>
      <p:sp>
        <p:nvSpPr>
          <p:cNvPr id="17" name="Text 15"/>
          <p:cNvSpPr/>
          <p:nvPr/>
        </p:nvSpPr>
        <p:spPr>
          <a:xfrm>
            <a:off x="1188720" y="1371600"/>
            <a:ext cx="1097280" cy="2286000"/>
          </a:xfrm>
          <a:prstGeom prst="rect">
            <a:avLst/>
          </a:prstGeom>
          <a:noFill/>
          <a:ln/>
        </p:spPr>
        <p:txBody>
          <a:bodyPr wrap="square" lIns="0" tIns="0" rIns="0" bIns="0" rtlCol="0" anchor="ctr"/>
          <a:lstStyle/>
          <a:p>
            <a:pPr algn="r" indent="0" marL="0">
              <a:buNone/>
            </a:pPr>
            <a:r>
              <a:rPr lang="en-US" sz="1100" i="1" dirty="0">
                <a:solidFill>
                  <a:srgbClr val="5A5A7A"/>
                </a:solidFill>
              </a:rPr>
              <a:t>2.3 units tall</a:t>
            </a:r>
            <a:endParaRPr lang="en-US" sz="1100" dirty="0"/>
          </a:p>
        </p:txBody>
      </p:sp>
      <p:sp>
        <p:nvSpPr>
          <p:cNvPr id="18" name="Shape 16"/>
          <p:cNvSpPr/>
          <p:nvPr/>
        </p:nvSpPr>
        <p:spPr>
          <a:xfrm>
            <a:off x="7040880" y="1371600"/>
            <a:ext cx="1828800" cy="2286000"/>
          </a:xfrm>
          <a:prstGeom prst="roundRect">
            <a:avLst>
              <a:gd name="adj" fmla="val 5000"/>
            </a:avLst>
          </a:prstGeom>
          <a:solidFill>
            <a:srgbClr val="FFFFFF"/>
          </a:solidFill>
          <a:ln w="6350">
            <a:solidFill>
              <a:srgbClr val="DDDDEE"/>
            </a:solidFill>
            <a:prstDash val="solid"/>
          </a:ln>
        </p:spPr>
      </p:sp>
      <p:sp>
        <p:nvSpPr>
          <p:cNvPr id="19" name="Text 17"/>
          <p:cNvSpPr/>
          <p:nvPr/>
        </p:nvSpPr>
        <p:spPr>
          <a:xfrm>
            <a:off x="7132320" y="1463040"/>
            <a:ext cx="1645920" cy="2103120"/>
          </a:xfrm>
          <a:prstGeom prst="rect">
            <a:avLst/>
          </a:prstGeom>
          <a:noFill/>
          <a:ln/>
        </p:spPr>
        <p:txBody>
          <a:bodyPr wrap="square" lIns="0" tIns="0" rIns="0" bIns="0" rtlCol="0" anchor="ctr"/>
          <a:lstStyle/>
          <a:p>
            <a:pPr algn="ctr" indent="0" marL="0">
              <a:buNone/>
            </a:pPr>
            <a:r>
              <a:rPr lang="en-US" sz="1400" b="1" dirty="0">
                <a:solidFill>
                  <a:srgbClr val="7A3B6E"/>
                </a:solidFill>
                <a:latin typeface="Cambria" pitchFamily="34" charset="0"/>
                <a:ea typeface="Cambria" pitchFamily="34" charset="-122"/>
                <a:cs typeface="Cambria" pitchFamily="34" charset="-120"/>
              </a:rPr>
              <a:t>2 + 1.2</a:t>
            </a:r>
            <a:endParaRPr lang="en-US" sz="1400" dirty="0"/>
          </a:p>
          <a:p>
            <a:pPr algn="ctr" indent="0" marL="0">
              <a:buNone/>
            </a:pPr>
            <a:r>
              <a:rPr lang="en-US" sz="1400" b="1" dirty="0">
                <a:solidFill>
                  <a:srgbClr val="7A3B6E"/>
                </a:solidFill>
                <a:latin typeface="Cambria" pitchFamily="34" charset="0"/>
                <a:ea typeface="Cambria" pitchFamily="34" charset="-122"/>
                <a:cs typeface="Cambria" pitchFamily="34" charset="-120"/>
              </a:rPr>
              <a:t>+ 0.3 + 0.18</a:t>
            </a:r>
            <a:endParaRPr lang="en-US" sz="1400" dirty="0"/>
          </a:p>
          <a:p>
            <a:pPr algn="ctr" indent="0" marL="0">
              <a:buNone/>
            </a:pPr>
            <a:r>
              <a:rPr lang="en-US" sz="1400" b="1" dirty="0">
                <a:solidFill>
                  <a:srgbClr val="7A3B6E"/>
                </a:solidFill>
                <a:latin typeface="Cambria" pitchFamily="34" charset="0"/>
                <a:ea typeface="Cambria" pitchFamily="34" charset="-122"/>
                <a:cs typeface="Cambria" pitchFamily="34" charset="-120"/>
              </a:rPr>
              <a:t>= 3.68</a:t>
            </a:r>
            <a:endParaRPr lang="en-US" sz="1400" dirty="0"/>
          </a:p>
        </p:txBody>
      </p:sp>
      <p:sp>
        <p:nvSpPr>
          <p:cNvPr id="20" name="Shape 18"/>
          <p:cNvSpPr/>
          <p:nvPr/>
        </p:nvSpPr>
        <p:spPr>
          <a:xfrm>
            <a:off x="1371600" y="4160520"/>
            <a:ext cx="6400800" cy="438912"/>
          </a:xfrm>
          <a:prstGeom prst="roundRect">
            <a:avLst>
              <a:gd name="adj" fmla="val 12500"/>
            </a:avLst>
          </a:prstGeom>
          <a:solidFill>
            <a:srgbClr val="464EB8"/>
          </a:solidFill>
          <a:ln w="12700">
            <a:solidFill>
              <a:srgbClr val="464EB8"/>
            </a:solidFill>
            <a:prstDash val="solid"/>
          </a:ln>
        </p:spPr>
      </p:sp>
      <p:sp>
        <p:nvSpPr>
          <p:cNvPr id="21" name="Text 19"/>
          <p:cNvSpPr/>
          <p:nvPr/>
        </p:nvSpPr>
        <p:spPr>
          <a:xfrm>
            <a:off x="1371600" y="416052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piece is the smallest, and why?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Rule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103120"/>
          </a:xfrm>
          <a:prstGeom prst="roundRect">
            <a:avLst>
              <a:gd name="adj" fmla="val 4348"/>
            </a:avLst>
          </a:prstGeom>
          <a:solidFill>
            <a:srgbClr val="F3E6EF"/>
          </a:solidFill>
          <a:ln w="6350">
            <a:solidFill>
              <a:srgbClr val="DDDDEE"/>
            </a:solidFill>
            <a:prstDash val="solid"/>
          </a:ln>
        </p:spPr>
      </p:sp>
      <p:sp>
        <p:nvSpPr>
          <p:cNvPr id="7" name="Text 5"/>
          <p:cNvSpPr/>
          <p:nvPr/>
        </p:nvSpPr>
        <p:spPr>
          <a:xfrm>
            <a:off x="731520" y="1371600"/>
            <a:ext cx="7680960" cy="173736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Multiply the two numbers as if they had no decimal points. Then count the total number of decimal places in both factors, and place the decimal point that many places from the right in the product.</a:t>
            </a:r>
            <a:endParaRPr lang="en-US" sz="1500" dirty="0"/>
          </a:p>
        </p:txBody>
      </p:sp>
      <p:sp>
        <p:nvSpPr>
          <p:cNvPr id="8" name="Shape 6"/>
          <p:cNvSpPr/>
          <p:nvPr/>
        </p:nvSpPr>
        <p:spPr>
          <a:xfrm>
            <a:off x="914400" y="352044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35204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how many total decimal places for 3.4 × 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554480"/>
          </a:xfrm>
          <a:prstGeom prst="roundRect">
            <a:avLst>
              <a:gd name="adj" fmla="val 5882"/>
            </a:avLst>
          </a:prstGeom>
          <a:solidFill>
            <a:srgbClr val="FFFFFF"/>
          </a:solidFill>
          <a:ln w="6350">
            <a:solidFill>
              <a:srgbClr val="DDDDEE"/>
            </a:solidFill>
            <a:prstDash val="solid"/>
          </a:ln>
        </p:spPr>
      </p:sp>
      <p:sp>
        <p:nvSpPr>
          <p:cNvPr id="7" name="Text 5"/>
          <p:cNvSpPr/>
          <p:nvPr/>
        </p:nvSpPr>
        <p:spPr>
          <a:xfrm>
            <a:off x="640080" y="105156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area model</a:t>
            </a:r>
            <a:endParaRPr lang="en-US" sz="1600" dirty="0"/>
          </a:p>
        </p:txBody>
      </p:sp>
      <p:sp>
        <p:nvSpPr>
          <p:cNvPr id="8" name="Text 6"/>
          <p:cNvSpPr/>
          <p:nvPr/>
        </p:nvSpPr>
        <p:spPr>
          <a:xfrm>
            <a:off x="640080" y="14173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a rectangle model that breaks multiplication into parts</a:t>
            </a:r>
            <a:endParaRPr lang="en-US" sz="1200" dirty="0"/>
          </a:p>
        </p:txBody>
      </p:sp>
      <p:sp>
        <p:nvSpPr>
          <p:cNvPr id="9" name="Text 7"/>
          <p:cNvSpPr/>
          <p:nvPr/>
        </p:nvSpPr>
        <p:spPr>
          <a:xfrm>
            <a:off x="640080" y="196596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1.6 × 2.3 split into 4 pieces</a:t>
            </a:r>
            <a:endParaRPr lang="en-US" sz="1100" dirty="0"/>
          </a:p>
        </p:txBody>
      </p:sp>
      <p:sp>
        <p:nvSpPr>
          <p:cNvPr id="10" name="Shape 8"/>
          <p:cNvSpPr/>
          <p:nvPr/>
        </p:nvSpPr>
        <p:spPr>
          <a:xfrm>
            <a:off x="4663440" y="960120"/>
            <a:ext cx="3977640" cy="1554480"/>
          </a:xfrm>
          <a:prstGeom prst="roundRect">
            <a:avLst>
              <a:gd name="adj" fmla="val 5882"/>
            </a:avLst>
          </a:prstGeom>
          <a:solidFill>
            <a:srgbClr val="FFFFFF"/>
          </a:solidFill>
          <a:ln w="6350">
            <a:solidFill>
              <a:srgbClr val="DDDDEE"/>
            </a:solidFill>
            <a:prstDash val="solid"/>
          </a:ln>
        </p:spPr>
      </p:sp>
      <p:sp>
        <p:nvSpPr>
          <p:cNvPr id="11" name="Text 9"/>
          <p:cNvSpPr/>
          <p:nvPr/>
        </p:nvSpPr>
        <p:spPr>
          <a:xfrm>
            <a:off x="4846320" y="105156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partial product</a:t>
            </a:r>
            <a:endParaRPr lang="en-US" sz="1600" dirty="0"/>
          </a:p>
        </p:txBody>
      </p:sp>
      <p:sp>
        <p:nvSpPr>
          <p:cNvPr id="12" name="Text 10"/>
          <p:cNvSpPr/>
          <p:nvPr/>
        </p:nvSpPr>
        <p:spPr>
          <a:xfrm>
            <a:off x="4846320" y="14173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one smaller product inside a larger multiplication problem</a:t>
            </a:r>
            <a:endParaRPr lang="en-US" sz="1200" dirty="0"/>
          </a:p>
        </p:txBody>
      </p:sp>
      <p:sp>
        <p:nvSpPr>
          <p:cNvPr id="13" name="Text 11"/>
          <p:cNvSpPr/>
          <p:nvPr/>
        </p:nvSpPr>
        <p:spPr>
          <a:xfrm>
            <a:off x="4846320" y="196596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0.6 × 0.3 = 0.18</a:t>
            </a:r>
            <a:endParaRPr lang="en-US" sz="1100" dirty="0"/>
          </a:p>
        </p:txBody>
      </p:sp>
      <p:sp>
        <p:nvSpPr>
          <p:cNvPr id="14" name="Shape 12"/>
          <p:cNvSpPr/>
          <p:nvPr/>
        </p:nvSpPr>
        <p:spPr>
          <a:xfrm>
            <a:off x="457200" y="2651760"/>
            <a:ext cx="3977640" cy="1554480"/>
          </a:xfrm>
          <a:prstGeom prst="roundRect">
            <a:avLst>
              <a:gd name="adj" fmla="val 5882"/>
            </a:avLst>
          </a:prstGeom>
          <a:solidFill>
            <a:srgbClr val="FFFFFF"/>
          </a:solidFill>
          <a:ln w="6350">
            <a:solidFill>
              <a:srgbClr val="DDDDEE"/>
            </a:solidFill>
            <a:prstDash val="solid"/>
          </a:ln>
        </p:spPr>
      </p:sp>
      <p:sp>
        <p:nvSpPr>
          <p:cNvPr id="15" name="Text 13"/>
          <p:cNvSpPr/>
          <p:nvPr/>
        </p:nvSpPr>
        <p:spPr>
          <a:xfrm>
            <a:off x="640080" y="274320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factor</a:t>
            </a:r>
            <a:endParaRPr lang="en-US" sz="1600" dirty="0"/>
          </a:p>
        </p:txBody>
      </p:sp>
      <p:sp>
        <p:nvSpPr>
          <p:cNvPr id="16" name="Text 14"/>
          <p:cNvSpPr/>
          <p:nvPr/>
        </p:nvSpPr>
        <p:spPr>
          <a:xfrm>
            <a:off x="640080" y="3108960"/>
            <a:ext cx="3657600" cy="548640"/>
          </a:xfrm>
          <a:prstGeom prst="rect">
            <a:avLst/>
          </a:prstGeom>
          <a:noFill/>
          <a:ln/>
        </p:spPr>
        <p:txBody>
          <a:bodyPr wrap="square" lIns="0" tIns="0" rIns="0" bIns="0" rtlCol="0" anchor="ctr"/>
          <a:lstStyle/>
          <a:p>
            <a:pPr indent="0" marL="0">
              <a:buNone/>
            </a:pPr>
            <a:r>
              <a:rPr lang="en-US" sz="1200" dirty="0">
                <a:solidFill>
                  <a:srgbClr val="1A1A2E"/>
                </a:solidFill>
              </a:rPr>
              <a:t>a number being multiplied</a:t>
            </a:r>
            <a:endParaRPr lang="en-US" sz="1200" dirty="0"/>
          </a:p>
        </p:txBody>
      </p:sp>
      <p:sp>
        <p:nvSpPr>
          <p:cNvPr id="17" name="Text 15"/>
          <p:cNvSpPr/>
          <p:nvPr/>
        </p:nvSpPr>
        <p:spPr>
          <a:xfrm>
            <a:off x="640080" y="365760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in 1.6 × 2.3, both are factors</a:t>
            </a:r>
            <a:endParaRPr lang="en-US" sz="1100" dirty="0"/>
          </a:p>
        </p:txBody>
      </p:sp>
      <p:sp>
        <p:nvSpPr>
          <p:cNvPr id="18" name="Shape 16"/>
          <p:cNvSpPr/>
          <p:nvPr/>
        </p:nvSpPr>
        <p:spPr>
          <a:xfrm>
            <a:off x="4663440" y="2651760"/>
            <a:ext cx="3977640" cy="1554480"/>
          </a:xfrm>
          <a:prstGeom prst="roundRect">
            <a:avLst>
              <a:gd name="adj" fmla="val 5882"/>
            </a:avLst>
          </a:prstGeom>
          <a:solidFill>
            <a:srgbClr val="FFFFFF"/>
          </a:solidFill>
          <a:ln w="6350">
            <a:solidFill>
              <a:srgbClr val="DDDDEE"/>
            </a:solidFill>
            <a:prstDash val="solid"/>
          </a:ln>
        </p:spPr>
      </p:sp>
      <p:sp>
        <p:nvSpPr>
          <p:cNvPr id="19" name="Text 17"/>
          <p:cNvSpPr/>
          <p:nvPr/>
        </p:nvSpPr>
        <p:spPr>
          <a:xfrm>
            <a:off x="4846320" y="274320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estimate</a:t>
            </a:r>
            <a:endParaRPr lang="en-US" sz="1600" dirty="0"/>
          </a:p>
        </p:txBody>
      </p:sp>
      <p:sp>
        <p:nvSpPr>
          <p:cNvPr id="20" name="Text 18"/>
          <p:cNvSpPr/>
          <p:nvPr/>
        </p:nvSpPr>
        <p:spPr>
          <a:xfrm>
            <a:off x="4846320" y="3108960"/>
            <a:ext cx="3657600" cy="548640"/>
          </a:xfrm>
          <a:prstGeom prst="rect">
            <a:avLst/>
          </a:prstGeom>
          <a:noFill/>
          <a:ln/>
        </p:spPr>
        <p:txBody>
          <a:bodyPr wrap="square" lIns="0" tIns="0" rIns="0" bIns="0" rtlCol="0" anchor="ctr"/>
          <a:lstStyle/>
          <a:p>
            <a:pPr indent="0" marL="0">
              <a:buNone/>
            </a:pPr>
            <a:r>
              <a:rPr lang="en-US" sz="1200" dirty="0">
                <a:solidFill>
                  <a:srgbClr val="1A1A2E"/>
                </a:solidFill>
              </a:rPr>
              <a:t>a close guess used to check if an answer makes sense</a:t>
            </a:r>
            <a:endParaRPr lang="en-US" sz="1200" dirty="0"/>
          </a:p>
        </p:txBody>
      </p:sp>
      <p:sp>
        <p:nvSpPr>
          <p:cNvPr id="21" name="Text 19"/>
          <p:cNvSpPr/>
          <p:nvPr/>
        </p:nvSpPr>
        <p:spPr>
          <a:xfrm>
            <a:off x="4846320" y="365760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1.6 × 2.3 is close to 2 × 2 = 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WATCH &amp; FOLLOW</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365760"/>
          </a:xfrm>
          <a:prstGeom prst="rect">
            <a:avLst/>
          </a:prstGeom>
          <a:noFill/>
          <a:ln/>
        </p:spPr>
        <p:txBody>
          <a:bodyPr wrap="square" lIns="0" tIns="0" rIns="0" bIns="0" rtlCol="0" anchor="ctr"/>
          <a:lstStyle/>
          <a:p>
            <a:pPr indent="0" marL="0">
              <a:buNone/>
            </a:pPr>
            <a:r>
              <a:rPr lang="en-US" sz="1600" b="1" dirty="0">
                <a:solidFill>
                  <a:srgbClr val="7A3B6E"/>
                </a:solidFill>
              </a:rPr>
              <a:t>3.2 × 1.4</a:t>
            </a:r>
            <a:endParaRPr lang="en-US" sz="1600" dirty="0"/>
          </a:p>
        </p:txBody>
      </p:sp>
      <p:sp>
        <p:nvSpPr>
          <p:cNvPr id="7" name="Shape 5"/>
          <p:cNvSpPr/>
          <p:nvPr/>
        </p:nvSpPr>
        <p:spPr>
          <a:xfrm>
            <a:off x="2103120" y="1463040"/>
            <a:ext cx="853440" cy="365760"/>
          </a:xfrm>
          <a:prstGeom prst="rect">
            <a:avLst/>
          </a:prstGeom>
          <a:solidFill>
            <a:srgbClr val="1B2A4A"/>
          </a:solidFill>
          <a:ln w="12700">
            <a:solidFill>
              <a:srgbClr val="1B2A4A"/>
            </a:solidFill>
            <a:prstDash val="solid"/>
          </a:ln>
        </p:spPr>
      </p:sp>
      <p:sp>
        <p:nvSpPr>
          <p:cNvPr id="8" name="Text 6"/>
          <p:cNvSpPr/>
          <p:nvPr/>
        </p:nvSpPr>
        <p:spPr>
          <a:xfrm>
            <a:off x="2103120" y="146304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Hundreds</a:t>
            </a:r>
            <a:endParaRPr lang="en-US" sz="900" dirty="0"/>
          </a:p>
        </p:txBody>
      </p:sp>
      <p:sp>
        <p:nvSpPr>
          <p:cNvPr id="9" name="Shape 7"/>
          <p:cNvSpPr/>
          <p:nvPr/>
        </p:nvSpPr>
        <p:spPr>
          <a:xfrm>
            <a:off x="2956560" y="1463040"/>
            <a:ext cx="853440" cy="365760"/>
          </a:xfrm>
          <a:prstGeom prst="rect">
            <a:avLst/>
          </a:prstGeom>
          <a:solidFill>
            <a:srgbClr val="1B2A4A"/>
          </a:solidFill>
          <a:ln w="12700">
            <a:solidFill>
              <a:srgbClr val="1B2A4A"/>
            </a:solidFill>
            <a:prstDash val="solid"/>
          </a:ln>
        </p:spPr>
      </p:sp>
      <p:sp>
        <p:nvSpPr>
          <p:cNvPr id="10" name="Text 8"/>
          <p:cNvSpPr/>
          <p:nvPr/>
        </p:nvSpPr>
        <p:spPr>
          <a:xfrm>
            <a:off x="2956560" y="146304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Tens</a:t>
            </a:r>
            <a:endParaRPr lang="en-US" sz="900" dirty="0"/>
          </a:p>
        </p:txBody>
      </p:sp>
      <p:sp>
        <p:nvSpPr>
          <p:cNvPr id="11" name="Shape 9"/>
          <p:cNvSpPr/>
          <p:nvPr/>
        </p:nvSpPr>
        <p:spPr>
          <a:xfrm>
            <a:off x="3810000" y="1463040"/>
            <a:ext cx="853440" cy="365760"/>
          </a:xfrm>
          <a:prstGeom prst="rect">
            <a:avLst/>
          </a:prstGeom>
          <a:solidFill>
            <a:srgbClr val="1B2A4A"/>
          </a:solidFill>
          <a:ln w="12700">
            <a:solidFill>
              <a:srgbClr val="1B2A4A"/>
            </a:solidFill>
            <a:prstDash val="solid"/>
          </a:ln>
        </p:spPr>
      </p:sp>
      <p:sp>
        <p:nvSpPr>
          <p:cNvPr id="12" name="Text 10"/>
          <p:cNvSpPr/>
          <p:nvPr/>
        </p:nvSpPr>
        <p:spPr>
          <a:xfrm>
            <a:off x="3810000" y="146304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13" name="Shape 11"/>
          <p:cNvSpPr/>
          <p:nvPr/>
        </p:nvSpPr>
        <p:spPr>
          <a:xfrm>
            <a:off x="4663440" y="1463040"/>
            <a:ext cx="853440" cy="365760"/>
          </a:xfrm>
          <a:prstGeom prst="rect">
            <a:avLst/>
          </a:prstGeom>
          <a:solidFill>
            <a:srgbClr val="1B2A4A"/>
          </a:solidFill>
          <a:ln w="12700">
            <a:solidFill>
              <a:srgbClr val="1B2A4A"/>
            </a:solidFill>
            <a:prstDash val="solid"/>
          </a:ln>
        </p:spPr>
      </p:sp>
      <p:sp>
        <p:nvSpPr>
          <p:cNvPr id="14" name="Text 12"/>
          <p:cNvSpPr/>
          <p:nvPr/>
        </p:nvSpPr>
        <p:spPr>
          <a:xfrm>
            <a:off x="4663440" y="146304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5" name="Shape 13"/>
          <p:cNvSpPr/>
          <p:nvPr/>
        </p:nvSpPr>
        <p:spPr>
          <a:xfrm>
            <a:off x="5516880" y="1463040"/>
            <a:ext cx="853440" cy="365760"/>
          </a:xfrm>
          <a:prstGeom prst="rect">
            <a:avLst/>
          </a:prstGeom>
          <a:solidFill>
            <a:srgbClr val="1B2A4A"/>
          </a:solidFill>
          <a:ln w="12700">
            <a:solidFill>
              <a:srgbClr val="1B2A4A"/>
            </a:solidFill>
            <a:prstDash val="solid"/>
          </a:ln>
        </p:spPr>
      </p:sp>
      <p:sp>
        <p:nvSpPr>
          <p:cNvPr id="16" name="Text 14"/>
          <p:cNvSpPr/>
          <p:nvPr/>
        </p:nvSpPr>
        <p:spPr>
          <a:xfrm>
            <a:off x="5516880" y="146304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Tenths</a:t>
            </a:r>
            <a:endParaRPr lang="en-US" sz="900" dirty="0"/>
          </a:p>
        </p:txBody>
      </p:sp>
      <p:sp>
        <p:nvSpPr>
          <p:cNvPr id="17" name="Shape 15"/>
          <p:cNvSpPr/>
          <p:nvPr/>
        </p:nvSpPr>
        <p:spPr>
          <a:xfrm>
            <a:off x="6370320" y="1463040"/>
            <a:ext cx="853440" cy="365760"/>
          </a:xfrm>
          <a:prstGeom prst="rect">
            <a:avLst/>
          </a:prstGeom>
          <a:solidFill>
            <a:srgbClr val="1B2A4A"/>
          </a:solidFill>
          <a:ln w="12700">
            <a:solidFill>
              <a:srgbClr val="1B2A4A"/>
            </a:solidFill>
            <a:prstDash val="solid"/>
          </a:ln>
        </p:spPr>
      </p:sp>
      <p:sp>
        <p:nvSpPr>
          <p:cNvPr id="18" name="Text 16"/>
          <p:cNvSpPr/>
          <p:nvPr/>
        </p:nvSpPr>
        <p:spPr>
          <a:xfrm>
            <a:off x="6370320" y="1463040"/>
            <a:ext cx="85344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Hundredths</a:t>
            </a:r>
            <a:endParaRPr lang="en-US" sz="900" dirty="0"/>
          </a:p>
        </p:txBody>
      </p:sp>
      <p:sp>
        <p:nvSpPr>
          <p:cNvPr id="19" name="Shape 17"/>
          <p:cNvSpPr/>
          <p:nvPr/>
        </p:nvSpPr>
        <p:spPr>
          <a:xfrm>
            <a:off x="2103120" y="1828800"/>
            <a:ext cx="853440" cy="566928"/>
          </a:xfrm>
          <a:prstGeom prst="rect">
            <a:avLst/>
          </a:prstGeom>
          <a:solidFill>
            <a:srgbClr val="FFFFFF"/>
          </a:solidFill>
          <a:ln w="12700">
            <a:solidFill>
              <a:srgbClr val="999999"/>
            </a:solidFill>
            <a:prstDash val="solid"/>
          </a:ln>
        </p:spPr>
      </p:sp>
      <p:sp>
        <p:nvSpPr>
          <p:cNvPr id="20" name="Text 18"/>
          <p:cNvSpPr/>
          <p:nvPr/>
        </p:nvSpPr>
        <p:spPr>
          <a:xfrm>
            <a:off x="2103120" y="1828800"/>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4</a:t>
            </a:r>
            <a:endParaRPr lang="en-US" sz="2400" dirty="0"/>
          </a:p>
        </p:txBody>
      </p:sp>
      <p:sp>
        <p:nvSpPr>
          <p:cNvPr id="21" name="Shape 19"/>
          <p:cNvSpPr/>
          <p:nvPr/>
        </p:nvSpPr>
        <p:spPr>
          <a:xfrm>
            <a:off x="2956560" y="1828800"/>
            <a:ext cx="853440" cy="566928"/>
          </a:xfrm>
          <a:prstGeom prst="rect">
            <a:avLst/>
          </a:prstGeom>
          <a:solidFill>
            <a:srgbClr val="FFFFFF"/>
          </a:solidFill>
          <a:ln w="12700">
            <a:solidFill>
              <a:srgbClr val="999999"/>
            </a:solidFill>
            <a:prstDash val="solid"/>
          </a:ln>
        </p:spPr>
      </p:sp>
      <p:sp>
        <p:nvSpPr>
          <p:cNvPr id="22" name="Text 20"/>
          <p:cNvSpPr/>
          <p:nvPr/>
        </p:nvSpPr>
        <p:spPr>
          <a:xfrm>
            <a:off x="2956560" y="1828800"/>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4</a:t>
            </a:r>
            <a:endParaRPr lang="en-US" sz="2400" dirty="0"/>
          </a:p>
        </p:txBody>
      </p:sp>
      <p:sp>
        <p:nvSpPr>
          <p:cNvPr id="23" name="Shape 21"/>
          <p:cNvSpPr/>
          <p:nvPr/>
        </p:nvSpPr>
        <p:spPr>
          <a:xfrm>
            <a:off x="3810000" y="1828800"/>
            <a:ext cx="853440" cy="566928"/>
          </a:xfrm>
          <a:prstGeom prst="rect">
            <a:avLst/>
          </a:prstGeom>
          <a:solidFill>
            <a:srgbClr val="FFFFFF"/>
          </a:solidFill>
          <a:ln w="12700">
            <a:solidFill>
              <a:srgbClr val="999999"/>
            </a:solidFill>
            <a:prstDash val="solid"/>
          </a:ln>
        </p:spPr>
      </p:sp>
      <p:sp>
        <p:nvSpPr>
          <p:cNvPr id="24" name="Text 22"/>
          <p:cNvSpPr/>
          <p:nvPr/>
        </p:nvSpPr>
        <p:spPr>
          <a:xfrm>
            <a:off x="3810000" y="1828800"/>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8</a:t>
            </a:r>
            <a:endParaRPr lang="en-US" sz="2400" dirty="0"/>
          </a:p>
        </p:txBody>
      </p:sp>
      <p:sp>
        <p:nvSpPr>
          <p:cNvPr id="25" name="Shape 23"/>
          <p:cNvSpPr/>
          <p:nvPr/>
        </p:nvSpPr>
        <p:spPr>
          <a:xfrm>
            <a:off x="4663440" y="1828800"/>
            <a:ext cx="853440" cy="566928"/>
          </a:xfrm>
          <a:prstGeom prst="rect">
            <a:avLst/>
          </a:prstGeom>
          <a:solidFill>
            <a:srgbClr val="FFFFFF"/>
          </a:solidFill>
          <a:ln w="12700">
            <a:solidFill>
              <a:srgbClr val="999999"/>
            </a:solidFill>
            <a:prstDash val="solid"/>
          </a:ln>
        </p:spPr>
      </p:sp>
      <p:sp>
        <p:nvSpPr>
          <p:cNvPr id="26" name="Shape 24"/>
          <p:cNvSpPr/>
          <p:nvPr/>
        </p:nvSpPr>
        <p:spPr>
          <a:xfrm>
            <a:off x="5516880" y="1828800"/>
            <a:ext cx="853440" cy="566928"/>
          </a:xfrm>
          <a:prstGeom prst="rect">
            <a:avLst/>
          </a:prstGeom>
          <a:solidFill>
            <a:srgbClr val="FFFFFF"/>
          </a:solidFill>
          <a:ln w="12700">
            <a:solidFill>
              <a:srgbClr val="999999"/>
            </a:solidFill>
            <a:prstDash val="solid"/>
          </a:ln>
        </p:spPr>
      </p:sp>
      <p:sp>
        <p:nvSpPr>
          <p:cNvPr id="27" name="Shape 25"/>
          <p:cNvSpPr/>
          <p:nvPr/>
        </p:nvSpPr>
        <p:spPr>
          <a:xfrm>
            <a:off x="6370320" y="1828800"/>
            <a:ext cx="853440" cy="566928"/>
          </a:xfrm>
          <a:prstGeom prst="rect">
            <a:avLst/>
          </a:prstGeom>
          <a:solidFill>
            <a:srgbClr val="FFFFFF"/>
          </a:solidFill>
          <a:ln w="12700">
            <a:solidFill>
              <a:srgbClr val="999999"/>
            </a:solidFill>
            <a:prstDash val="solid"/>
          </a:ln>
        </p:spPr>
      </p:sp>
      <p:sp>
        <p:nvSpPr>
          <p:cNvPr id="28" name="Shape 26"/>
          <p:cNvSpPr/>
          <p:nvPr/>
        </p:nvSpPr>
        <p:spPr>
          <a:xfrm>
            <a:off x="2103120" y="2898648"/>
            <a:ext cx="853440" cy="566928"/>
          </a:xfrm>
          <a:prstGeom prst="rect">
            <a:avLst/>
          </a:prstGeom>
          <a:solidFill>
            <a:srgbClr val="FFFFFF"/>
          </a:solidFill>
          <a:ln w="12700">
            <a:solidFill>
              <a:srgbClr val="999999"/>
            </a:solidFill>
            <a:prstDash val="solid"/>
          </a:ln>
        </p:spPr>
      </p:sp>
      <p:sp>
        <p:nvSpPr>
          <p:cNvPr id="29" name="Shape 27"/>
          <p:cNvSpPr/>
          <p:nvPr/>
        </p:nvSpPr>
        <p:spPr>
          <a:xfrm>
            <a:off x="2956560" y="2898648"/>
            <a:ext cx="853440" cy="566928"/>
          </a:xfrm>
          <a:prstGeom prst="rect">
            <a:avLst/>
          </a:prstGeom>
          <a:solidFill>
            <a:srgbClr val="FFFFFF"/>
          </a:solidFill>
          <a:ln w="12700">
            <a:solidFill>
              <a:srgbClr val="999999"/>
            </a:solidFill>
            <a:prstDash val="solid"/>
          </a:ln>
        </p:spPr>
      </p:sp>
      <p:sp>
        <p:nvSpPr>
          <p:cNvPr id="30" name="Shape 28"/>
          <p:cNvSpPr/>
          <p:nvPr/>
        </p:nvSpPr>
        <p:spPr>
          <a:xfrm>
            <a:off x="3810000" y="2898648"/>
            <a:ext cx="853440" cy="566928"/>
          </a:xfrm>
          <a:prstGeom prst="rect">
            <a:avLst/>
          </a:prstGeom>
          <a:solidFill>
            <a:srgbClr val="FFFFFF"/>
          </a:solidFill>
          <a:ln w="12700">
            <a:solidFill>
              <a:srgbClr val="999999"/>
            </a:solidFill>
            <a:prstDash val="solid"/>
          </a:ln>
        </p:spPr>
      </p:sp>
      <p:sp>
        <p:nvSpPr>
          <p:cNvPr id="31" name="Text 29"/>
          <p:cNvSpPr/>
          <p:nvPr/>
        </p:nvSpPr>
        <p:spPr>
          <a:xfrm>
            <a:off x="3810000" y="2898648"/>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4</a:t>
            </a:r>
            <a:endParaRPr lang="en-US" sz="2400" dirty="0"/>
          </a:p>
        </p:txBody>
      </p:sp>
      <p:sp>
        <p:nvSpPr>
          <p:cNvPr id="32" name="Shape 30"/>
          <p:cNvSpPr/>
          <p:nvPr/>
        </p:nvSpPr>
        <p:spPr>
          <a:xfrm>
            <a:off x="4663440" y="2898648"/>
            <a:ext cx="853440" cy="566928"/>
          </a:xfrm>
          <a:prstGeom prst="rect">
            <a:avLst/>
          </a:prstGeom>
          <a:solidFill>
            <a:srgbClr val="FFFFFF"/>
          </a:solidFill>
          <a:ln w="12700">
            <a:solidFill>
              <a:srgbClr val="999999"/>
            </a:solidFill>
            <a:prstDash val="solid"/>
          </a:ln>
        </p:spPr>
      </p:sp>
      <p:sp>
        <p:nvSpPr>
          <p:cNvPr id="33" name="Shape 31"/>
          <p:cNvSpPr/>
          <p:nvPr/>
        </p:nvSpPr>
        <p:spPr>
          <a:xfrm>
            <a:off x="5516880" y="2898648"/>
            <a:ext cx="853440" cy="566928"/>
          </a:xfrm>
          <a:prstGeom prst="rect">
            <a:avLst/>
          </a:prstGeom>
          <a:solidFill>
            <a:srgbClr val="FFFFFF"/>
          </a:solidFill>
          <a:ln w="12700">
            <a:solidFill>
              <a:srgbClr val="999999"/>
            </a:solidFill>
            <a:prstDash val="solid"/>
          </a:ln>
        </p:spPr>
      </p:sp>
      <p:sp>
        <p:nvSpPr>
          <p:cNvPr id="34" name="Text 32"/>
          <p:cNvSpPr/>
          <p:nvPr/>
        </p:nvSpPr>
        <p:spPr>
          <a:xfrm>
            <a:off x="5516880" y="2898648"/>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4</a:t>
            </a:r>
            <a:endParaRPr lang="en-US" sz="2400" dirty="0"/>
          </a:p>
        </p:txBody>
      </p:sp>
      <p:sp>
        <p:nvSpPr>
          <p:cNvPr id="35" name="Shape 33"/>
          <p:cNvSpPr/>
          <p:nvPr/>
        </p:nvSpPr>
        <p:spPr>
          <a:xfrm>
            <a:off x="6370320" y="2898648"/>
            <a:ext cx="853440" cy="566928"/>
          </a:xfrm>
          <a:prstGeom prst="rect">
            <a:avLst/>
          </a:prstGeom>
          <a:solidFill>
            <a:srgbClr val="FFFFFF"/>
          </a:solidFill>
          <a:ln w="12700">
            <a:solidFill>
              <a:srgbClr val="999999"/>
            </a:solidFill>
            <a:prstDash val="solid"/>
          </a:ln>
        </p:spPr>
      </p:sp>
      <p:sp>
        <p:nvSpPr>
          <p:cNvPr id="36" name="Text 34"/>
          <p:cNvSpPr/>
          <p:nvPr/>
        </p:nvSpPr>
        <p:spPr>
          <a:xfrm>
            <a:off x="6370320" y="2898648"/>
            <a:ext cx="8534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8</a:t>
            </a:r>
            <a:endParaRPr lang="en-US" sz="2400" dirty="0"/>
          </a:p>
        </p:txBody>
      </p:sp>
      <p:sp>
        <p:nvSpPr>
          <p:cNvPr id="37" name="Text 35"/>
          <p:cNvSpPr/>
          <p:nvPr/>
        </p:nvSpPr>
        <p:spPr>
          <a:xfrm>
            <a:off x="1097280" y="182880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32×14=448</a:t>
            </a:r>
            <a:endParaRPr lang="en-US" sz="1000" dirty="0"/>
          </a:p>
        </p:txBody>
      </p:sp>
      <p:sp>
        <p:nvSpPr>
          <p:cNvPr id="38" name="Text 36"/>
          <p:cNvSpPr/>
          <p:nvPr/>
        </p:nvSpPr>
        <p:spPr>
          <a:xfrm>
            <a:off x="1097280" y="289864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3.2×1.4=4.48</a:t>
            </a:r>
            <a:endParaRPr lang="en-US" sz="1000" dirty="0"/>
          </a:p>
        </p:txBody>
      </p:sp>
      <p:sp>
        <p:nvSpPr>
          <p:cNvPr id="39" name="Shape 37"/>
          <p:cNvSpPr/>
          <p:nvPr/>
        </p:nvSpPr>
        <p:spPr>
          <a:xfrm>
            <a:off x="2529840" y="2395728"/>
            <a:ext cx="1706880" cy="502920"/>
          </a:xfrm>
          <a:prstGeom prst="line">
            <a:avLst/>
          </a:prstGeom>
          <a:noFill/>
          <a:ln w="28575">
            <a:solidFill>
              <a:srgbClr val="D9941A"/>
            </a:solidFill>
            <a:prstDash val="solid"/>
            <a:tailEnd type="triangle"/>
          </a:ln>
        </p:spPr>
      </p:sp>
      <p:sp>
        <p:nvSpPr>
          <p:cNvPr id="40" name="Shape 38"/>
          <p:cNvSpPr/>
          <p:nvPr/>
        </p:nvSpPr>
        <p:spPr>
          <a:xfrm>
            <a:off x="3383280" y="2395728"/>
            <a:ext cx="2560320" cy="502920"/>
          </a:xfrm>
          <a:prstGeom prst="line">
            <a:avLst/>
          </a:prstGeom>
          <a:noFill/>
          <a:ln w="28575">
            <a:solidFill>
              <a:srgbClr val="D9941A"/>
            </a:solidFill>
            <a:prstDash val="solid"/>
            <a:tailEnd type="triangle"/>
          </a:ln>
        </p:spPr>
      </p:sp>
      <p:sp>
        <p:nvSpPr>
          <p:cNvPr id="41" name="Shape 39"/>
          <p:cNvSpPr/>
          <p:nvPr/>
        </p:nvSpPr>
        <p:spPr>
          <a:xfrm>
            <a:off x="4236720" y="2395728"/>
            <a:ext cx="2560320" cy="502920"/>
          </a:xfrm>
          <a:prstGeom prst="line">
            <a:avLst/>
          </a:prstGeom>
          <a:noFill/>
          <a:ln w="28575">
            <a:solidFill>
              <a:srgbClr val="D9941A"/>
            </a:solidFill>
            <a:prstDash val="solid"/>
            <a:tailEnd type="triangle"/>
          </a:ln>
        </p:spPr>
      </p:sp>
      <p:sp>
        <p:nvSpPr>
          <p:cNvPr id="42" name="Shape 40"/>
          <p:cNvSpPr/>
          <p:nvPr/>
        </p:nvSpPr>
        <p:spPr>
          <a:xfrm>
            <a:off x="548640" y="3794760"/>
            <a:ext cx="8046720" cy="457200"/>
          </a:xfrm>
          <a:prstGeom prst="roundRect">
            <a:avLst>
              <a:gd name="adj" fmla="val 20000"/>
            </a:avLst>
          </a:prstGeom>
          <a:solidFill>
            <a:srgbClr val="FFFFFF"/>
          </a:solidFill>
          <a:ln w="6350">
            <a:solidFill>
              <a:srgbClr val="DDDDEE"/>
            </a:solidFill>
            <a:prstDash val="solid"/>
          </a:ln>
        </p:spPr>
      </p:sp>
      <p:sp>
        <p:nvSpPr>
          <p:cNvPr id="43" name="Text 41"/>
          <p:cNvSpPr/>
          <p:nvPr/>
        </p:nvSpPr>
        <p:spPr>
          <a:xfrm>
            <a:off x="731520" y="3822192"/>
            <a:ext cx="7680960" cy="402336"/>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32 × 14 = 448. Both factors have one decimal place, so 448 shifts two places right: 4.48.</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Estimate, Then Compute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365760"/>
          </a:xfrm>
          <a:prstGeom prst="rect">
            <a:avLst/>
          </a:prstGeom>
          <a:noFill/>
          <a:ln/>
        </p:spPr>
        <p:txBody>
          <a:bodyPr wrap="square" lIns="0" tIns="0" rIns="0" bIns="0" rtlCol="0" anchor="ctr"/>
          <a:lstStyle/>
          <a:p>
            <a:pPr indent="0" marL="0">
              <a:buNone/>
            </a:pPr>
            <a:r>
              <a:rPr lang="en-US" sz="1600" b="1" dirty="0">
                <a:solidFill>
                  <a:srgbClr val="7A3B6E"/>
                </a:solidFill>
              </a:rPr>
              <a:t>5.8 × 3.2</a:t>
            </a:r>
            <a:endParaRPr lang="en-US" sz="1600" dirty="0"/>
          </a:p>
        </p:txBody>
      </p:sp>
      <p:sp>
        <p:nvSpPr>
          <p:cNvPr id="7" name="Shape 5"/>
          <p:cNvSpPr/>
          <p:nvPr/>
        </p:nvSpPr>
        <p:spPr>
          <a:xfrm>
            <a:off x="457200" y="1371600"/>
            <a:ext cx="3840480" cy="1828800"/>
          </a:xfrm>
          <a:prstGeom prst="roundRect">
            <a:avLst>
              <a:gd name="adj" fmla="val 5000"/>
            </a:avLst>
          </a:prstGeom>
          <a:solidFill>
            <a:srgbClr val="F3E6EF"/>
          </a:solidFill>
          <a:ln w="6350">
            <a:solidFill>
              <a:srgbClr val="DDDDEE"/>
            </a:solidFill>
            <a:prstDash val="solid"/>
          </a:ln>
        </p:spPr>
      </p:sp>
      <p:sp>
        <p:nvSpPr>
          <p:cNvPr id="8" name="Text 6"/>
          <p:cNvSpPr/>
          <p:nvPr/>
        </p:nvSpPr>
        <p:spPr>
          <a:xfrm>
            <a:off x="640080" y="1463040"/>
            <a:ext cx="3474720" cy="365760"/>
          </a:xfrm>
          <a:prstGeom prst="rect">
            <a:avLst/>
          </a:prstGeom>
          <a:noFill/>
          <a:ln/>
        </p:spPr>
        <p:txBody>
          <a:bodyPr wrap="square" lIns="0" tIns="0" rIns="0" bIns="0" rtlCol="0" anchor="ctr"/>
          <a:lstStyle/>
          <a:p>
            <a:pPr indent="0" marL="0">
              <a:buNone/>
            </a:pPr>
            <a:r>
              <a:rPr lang="en-US" sz="1300" b="1" dirty="0">
                <a:solidFill>
                  <a:srgbClr val="5A2A50"/>
                </a:solidFill>
              </a:rPr>
              <a:t>Estimate</a:t>
            </a:r>
            <a:endParaRPr lang="en-US" sz="1300" dirty="0"/>
          </a:p>
        </p:txBody>
      </p:sp>
      <p:sp>
        <p:nvSpPr>
          <p:cNvPr id="9" name="Text 7"/>
          <p:cNvSpPr/>
          <p:nvPr/>
        </p:nvSpPr>
        <p:spPr>
          <a:xfrm>
            <a:off x="640080" y="1874520"/>
            <a:ext cx="3474720" cy="11887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Round to 6 × 3 = 18</a:t>
            </a:r>
            <a:endParaRPr lang="en-US" sz="1600" dirty="0"/>
          </a:p>
        </p:txBody>
      </p:sp>
      <p:sp>
        <p:nvSpPr>
          <p:cNvPr id="10" name="Shape 8"/>
          <p:cNvSpPr/>
          <p:nvPr/>
        </p:nvSpPr>
        <p:spPr>
          <a:xfrm>
            <a:off x="4846320" y="1371600"/>
            <a:ext cx="3840480" cy="1828800"/>
          </a:xfrm>
          <a:prstGeom prst="roundRect">
            <a:avLst>
              <a:gd name="adj" fmla="val 5000"/>
            </a:avLst>
          </a:prstGeom>
          <a:solidFill>
            <a:srgbClr val="FFFFFF"/>
          </a:solidFill>
          <a:ln w="6350">
            <a:solidFill>
              <a:srgbClr val="DDDDEE"/>
            </a:solidFill>
            <a:prstDash val="solid"/>
          </a:ln>
        </p:spPr>
      </p:sp>
      <p:sp>
        <p:nvSpPr>
          <p:cNvPr id="11" name="Text 9"/>
          <p:cNvSpPr/>
          <p:nvPr/>
        </p:nvSpPr>
        <p:spPr>
          <a:xfrm>
            <a:off x="5029200" y="1463040"/>
            <a:ext cx="3474720" cy="365760"/>
          </a:xfrm>
          <a:prstGeom prst="rect">
            <a:avLst/>
          </a:prstGeom>
          <a:noFill/>
          <a:ln/>
        </p:spPr>
        <p:txBody>
          <a:bodyPr wrap="square" lIns="0" tIns="0" rIns="0" bIns="0" rtlCol="0" anchor="ctr"/>
          <a:lstStyle/>
          <a:p>
            <a:pPr indent="0" marL="0">
              <a:buNone/>
            </a:pPr>
            <a:r>
              <a:rPr lang="en-US" sz="1300" b="1" dirty="0">
                <a:solidFill>
                  <a:srgbClr val="7A3B6E"/>
                </a:solidFill>
              </a:rPr>
              <a:t>Exact</a:t>
            </a:r>
            <a:endParaRPr lang="en-US" sz="1300" dirty="0"/>
          </a:p>
        </p:txBody>
      </p:sp>
      <p:sp>
        <p:nvSpPr>
          <p:cNvPr id="12" name="Text 10"/>
          <p:cNvSpPr/>
          <p:nvPr/>
        </p:nvSpPr>
        <p:spPr>
          <a:xfrm>
            <a:off x="5029200" y="1874520"/>
            <a:ext cx="3474720" cy="118872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58 × 32 = 1,856</a:t>
            </a:r>
            <a:endParaRPr lang="en-US" sz="1500" dirty="0"/>
          </a:p>
          <a:p>
            <a:pPr indent="0" marL="0">
              <a:buNone/>
            </a:pPr>
            <a:r>
              <a:rPr lang="en-US" sz="1500" dirty="0">
                <a:solidFill>
                  <a:srgbClr val="1A1A2E"/>
                </a:solidFill>
                <a:latin typeface="Cambria" pitchFamily="34" charset="0"/>
                <a:ea typeface="Cambria" pitchFamily="34" charset="-122"/>
                <a:cs typeface="Cambria" pitchFamily="34" charset="-120"/>
              </a:rPr>
              <a:t>2 decimal places</a:t>
            </a:r>
            <a:endParaRPr lang="en-US" sz="1500" dirty="0"/>
          </a:p>
          <a:p>
            <a:pPr indent="0" marL="0">
              <a:buNone/>
            </a:pPr>
            <a:r>
              <a:rPr lang="en-US" sz="1500" dirty="0">
                <a:solidFill>
                  <a:srgbClr val="1A1A2E"/>
                </a:solidFill>
                <a:latin typeface="Cambria" pitchFamily="34" charset="0"/>
                <a:ea typeface="Cambria" pitchFamily="34" charset="-122"/>
                <a:cs typeface="Cambria" pitchFamily="34" charset="-120"/>
              </a:rPr>
              <a:t>5.8 × 3.2 = 18.56</a:t>
            </a:r>
            <a:endParaRPr lang="en-US" sz="1500" dirty="0"/>
          </a:p>
        </p:txBody>
      </p:sp>
      <p:sp>
        <p:nvSpPr>
          <p:cNvPr id="13" name="Shape 11"/>
          <p:cNvSpPr/>
          <p:nvPr/>
        </p:nvSpPr>
        <p:spPr>
          <a:xfrm>
            <a:off x="457200" y="3383280"/>
            <a:ext cx="8229600" cy="640080"/>
          </a:xfrm>
          <a:prstGeom prst="roundRect">
            <a:avLst>
              <a:gd name="adj" fmla="val 14286"/>
            </a:avLst>
          </a:prstGeom>
          <a:solidFill>
            <a:srgbClr val="E6F2EA"/>
          </a:solidFill>
          <a:ln w="6350">
            <a:solidFill>
              <a:srgbClr val="DDDDEE"/>
            </a:solidFill>
            <a:prstDash val="solid"/>
          </a:ln>
        </p:spPr>
      </p:sp>
      <p:sp>
        <p:nvSpPr>
          <p:cNvPr id="14" name="Text 12"/>
          <p:cNvSpPr/>
          <p:nvPr/>
        </p:nvSpPr>
        <p:spPr>
          <a:xfrm>
            <a:off x="640080" y="3456432"/>
            <a:ext cx="7863840" cy="502920"/>
          </a:xfrm>
          <a:prstGeom prst="rect">
            <a:avLst/>
          </a:prstGeom>
          <a:noFill/>
          <a:ln/>
        </p:spPr>
        <p:txBody>
          <a:bodyPr wrap="square" lIns="0" tIns="0" rIns="0" bIns="0" rtlCol="0" anchor="ctr"/>
          <a:lstStyle/>
          <a:p>
            <a:pPr indent="0" marL="0">
              <a:buNone/>
            </a:pPr>
            <a:r>
              <a:rPr lang="en-US" sz="1200" dirty="0">
                <a:solidFill>
                  <a:srgbClr val="2E6E44"/>
                </a:solidFill>
              </a:rPr>
              <a:t>18.56 is close to the estimate of 18 -- the decimal point landed in a sensible place.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Find the Mistake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143000"/>
            <a:ext cx="7772400" cy="109728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A student multiplied 2.5 × 1.4 and wrote 35. What went wrong?</a:t>
            </a:r>
            <a:endParaRPr lang="en-US" sz="1700" dirty="0"/>
          </a:p>
        </p:txBody>
      </p:sp>
      <p:sp>
        <p:nvSpPr>
          <p:cNvPr id="8" name="Shape 6"/>
          <p:cNvSpPr/>
          <p:nvPr/>
        </p:nvSpPr>
        <p:spPr>
          <a:xfrm>
            <a:off x="457200" y="2514600"/>
            <a:ext cx="8229600" cy="1600200"/>
          </a:xfrm>
          <a:prstGeom prst="roundRect">
            <a:avLst>
              <a:gd name="adj" fmla="val 5714"/>
            </a:avLst>
          </a:prstGeom>
          <a:solidFill>
            <a:srgbClr val="F3E6EF"/>
          </a:solidFill>
          <a:ln w="6350">
            <a:solidFill>
              <a:srgbClr val="DDDDEE"/>
            </a:solidFill>
            <a:prstDash val="solid"/>
          </a:ln>
        </p:spPr>
      </p:sp>
      <p:sp>
        <p:nvSpPr>
          <p:cNvPr id="9" name="Text 7"/>
          <p:cNvSpPr/>
          <p:nvPr/>
        </p:nvSpPr>
        <p:spPr>
          <a:xfrm>
            <a:off x="685800" y="2651760"/>
            <a:ext cx="7772400" cy="132588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25 × 14 = 350 is correct. But 2.5 and 1.4 each have 1 decimal place, so the product needs 2 decimal places, not zero: 350 → 3.50.</a:t>
            </a:r>
            <a:endParaRPr lang="en-US" sz="1400" dirty="0"/>
          </a:p>
        </p:txBody>
      </p:sp>
      <p:sp>
        <p:nvSpPr>
          <p:cNvPr id="10" name="Shape 8"/>
          <p:cNvSpPr/>
          <p:nvPr/>
        </p:nvSpPr>
        <p:spPr>
          <a:xfrm>
            <a:off x="1188720" y="4251960"/>
            <a:ext cx="676656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188720" y="4251960"/>
            <a:ext cx="67665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correct product, and where the point belongs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Your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A rectangular garden bed is 4.5 meters long and 2.5 meters wide. What is its area?</a:t>
            </a:r>
            <a:endParaRPr lang="en-US" sz="1800" dirty="0"/>
          </a:p>
        </p:txBody>
      </p:sp>
      <p:sp>
        <p:nvSpPr>
          <p:cNvPr id="8" name="Shape 6"/>
          <p:cNvSpPr/>
          <p:nvPr/>
        </p:nvSpPr>
        <p:spPr>
          <a:xfrm>
            <a:off x="457200" y="3200400"/>
            <a:ext cx="1920240" cy="292608"/>
          </a:xfrm>
          <a:prstGeom prst="roundRect">
            <a:avLst>
              <a:gd name="adj" fmla="val 18750"/>
            </a:avLst>
          </a:prstGeom>
          <a:solidFill>
            <a:srgbClr val="7A3B6E"/>
          </a:solidFill>
          <a:ln w="12700">
            <a:solidFill>
              <a:srgbClr val="7A3B6E"/>
            </a:solidFill>
            <a:prstDash val="solid"/>
          </a:ln>
        </p:spPr>
      </p:sp>
      <p:sp>
        <p:nvSpPr>
          <p:cNvPr id="9" name="Text 7"/>
          <p:cNvSpPr/>
          <p:nvPr/>
        </p:nvSpPr>
        <p:spPr>
          <a:xfrm>
            <a:off x="457200" y="3200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TRY IT</a:t>
            </a:r>
            <a:endParaRPr lang="en-US" sz="800" dirty="0"/>
          </a:p>
        </p:txBody>
      </p:sp>
      <p:sp>
        <p:nvSpPr>
          <p:cNvPr id="10" name="Shape 8"/>
          <p:cNvSpPr/>
          <p:nvPr/>
        </p:nvSpPr>
        <p:spPr>
          <a:xfrm>
            <a:off x="914400" y="3749040"/>
            <a:ext cx="73152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914400" y="37490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 AND how many decimal places you counted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371600"/>
            <a:ext cx="8229600" cy="1828800"/>
          </a:xfrm>
          <a:prstGeom prst="roundRect">
            <a:avLst>
              <a:gd name="adj" fmla="val 5000"/>
            </a:avLst>
          </a:prstGeom>
          <a:solidFill>
            <a:srgbClr val="F3E6EF"/>
          </a:solidFill>
          <a:ln w="6350">
            <a:solidFill>
              <a:srgbClr val="DDDDEE"/>
            </a:solidFill>
            <a:prstDash val="solid"/>
          </a:ln>
        </p:spPr>
      </p:sp>
      <p:sp>
        <p:nvSpPr>
          <p:cNvPr id="7" name="Text 5"/>
          <p:cNvSpPr/>
          <p:nvPr/>
        </p:nvSpPr>
        <p:spPr>
          <a:xfrm>
            <a:off x="731520" y="1645920"/>
            <a:ext cx="7680960" cy="1280160"/>
          </a:xfrm>
          <a:prstGeom prst="rect">
            <a:avLst/>
          </a:prstGeom>
          <a:noFill/>
          <a:ln/>
        </p:spPr>
        <p:txBody>
          <a:bodyPr wrap="square" lIns="0" tIns="0" rIns="0" bIns="0" rtlCol="0" anchor="ctr"/>
          <a:lstStyle/>
          <a:p>
            <a:pPr indent="0" marL="0">
              <a:buNone/>
            </a:pPr>
            <a:r>
              <a:rPr lang="en-US" sz="1900" dirty="0">
                <a:solidFill>
                  <a:srgbClr val="1A1A2E"/>
                </a:solidFill>
                <a:latin typeface="Cambria" pitchFamily="34" charset="0"/>
                <a:ea typeface="Cambria" pitchFamily="34" charset="-122"/>
                <a:cs typeface="Cambria" pitchFamily="34" charset="-120"/>
              </a:rPr>
              <a:t>Next, you will divide decimals using a strip partitioner and connect the model to the written algorithm.</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0.45 × 1.8 = ______</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0.81</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8.1</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0.081</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81</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0.45 × 1.8 = ______</a:t>
            </a:r>
            <a:endParaRPr lang="en-US" sz="2000" dirty="0"/>
          </a:p>
        </p:txBody>
      </p:sp>
      <p:sp>
        <p:nvSpPr>
          <p:cNvPr id="8" name="Shape 6"/>
          <p:cNvSpPr/>
          <p:nvPr/>
        </p:nvSpPr>
        <p:spPr>
          <a:xfrm>
            <a:off x="914400" y="2103120"/>
            <a:ext cx="173736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FFFFFF"/>
                </a:solidFill>
              </a:rPr>
              <a:t>0.81</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8.1</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0.081</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81</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45 × 18 = 810. The factors have 2 + 1 = 3 decimal places total, so the product is 0.810, which is 0.81.</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whole-number fact never changes -- only where the decimal point lands shifts, based on how many decimal places the two factors have together.</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estimate first by rounding both factors, so if my exact answer is way off from the estimate, I know I placed the decimal point wrong.</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big rectangle cut into four smaller pieces, and I always look for the tiny tenths-by-tenths corner, because that piece is easy to lose track of.</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the total number of decimal places in the factors always equals the number of decimal places in the product, because each partial product carries its own place value.</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Finish the Independent Practice: multiplying decimals by decimals.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Gather your Math Journal responses from today's lesson.</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 dividing decimals with a strip partitioner.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5.10.04 Multiplying by a Decimal — Teacher Slides</dc:title>
  <dc:subject>PptxGenJS Presentation</dc:subject>
  <dc:creator>PptxGenJS</dc:creator>
  <cp:lastModifiedBy>PptxGenJS</cp:lastModifiedBy>
  <cp:revision>1</cp:revision>
  <dcterms:created xsi:type="dcterms:W3CDTF">2026-09-24T15:57:54Z</dcterms:created>
  <dcterms:modified xsi:type="dcterms:W3CDTF">2026-09-24T15:57:54Z</dcterms:modified>
</cp:coreProperties>
</file>