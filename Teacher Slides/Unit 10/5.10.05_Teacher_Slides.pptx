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STRING (5-7 min)
Slide 1: show only 84 ÷ 4. Give 30 seconds of silent think time, then take the answer verbally (21).
Slide 2: reveal 8.4 ÷ 4 and 0.84 ÷ 4 one at a time. After each, ask 'how is this like the fact before it?' Anticipated: 'the digits are the same, just the decimal point moved.'
Common error: students think 0.84 ÷ 4 should have a totally different answer instead of noticing the digit pattern.
Transition: 'Let's name the pattern you just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STRING (5-7 min)
Slide 1: show only 84 ÷ 4. Give 30 seconds of silent think time, then take the answer verbally (21).
Slide 2: reveal 8.4 ÷ 4 and 0.84 ÷ 4 one at a time. After each, ask 'how is this like the fact before it?' Anticipated: 'the digits are the same, just the decimal point moved.'
Common error: students think 0.84 ÷ 4 should have a totally different answer instead of noticing the digit pattern.
Transition: 'Let's name the pattern you just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It (2 min)
Students apply the same digit-shift pattern to 93 ÷ 3 and 9.3 ÷ 3. Cold-call 1-2 students to prove their answer (31 and 3.1) using the pattern from the rule.
Transition: 'Hold onto that pattern — today we divide decimals by sharing them into equal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It (2 min)
Students apply the same digit-shift pattern to 93 ÷ 3 and 9.3 ÷ 3. Cold-call 1-2 students to prove their answer (31 and 3.1) using the pattern from the rule.
Transition: 'Hold onto that pattern — today we divide decimals by sharing them into equal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(1 min)
Frame the lesson: today we share a decimal amount equally into groups — the same partition idea students already know from whole-number division, just applied to decimals.
Transition: 'Let's see what we're aiming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(1 min)
Read the I Can statement aloud. Emphasize 'sharing' — division here means splitting a decimal quantity fairly, not just following steps.
Transition: 'Let's warm up the whole-number division facts we'll lean 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(3 min)
Q1 checks the whole-number division fact today's decimal facts are built on (answer: 21).
Q2 checks that students can rename 3.6 as 36 tenths — the key move for today's model (answer: 36).
Q3 previews sharing at the hundredths place, which the Independent Practice will test (answer: 8 hundredths).
Common error: students count digits instead of renaming place value for Q2 — model it out loud if needed.
Transition: 'Today's real-world problem is about sharing a decimal amount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
Read the scenario aloud. This is the same 3.6 ÷ 3 problem students will build in the centerpiece — do not solve it yet.
Anticipated: 'more than 1, because 3.6 is more than 3' or 'a little more than 1 each.'
Common error: students guess without reasoning from the size of 3.6 relative to 3 — press for a 'because.'
Transition: 'Let's notice and wonder about this problem before we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&amp; WONDER (2 min)
Anticipated notice: '3.6 is close to 3' or '3.6 has a tenths digit.' Anticipated wonder: 'will there be anything left over?'
Common error: students jump straight to computing instead of noticing structure — redirect to the sentence starters.
Transition: 'Let's build this decimal amount and share it for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(4 min)
This is the physical action: the bar IS 3.6 (36 tenths), sliced into 3 equal physical shares. Point to each slice and count the tenths inside out loud: '12, 12, 12.'
Anticipated: students confirm each share looks the same size.
Common error: students try to share the whole number 3 and the tenths 6 separately instead of treating 3.6 as one amount (36 tenths) — correct by re-counting tenths across the whole bar.
Transition: 'Let's see the same sharing action a different way — by dealing out the tenths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(3 min)
Each disc represents one tenth. This is a different picture of the exact same sharing action from the Concrete slide — dealing tenths one at a time like cards, instead of slicing a bar.
Anticipated: students count 12 dots per column and connect it to 1.2.
Common error: students recount all 36 dots instead of trusting each column already shows 12 — ask 'how do you know without recounting?'
Transition: 'Now let's write the rule for this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(2 min)
State the rule in words only — no new visual here, students already saw the mechanism twice. Read it aloud, then have a student restate it in their own words.
Common error: students think the decimal point 'moves' rather than simply lining up above where it already is in the dividend.
Transition: 'Let's put names to the words we've been 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(3 min)
Read each term, definition, and example aloud. Point back to the partition bar and disc diagram to anchor 'partition,' 'quotient,' and 'equal groups' to what students just saw.
Transition: 'Let's use this language on a new problem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(5 min)
This problem needs a trade the centerpiece example didn't: leftover ones get traded into tenths, then leftover tenths into hundredths. Narrate each trade out loud while writing it.
Anticipated: students predict a leftover will need trading before you say it.
Common error: students stop after the ones place and write '2 r1' instead of trading the remainder into the next smaller place.
Transition: 'Now you try one on your own, using the same trading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(4 min)
Answer: 3.15. Students trade a leftover one into tenths (0 ÷ 5... actually 15 ones ÷ 5 = 3 ones exactly) then trade a leftover 2 tenths into hundredths (7 tenths + trade = 25 hundredths, wait confirm: 7 tenths ÷ 5 = 1 tenth r2, trade 2 tenths + 5 hundredths = 25 hundredths ÷ 5 = 5 hundredths). Quotient 3.15.
Anticipated: most students correctly name the hundredths place as where the trade happened.
Common error: students trade correctly but misplace the decimal point in the final quotient — check chat answers for '3.15' vs '31.5' or '0.315.'
Transition: 'Here's where this model is headed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Preview that Lesson 5.10.06 keeps the same partition/sharing idea but writes it out as the long division algorithm, step for step.
Transition: 'Time for your exit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EXIT CHECK (3 min)
Slide A: give full silent think time before revealing. Slide B: reveal the correct answer (1.5) and read the trade explanation aloud.
Common error: picking 5.1 (digits reversed) or 15 (decimal point dropped) — both come from not tracking the trade into tenths.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EXIT CHECK (3 min)
Slide A: give full silent think time before revealing. Slide B: reveal the correct answer (1.5) and read the trade explanation aloud.
Common error: picking 5.1 (digits reversed) or 15 (decimal point dropped) — both come from not tracking the trade into tenths.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37744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3774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Shape 3"/>
          <p:cNvSpPr/>
          <p:nvPr/>
        </p:nvSpPr>
        <p:spPr>
          <a:xfrm>
            <a:off x="2578608" y="164592"/>
            <a:ext cx="612648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578608" y="164592"/>
            <a:ext cx="6126480" cy="292608"/>
          </a:xfrm>
          <a:prstGeom prst="rect">
            <a:avLst/>
          </a:prstGeom>
          <a:noFill/>
          <a:ln/>
        </p:spPr>
        <p:txBody>
          <a:bodyPr wrap="square" lIns="0" tIns="0" rIns="0" bIns="0" rtlCol="0" anchor="ctr"/>
          <a:lstStyle/>
          <a:p>
            <a:pPr indent="0" marL="0">
              <a:buNone/>
            </a:pPr>
            <a:r>
              <a:rPr lang="en-US" sz="900" dirty="0">
                <a:solidFill>
                  <a:srgbClr val="FFFFFF"/>
                </a:solidFill>
              </a:rPr>
              <a:t>  ·  Decimal ÷ Whole Number · Place-Value Pattern</a:t>
            </a:r>
            <a:endParaRPr lang="en-US" sz="900" dirty="0"/>
          </a:p>
        </p:txBody>
      </p:sp>
      <p:sp>
        <p:nvSpPr>
          <p:cNvPr id="7" name="Text 5"/>
          <p:cNvSpPr/>
          <p:nvPr/>
        </p:nvSpPr>
        <p:spPr>
          <a:xfrm>
            <a:off x="457200" y="1371600"/>
            <a:ext cx="8229600" cy="18288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84 ÷ 4</a:t>
            </a:r>
            <a:endParaRPr lang="en-US" sz="4800" dirty="0"/>
          </a:p>
        </p:txBody>
      </p:sp>
      <p:sp>
        <p:nvSpPr>
          <p:cNvPr id="8" name="Text 6"/>
          <p:cNvSpPr/>
          <p:nvPr/>
        </p:nvSpPr>
        <p:spPr>
          <a:xfrm>
            <a:off x="457200" y="3749040"/>
            <a:ext cx="8229600" cy="640080"/>
          </a:xfrm>
          <a:prstGeom prst="rect">
            <a:avLst/>
          </a:prstGeom>
          <a:noFill/>
          <a:ln/>
        </p:spPr>
        <p:txBody>
          <a:bodyPr wrap="square" lIns="0" tIns="0" rIns="0" bIns="0" rtlCol="0" anchor="ctr"/>
          <a:lstStyle/>
          <a:p>
            <a:pPr algn="ctr" indent="0" marL="0">
              <a:buNone/>
            </a:pPr>
            <a:r>
              <a:rPr lang="en-US" sz="1500" i="1" dirty="0">
                <a:solidFill>
                  <a:srgbClr val="8899BB"/>
                </a:solidFill>
              </a:rPr>
              <a:t>Solve the first problem. What strategy did you use?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The String Unfolds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Number String</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868680"/>
          </a:xfrm>
          <a:prstGeom prst="roundRect">
            <a:avLst>
              <a:gd name="adj" fmla="val 10526"/>
            </a:avLst>
          </a:prstGeom>
          <a:solidFill>
            <a:srgbClr val="FFFFFF"/>
          </a:solidFill>
          <a:ln w="6350">
            <a:solidFill>
              <a:srgbClr val="DDDDEE"/>
            </a:solidFill>
            <a:prstDash val="solid"/>
          </a:ln>
        </p:spPr>
      </p:sp>
      <p:sp>
        <p:nvSpPr>
          <p:cNvPr id="7" name="Text 5"/>
          <p:cNvSpPr/>
          <p:nvPr/>
        </p:nvSpPr>
        <p:spPr>
          <a:xfrm>
            <a:off x="685800" y="96012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84 ÷ 4</a:t>
            </a:r>
            <a:endParaRPr lang="en-US" sz="2000" dirty="0"/>
          </a:p>
        </p:txBody>
      </p:sp>
      <p:sp>
        <p:nvSpPr>
          <p:cNvPr id="8" name="Text 6"/>
          <p:cNvSpPr/>
          <p:nvPr/>
        </p:nvSpPr>
        <p:spPr>
          <a:xfrm>
            <a:off x="5029200" y="96012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21</a:t>
            </a:r>
            <a:endParaRPr lang="en-US" sz="2000" dirty="0"/>
          </a:p>
        </p:txBody>
      </p:sp>
      <p:sp>
        <p:nvSpPr>
          <p:cNvPr id="9" name="Shape 7"/>
          <p:cNvSpPr/>
          <p:nvPr/>
        </p:nvSpPr>
        <p:spPr>
          <a:xfrm>
            <a:off x="457200" y="2011680"/>
            <a:ext cx="8229600" cy="868680"/>
          </a:xfrm>
          <a:prstGeom prst="roundRect">
            <a:avLst>
              <a:gd name="adj" fmla="val 10526"/>
            </a:avLst>
          </a:prstGeom>
          <a:solidFill>
            <a:srgbClr val="FFFFFF"/>
          </a:solidFill>
          <a:ln w="6350">
            <a:solidFill>
              <a:srgbClr val="DDDDEE"/>
            </a:solidFill>
            <a:prstDash val="solid"/>
          </a:ln>
        </p:spPr>
      </p:sp>
      <p:sp>
        <p:nvSpPr>
          <p:cNvPr id="10" name="Text 8"/>
          <p:cNvSpPr/>
          <p:nvPr/>
        </p:nvSpPr>
        <p:spPr>
          <a:xfrm>
            <a:off x="685800" y="201168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8.4 ÷ 4</a:t>
            </a:r>
            <a:endParaRPr lang="en-US" sz="2000" dirty="0"/>
          </a:p>
        </p:txBody>
      </p:sp>
      <p:sp>
        <p:nvSpPr>
          <p:cNvPr id="11" name="Text 9"/>
          <p:cNvSpPr/>
          <p:nvPr/>
        </p:nvSpPr>
        <p:spPr>
          <a:xfrm>
            <a:off x="5029200" y="201168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2.1</a:t>
            </a:r>
            <a:endParaRPr lang="en-US" sz="2000" dirty="0"/>
          </a:p>
        </p:txBody>
      </p:sp>
      <p:sp>
        <p:nvSpPr>
          <p:cNvPr id="12" name="Shape 10"/>
          <p:cNvSpPr/>
          <p:nvPr/>
        </p:nvSpPr>
        <p:spPr>
          <a:xfrm>
            <a:off x="137160" y="1920240"/>
            <a:ext cx="0" cy="137160"/>
          </a:xfrm>
          <a:prstGeom prst="line">
            <a:avLst/>
          </a:prstGeom>
          <a:noFill/>
          <a:ln w="25400">
            <a:solidFill>
              <a:srgbClr val="D9941A"/>
            </a:solidFill>
            <a:prstDash val="solid"/>
            <a:tailEnd type="triangle"/>
          </a:ln>
        </p:spPr>
      </p:sp>
      <p:sp>
        <p:nvSpPr>
          <p:cNvPr id="13" name="Shape 11"/>
          <p:cNvSpPr/>
          <p:nvPr/>
        </p:nvSpPr>
        <p:spPr>
          <a:xfrm>
            <a:off x="457200" y="3063240"/>
            <a:ext cx="8229600" cy="868680"/>
          </a:xfrm>
          <a:prstGeom prst="roundRect">
            <a:avLst>
              <a:gd name="adj" fmla="val 10526"/>
            </a:avLst>
          </a:prstGeom>
          <a:solidFill>
            <a:srgbClr val="FFFFFF"/>
          </a:solidFill>
          <a:ln w="6350">
            <a:solidFill>
              <a:srgbClr val="DDDDEE"/>
            </a:solidFill>
            <a:prstDash val="solid"/>
          </a:ln>
        </p:spPr>
      </p:sp>
      <p:sp>
        <p:nvSpPr>
          <p:cNvPr id="14" name="Text 12"/>
          <p:cNvSpPr/>
          <p:nvPr/>
        </p:nvSpPr>
        <p:spPr>
          <a:xfrm>
            <a:off x="685800" y="306324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0.84 ÷ 4</a:t>
            </a:r>
            <a:endParaRPr lang="en-US" sz="2000" dirty="0"/>
          </a:p>
        </p:txBody>
      </p:sp>
      <p:sp>
        <p:nvSpPr>
          <p:cNvPr id="15" name="Text 13"/>
          <p:cNvSpPr/>
          <p:nvPr/>
        </p:nvSpPr>
        <p:spPr>
          <a:xfrm>
            <a:off x="5029200" y="306324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0.21</a:t>
            </a:r>
            <a:endParaRPr lang="en-US" sz="2000" dirty="0"/>
          </a:p>
        </p:txBody>
      </p:sp>
      <p:sp>
        <p:nvSpPr>
          <p:cNvPr id="16" name="Shape 14"/>
          <p:cNvSpPr/>
          <p:nvPr/>
        </p:nvSpPr>
        <p:spPr>
          <a:xfrm>
            <a:off x="137160" y="2971800"/>
            <a:ext cx="0" cy="137160"/>
          </a:xfrm>
          <a:prstGeom prst="line">
            <a:avLst/>
          </a:prstGeom>
          <a:noFill/>
          <a:ln w="25400">
            <a:solidFill>
              <a:srgbClr val="D9941A"/>
            </a:solidFill>
            <a:prstDash val="solid"/>
            <a:tailEnd type="triangle"/>
          </a:ln>
        </p:spPr>
      </p:sp>
      <p:sp>
        <p:nvSpPr>
          <p:cNvPr id="17" name="Shape 15"/>
          <p:cNvSpPr/>
          <p:nvPr/>
        </p:nvSpPr>
        <p:spPr>
          <a:xfrm>
            <a:off x="1371600" y="4279392"/>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79392"/>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what changed each time?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Pattern</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08760"/>
            <a:ext cx="8229600" cy="548640"/>
          </a:xfrm>
          <a:prstGeom prst="rect">
            <a:avLst/>
          </a:prstGeom>
          <a:noFill/>
          <a:ln/>
        </p:spPr>
        <p:txBody>
          <a:bodyPr wrap="square" lIns="0" tIns="0" rIns="0" bIns="0" rtlCol="0" anchor="ctr"/>
          <a:lstStyle/>
          <a:p>
            <a:pPr indent="0" marL="0">
              <a:buNone/>
            </a:pPr>
            <a:r>
              <a:rPr lang="en-US" sz="1800" i="1" dirty="0">
                <a:solidFill>
                  <a:srgbClr val="CCCCFF"/>
                </a:solidFill>
              </a:rPr>
              <a:t>Every time the dividend's decimal point shifts one place left, the quotient's decimal point ___</a:t>
            </a:r>
            <a:endParaRPr lang="en-US" sz="1800" dirty="0"/>
          </a:p>
        </p:txBody>
      </p:sp>
      <p:sp>
        <p:nvSpPr>
          <p:cNvPr id="8" name="Text 6"/>
          <p:cNvSpPr/>
          <p:nvPr/>
        </p:nvSpPr>
        <p:spPr>
          <a:xfrm>
            <a:off x="457200" y="2148840"/>
            <a:ext cx="8229600" cy="1828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shifts one place left too — the digits stay exactly the same as the whole-number fact.</a:t>
            </a:r>
            <a:endParaRPr lang="en-US" sz="2200" dirty="0"/>
          </a:p>
        </p:txBody>
      </p:sp>
      <p:sp>
        <p:nvSpPr>
          <p:cNvPr id="9" name="Shape 7"/>
          <p:cNvSpPr/>
          <p:nvPr/>
        </p:nvSpPr>
        <p:spPr>
          <a:xfrm>
            <a:off x="2286000" y="4343400"/>
            <a:ext cx="45720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2286000" y="43434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pattern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the Next String</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Text 5"/>
          <p:cNvSpPr/>
          <p:nvPr/>
        </p:nvSpPr>
        <p:spPr>
          <a:xfrm>
            <a:off x="457200" y="155448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93 ÷ 3</a:t>
            </a:r>
            <a:endParaRPr lang="en-US" sz="2600" dirty="0"/>
          </a:p>
        </p:txBody>
      </p:sp>
      <p:sp>
        <p:nvSpPr>
          <p:cNvPr id="8" name="Text 6"/>
          <p:cNvSpPr/>
          <p:nvPr/>
        </p:nvSpPr>
        <p:spPr>
          <a:xfrm>
            <a:off x="457200" y="224028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9.3 ÷ 3</a:t>
            </a:r>
            <a:endParaRPr lang="en-US" sz="2600" dirty="0"/>
          </a:p>
        </p:txBody>
      </p:sp>
      <p:sp>
        <p:nvSpPr>
          <p:cNvPr id="9" name="Shape 7"/>
          <p:cNvSpPr/>
          <p:nvPr/>
        </p:nvSpPr>
        <p:spPr>
          <a:xfrm>
            <a:off x="1828800" y="4343400"/>
            <a:ext cx="54864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1828800" y="434340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5.10.05</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Dividing by a Whole Number — Part 1</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10 · Decimal Operations · Partition Model</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MA.5.NSO.2.5   ·   MTR.2.1   ·   MTR.5.1</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I can divide a decimal by a whole number by sharing it into equal groups, and connect that model to a written method.</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“Dividing a decimal can mean sharing the same amount into equal groups.”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Warm-Up</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Readiness Check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1005840"/>
          </a:xfrm>
          <a:prstGeom prst="roundRect">
            <a:avLst>
              <a:gd name="adj" fmla="val 9091"/>
            </a:avLst>
          </a:prstGeom>
          <a:solidFill>
            <a:srgbClr val="FFFFFF"/>
          </a:solidFill>
          <a:ln w="6350">
            <a:solidFill>
              <a:srgbClr val="DDDDEE"/>
            </a:solidFill>
            <a:prstDash val="solid"/>
          </a:ln>
        </p:spPr>
      </p:sp>
      <p:sp>
        <p:nvSpPr>
          <p:cNvPr id="7" name="Text 5"/>
          <p:cNvSpPr/>
          <p:nvPr/>
        </p:nvSpPr>
        <p:spPr>
          <a:xfrm>
            <a:off x="685800" y="1051560"/>
            <a:ext cx="7772400" cy="82296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1. 84 ÷ 4 = ______</a:t>
            </a:r>
            <a:endParaRPr lang="en-US" sz="1800" dirty="0"/>
          </a:p>
        </p:txBody>
      </p:sp>
      <p:sp>
        <p:nvSpPr>
          <p:cNvPr id="8" name="Shape 6"/>
          <p:cNvSpPr/>
          <p:nvPr/>
        </p:nvSpPr>
        <p:spPr>
          <a:xfrm>
            <a:off x="457200" y="2103120"/>
            <a:ext cx="8229600" cy="1005840"/>
          </a:xfrm>
          <a:prstGeom prst="roundRect">
            <a:avLst>
              <a:gd name="adj" fmla="val 9091"/>
            </a:avLst>
          </a:prstGeom>
          <a:solidFill>
            <a:srgbClr val="FFFFFF"/>
          </a:solidFill>
          <a:ln w="6350">
            <a:solidFill>
              <a:srgbClr val="DDDDEE"/>
            </a:solidFill>
            <a:prstDash val="solid"/>
          </a:ln>
        </p:spPr>
      </p:sp>
      <p:sp>
        <p:nvSpPr>
          <p:cNvPr id="9" name="Text 7"/>
          <p:cNvSpPr/>
          <p:nvPr/>
        </p:nvSpPr>
        <p:spPr>
          <a:xfrm>
            <a:off x="685800" y="2194560"/>
            <a:ext cx="7772400" cy="82296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2. 3.6 is the same as ______ tenths.</a:t>
            </a:r>
            <a:endParaRPr lang="en-US" sz="1800" dirty="0"/>
          </a:p>
        </p:txBody>
      </p:sp>
      <p:sp>
        <p:nvSpPr>
          <p:cNvPr id="10" name="Shape 8"/>
          <p:cNvSpPr/>
          <p:nvPr/>
        </p:nvSpPr>
        <p:spPr>
          <a:xfrm>
            <a:off x="457200" y="3246120"/>
            <a:ext cx="8229600" cy="1005840"/>
          </a:xfrm>
          <a:prstGeom prst="roundRect">
            <a:avLst>
              <a:gd name="adj" fmla="val 9091"/>
            </a:avLst>
          </a:prstGeom>
          <a:solidFill>
            <a:srgbClr val="FFFFFF"/>
          </a:solidFill>
          <a:ln w="6350">
            <a:solidFill>
              <a:srgbClr val="DDDDEE"/>
            </a:solidFill>
            <a:prstDash val="solid"/>
          </a:ln>
        </p:spPr>
      </p:sp>
      <p:sp>
        <p:nvSpPr>
          <p:cNvPr id="11" name="Text 9"/>
          <p:cNvSpPr/>
          <p:nvPr/>
        </p:nvSpPr>
        <p:spPr>
          <a:xfrm>
            <a:off x="685800" y="3337560"/>
            <a:ext cx="7772400" cy="82296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3. 48 hundredths ÷ 6 = ______ hundredths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Hook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Real-World Context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97280"/>
            <a:ext cx="8229600" cy="1737360"/>
          </a:xfrm>
          <a:prstGeom prst="roundRect">
            <a:avLst>
              <a:gd name="adj" fmla="val 5263"/>
            </a:avLst>
          </a:prstGeom>
          <a:solidFill>
            <a:srgbClr val="EAE8F5"/>
          </a:solidFill>
          <a:ln w="6350">
            <a:solidFill>
              <a:srgbClr val="DDDDEE"/>
            </a:solidFill>
            <a:prstDash val="solid"/>
          </a:ln>
        </p:spPr>
      </p:sp>
      <p:sp>
        <p:nvSpPr>
          <p:cNvPr id="7" name="Text 5"/>
          <p:cNvSpPr/>
          <p:nvPr/>
        </p:nvSpPr>
        <p:spPr>
          <a:xfrm>
            <a:off x="685800" y="1234440"/>
            <a:ext cx="7772400" cy="1463040"/>
          </a:xfrm>
          <a:prstGeom prst="rect">
            <a:avLst/>
          </a:prstGeom>
          <a:noFill/>
          <a:ln/>
        </p:spPr>
        <p:txBody>
          <a:bodyPr wrap="square" lIns="0" tIns="0" rIns="0" bIns="0" rtlCol="0" anchor="ctr"/>
          <a:lstStyle/>
          <a:p>
            <a:pPr indent="0" marL="0">
              <a:buNone/>
            </a:pPr>
            <a:r>
              <a:rPr lang="en-US" sz="2200" dirty="0">
                <a:solidFill>
                  <a:srgbClr val="1A1A2E"/>
                </a:solidFill>
                <a:latin typeface="Cambria" pitchFamily="34" charset="0"/>
                <a:ea typeface="Cambria" pitchFamily="34" charset="-122"/>
                <a:cs typeface="Cambria" pitchFamily="34" charset="-120"/>
              </a:rPr>
              <a:t>A caterer has 3.6 gallons of iced tea to share equally among 3 coolers.</a:t>
            </a:r>
            <a:endParaRPr lang="en-US" sz="2200" dirty="0"/>
          </a:p>
        </p:txBody>
      </p:sp>
      <p:sp>
        <p:nvSpPr>
          <p:cNvPr id="8" name="Shape 6"/>
          <p:cNvSpPr/>
          <p:nvPr/>
        </p:nvSpPr>
        <p:spPr>
          <a:xfrm>
            <a:off x="914400" y="4206240"/>
            <a:ext cx="73152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914400" y="420624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estimate — will each cooler get more than 1 gallon or less than 1 gallon, and why?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Partition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3.6 divided into 3 equal groups. Before we build it, what do you notice about the number 3.6, and what are you wondering about how it will split evenly?</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Build It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914400" y="2148840"/>
            <a:ext cx="2438400" cy="1188720"/>
          </a:xfrm>
          <a:prstGeom prst="rect">
            <a:avLst/>
          </a:prstGeom>
          <a:solidFill>
            <a:srgbClr val="4A3D8F">
              <a:alpha val="82000"/>
            </a:srgbClr>
          </a:solidFill>
          <a:ln w="25400">
            <a:solidFill>
              <a:srgbClr val="FFFFFF"/>
            </a:solidFill>
            <a:prstDash val="solid"/>
          </a:ln>
        </p:spPr>
      </p:sp>
      <p:sp>
        <p:nvSpPr>
          <p:cNvPr id="7" name="Shape 5"/>
          <p:cNvSpPr/>
          <p:nvPr/>
        </p:nvSpPr>
        <p:spPr>
          <a:xfrm>
            <a:off x="3352800" y="2148840"/>
            <a:ext cx="2438400" cy="1188720"/>
          </a:xfrm>
          <a:prstGeom prst="rect">
            <a:avLst/>
          </a:prstGeom>
          <a:solidFill>
            <a:srgbClr val="2E6E44">
              <a:alpha val="82000"/>
            </a:srgbClr>
          </a:solidFill>
          <a:ln w="25400">
            <a:solidFill>
              <a:srgbClr val="FFFFFF"/>
            </a:solidFill>
            <a:prstDash val="solid"/>
          </a:ln>
        </p:spPr>
      </p:sp>
      <p:sp>
        <p:nvSpPr>
          <p:cNvPr id="8" name="Shape 6"/>
          <p:cNvSpPr/>
          <p:nvPr/>
        </p:nvSpPr>
        <p:spPr>
          <a:xfrm>
            <a:off x="5791200" y="2148840"/>
            <a:ext cx="2438400" cy="1188720"/>
          </a:xfrm>
          <a:prstGeom prst="rect">
            <a:avLst/>
          </a:prstGeom>
          <a:solidFill>
            <a:srgbClr val="D9941A">
              <a:alpha val="82000"/>
            </a:srgbClr>
          </a:solidFill>
          <a:ln w="25400">
            <a:solidFill>
              <a:srgbClr val="FFFFFF"/>
            </a:solidFill>
            <a:prstDash val="solid"/>
          </a:ln>
        </p:spPr>
      </p:sp>
      <p:sp>
        <p:nvSpPr>
          <p:cNvPr id="9" name="Shape 7"/>
          <p:cNvSpPr/>
          <p:nvPr/>
        </p:nvSpPr>
        <p:spPr>
          <a:xfrm>
            <a:off x="914400" y="2148840"/>
            <a:ext cx="7315200" cy="1188720"/>
          </a:xfrm>
          <a:prstGeom prst="rect">
            <a:avLst/>
          </a:prstGeom>
          <a:solidFill>
            <a:srgbClr val="FFFFFF">
              <a:alpha val="0"/>
            </a:srgbClr>
          </a:solidFill>
          <a:ln w="31750">
            <a:solidFill>
              <a:srgbClr val="1B2A4A"/>
            </a:solidFill>
            <a:prstDash val="solid"/>
          </a:ln>
        </p:spPr>
      </p:sp>
      <p:sp>
        <p:nvSpPr>
          <p:cNvPr id="10" name="Text 8"/>
          <p:cNvSpPr/>
          <p:nvPr/>
        </p:nvSpPr>
        <p:spPr>
          <a:xfrm>
            <a:off x="914400" y="1764792"/>
            <a:ext cx="7315200" cy="329184"/>
          </a:xfrm>
          <a:prstGeom prst="rect">
            <a:avLst/>
          </a:prstGeom>
          <a:noFill/>
          <a:ln/>
        </p:spPr>
        <p:txBody>
          <a:bodyPr wrap="square" lIns="0" tIns="0" rIns="0" bIns="0" rtlCol="0" anchor="ctr"/>
          <a:lstStyle/>
          <a:p>
            <a:pPr algn="ctr" indent="0" marL="0">
              <a:buNone/>
            </a:pPr>
            <a:r>
              <a:rPr lang="en-US" sz="1300" b="1" dirty="0">
                <a:solidFill>
                  <a:srgbClr val="1B2A4A"/>
                </a:solidFill>
              </a:rPr>
              <a:t>3.6 shared equally into 3 groups</a:t>
            </a:r>
            <a:endParaRPr lang="en-US" sz="1300" dirty="0"/>
          </a:p>
        </p:txBody>
      </p:sp>
      <p:sp>
        <p:nvSpPr>
          <p:cNvPr id="11" name="Text 9"/>
          <p:cNvSpPr/>
          <p:nvPr/>
        </p:nvSpPr>
        <p:spPr>
          <a:xfrm>
            <a:off x="914400" y="2148840"/>
            <a:ext cx="2438400" cy="1188720"/>
          </a:xfrm>
          <a:prstGeom prst="rect">
            <a:avLst/>
          </a:prstGeom>
          <a:noFill/>
          <a:ln/>
        </p:spPr>
        <p:txBody>
          <a:bodyPr wrap="square" lIns="0" tIns="0" rIns="0" bIns="0" rtlCol="0" anchor="ctr"/>
          <a:lstStyle/>
          <a:p>
            <a:pPr algn="ctr" indent="0" marL="0">
              <a:buNone/>
            </a:pPr>
            <a:r>
              <a:rPr lang="en-US" sz="1600" b="1" dirty="0">
                <a:solidFill>
                  <a:srgbClr val="1A1A2E"/>
                </a:solidFill>
                <a:latin typeface="Cambria" pitchFamily="34" charset="0"/>
                <a:ea typeface="Cambria" pitchFamily="34" charset="-122"/>
                <a:cs typeface="Cambria" pitchFamily="34" charset="-120"/>
              </a:rPr>
              <a:t>1.2</a:t>
            </a:r>
            <a:endParaRPr lang="en-US" sz="1600" dirty="0"/>
          </a:p>
        </p:txBody>
      </p:sp>
      <p:sp>
        <p:nvSpPr>
          <p:cNvPr id="12" name="Text 10"/>
          <p:cNvSpPr/>
          <p:nvPr/>
        </p:nvSpPr>
        <p:spPr>
          <a:xfrm>
            <a:off x="3352800" y="2148840"/>
            <a:ext cx="2438400" cy="1188720"/>
          </a:xfrm>
          <a:prstGeom prst="rect">
            <a:avLst/>
          </a:prstGeom>
          <a:noFill/>
          <a:ln/>
        </p:spPr>
        <p:txBody>
          <a:bodyPr wrap="square" lIns="0" tIns="0" rIns="0" bIns="0" rtlCol="0" anchor="ctr"/>
          <a:lstStyle/>
          <a:p>
            <a:pPr algn="ctr" indent="0" marL="0">
              <a:buNone/>
            </a:pPr>
            <a:r>
              <a:rPr lang="en-US" sz="1600" b="1" dirty="0">
                <a:solidFill>
                  <a:srgbClr val="1A1A2E"/>
                </a:solidFill>
                <a:latin typeface="Cambria" pitchFamily="34" charset="0"/>
                <a:ea typeface="Cambria" pitchFamily="34" charset="-122"/>
                <a:cs typeface="Cambria" pitchFamily="34" charset="-120"/>
              </a:rPr>
              <a:t>1.2</a:t>
            </a:r>
            <a:endParaRPr lang="en-US" sz="1600" dirty="0"/>
          </a:p>
        </p:txBody>
      </p:sp>
      <p:sp>
        <p:nvSpPr>
          <p:cNvPr id="13" name="Text 11"/>
          <p:cNvSpPr/>
          <p:nvPr/>
        </p:nvSpPr>
        <p:spPr>
          <a:xfrm>
            <a:off x="5791200" y="2148840"/>
            <a:ext cx="2438400" cy="1188720"/>
          </a:xfrm>
          <a:prstGeom prst="rect">
            <a:avLst/>
          </a:prstGeom>
          <a:noFill/>
          <a:ln/>
        </p:spPr>
        <p:txBody>
          <a:bodyPr wrap="square" lIns="0" tIns="0" rIns="0" bIns="0" rtlCol="0" anchor="ctr"/>
          <a:lstStyle/>
          <a:p>
            <a:pPr algn="ctr" indent="0" marL="0">
              <a:buNone/>
            </a:pPr>
            <a:r>
              <a:rPr lang="en-US" sz="1600" b="1" dirty="0">
                <a:solidFill>
                  <a:srgbClr val="1A1A2E"/>
                </a:solidFill>
                <a:latin typeface="Cambria" pitchFamily="34" charset="0"/>
                <a:ea typeface="Cambria" pitchFamily="34" charset="-122"/>
                <a:cs typeface="Cambria" pitchFamily="34" charset="-120"/>
              </a:rPr>
              <a:t>1.2</a:t>
            </a:r>
            <a:endParaRPr lang="en-US" sz="1600" dirty="0"/>
          </a:p>
        </p:txBody>
      </p:sp>
      <p:sp>
        <p:nvSpPr>
          <p:cNvPr id="14" name="Text 12"/>
          <p:cNvSpPr/>
          <p:nvPr/>
        </p:nvSpPr>
        <p:spPr>
          <a:xfrm>
            <a:off x="914400" y="3429000"/>
            <a:ext cx="2438400" cy="292608"/>
          </a:xfrm>
          <a:prstGeom prst="rect">
            <a:avLst/>
          </a:prstGeom>
          <a:noFill/>
          <a:ln/>
        </p:spPr>
        <p:txBody>
          <a:bodyPr wrap="square" lIns="0" tIns="0" rIns="0" bIns="0" rtlCol="0" anchor="ctr"/>
          <a:lstStyle/>
          <a:p>
            <a:pPr algn="ctr" indent="0" marL="0">
              <a:buNone/>
            </a:pPr>
            <a:r>
              <a:rPr lang="en-US" sz="1100" b="1" dirty="0">
                <a:solidFill>
                  <a:srgbClr val="5A5A7A"/>
                </a:solidFill>
              </a:rPr>
              <a:t>Group 1</a:t>
            </a:r>
            <a:endParaRPr lang="en-US" sz="1100" dirty="0"/>
          </a:p>
        </p:txBody>
      </p:sp>
      <p:sp>
        <p:nvSpPr>
          <p:cNvPr id="15" name="Text 13"/>
          <p:cNvSpPr/>
          <p:nvPr/>
        </p:nvSpPr>
        <p:spPr>
          <a:xfrm>
            <a:off x="3352800" y="3429000"/>
            <a:ext cx="2438400" cy="292608"/>
          </a:xfrm>
          <a:prstGeom prst="rect">
            <a:avLst/>
          </a:prstGeom>
          <a:noFill/>
          <a:ln/>
        </p:spPr>
        <p:txBody>
          <a:bodyPr wrap="square" lIns="0" tIns="0" rIns="0" bIns="0" rtlCol="0" anchor="ctr"/>
          <a:lstStyle/>
          <a:p>
            <a:pPr algn="ctr" indent="0" marL="0">
              <a:buNone/>
            </a:pPr>
            <a:r>
              <a:rPr lang="en-US" sz="1100" b="1" dirty="0">
                <a:solidFill>
                  <a:srgbClr val="5A5A7A"/>
                </a:solidFill>
              </a:rPr>
              <a:t>Group 2</a:t>
            </a:r>
            <a:endParaRPr lang="en-US" sz="1100" dirty="0"/>
          </a:p>
        </p:txBody>
      </p:sp>
      <p:sp>
        <p:nvSpPr>
          <p:cNvPr id="16" name="Text 14"/>
          <p:cNvSpPr/>
          <p:nvPr/>
        </p:nvSpPr>
        <p:spPr>
          <a:xfrm>
            <a:off x="5791200" y="3429000"/>
            <a:ext cx="2438400" cy="292608"/>
          </a:xfrm>
          <a:prstGeom prst="rect">
            <a:avLst/>
          </a:prstGeom>
          <a:noFill/>
          <a:ln/>
        </p:spPr>
        <p:txBody>
          <a:bodyPr wrap="square" lIns="0" tIns="0" rIns="0" bIns="0" rtlCol="0" anchor="ctr"/>
          <a:lstStyle/>
          <a:p>
            <a:pPr algn="ctr" indent="0" marL="0">
              <a:buNone/>
            </a:pPr>
            <a:r>
              <a:rPr lang="en-US" sz="1100" b="1" dirty="0">
                <a:solidFill>
                  <a:srgbClr val="5A5A7A"/>
                </a:solidFill>
              </a:rPr>
              <a:t>Group 3</a:t>
            </a:r>
            <a:endParaRPr lang="en-US" sz="1100" dirty="0"/>
          </a:p>
        </p:txBody>
      </p:sp>
      <p:sp>
        <p:nvSpPr>
          <p:cNvPr id="17" name="Shape 15"/>
          <p:cNvSpPr/>
          <p:nvPr/>
        </p:nvSpPr>
        <p:spPr>
          <a:xfrm>
            <a:off x="914400" y="3840480"/>
            <a:ext cx="7315200" cy="777240"/>
          </a:xfrm>
          <a:prstGeom prst="roundRect">
            <a:avLst>
              <a:gd name="adj" fmla="val 11765"/>
            </a:avLst>
          </a:prstGeom>
          <a:solidFill>
            <a:srgbClr val="EAE8F5"/>
          </a:solidFill>
          <a:ln w="6350">
            <a:solidFill>
              <a:srgbClr val="DDDDEE"/>
            </a:solidFill>
            <a:prstDash val="solid"/>
          </a:ln>
        </p:spPr>
      </p:sp>
      <p:sp>
        <p:nvSpPr>
          <p:cNvPr id="18" name="Text 16"/>
          <p:cNvSpPr/>
          <p:nvPr/>
        </p:nvSpPr>
        <p:spPr>
          <a:xfrm>
            <a:off x="1097280" y="3913632"/>
            <a:ext cx="6949440" cy="640080"/>
          </a:xfrm>
          <a:prstGeom prst="rect">
            <a:avLst/>
          </a:prstGeom>
          <a:noFill/>
          <a:ln/>
        </p:spPr>
        <p:txBody>
          <a:bodyPr wrap="square" lIns="0" tIns="0" rIns="0" bIns="0" rtlCol="0" anchor="ctr"/>
          <a:lstStyle/>
          <a:p>
            <a:pPr indent="0" marL="0">
              <a:buNone/>
            </a:pPr>
            <a:r>
              <a:rPr lang="en-US" sz="1300" dirty="0">
                <a:solidFill>
                  <a:srgbClr val="1A1A2E"/>
                </a:solidFill>
              </a:rPr>
              <a:t>3.6 is 36 tenths. Sharing 36 tenths equally into 3 groups gives 12 tenths — 1.2 — in each group.</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Deal the Tenths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548640" y="1051560"/>
            <a:ext cx="2590800" cy="2834640"/>
          </a:xfrm>
          <a:prstGeom prst="roundRect">
            <a:avLst>
              <a:gd name="adj" fmla="val 3529"/>
            </a:avLst>
          </a:prstGeom>
          <a:solidFill>
            <a:srgbClr val="FFFFFF"/>
          </a:solidFill>
          <a:ln w="6350">
            <a:solidFill>
              <a:srgbClr val="DDDDEE"/>
            </a:solidFill>
            <a:prstDash val="solid"/>
          </a:ln>
        </p:spPr>
      </p:sp>
      <p:sp>
        <p:nvSpPr>
          <p:cNvPr id="7" name="Shape 5"/>
          <p:cNvSpPr/>
          <p:nvPr/>
        </p:nvSpPr>
        <p:spPr>
          <a:xfrm>
            <a:off x="548640" y="1051560"/>
            <a:ext cx="2590800" cy="365760"/>
          </a:xfrm>
          <a:prstGeom prst="rect">
            <a:avLst/>
          </a:prstGeom>
          <a:solidFill>
            <a:srgbClr val="4A3D8F"/>
          </a:solidFill>
          <a:ln w="12700">
            <a:solidFill>
              <a:srgbClr val="4A3D8F"/>
            </a:solidFill>
            <a:prstDash val="solid"/>
          </a:ln>
        </p:spPr>
      </p:sp>
      <p:sp>
        <p:nvSpPr>
          <p:cNvPr id="8" name="Text 6"/>
          <p:cNvSpPr/>
          <p:nvPr/>
        </p:nvSpPr>
        <p:spPr>
          <a:xfrm>
            <a:off x="548640" y="1051560"/>
            <a:ext cx="2590800" cy="365760"/>
          </a:xfrm>
          <a:prstGeom prst="rect">
            <a:avLst/>
          </a:prstGeom>
          <a:noFill/>
          <a:ln/>
        </p:spPr>
        <p:txBody>
          <a:bodyPr wrap="square" lIns="0" tIns="0" rIns="0" bIns="0" rtlCol="0" anchor="ctr"/>
          <a:lstStyle/>
          <a:p>
            <a:pPr algn="ctr" indent="0" marL="0">
              <a:buNone/>
            </a:pPr>
            <a:r>
              <a:rPr lang="en-US" sz="1200" b="1" dirty="0">
                <a:solidFill>
                  <a:srgbClr val="FFFFFF"/>
                </a:solidFill>
              </a:rPr>
              <a:t>Group 1</a:t>
            </a:r>
            <a:endParaRPr lang="en-US" sz="1200" dirty="0"/>
          </a:p>
        </p:txBody>
      </p:sp>
      <p:sp>
        <p:nvSpPr>
          <p:cNvPr id="9" name="Shape 7"/>
          <p:cNvSpPr/>
          <p:nvPr/>
        </p:nvSpPr>
        <p:spPr>
          <a:xfrm>
            <a:off x="719328" y="1618488"/>
            <a:ext cx="201168" cy="201168"/>
          </a:xfrm>
          <a:prstGeom prst="ellipse">
            <a:avLst/>
          </a:prstGeom>
          <a:solidFill>
            <a:srgbClr val="4A3D8F"/>
          </a:solidFill>
          <a:ln w="9525">
            <a:solidFill>
              <a:srgbClr val="FFFFFF"/>
            </a:solidFill>
            <a:prstDash val="solid"/>
          </a:ln>
        </p:spPr>
      </p:sp>
      <p:sp>
        <p:nvSpPr>
          <p:cNvPr id="10" name="Shape 8"/>
          <p:cNvSpPr/>
          <p:nvPr/>
        </p:nvSpPr>
        <p:spPr>
          <a:xfrm>
            <a:off x="975360" y="1618488"/>
            <a:ext cx="201168" cy="201168"/>
          </a:xfrm>
          <a:prstGeom prst="ellipse">
            <a:avLst/>
          </a:prstGeom>
          <a:solidFill>
            <a:srgbClr val="4A3D8F"/>
          </a:solidFill>
          <a:ln w="9525">
            <a:solidFill>
              <a:srgbClr val="FFFFFF"/>
            </a:solidFill>
            <a:prstDash val="solid"/>
          </a:ln>
        </p:spPr>
      </p:sp>
      <p:sp>
        <p:nvSpPr>
          <p:cNvPr id="11" name="Shape 9"/>
          <p:cNvSpPr/>
          <p:nvPr/>
        </p:nvSpPr>
        <p:spPr>
          <a:xfrm>
            <a:off x="1231392" y="1618488"/>
            <a:ext cx="201168" cy="201168"/>
          </a:xfrm>
          <a:prstGeom prst="ellipse">
            <a:avLst/>
          </a:prstGeom>
          <a:solidFill>
            <a:srgbClr val="4A3D8F"/>
          </a:solidFill>
          <a:ln w="9525">
            <a:solidFill>
              <a:srgbClr val="FFFFFF"/>
            </a:solidFill>
            <a:prstDash val="solid"/>
          </a:ln>
        </p:spPr>
      </p:sp>
      <p:sp>
        <p:nvSpPr>
          <p:cNvPr id="12" name="Shape 10"/>
          <p:cNvSpPr/>
          <p:nvPr/>
        </p:nvSpPr>
        <p:spPr>
          <a:xfrm>
            <a:off x="1487424" y="1618488"/>
            <a:ext cx="201168" cy="201168"/>
          </a:xfrm>
          <a:prstGeom prst="ellipse">
            <a:avLst/>
          </a:prstGeom>
          <a:solidFill>
            <a:srgbClr val="4A3D8F"/>
          </a:solidFill>
          <a:ln w="9525">
            <a:solidFill>
              <a:srgbClr val="FFFFFF"/>
            </a:solidFill>
            <a:prstDash val="solid"/>
          </a:ln>
        </p:spPr>
      </p:sp>
      <p:sp>
        <p:nvSpPr>
          <p:cNvPr id="13" name="Shape 11"/>
          <p:cNvSpPr/>
          <p:nvPr/>
        </p:nvSpPr>
        <p:spPr>
          <a:xfrm>
            <a:off x="1743456" y="1618488"/>
            <a:ext cx="201168" cy="201168"/>
          </a:xfrm>
          <a:prstGeom prst="ellipse">
            <a:avLst/>
          </a:prstGeom>
          <a:solidFill>
            <a:srgbClr val="4A3D8F"/>
          </a:solidFill>
          <a:ln w="9525">
            <a:solidFill>
              <a:srgbClr val="FFFFFF"/>
            </a:solidFill>
            <a:prstDash val="solid"/>
          </a:ln>
        </p:spPr>
      </p:sp>
      <p:sp>
        <p:nvSpPr>
          <p:cNvPr id="14" name="Shape 12"/>
          <p:cNvSpPr/>
          <p:nvPr/>
        </p:nvSpPr>
        <p:spPr>
          <a:xfrm>
            <a:off x="1999488" y="1618488"/>
            <a:ext cx="201168" cy="201168"/>
          </a:xfrm>
          <a:prstGeom prst="ellipse">
            <a:avLst/>
          </a:prstGeom>
          <a:solidFill>
            <a:srgbClr val="4A3D8F"/>
          </a:solidFill>
          <a:ln w="9525">
            <a:solidFill>
              <a:srgbClr val="FFFFFF"/>
            </a:solidFill>
            <a:prstDash val="solid"/>
          </a:ln>
        </p:spPr>
      </p:sp>
      <p:sp>
        <p:nvSpPr>
          <p:cNvPr id="15" name="Shape 13"/>
          <p:cNvSpPr/>
          <p:nvPr/>
        </p:nvSpPr>
        <p:spPr>
          <a:xfrm>
            <a:off x="2255520" y="1618488"/>
            <a:ext cx="201168" cy="201168"/>
          </a:xfrm>
          <a:prstGeom prst="ellipse">
            <a:avLst/>
          </a:prstGeom>
          <a:solidFill>
            <a:srgbClr val="4A3D8F"/>
          </a:solidFill>
          <a:ln w="9525">
            <a:solidFill>
              <a:srgbClr val="FFFFFF"/>
            </a:solidFill>
            <a:prstDash val="solid"/>
          </a:ln>
        </p:spPr>
      </p:sp>
      <p:sp>
        <p:nvSpPr>
          <p:cNvPr id="16" name="Shape 14"/>
          <p:cNvSpPr/>
          <p:nvPr/>
        </p:nvSpPr>
        <p:spPr>
          <a:xfrm>
            <a:off x="2511552" y="1618488"/>
            <a:ext cx="201168" cy="201168"/>
          </a:xfrm>
          <a:prstGeom prst="ellipse">
            <a:avLst/>
          </a:prstGeom>
          <a:solidFill>
            <a:srgbClr val="4A3D8F"/>
          </a:solidFill>
          <a:ln w="9525">
            <a:solidFill>
              <a:srgbClr val="FFFFFF"/>
            </a:solidFill>
            <a:prstDash val="solid"/>
          </a:ln>
        </p:spPr>
      </p:sp>
      <p:sp>
        <p:nvSpPr>
          <p:cNvPr id="17" name="Shape 15"/>
          <p:cNvSpPr/>
          <p:nvPr/>
        </p:nvSpPr>
        <p:spPr>
          <a:xfrm>
            <a:off x="2767584" y="1618488"/>
            <a:ext cx="201168" cy="201168"/>
          </a:xfrm>
          <a:prstGeom prst="ellipse">
            <a:avLst/>
          </a:prstGeom>
          <a:solidFill>
            <a:srgbClr val="4A3D8F"/>
          </a:solidFill>
          <a:ln w="9525">
            <a:solidFill>
              <a:srgbClr val="FFFFFF"/>
            </a:solidFill>
            <a:prstDash val="solid"/>
          </a:ln>
        </p:spPr>
      </p:sp>
      <p:sp>
        <p:nvSpPr>
          <p:cNvPr id="18" name="Shape 16"/>
          <p:cNvSpPr/>
          <p:nvPr/>
        </p:nvSpPr>
        <p:spPr>
          <a:xfrm>
            <a:off x="1487424" y="1892808"/>
            <a:ext cx="201168" cy="201168"/>
          </a:xfrm>
          <a:prstGeom prst="ellipse">
            <a:avLst/>
          </a:prstGeom>
          <a:solidFill>
            <a:srgbClr val="4A3D8F"/>
          </a:solidFill>
          <a:ln w="9525">
            <a:solidFill>
              <a:srgbClr val="FFFFFF"/>
            </a:solidFill>
            <a:prstDash val="solid"/>
          </a:ln>
        </p:spPr>
      </p:sp>
      <p:sp>
        <p:nvSpPr>
          <p:cNvPr id="19" name="Shape 17"/>
          <p:cNvSpPr/>
          <p:nvPr/>
        </p:nvSpPr>
        <p:spPr>
          <a:xfrm>
            <a:off x="1743456" y="1892808"/>
            <a:ext cx="201168" cy="201168"/>
          </a:xfrm>
          <a:prstGeom prst="ellipse">
            <a:avLst/>
          </a:prstGeom>
          <a:solidFill>
            <a:srgbClr val="4A3D8F"/>
          </a:solidFill>
          <a:ln w="9525">
            <a:solidFill>
              <a:srgbClr val="FFFFFF"/>
            </a:solidFill>
            <a:prstDash val="solid"/>
          </a:ln>
        </p:spPr>
      </p:sp>
      <p:sp>
        <p:nvSpPr>
          <p:cNvPr id="20" name="Shape 18"/>
          <p:cNvSpPr/>
          <p:nvPr/>
        </p:nvSpPr>
        <p:spPr>
          <a:xfrm>
            <a:off x="1999488" y="1892808"/>
            <a:ext cx="201168" cy="201168"/>
          </a:xfrm>
          <a:prstGeom prst="ellipse">
            <a:avLst/>
          </a:prstGeom>
          <a:solidFill>
            <a:srgbClr val="4A3D8F"/>
          </a:solidFill>
          <a:ln w="9525">
            <a:solidFill>
              <a:srgbClr val="FFFFFF"/>
            </a:solidFill>
            <a:prstDash val="solid"/>
          </a:ln>
        </p:spPr>
      </p:sp>
      <p:sp>
        <p:nvSpPr>
          <p:cNvPr id="21" name="Text 19"/>
          <p:cNvSpPr/>
          <p:nvPr/>
        </p:nvSpPr>
        <p:spPr>
          <a:xfrm>
            <a:off x="548640" y="3520440"/>
            <a:ext cx="2590800" cy="320040"/>
          </a:xfrm>
          <a:prstGeom prst="rect">
            <a:avLst/>
          </a:prstGeom>
          <a:noFill/>
          <a:ln/>
        </p:spPr>
        <p:txBody>
          <a:bodyPr wrap="square" lIns="0" tIns="0" rIns="0" bIns="0" rtlCol="0" anchor="ctr"/>
          <a:lstStyle/>
          <a:p>
            <a:pPr algn="ctr" indent="0" marL="0">
              <a:buNone/>
            </a:pPr>
            <a:r>
              <a:rPr lang="en-US" sz="1400" b="1" dirty="0">
                <a:solidFill>
                  <a:srgbClr val="1A1A2E"/>
                </a:solidFill>
              </a:rPr>
              <a:t>12</a:t>
            </a:r>
            <a:endParaRPr lang="en-US" sz="1400" dirty="0"/>
          </a:p>
        </p:txBody>
      </p:sp>
      <p:sp>
        <p:nvSpPr>
          <p:cNvPr id="22" name="Shape 20"/>
          <p:cNvSpPr/>
          <p:nvPr/>
        </p:nvSpPr>
        <p:spPr>
          <a:xfrm>
            <a:off x="3276600" y="1051560"/>
            <a:ext cx="2590800" cy="2834640"/>
          </a:xfrm>
          <a:prstGeom prst="roundRect">
            <a:avLst>
              <a:gd name="adj" fmla="val 3529"/>
            </a:avLst>
          </a:prstGeom>
          <a:solidFill>
            <a:srgbClr val="FFFFFF"/>
          </a:solidFill>
          <a:ln w="6350">
            <a:solidFill>
              <a:srgbClr val="DDDDEE"/>
            </a:solidFill>
            <a:prstDash val="solid"/>
          </a:ln>
        </p:spPr>
      </p:sp>
      <p:sp>
        <p:nvSpPr>
          <p:cNvPr id="23" name="Shape 21"/>
          <p:cNvSpPr/>
          <p:nvPr/>
        </p:nvSpPr>
        <p:spPr>
          <a:xfrm>
            <a:off x="3276600" y="1051560"/>
            <a:ext cx="2590800" cy="365760"/>
          </a:xfrm>
          <a:prstGeom prst="rect">
            <a:avLst/>
          </a:prstGeom>
          <a:solidFill>
            <a:srgbClr val="2E6E44"/>
          </a:solidFill>
          <a:ln w="12700">
            <a:solidFill>
              <a:srgbClr val="2E6E44"/>
            </a:solidFill>
            <a:prstDash val="solid"/>
          </a:ln>
        </p:spPr>
      </p:sp>
      <p:sp>
        <p:nvSpPr>
          <p:cNvPr id="24" name="Text 22"/>
          <p:cNvSpPr/>
          <p:nvPr/>
        </p:nvSpPr>
        <p:spPr>
          <a:xfrm>
            <a:off x="3276600" y="1051560"/>
            <a:ext cx="2590800" cy="365760"/>
          </a:xfrm>
          <a:prstGeom prst="rect">
            <a:avLst/>
          </a:prstGeom>
          <a:noFill/>
          <a:ln/>
        </p:spPr>
        <p:txBody>
          <a:bodyPr wrap="square" lIns="0" tIns="0" rIns="0" bIns="0" rtlCol="0" anchor="ctr"/>
          <a:lstStyle/>
          <a:p>
            <a:pPr algn="ctr" indent="0" marL="0">
              <a:buNone/>
            </a:pPr>
            <a:r>
              <a:rPr lang="en-US" sz="1200" b="1" dirty="0">
                <a:solidFill>
                  <a:srgbClr val="FFFFFF"/>
                </a:solidFill>
              </a:rPr>
              <a:t>Group 2</a:t>
            </a:r>
            <a:endParaRPr lang="en-US" sz="1200" dirty="0"/>
          </a:p>
        </p:txBody>
      </p:sp>
      <p:sp>
        <p:nvSpPr>
          <p:cNvPr id="25" name="Shape 23"/>
          <p:cNvSpPr/>
          <p:nvPr/>
        </p:nvSpPr>
        <p:spPr>
          <a:xfrm>
            <a:off x="3447288" y="1618488"/>
            <a:ext cx="201168" cy="201168"/>
          </a:xfrm>
          <a:prstGeom prst="ellipse">
            <a:avLst/>
          </a:prstGeom>
          <a:solidFill>
            <a:srgbClr val="2E6E44"/>
          </a:solidFill>
          <a:ln w="9525">
            <a:solidFill>
              <a:srgbClr val="FFFFFF"/>
            </a:solidFill>
            <a:prstDash val="solid"/>
          </a:ln>
        </p:spPr>
      </p:sp>
      <p:sp>
        <p:nvSpPr>
          <p:cNvPr id="26" name="Shape 24"/>
          <p:cNvSpPr/>
          <p:nvPr/>
        </p:nvSpPr>
        <p:spPr>
          <a:xfrm>
            <a:off x="3703320" y="1618488"/>
            <a:ext cx="201168" cy="201168"/>
          </a:xfrm>
          <a:prstGeom prst="ellipse">
            <a:avLst/>
          </a:prstGeom>
          <a:solidFill>
            <a:srgbClr val="2E6E44"/>
          </a:solidFill>
          <a:ln w="9525">
            <a:solidFill>
              <a:srgbClr val="FFFFFF"/>
            </a:solidFill>
            <a:prstDash val="solid"/>
          </a:ln>
        </p:spPr>
      </p:sp>
      <p:sp>
        <p:nvSpPr>
          <p:cNvPr id="27" name="Shape 25"/>
          <p:cNvSpPr/>
          <p:nvPr/>
        </p:nvSpPr>
        <p:spPr>
          <a:xfrm>
            <a:off x="3959352" y="1618488"/>
            <a:ext cx="201168" cy="201168"/>
          </a:xfrm>
          <a:prstGeom prst="ellipse">
            <a:avLst/>
          </a:prstGeom>
          <a:solidFill>
            <a:srgbClr val="2E6E44"/>
          </a:solidFill>
          <a:ln w="9525">
            <a:solidFill>
              <a:srgbClr val="FFFFFF"/>
            </a:solidFill>
            <a:prstDash val="solid"/>
          </a:ln>
        </p:spPr>
      </p:sp>
      <p:sp>
        <p:nvSpPr>
          <p:cNvPr id="28" name="Shape 26"/>
          <p:cNvSpPr/>
          <p:nvPr/>
        </p:nvSpPr>
        <p:spPr>
          <a:xfrm>
            <a:off x="4215384" y="1618488"/>
            <a:ext cx="201168" cy="201168"/>
          </a:xfrm>
          <a:prstGeom prst="ellipse">
            <a:avLst/>
          </a:prstGeom>
          <a:solidFill>
            <a:srgbClr val="2E6E44"/>
          </a:solidFill>
          <a:ln w="9525">
            <a:solidFill>
              <a:srgbClr val="FFFFFF"/>
            </a:solidFill>
            <a:prstDash val="solid"/>
          </a:ln>
        </p:spPr>
      </p:sp>
      <p:sp>
        <p:nvSpPr>
          <p:cNvPr id="29" name="Shape 27"/>
          <p:cNvSpPr/>
          <p:nvPr/>
        </p:nvSpPr>
        <p:spPr>
          <a:xfrm>
            <a:off x="4471416" y="1618488"/>
            <a:ext cx="201168" cy="201168"/>
          </a:xfrm>
          <a:prstGeom prst="ellipse">
            <a:avLst/>
          </a:prstGeom>
          <a:solidFill>
            <a:srgbClr val="2E6E44"/>
          </a:solidFill>
          <a:ln w="9525">
            <a:solidFill>
              <a:srgbClr val="FFFFFF"/>
            </a:solidFill>
            <a:prstDash val="solid"/>
          </a:ln>
        </p:spPr>
      </p:sp>
      <p:sp>
        <p:nvSpPr>
          <p:cNvPr id="30" name="Shape 28"/>
          <p:cNvSpPr/>
          <p:nvPr/>
        </p:nvSpPr>
        <p:spPr>
          <a:xfrm>
            <a:off x="4727448" y="1618488"/>
            <a:ext cx="201168" cy="201168"/>
          </a:xfrm>
          <a:prstGeom prst="ellipse">
            <a:avLst/>
          </a:prstGeom>
          <a:solidFill>
            <a:srgbClr val="2E6E44"/>
          </a:solidFill>
          <a:ln w="9525">
            <a:solidFill>
              <a:srgbClr val="FFFFFF"/>
            </a:solidFill>
            <a:prstDash val="solid"/>
          </a:ln>
        </p:spPr>
      </p:sp>
      <p:sp>
        <p:nvSpPr>
          <p:cNvPr id="31" name="Shape 29"/>
          <p:cNvSpPr/>
          <p:nvPr/>
        </p:nvSpPr>
        <p:spPr>
          <a:xfrm>
            <a:off x="4983480" y="1618488"/>
            <a:ext cx="201168" cy="201168"/>
          </a:xfrm>
          <a:prstGeom prst="ellipse">
            <a:avLst/>
          </a:prstGeom>
          <a:solidFill>
            <a:srgbClr val="2E6E44"/>
          </a:solidFill>
          <a:ln w="9525">
            <a:solidFill>
              <a:srgbClr val="FFFFFF"/>
            </a:solidFill>
            <a:prstDash val="solid"/>
          </a:ln>
        </p:spPr>
      </p:sp>
      <p:sp>
        <p:nvSpPr>
          <p:cNvPr id="32" name="Shape 30"/>
          <p:cNvSpPr/>
          <p:nvPr/>
        </p:nvSpPr>
        <p:spPr>
          <a:xfrm>
            <a:off x="5239512" y="1618488"/>
            <a:ext cx="201168" cy="201168"/>
          </a:xfrm>
          <a:prstGeom prst="ellipse">
            <a:avLst/>
          </a:prstGeom>
          <a:solidFill>
            <a:srgbClr val="2E6E44"/>
          </a:solidFill>
          <a:ln w="9525">
            <a:solidFill>
              <a:srgbClr val="FFFFFF"/>
            </a:solidFill>
            <a:prstDash val="solid"/>
          </a:ln>
        </p:spPr>
      </p:sp>
      <p:sp>
        <p:nvSpPr>
          <p:cNvPr id="33" name="Shape 31"/>
          <p:cNvSpPr/>
          <p:nvPr/>
        </p:nvSpPr>
        <p:spPr>
          <a:xfrm>
            <a:off x="5495544" y="1618488"/>
            <a:ext cx="201168" cy="201168"/>
          </a:xfrm>
          <a:prstGeom prst="ellipse">
            <a:avLst/>
          </a:prstGeom>
          <a:solidFill>
            <a:srgbClr val="2E6E44"/>
          </a:solidFill>
          <a:ln w="9525">
            <a:solidFill>
              <a:srgbClr val="FFFFFF"/>
            </a:solidFill>
            <a:prstDash val="solid"/>
          </a:ln>
        </p:spPr>
      </p:sp>
      <p:sp>
        <p:nvSpPr>
          <p:cNvPr id="34" name="Shape 32"/>
          <p:cNvSpPr/>
          <p:nvPr/>
        </p:nvSpPr>
        <p:spPr>
          <a:xfrm>
            <a:off x="4215384" y="1892808"/>
            <a:ext cx="201168" cy="201168"/>
          </a:xfrm>
          <a:prstGeom prst="ellipse">
            <a:avLst/>
          </a:prstGeom>
          <a:solidFill>
            <a:srgbClr val="2E6E44"/>
          </a:solidFill>
          <a:ln w="9525">
            <a:solidFill>
              <a:srgbClr val="FFFFFF"/>
            </a:solidFill>
            <a:prstDash val="solid"/>
          </a:ln>
        </p:spPr>
      </p:sp>
      <p:sp>
        <p:nvSpPr>
          <p:cNvPr id="35" name="Shape 33"/>
          <p:cNvSpPr/>
          <p:nvPr/>
        </p:nvSpPr>
        <p:spPr>
          <a:xfrm>
            <a:off x="4471416" y="1892808"/>
            <a:ext cx="201168" cy="201168"/>
          </a:xfrm>
          <a:prstGeom prst="ellipse">
            <a:avLst/>
          </a:prstGeom>
          <a:solidFill>
            <a:srgbClr val="2E6E44"/>
          </a:solidFill>
          <a:ln w="9525">
            <a:solidFill>
              <a:srgbClr val="FFFFFF"/>
            </a:solidFill>
            <a:prstDash val="solid"/>
          </a:ln>
        </p:spPr>
      </p:sp>
      <p:sp>
        <p:nvSpPr>
          <p:cNvPr id="36" name="Shape 34"/>
          <p:cNvSpPr/>
          <p:nvPr/>
        </p:nvSpPr>
        <p:spPr>
          <a:xfrm>
            <a:off x="4727448" y="1892808"/>
            <a:ext cx="201168" cy="201168"/>
          </a:xfrm>
          <a:prstGeom prst="ellipse">
            <a:avLst/>
          </a:prstGeom>
          <a:solidFill>
            <a:srgbClr val="2E6E44"/>
          </a:solidFill>
          <a:ln w="9525">
            <a:solidFill>
              <a:srgbClr val="FFFFFF"/>
            </a:solidFill>
            <a:prstDash val="solid"/>
          </a:ln>
        </p:spPr>
      </p:sp>
      <p:sp>
        <p:nvSpPr>
          <p:cNvPr id="37" name="Text 35"/>
          <p:cNvSpPr/>
          <p:nvPr/>
        </p:nvSpPr>
        <p:spPr>
          <a:xfrm>
            <a:off x="3276600" y="3520440"/>
            <a:ext cx="2590800" cy="320040"/>
          </a:xfrm>
          <a:prstGeom prst="rect">
            <a:avLst/>
          </a:prstGeom>
          <a:noFill/>
          <a:ln/>
        </p:spPr>
        <p:txBody>
          <a:bodyPr wrap="square" lIns="0" tIns="0" rIns="0" bIns="0" rtlCol="0" anchor="ctr"/>
          <a:lstStyle/>
          <a:p>
            <a:pPr algn="ctr" indent="0" marL="0">
              <a:buNone/>
            </a:pPr>
            <a:r>
              <a:rPr lang="en-US" sz="1400" b="1" dirty="0">
                <a:solidFill>
                  <a:srgbClr val="1A1A2E"/>
                </a:solidFill>
              </a:rPr>
              <a:t>12</a:t>
            </a:r>
            <a:endParaRPr lang="en-US" sz="1400" dirty="0"/>
          </a:p>
        </p:txBody>
      </p:sp>
      <p:sp>
        <p:nvSpPr>
          <p:cNvPr id="38" name="Shape 36"/>
          <p:cNvSpPr/>
          <p:nvPr/>
        </p:nvSpPr>
        <p:spPr>
          <a:xfrm>
            <a:off x="6004560" y="1051560"/>
            <a:ext cx="2590800" cy="2834640"/>
          </a:xfrm>
          <a:prstGeom prst="roundRect">
            <a:avLst>
              <a:gd name="adj" fmla="val 3529"/>
            </a:avLst>
          </a:prstGeom>
          <a:solidFill>
            <a:srgbClr val="FFFFFF"/>
          </a:solidFill>
          <a:ln w="6350">
            <a:solidFill>
              <a:srgbClr val="DDDDEE"/>
            </a:solidFill>
            <a:prstDash val="solid"/>
          </a:ln>
        </p:spPr>
      </p:sp>
      <p:sp>
        <p:nvSpPr>
          <p:cNvPr id="39" name="Shape 37"/>
          <p:cNvSpPr/>
          <p:nvPr/>
        </p:nvSpPr>
        <p:spPr>
          <a:xfrm>
            <a:off x="6004560" y="1051560"/>
            <a:ext cx="2590800" cy="365760"/>
          </a:xfrm>
          <a:prstGeom prst="rect">
            <a:avLst/>
          </a:prstGeom>
          <a:solidFill>
            <a:srgbClr val="D9941A"/>
          </a:solidFill>
          <a:ln w="12700">
            <a:solidFill>
              <a:srgbClr val="D9941A"/>
            </a:solidFill>
            <a:prstDash val="solid"/>
          </a:ln>
        </p:spPr>
      </p:sp>
      <p:sp>
        <p:nvSpPr>
          <p:cNvPr id="40" name="Text 38"/>
          <p:cNvSpPr/>
          <p:nvPr/>
        </p:nvSpPr>
        <p:spPr>
          <a:xfrm>
            <a:off x="6004560" y="1051560"/>
            <a:ext cx="2590800" cy="365760"/>
          </a:xfrm>
          <a:prstGeom prst="rect">
            <a:avLst/>
          </a:prstGeom>
          <a:noFill/>
          <a:ln/>
        </p:spPr>
        <p:txBody>
          <a:bodyPr wrap="square" lIns="0" tIns="0" rIns="0" bIns="0" rtlCol="0" anchor="ctr"/>
          <a:lstStyle/>
          <a:p>
            <a:pPr algn="ctr" indent="0" marL="0">
              <a:buNone/>
            </a:pPr>
            <a:r>
              <a:rPr lang="en-US" sz="1200" b="1" dirty="0">
                <a:solidFill>
                  <a:srgbClr val="FFFFFF"/>
                </a:solidFill>
              </a:rPr>
              <a:t>Group 3</a:t>
            </a:r>
            <a:endParaRPr lang="en-US" sz="1200" dirty="0"/>
          </a:p>
        </p:txBody>
      </p:sp>
      <p:sp>
        <p:nvSpPr>
          <p:cNvPr id="41" name="Shape 39"/>
          <p:cNvSpPr/>
          <p:nvPr/>
        </p:nvSpPr>
        <p:spPr>
          <a:xfrm>
            <a:off x="6175248" y="1618488"/>
            <a:ext cx="201168" cy="201168"/>
          </a:xfrm>
          <a:prstGeom prst="ellipse">
            <a:avLst/>
          </a:prstGeom>
          <a:solidFill>
            <a:srgbClr val="D9941A"/>
          </a:solidFill>
          <a:ln w="9525">
            <a:solidFill>
              <a:srgbClr val="FFFFFF"/>
            </a:solidFill>
            <a:prstDash val="solid"/>
          </a:ln>
        </p:spPr>
      </p:sp>
      <p:sp>
        <p:nvSpPr>
          <p:cNvPr id="42" name="Shape 40"/>
          <p:cNvSpPr/>
          <p:nvPr/>
        </p:nvSpPr>
        <p:spPr>
          <a:xfrm>
            <a:off x="6431280" y="1618488"/>
            <a:ext cx="201168" cy="201168"/>
          </a:xfrm>
          <a:prstGeom prst="ellipse">
            <a:avLst/>
          </a:prstGeom>
          <a:solidFill>
            <a:srgbClr val="D9941A"/>
          </a:solidFill>
          <a:ln w="9525">
            <a:solidFill>
              <a:srgbClr val="FFFFFF"/>
            </a:solidFill>
            <a:prstDash val="solid"/>
          </a:ln>
        </p:spPr>
      </p:sp>
      <p:sp>
        <p:nvSpPr>
          <p:cNvPr id="43" name="Shape 41"/>
          <p:cNvSpPr/>
          <p:nvPr/>
        </p:nvSpPr>
        <p:spPr>
          <a:xfrm>
            <a:off x="6687312" y="1618488"/>
            <a:ext cx="201168" cy="201168"/>
          </a:xfrm>
          <a:prstGeom prst="ellipse">
            <a:avLst/>
          </a:prstGeom>
          <a:solidFill>
            <a:srgbClr val="D9941A"/>
          </a:solidFill>
          <a:ln w="9525">
            <a:solidFill>
              <a:srgbClr val="FFFFFF"/>
            </a:solidFill>
            <a:prstDash val="solid"/>
          </a:ln>
        </p:spPr>
      </p:sp>
      <p:sp>
        <p:nvSpPr>
          <p:cNvPr id="44" name="Shape 42"/>
          <p:cNvSpPr/>
          <p:nvPr/>
        </p:nvSpPr>
        <p:spPr>
          <a:xfrm>
            <a:off x="6943344" y="1618488"/>
            <a:ext cx="201168" cy="201168"/>
          </a:xfrm>
          <a:prstGeom prst="ellipse">
            <a:avLst/>
          </a:prstGeom>
          <a:solidFill>
            <a:srgbClr val="D9941A"/>
          </a:solidFill>
          <a:ln w="9525">
            <a:solidFill>
              <a:srgbClr val="FFFFFF"/>
            </a:solidFill>
            <a:prstDash val="solid"/>
          </a:ln>
        </p:spPr>
      </p:sp>
      <p:sp>
        <p:nvSpPr>
          <p:cNvPr id="45" name="Shape 43"/>
          <p:cNvSpPr/>
          <p:nvPr/>
        </p:nvSpPr>
        <p:spPr>
          <a:xfrm>
            <a:off x="7199376" y="1618488"/>
            <a:ext cx="201168" cy="201168"/>
          </a:xfrm>
          <a:prstGeom prst="ellipse">
            <a:avLst/>
          </a:prstGeom>
          <a:solidFill>
            <a:srgbClr val="D9941A"/>
          </a:solidFill>
          <a:ln w="9525">
            <a:solidFill>
              <a:srgbClr val="FFFFFF"/>
            </a:solidFill>
            <a:prstDash val="solid"/>
          </a:ln>
        </p:spPr>
      </p:sp>
      <p:sp>
        <p:nvSpPr>
          <p:cNvPr id="46" name="Shape 44"/>
          <p:cNvSpPr/>
          <p:nvPr/>
        </p:nvSpPr>
        <p:spPr>
          <a:xfrm>
            <a:off x="7455408" y="1618488"/>
            <a:ext cx="201168" cy="201168"/>
          </a:xfrm>
          <a:prstGeom prst="ellipse">
            <a:avLst/>
          </a:prstGeom>
          <a:solidFill>
            <a:srgbClr val="D9941A"/>
          </a:solidFill>
          <a:ln w="9525">
            <a:solidFill>
              <a:srgbClr val="FFFFFF"/>
            </a:solidFill>
            <a:prstDash val="solid"/>
          </a:ln>
        </p:spPr>
      </p:sp>
      <p:sp>
        <p:nvSpPr>
          <p:cNvPr id="47" name="Shape 45"/>
          <p:cNvSpPr/>
          <p:nvPr/>
        </p:nvSpPr>
        <p:spPr>
          <a:xfrm>
            <a:off x="7711440" y="1618488"/>
            <a:ext cx="201168" cy="201168"/>
          </a:xfrm>
          <a:prstGeom prst="ellipse">
            <a:avLst/>
          </a:prstGeom>
          <a:solidFill>
            <a:srgbClr val="D9941A"/>
          </a:solidFill>
          <a:ln w="9525">
            <a:solidFill>
              <a:srgbClr val="FFFFFF"/>
            </a:solidFill>
            <a:prstDash val="solid"/>
          </a:ln>
        </p:spPr>
      </p:sp>
      <p:sp>
        <p:nvSpPr>
          <p:cNvPr id="48" name="Shape 46"/>
          <p:cNvSpPr/>
          <p:nvPr/>
        </p:nvSpPr>
        <p:spPr>
          <a:xfrm>
            <a:off x="7967472" y="1618488"/>
            <a:ext cx="201168" cy="201168"/>
          </a:xfrm>
          <a:prstGeom prst="ellipse">
            <a:avLst/>
          </a:prstGeom>
          <a:solidFill>
            <a:srgbClr val="D9941A"/>
          </a:solidFill>
          <a:ln w="9525">
            <a:solidFill>
              <a:srgbClr val="FFFFFF"/>
            </a:solidFill>
            <a:prstDash val="solid"/>
          </a:ln>
        </p:spPr>
      </p:sp>
      <p:sp>
        <p:nvSpPr>
          <p:cNvPr id="49" name="Shape 47"/>
          <p:cNvSpPr/>
          <p:nvPr/>
        </p:nvSpPr>
        <p:spPr>
          <a:xfrm>
            <a:off x="8223504" y="1618488"/>
            <a:ext cx="201168" cy="201168"/>
          </a:xfrm>
          <a:prstGeom prst="ellipse">
            <a:avLst/>
          </a:prstGeom>
          <a:solidFill>
            <a:srgbClr val="D9941A"/>
          </a:solidFill>
          <a:ln w="9525">
            <a:solidFill>
              <a:srgbClr val="FFFFFF"/>
            </a:solidFill>
            <a:prstDash val="solid"/>
          </a:ln>
        </p:spPr>
      </p:sp>
      <p:sp>
        <p:nvSpPr>
          <p:cNvPr id="50" name="Shape 48"/>
          <p:cNvSpPr/>
          <p:nvPr/>
        </p:nvSpPr>
        <p:spPr>
          <a:xfrm>
            <a:off x="6943344" y="1892808"/>
            <a:ext cx="201168" cy="201168"/>
          </a:xfrm>
          <a:prstGeom prst="ellipse">
            <a:avLst/>
          </a:prstGeom>
          <a:solidFill>
            <a:srgbClr val="D9941A"/>
          </a:solidFill>
          <a:ln w="9525">
            <a:solidFill>
              <a:srgbClr val="FFFFFF"/>
            </a:solidFill>
            <a:prstDash val="solid"/>
          </a:ln>
        </p:spPr>
      </p:sp>
      <p:sp>
        <p:nvSpPr>
          <p:cNvPr id="51" name="Shape 49"/>
          <p:cNvSpPr/>
          <p:nvPr/>
        </p:nvSpPr>
        <p:spPr>
          <a:xfrm>
            <a:off x="7199376" y="1892808"/>
            <a:ext cx="201168" cy="201168"/>
          </a:xfrm>
          <a:prstGeom prst="ellipse">
            <a:avLst/>
          </a:prstGeom>
          <a:solidFill>
            <a:srgbClr val="D9941A"/>
          </a:solidFill>
          <a:ln w="9525">
            <a:solidFill>
              <a:srgbClr val="FFFFFF"/>
            </a:solidFill>
            <a:prstDash val="solid"/>
          </a:ln>
        </p:spPr>
      </p:sp>
      <p:sp>
        <p:nvSpPr>
          <p:cNvPr id="52" name="Shape 50"/>
          <p:cNvSpPr/>
          <p:nvPr/>
        </p:nvSpPr>
        <p:spPr>
          <a:xfrm>
            <a:off x="7455408" y="1892808"/>
            <a:ext cx="201168" cy="201168"/>
          </a:xfrm>
          <a:prstGeom prst="ellipse">
            <a:avLst/>
          </a:prstGeom>
          <a:solidFill>
            <a:srgbClr val="D9941A"/>
          </a:solidFill>
          <a:ln w="9525">
            <a:solidFill>
              <a:srgbClr val="FFFFFF"/>
            </a:solidFill>
            <a:prstDash val="solid"/>
          </a:ln>
        </p:spPr>
      </p:sp>
      <p:sp>
        <p:nvSpPr>
          <p:cNvPr id="53" name="Text 51"/>
          <p:cNvSpPr/>
          <p:nvPr/>
        </p:nvSpPr>
        <p:spPr>
          <a:xfrm>
            <a:off x="6004560" y="3520440"/>
            <a:ext cx="2590800" cy="320040"/>
          </a:xfrm>
          <a:prstGeom prst="rect">
            <a:avLst/>
          </a:prstGeom>
          <a:noFill/>
          <a:ln/>
        </p:spPr>
        <p:txBody>
          <a:bodyPr wrap="square" lIns="0" tIns="0" rIns="0" bIns="0" rtlCol="0" anchor="ctr"/>
          <a:lstStyle/>
          <a:p>
            <a:pPr algn="ctr" indent="0" marL="0">
              <a:buNone/>
            </a:pPr>
            <a:r>
              <a:rPr lang="en-US" sz="1400" b="1" dirty="0">
                <a:solidFill>
                  <a:srgbClr val="1A1A2E"/>
                </a:solidFill>
              </a:rPr>
              <a:t>12</a:t>
            </a:r>
            <a:endParaRPr lang="en-US" sz="1400" dirty="0"/>
          </a:p>
        </p:txBody>
      </p:sp>
      <p:sp>
        <p:nvSpPr>
          <p:cNvPr id="54" name="Shape 52"/>
          <p:cNvSpPr/>
          <p:nvPr/>
        </p:nvSpPr>
        <p:spPr>
          <a:xfrm>
            <a:off x="548640" y="4023360"/>
            <a:ext cx="8046720" cy="685800"/>
          </a:xfrm>
          <a:prstGeom prst="roundRect">
            <a:avLst>
              <a:gd name="adj" fmla="val 13333"/>
            </a:avLst>
          </a:prstGeom>
          <a:solidFill>
            <a:srgbClr val="EAE8F5"/>
          </a:solidFill>
          <a:ln w="6350">
            <a:solidFill>
              <a:srgbClr val="DDDDEE"/>
            </a:solidFill>
            <a:prstDash val="solid"/>
          </a:ln>
        </p:spPr>
      </p:sp>
      <p:sp>
        <p:nvSpPr>
          <p:cNvPr id="55" name="Text 53"/>
          <p:cNvSpPr/>
          <p:nvPr/>
        </p:nvSpPr>
        <p:spPr>
          <a:xfrm>
            <a:off x="731520" y="4078224"/>
            <a:ext cx="7680960" cy="548640"/>
          </a:xfrm>
          <a:prstGeom prst="rect">
            <a:avLst/>
          </a:prstGeom>
          <a:noFill/>
          <a:ln/>
        </p:spPr>
        <p:txBody>
          <a:bodyPr wrap="square" lIns="0" tIns="0" rIns="0" bIns="0" rtlCol="0" anchor="ctr"/>
          <a:lstStyle/>
          <a:p>
            <a:pPr indent="0" marL="0">
              <a:buNone/>
            </a:pPr>
            <a:r>
              <a:rPr lang="en-US" sz="1200" dirty="0">
                <a:solidFill>
                  <a:srgbClr val="1A1A2E"/>
                </a:solidFill>
              </a:rPr>
              <a:t>Each dot is one tenth. Dealing 36 tenths one at a time into 3 groups gives 12 tenths — 1.2 — in every group, with none left over.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State the Rule</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1463040"/>
            <a:ext cx="7680960" cy="2194560"/>
          </a:xfrm>
          <a:prstGeom prst="roundRect">
            <a:avLst>
              <a:gd name="adj" fmla="val 4167"/>
            </a:avLst>
          </a:prstGeom>
          <a:solidFill>
            <a:srgbClr val="FFFFFF"/>
          </a:solidFill>
          <a:ln w="6350">
            <a:solidFill>
              <a:srgbClr val="DDDDEE"/>
            </a:solidFill>
            <a:prstDash val="solid"/>
          </a:ln>
        </p:spPr>
      </p:sp>
      <p:sp>
        <p:nvSpPr>
          <p:cNvPr id="7" name="Text 5"/>
          <p:cNvSpPr/>
          <p:nvPr/>
        </p:nvSpPr>
        <p:spPr>
          <a:xfrm>
            <a:off x="1005840" y="1691640"/>
            <a:ext cx="7132320" cy="173736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Divide the tenths just like whole numbers, then place the decimal point in the quotient directly above the decimal point in the dividend.</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Daily Math Language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31920" cy="1645920"/>
          </a:xfrm>
          <a:prstGeom prst="roundRect">
            <a:avLst>
              <a:gd name="adj" fmla="val 5556"/>
            </a:avLst>
          </a:prstGeom>
          <a:solidFill>
            <a:srgbClr val="FFFFFF"/>
          </a:solidFill>
          <a:ln w="6350">
            <a:solidFill>
              <a:srgbClr val="DDDDEE"/>
            </a:solidFill>
            <a:prstDash val="solid"/>
          </a:ln>
        </p:spPr>
      </p:sp>
      <p:sp>
        <p:nvSpPr>
          <p:cNvPr id="7" name="Text 5"/>
          <p:cNvSpPr/>
          <p:nvPr/>
        </p:nvSpPr>
        <p:spPr>
          <a:xfrm>
            <a:off x="640080" y="1069848"/>
            <a:ext cx="356616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partition</a:t>
            </a:r>
            <a:endParaRPr lang="en-US" sz="1600" dirty="0"/>
          </a:p>
        </p:txBody>
      </p:sp>
      <p:sp>
        <p:nvSpPr>
          <p:cNvPr id="8" name="Text 6"/>
          <p:cNvSpPr/>
          <p:nvPr/>
        </p:nvSpPr>
        <p:spPr>
          <a:xfrm>
            <a:off x="640080" y="1463040"/>
            <a:ext cx="3566160" cy="457200"/>
          </a:xfrm>
          <a:prstGeom prst="rect">
            <a:avLst/>
          </a:prstGeom>
          <a:noFill/>
          <a:ln/>
        </p:spPr>
        <p:txBody>
          <a:bodyPr wrap="square" lIns="0" tIns="0" rIns="0" bIns="0" rtlCol="0" anchor="ctr"/>
          <a:lstStyle/>
          <a:p>
            <a:pPr indent="0" marL="0">
              <a:buNone/>
            </a:pPr>
            <a:r>
              <a:rPr lang="en-US" sz="1200" dirty="0">
                <a:solidFill>
                  <a:srgbClr val="1A1A2E"/>
                </a:solidFill>
              </a:rPr>
              <a:t>to split into equal parts or groups</a:t>
            </a:r>
            <a:endParaRPr lang="en-US" sz="1200" dirty="0"/>
          </a:p>
        </p:txBody>
      </p:sp>
      <p:sp>
        <p:nvSpPr>
          <p:cNvPr id="9" name="Text 7"/>
          <p:cNvSpPr/>
          <p:nvPr/>
        </p:nvSpPr>
        <p:spPr>
          <a:xfrm>
            <a:off x="640080" y="1965960"/>
            <a:ext cx="3566160" cy="548640"/>
          </a:xfrm>
          <a:prstGeom prst="rect">
            <a:avLst/>
          </a:prstGeom>
          <a:noFill/>
          <a:ln/>
        </p:spPr>
        <p:txBody>
          <a:bodyPr wrap="square" lIns="0" tIns="0" rIns="0" bIns="0" rtlCol="0" anchor="ctr"/>
          <a:lstStyle/>
          <a:p>
            <a:pPr indent="0" marL="0">
              <a:buNone/>
            </a:pPr>
            <a:r>
              <a:rPr lang="en-US" sz="1100" i="1" dirty="0">
                <a:solidFill>
                  <a:srgbClr val="5A5A7A"/>
                </a:solidFill>
              </a:rPr>
              <a:t>Ex: 3.6 is partitioned into 3 equal groups of 1.2.</a:t>
            </a:r>
            <a:endParaRPr lang="en-US" sz="1100" dirty="0"/>
          </a:p>
        </p:txBody>
      </p:sp>
      <p:sp>
        <p:nvSpPr>
          <p:cNvPr id="10" name="Shape 8"/>
          <p:cNvSpPr/>
          <p:nvPr/>
        </p:nvSpPr>
        <p:spPr>
          <a:xfrm>
            <a:off x="4754880" y="960120"/>
            <a:ext cx="3931920" cy="1645920"/>
          </a:xfrm>
          <a:prstGeom prst="roundRect">
            <a:avLst>
              <a:gd name="adj" fmla="val 5556"/>
            </a:avLst>
          </a:prstGeom>
          <a:solidFill>
            <a:srgbClr val="FFFFFF"/>
          </a:solidFill>
          <a:ln w="6350">
            <a:solidFill>
              <a:srgbClr val="DDDDEE"/>
            </a:solidFill>
            <a:prstDash val="solid"/>
          </a:ln>
        </p:spPr>
      </p:sp>
      <p:sp>
        <p:nvSpPr>
          <p:cNvPr id="11" name="Text 9"/>
          <p:cNvSpPr/>
          <p:nvPr/>
        </p:nvSpPr>
        <p:spPr>
          <a:xfrm>
            <a:off x="4937760" y="1069848"/>
            <a:ext cx="356616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quotient</a:t>
            </a:r>
            <a:endParaRPr lang="en-US" sz="1600" dirty="0"/>
          </a:p>
        </p:txBody>
      </p:sp>
      <p:sp>
        <p:nvSpPr>
          <p:cNvPr id="12" name="Text 10"/>
          <p:cNvSpPr/>
          <p:nvPr/>
        </p:nvSpPr>
        <p:spPr>
          <a:xfrm>
            <a:off x="4937760" y="1463040"/>
            <a:ext cx="3566160" cy="457200"/>
          </a:xfrm>
          <a:prstGeom prst="rect">
            <a:avLst/>
          </a:prstGeom>
          <a:noFill/>
          <a:ln/>
        </p:spPr>
        <p:txBody>
          <a:bodyPr wrap="square" lIns="0" tIns="0" rIns="0" bIns="0" rtlCol="0" anchor="ctr"/>
          <a:lstStyle/>
          <a:p>
            <a:pPr indent="0" marL="0">
              <a:buNone/>
            </a:pPr>
            <a:r>
              <a:rPr lang="en-US" sz="1200" dirty="0">
                <a:solidFill>
                  <a:srgbClr val="1A1A2E"/>
                </a:solidFill>
              </a:rPr>
              <a:t>the result of a division problem</a:t>
            </a:r>
            <a:endParaRPr lang="en-US" sz="1200" dirty="0"/>
          </a:p>
        </p:txBody>
      </p:sp>
      <p:sp>
        <p:nvSpPr>
          <p:cNvPr id="13" name="Text 11"/>
          <p:cNvSpPr/>
          <p:nvPr/>
        </p:nvSpPr>
        <p:spPr>
          <a:xfrm>
            <a:off x="4937760" y="1965960"/>
            <a:ext cx="3566160" cy="548640"/>
          </a:xfrm>
          <a:prstGeom prst="rect">
            <a:avLst/>
          </a:prstGeom>
          <a:noFill/>
          <a:ln/>
        </p:spPr>
        <p:txBody>
          <a:bodyPr wrap="square" lIns="0" tIns="0" rIns="0" bIns="0" rtlCol="0" anchor="ctr"/>
          <a:lstStyle/>
          <a:p>
            <a:pPr indent="0" marL="0">
              <a:buNone/>
            </a:pPr>
            <a:r>
              <a:rPr lang="en-US" sz="1100" i="1" dirty="0">
                <a:solidFill>
                  <a:srgbClr val="5A5A7A"/>
                </a:solidFill>
              </a:rPr>
              <a:t>Ex: In 3.6 ÷ 3 = 1.2, the quotient is 1.2.</a:t>
            </a:r>
            <a:endParaRPr lang="en-US" sz="1100" dirty="0"/>
          </a:p>
        </p:txBody>
      </p:sp>
      <p:sp>
        <p:nvSpPr>
          <p:cNvPr id="14" name="Shape 12"/>
          <p:cNvSpPr/>
          <p:nvPr/>
        </p:nvSpPr>
        <p:spPr>
          <a:xfrm>
            <a:off x="457200" y="2788920"/>
            <a:ext cx="3931920" cy="1645920"/>
          </a:xfrm>
          <a:prstGeom prst="roundRect">
            <a:avLst>
              <a:gd name="adj" fmla="val 5556"/>
            </a:avLst>
          </a:prstGeom>
          <a:solidFill>
            <a:srgbClr val="FFFFFF"/>
          </a:solidFill>
          <a:ln w="6350">
            <a:solidFill>
              <a:srgbClr val="DDDDEE"/>
            </a:solidFill>
            <a:prstDash val="solid"/>
          </a:ln>
        </p:spPr>
      </p:sp>
      <p:sp>
        <p:nvSpPr>
          <p:cNvPr id="15" name="Text 13"/>
          <p:cNvSpPr/>
          <p:nvPr/>
        </p:nvSpPr>
        <p:spPr>
          <a:xfrm>
            <a:off x="640080" y="2898648"/>
            <a:ext cx="356616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tenths</a:t>
            </a:r>
            <a:endParaRPr lang="en-US" sz="1600" dirty="0"/>
          </a:p>
        </p:txBody>
      </p:sp>
      <p:sp>
        <p:nvSpPr>
          <p:cNvPr id="16" name="Text 14"/>
          <p:cNvSpPr/>
          <p:nvPr/>
        </p:nvSpPr>
        <p:spPr>
          <a:xfrm>
            <a:off x="640080" y="3291840"/>
            <a:ext cx="3566160" cy="457200"/>
          </a:xfrm>
          <a:prstGeom prst="rect">
            <a:avLst/>
          </a:prstGeom>
          <a:noFill/>
          <a:ln/>
        </p:spPr>
        <p:txBody>
          <a:bodyPr wrap="square" lIns="0" tIns="0" rIns="0" bIns="0" rtlCol="0" anchor="ctr"/>
          <a:lstStyle/>
          <a:p>
            <a:pPr indent="0" marL="0">
              <a:buNone/>
            </a:pPr>
            <a:r>
              <a:rPr lang="en-US" sz="1200" dirty="0">
                <a:solidFill>
                  <a:srgbClr val="1A1A2E"/>
                </a:solidFill>
              </a:rPr>
              <a:t>ten equal parts of one whole</a:t>
            </a:r>
            <a:endParaRPr lang="en-US" sz="1200" dirty="0"/>
          </a:p>
        </p:txBody>
      </p:sp>
      <p:sp>
        <p:nvSpPr>
          <p:cNvPr id="17" name="Text 15"/>
          <p:cNvSpPr/>
          <p:nvPr/>
        </p:nvSpPr>
        <p:spPr>
          <a:xfrm>
            <a:off x="640080" y="3794760"/>
            <a:ext cx="3566160" cy="548640"/>
          </a:xfrm>
          <a:prstGeom prst="rect">
            <a:avLst/>
          </a:prstGeom>
          <a:noFill/>
          <a:ln/>
        </p:spPr>
        <p:txBody>
          <a:bodyPr wrap="square" lIns="0" tIns="0" rIns="0" bIns="0" rtlCol="0" anchor="ctr"/>
          <a:lstStyle/>
          <a:p>
            <a:pPr indent="0" marL="0">
              <a:buNone/>
            </a:pPr>
            <a:r>
              <a:rPr lang="en-US" sz="1100" i="1" dirty="0">
                <a:solidFill>
                  <a:srgbClr val="5A5A7A"/>
                </a:solidFill>
              </a:rPr>
              <a:t>Ex: 3.6 is the same as 36 tenths.</a:t>
            </a:r>
            <a:endParaRPr lang="en-US" sz="1100" dirty="0"/>
          </a:p>
        </p:txBody>
      </p:sp>
      <p:sp>
        <p:nvSpPr>
          <p:cNvPr id="18" name="Shape 16"/>
          <p:cNvSpPr/>
          <p:nvPr/>
        </p:nvSpPr>
        <p:spPr>
          <a:xfrm>
            <a:off x="4754880" y="2788920"/>
            <a:ext cx="3931920" cy="1645920"/>
          </a:xfrm>
          <a:prstGeom prst="roundRect">
            <a:avLst>
              <a:gd name="adj" fmla="val 5556"/>
            </a:avLst>
          </a:prstGeom>
          <a:solidFill>
            <a:srgbClr val="FFFFFF"/>
          </a:solidFill>
          <a:ln w="6350">
            <a:solidFill>
              <a:srgbClr val="DDDDEE"/>
            </a:solidFill>
            <a:prstDash val="solid"/>
          </a:ln>
        </p:spPr>
      </p:sp>
      <p:sp>
        <p:nvSpPr>
          <p:cNvPr id="19" name="Text 17"/>
          <p:cNvSpPr/>
          <p:nvPr/>
        </p:nvSpPr>
        <p:spPr>
          <a:xfrm>
            <a:off x="4937760" y="2898648"/>
            <a:ext cx="3566160" cy="365760"/>
          </a:xfrm>
          <a:prstGeom prst="rect">
            <a:avLst/>
          </a:prstGeom>
          <a:noFill/>
          <a:ln/>
        </p:spPr>
        <p:txBody>
          <a:bodyPr wrap="square" lIns="0" tIns="0" rIns="0" bIns="0" rtlCol="0" anchor="ctr"/>
          <a:lstStyle/>
          <a:p>
            <a:pPr indent="0" marL="0">
              <a:buNone/>
            </a:pPr>
            <a:r>
              <a:rPr lang="en-US" sz="1600" b="1" dirty="0">
                <a:solidFill>
                  <a:srgbClr val="4A3D8F"/>
                </a:solidFill>
                <a:latin typeface="Cambria" pitchFamily="34" charset="0"/>
                <a:ea typeface="Cambria" pitchFamily="34" charset="-122"/>
                <a:cs typeface="Cambria" pitchFamily="34" charset="-120"/>
              </a:rPr>
              <a:t>equal groups</a:t>
            </a:r>
            <a:endParaRPr lang="en-US" sz="1600" dirty="0"/>
          </a:p>
        </p:txBody>
      </p:sp>
      <p:sp>
        <p:nvSpPr>
          <p:cNvPr id="20" name="Text 18"/>
          <p:cNvSpPr/>
          <p:nvPr/>
        </p:nvSpPr>
        <p:spPr>
          <a:xfrm>
            <a:off x="4937760" y="3291840"/>
            <a:ext cx="3566160" cy="457200"/>
          </a:xfrm>
          <a:prstGeom prst="rect">
            <a:avLst/>
          </a:prstGeom>
          <a:noFill/>
          <a:ln/>
        </p:spPr>
        <p:txBody>
          <a:bodyPr wrap="square" lIns="0" tIns="0" rIns="0" bIns="0" rtlCol="0" anchor="ctr"/>
          <a:lstStyle/>
          <a:p>
            <a:pPr indent="0" marL="0">
              <a:buNone/>
            </a:pPr>
            <a:r>
              <a:rPr lang="en-US" sz="1200" dirty="0">
                <a:solidFill>
                  <a:srgbClr val="1A1A2E"/>
                </a:solidFill>
              </a:rPr>
              <a:t>groups with the same amount in each</a:t>
            </a:r>
            <a:endParaRPr lang="en-US" sz="1200" dirty="0"/>
          </a:p>
        </p:txBody>
      </p:sp>
      <p:sp>
        <p:nvSpPr>
          <p:cNvPr id="21" name="Text 19"/>
          <p:cNvSpPr/>
          <p:nvPr/>
        </p:nvSpPr>
        <p:spPr>
          <a:xfrm>
            <a:off x="4937760" y="3794760"/>
            <a:ext cx="3566160" cy="548640"/>
          </a:xfrm>
          <a:prstGeom prst="rect">
            <a:avLst/>
          </a:prstGeom>
          <a:noFill/>
          <a:ln/>
        </p:spPr>
        <p:txBody>
          <a:bodyPr wrap="square" lIns="0" tIns="0" rIns="0" bIns="0" rtlCol="0" anchor="ctr"/>
          <a:lstStyle/>
          <a:p>
            <a:pPr indent="0" marL="0">
              <a:buNone/>
            </a:pPr>
            <a:r>
              <a:rPr lang="en-US" sz="1100" i="1" dirty="0">
                <a:solidFill>
                  <a:srgbClr val="5A5A7A"/>
                </a:solidFill>
              </a:rPr>
              <a:t>Ex: Each of the 3 equal groups gets 1.2.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Teacher-Led</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Text 6"/>
          <p:cNvSpPr/>
          <p:nvPr/>
        </p:nvSpPr>
        <p:spPr>
          <a:xfrm>
            <a:off x="457200" y="1325880"/>
            <a:ext cx="8229600" cy="50292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9.36 ÷ 4 = ?</a:t>
            </a:r>
            <a:endParaRPr lang="en-US" sz="2600" dirty="0"/>
          </a:p>
        </p:txBody>
      </p:sp>
      <p:sp>
        <p:nvSpPr>
          <p:cNvPr id="9" name="Shape 7"/>
          <p:cNvSpPr/>
          <p:nvPr/>
        </p:nvSpPr>
        <p:spPr>
          <a:xfrm>
            <a:off x="457200" y="1920240"/>
            <a:ext cx="8229600" cy="2286000"/>
          </a:xfrm>
          <a:prstGeom prst="roundRect">
            <a:avLst>
              <a:gd name="adj" fmla="val 4000"/>
            </a:avLst>
          </a:prstGeom>
          <a:solidFill>
            <a:srgbClr val="FFFFFF"/>
          </a:solidFill>
          <a:ln w="6350">
            <a:solidFill>
              <a:srgbClr val="DDDDEE"/>
            </a:solidFill>
            <a:prstDash val="solid"/>
          </a:ln>
        </p:spPr>
      </p:sp>
      <p:sp>
        <p:nvSpPr>
          <p:cNvPr id="10" name="Text 8"/>
          <p:cNvSpPr/>
          <p:nvPr/>
        </p:nvSpPr>
        <p:spPr>
          <a:xfrm>
            <a:off x="685800" y="2011680"/>
            <a:ext cx="7772400" cy="50292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1.  9 ones ÷ 4 = 2 ones, with 1 one left over.</a:t>
            </a:r>
            <a:endParaRPr lang="en-US" sz="1300" dirty="0"/>
          </a:p>
        </p:txBody>
      </p:sp>
      <p:sp>
        <p:nvSpPr>
          <p:cNvPr id="11" name="Text 9"/>
          <p:cNvSpPr/>
          <p:nvPr/>
        </p:nvSpPr>
        <p:spPr>
          <a:xfrm>
            <a:off x="685800" y="2542032"/>
            <a:ext cx="7772400" cy="50292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2.  Trade the 1 leftover one for 10 tenths: 10 + 3 = 13 tenths. 13 ÷ 4 = 3 tenths, with 1 tenth left over.</a:t>
            </a:r>
            <a:endParaRPr lang="en-US" sz="1300" dirty="0"/>
          </a:p>
        </p:txBody>
      </p:sp>
      <p:sp>
        <p:nvSpPr>
          <p:cNvPr id="12" name="Text 10"/>
          <p:cNvSpPr/>
          <p:nvPr/>
        </p:nvSpPr>
        <p:spPr>
          <a:xfrm>
            <a:off x="685800" y="3072384"/>
            <a:ext cx="7772400" cy="50292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3.  Trade the 1 leftover tenth for 10 hundredths: 10 + 6 = 16 hundredths. 16 ÷ 4 = 4 hundredths, none left over.</a:t>
            </a:r>
            <a:endParaRPr lang="en-US" sz="1300" dirty="0"/>
          </a:p>
        </p:txBody>
      </p:sp>
      <p:sp>
        <p:nvSpPr>
          <p:cNvPr id="13" name="Text 11"/>
          <p:cNvSpPr/>
          <p:nvPr/>
        </p:nvSpPr>
        <p:spPr>
          <a:xfrm>
            <a:off x="685800" y="3602736"/>
            <a:ext cx="7772400" cy="50292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4.  Quotient: 2.34 — 2 ones, 3 tenths, 4 hundredths.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Student-Led</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2E6E44"/>
          </a:solidFill>
          <a:ln w="12700">
            <a:solidFill>
              <a:srgbClr val="2E6E44"/>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TRY IT</a:t>
            </a:r>
            <a:endParaRPr lang="en-US" sz="800" dirty="0"/>
          </a:p>
        </p:txBody>
      </p:sp>
      <p:sp>
        <p:nvSpPr>
          <p:cNvPr id="8" name="Text 6"/>
          <p:cNvSpPr/>
          <p:nvPr/>
        </p:nvSpPr>
        <p:spPr>
          <a:xfrm>
            <a:off x="457200" y="1325880"/>
            <a:ext cx="8229600" cy="54864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15.75 ÷ 5 = ?</a:t>
            </a:r>
            <a:endParaRPr lang="en-US" sz="3000" dirty="0"/>
          </a:p>
        </p:txBody>
      </p:sp>
      <p:sp>
        <p:nvSpPr>
          <p:cNvPr id="9" name="Shape 7"/>
          <p:cNvSpPr/>
          <p:nvPr/>
        </p:nvSpPr>
        <p:spPr>
          <a:xfrm>
            <a:off x="457200" y="2103120"/>
            <a:ext cx="8229600" cy="1463040"/>
          </a:xfrm>
          <a:prstGeom prst="roundRect">
            <a:avLst>
              <a:gd name="adj" fmla="val 6250"/>
            </a:avLst>
          </a:prstGeom>
          <a:solidFill>
            <a:srgbClr val="E6F2EA"/>
          </a:solidFill>
          <a:ln w="6350">
            <a:solidFill>
              <a:srgbClr val="DDDDEE"/>
            </a:solidFill>
            <a:prstDash val="solid"/>
          </a:ln>
        </p:spPr>
      </p:sp>
      <p:sp>
        <p:nvSpPr>
          <p:cNvPr id="10" name="Text 8"/>
          <p:cNvSpPr/>
          <p:nvPr/>
        </p:nvSpPr>
        <p:spPr>
          <a:xfrm>
            <a:off x="685800" y="2212848"/>
            <a:ext cx="7772400" cy="1234440"/>
          </a:xfrm>
          <a:prstGeom prst="rect">
            <a:avLst/>
          </a:prstGeom>
          <a:noFill/>
          <a:ln/>
        </p:spPr>
        <p:txBody>
          <a:bodyPr wrap="square" lIns="0" tIns="0" rIns="0" bIns="0" rtlCol="0" anchor="ctr"/>
          <a:lstStyle/>
          <a:p>
            <a:pPr indent="0" marL="0">
              <a:buNone/>
            </a:pPr>
            <a:r>
              <a:rPr lang="en-US" sz="1400" dirty="0">
                <a:solidFill>
                  <a:srgbClr val="1A1A2E"/>
                </a:solidFill>
              </a:rPr>
              <a:t>Use the same trading idea from Guided Practice: divide the ones, trade any leftover into tenths, then trade any leftover tenths into hundredths.</a:t>
            </a:r>
            <a:endParaRPr lang="en-US" sz="1400" dirty="0"/>
          </a:p>
        </p:txBody>
      </p:sp>
      <p:sp>
        <p:nvSpPr>
          <p:cNvPr id="11" name="Shape 9"/>
          <p:cNvSpPr/>
          <p:nvPr/>
        </p:nvSpPr>
        <p:spPr>
          <a:xfrm>
            <a:off x="914400" y="3977640"/>
            <a:ext cx="7315200" cy="438912"/>
          </a:xfrm>
          <a:prstGeom prst="roundRect">
            <a:avLst>
              <a:gd name="adj" fmla="val 12500"/>
            </a:avLst>
          </a:prstGeom>
          <a:solidFill>
            <a:srgbClr val="464EB8"/>
          </a:solidFill>
          <a:ln w="12700">
            <a:solidFill>
              <a:srgbClr val="464EB8"/>
            </a:solidFill>
            <a:prstDash val="solid"/>
          </a:ln>
        </p:spPr>
      </p:sp>
      <p:sp>
        <p:nvSpPr>
          <p:cNvPr id="12" name="Text 10"/>
          <p:cNvSpPr/>
          <p:nvPr/>
        </p:nvSpPr>
        <p:spPr>
          <a:xfrm>
            <a:off x="914400" y="397764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the quotient AND which place value you had to trade into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What Comes Next</a:t>
            </a:r>
            <a:endParaRPr lang="en-US" sz="1100" dirty="0"/>
          </a:p>
        </p:txBody>
      </p:sp>
      <p:sp>
        <p:nvSpPr>
          <p:cNvPr id="5" name="Shape 3"/>
          <p:cNvSpPr/>
          <p:nvPr/>
        </p:nvSpPr>
        <p:spPr>
          <a:xfrm>
            <a:off x="0" y="777240"/>
            <a:ext cx="9144000" cy="4366260"/>
          </a:xfrm>
          <a:prstGeom prst="rect">
            <a:avLst/>
          </a:prstGeom>
          <a:solidFill>
            <a:srgbClr val="EAE8F5"/>
          </a:solidFill>
          <a:ln w="12700">
            <a:solidFill>
              <a:srgbClr val="EAE8F5"/>
            </a:solidFill>
            <a:prstDash val="solid"/>
          </a:ln>
        </p:spPr>
      </p:sp>
      <p:sp>
        <p:nvSpPr>
          <p:cNvPr id="6" name="Shape 4"/>
          <p:cNvSpPr/>
          <p:nvPr/>
        </p:nvSpPr>
        <p:spPr>
          <a:xfrm>
            <a:off x="640080" y="1463040"/>
            <a:ext cx="786384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914400" y="1737360"/>
            <a:ext cx="7315200" cy="146304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Next you will keep this same strip model, but connect each move to the written division algorithm.</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7.5 ÷ 5 = ?</a:t>
            </a:r>
            <a:endParaRPr lang="en-US" sz="2000" dirty="0"/>
          </a:p>
        </p:txBody>
      </p:sp>
      <p:sp>
        <p:nvSpPr>
          <p:cNvPr id="8" name="Shape 6"/>
          <p:cNvSpPr/>
          <p:nvPr/>
        </p:nvSpPr>
        <p:spPr>
          <a:xfrm>
            <a:off x="822960" y="2103120"/>
            <a:ext cx="173736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82296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1.5</a:t>
            </a:r>
            <a:endParaRPr lang="en-US" sz="2000" dirty="0"/>
          </a:p>
        </p:txBody>
      </p:sp>
      <p:sp>
        <p:nvSpPr>
          <p:cNvPr id="10" name="Shape 8"/>
          <p:cNvSpPr/>
          <p:nvPr/>
        </p:nvSpPr>
        <p:spPr>
          <a:xfrm>
            <a:off x="2743200" y="2103120"/>
            <a:ext cx="173736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74320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15</a:t>
            </a:r>
            <a:endParaRPr lang="en-US" sz="2000" dirty="0"/>
          </a:p>
        </p:txBody>
      </p:sp>
      <p:sp>
        <p:nvSpPr>
          <p:cNvPr id="12" name="Shape 10"/>
          <p:cNvSpPr/>
          <p:nvPr/>
        </p:nvSpPr>
        <p:spPr>
          <a:xfrm>
            <a:off x="4663440" y="2103120"/>
            <a:ext cx="173736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66344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0.15</a:t>
            </a:r>
            <a:endParaRPr lang="en-US" sz="2000" dirty="0"/>
          </a:p>
        </p:txBody>
      </p:sp>
      <p:sp>
        <p:nvSpPr>
          <p:cNvPr id="14" name="Shape 12"/>
          <p:cNvSpPr/>
          <p:nvPr/>
        </p:nvSpPr>
        <p:spPr>
          <a:xfrm>
            <a:off x="6583680" y="2103120"/>
            <a:ext cx="173736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58368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5.1</a:t>
            </a:r>
            <a:endParaRPr lang="en-US" sz="20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the quotient AND how many tenths were in each group</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7.5 ÷ 5 = ?</a:t>
            </a:r>
            <a:endParaRPr lang="en-US" sz="2000" dirty="0"/>
          </a:p>
        </p:txBody>
      </p:sp>
      <p:sp>
        <p:nvSpPr>
          <p:cNvPr id="8" name="Shape 6"/>
          <p:cNvSpPr/>
          <p:nvPr/>
        </p:nvSpPr>
        <p:spPr>
          <a:xfrm>
            <a:off x="822960" y="2103120"/>
            <a:ext cx="1737360" cy="822960"/>
          </a:xfrm>
          <a:prstGeom prst="roundRect">
            <a:avLst>
              <a:gd name="adj" fmla="val 8889"/>
            </a:avLst>
          </a:prstGeom>
          <a:solidFill>
            <a:srgbClr val="2E6E44"/>
          </a:solidFill>
          <a:ln w="12700">
            <a:solidFill>
              <a:srgbClr val="2E6E44"/>
            </a:solidFill>
            <a:prstDash val="solid"/>
          </a:ln>
        </p:spPr>
      </p:sp>
      <p:sp>
        <p:nvSpPr>
          <p:cNvPr id="9" name="Text 7"/>
          <p:cNvSpPr/>
          <p:nvPr/>
        </p:nvSpPr>
        <p:spPr>
          <a:xfrm>
            <a:off x="822960" y="2103120"/>
            <a:ext cx="1737360" cy="822960"/>
          </a:xfrm>
          <a:prstGeom prst="rect">
            <a:avLst/>
          </a:prstGeom>
          <a:noFill/>
          <a:ln/>
        </p:spPr>
        <p:txBody>
          <a:bodyPr wrap="square" lIns="0" tIns="0" rIns="0" bIns="0" rtlCol="0" anchor="ctr"/>
          <a:lstStyle/>
          <a:p>
            <a:pPr algn="ctr" indent="0" marL="0">
              <a:buNone/>
            </a:pPr>
            <a:r>
              <a:rPr lang="en-US" sz="2000" b="1" dirty="0">
                <a:solidFill>
                  <a:srgbClr val="FFFFFF"/>
                </a:solidFill>
              </a:rPr>
              <a:t>1.5</a:t>
            </a:r>
            <a:endParaRPr lang="en-US" sz="2000" dirty="0"/>
          </a:p>
        </p:txBody>
      </p:sp>
      <p:sp>
        <p:nvSpPr>
          <p:cNvPr id="10" name="Shape 8"/>
          <p:cNvSpPr/>
          <p:nvPr/>
        </p:nvSpPr>
        <p:spPr>
          <a:xfrm>
            <a:off x="2743200" y="2103120"/>
            <a:ext cx="173736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74320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15</a:t>
            </a:r>
            <a:endParaRPr lang="en-US" sz="2000" dirty="0"/>
          </a:p>
        </p:txBody>
      </p:sp>
      <p:sp>
        <p:nvSpPr>
          <p:cNvPr id="12" name="Shape 10"/>
          <p:cNvSpPr/>
          <p:nvPr/>
        </p:nvSpPr>
        <p:spPr>
          <a:xfrm>
            <a:off x="4663440" y="2103120"/>
            <a:ext cx="173736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66344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0.15</a:t>
            </a:r>
            <a:endParaRPr lang="en-US" sz="2000" dirty="0"/>
          </a:p>
        </p:txBody>
      </p:sp>
      <p:sp>
        <p:nvSpPr>
          <p:cNvPr id="14" name="Shape 12"/>
          <p:cNvSpPr/>
          <p:nvPr/>
        </p:nvSpPr>
        <p:spPr>
          <a:xfrm>
            <a:off x="6583680" y="2103120"/>
            <a:ext cx="173736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58368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5.1</a:t>
            </a:r>
            <a:endParaRPr lang="en-US" sz="20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7 ones ÷ 5 = 1 one, with 2 ones left over. Trade 2 ones for 20 tenths, plus the 5 tenths already there makes 25 tenths ÷ 5 = 5 tenths. Quotient = 1.5.</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the quotient AND how many tenths were in each group</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8.4 is 84 tenths, so this share problem is really an 84 ÷ 4 fact wearing a decimal point.</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checked by multiplying the quotient back: 2.1 × 4 = 8.4, so the share is correct.</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the strip cut into 4 equal pieces, and each piece is exactly 2.1 wide — no leftovers to trade.</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term is quotient: 8.4 ÷ 4 = 2.1 means the quotient, the size of one equal group, is 2.1.</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Complete the Show What You Know checks in the lesson.</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Finish the Independent Practice: Dividing by a Whole Number - Part 1.</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Review your Math Journal answers before submitting.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5.10.05 Dividing by a Whole Number — Part 1 — Teacher Slides</dc:title>
  <dc:subject>PptxGenJS Presentation</dc:subject>
  <dc:creator>PptxGenJS</dc:creator>
  <cp:lastModifiedBy>PptxGenJS</cp:lastModifiedBy>
  <cp:revision>1</cp:revision>
  <dcterms:created xsi:type="dcterms:W3CDTF">2026-09-24T15:58:28Z</dcterms:created>
  <dcterms:modified xsi:type="dcterms:W3CDTF">2026-09-24T15:58:28Z</dcterms:modified>
</cp:coreProperties>
</file>