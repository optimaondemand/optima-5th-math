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 Talk (5-7 min). Estimate-first routine using 50 ÷ 0.1 -- different numbers than the lesson's own 3 ÷ 0.1 example. Collect a range of estimates before revealing strategies.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 Talk (5-7 min). Estimate-first routine using 50 ÷ 0.1 -- different numbers than the lesson's own 3 ÷ 0.1 example. Collect a range of estimates before revealing strategies.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rule: dividing by 0.1 multiplies the quotient by 10. Have 2-3 students paraphrase out loud, then try the 0.01 cousin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rule: dividing by 0.1 multiplies the quotient by 10. Have 2-3 students paraphrase out loud, then try the 0.01 cousin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(1 min)
Today: dividing a whole number by 0.1 or 0.01 -- the quotient gets bigger because the pieces get smaller.
Transition: "Let's look at today's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(1 min)
Read the I Can aloud. Emphasize the counterintuitive idea: dividing can make a number bigger.
Transition: "Let's warm up with powers of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WARM-UP (3 min)
Refresh multiplying by powers of 10 and the meaning of a tenth -- both needed for today's model.
Anticipated: 60, 600, 10.
Transition: "Let's notice and wonder."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(2 min)
Ground the idea of measuring off small decimal pieces in a real scenario.
Anticipated guesses will vary widely -- don't confirm yet.
Transition: "Let's notice and wonder about the equation."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&amp; WONDER (2 min)
Give silent think time before chat.
Anticipated notice: 'we're dividing by a number less than 1'. Anticipated wonder: 'will the answer be smaller or bigger than 4?'
Transition: "Let's build it with a decimal scooper."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 (4 min)
The jump bar shows the physical action: scooping off ten 0.1-size pieces to measure 1 whole, one at a time. Shown for 1 whole (10 jumps, capped for legibility); the caption extends the count to the lesson's 3-whole problem without redrawing all 30 jumps.
Common error: counting the number of whole units instead of the number of scoops that fit.
Transition: "Let's see the same idea as a place-value 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PICTORIAL (3 min)
The shift mat is a second, different representation of the same idea shown as scoops on the Concrete slide -- now as a place-value diagram with an arrow, not a bare rule.
Anticipated: students connect the single-place shift to ÷0.1 and predict a double shift for ÷0.01.
Transition: "Let's name the rule in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ABSTRACT (2 min)
State the rule in words -- this is the only slide where the shortcut is named without a visual alongside it, because the model already built the meaning on the two prior slides.
Anticipated: 'multiply', 'bigger', 'shift'.
Transition: "Let's name today's key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(2 min)
Read each term, pointing back to the Concrete jump bar and Pictorial shift mat.
Transition: "Let's work an example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A (4 min)
Model both divisors side by side so students see the parallel pattern: ÷0.1 multiplies by 10, ÷0.01 multiplies by 100.
Common error: multiplying by 10 for both instead of switching to 100 for hundredths.
Transition: "What happens with the SAME dividend and two different divisors?"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B (3 min) -- gap-fill: the IP tests the same dividend with both 0.1 and 0.01 divisors side by side (IP problem 3), which the lesson's own worked examples do not directly pair. Point out the quotient is 10 times larger for the smaller divisor.
Common error: applying ×100 to both instead of matching each divisor to its own power of 10.
Transition: "Your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TRY (3 min)
Students solve independently, then share in chat.
Anticipated: 50 pieces (5 × 10 = 50).
Common error: dividing 5 by 10 instead of multiplying.
Transition: "Where does this lead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CONNECTION FORWARD (1 min)
Preview 5.10.08 -- today's tenths/hundredths shortcut is a special case of a more general scaling strategy coming next.
Transition: "Let's check what you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CHECK -- QUESTION (give real think time before advancing; do not reveal yet)
This checks whether students apply the ×10 shortcut for ÷0.1 rather than confusing it with ÷0.01 or dividing instead of multiplying.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CHECK -- REVEAL (advance only after students have responded in chat)
This checks whether students apply the ×10 shortcut for ÷0.1 rather than confusing it with ÷0.01 or dividing instead of multiplying.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MATH CREW (~1-2 min)
Briefly read one or two cards — whichever matches where students are in their thinking.
Give real think time before calling on students to share which crew member's approach matches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DISMISSAL (1 min)
Confirm the IP assignment and preview tomorrow's more general division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w="12700">
            <a:solidFill>
              <a:srgbClr val="1B2A4A"/>
            </a:solidFill>
            <a:prstDash val="solid"/>
          </a:ln>
        </p:spPr>
      </p:sp>
      <p:sp>
        <p:nvSpPr>
          <p:cNvPr id="3" name="Shape 1"/>
          <p:cNvSpPr/>
          <p:nvPr/>
        </p:nvSpPr>
        <p:spPr>
          <a:xfrm>
            <a:off x="274320" y="164592"/>
            <a:ext cx="2194560" cy="292608"/>
          </a:xfrm>
          <a:prstGeom prst="roundRect">
            <a:avLst>
              <a:gd name="adj" fmla="val 18750"/>
            </a:avLst>
          </a:prstGeom>
          <a:solidFill>
            <a:srgbClr val="4A3D8F"/>
          </a:solidFill>
          <a:ln w="12700">
            <a:solidFill>
              <a:srgbClr val="4A3D8F"/>
            </a:solidFill>
            <a:prstDash val="solid"/>
          </a:ln>
        </p:spPr>
      </p:sp>
      <p:sp>
        <p:nvSpPr>
          <p:cNvPr id="4" name="Text 2"/>
          <p:cNvSpPr/>
          <p:nvPr/>
        </p:nvSpPr>
        <p:spPr>
          <a:xfrm>
            <a:off x="274320" y="164592"/>
            <a:ext cx="219456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ESTIMATE FIRST</a:t>
            </a:r>
            <a:endParaRPr lang="en-US" sz="800" dirty="0"/>
          </a:p>
        </p:txBody>
      </p:sp>
      <p:sp>
        <p:nvSpPr>
          <p:cNvPr id="5" name="Shape 3"/>
          <p:cNvSpPr/>
          <p:nvPr/>
        </p:nvSpPr>
        <p:spPr>
          <a:xfrm>
            <a:off x="2395728" y="164592"/>
            <a:ext cx="6309360" cy="292608"/>
          </a:xfrm>
          <a:prstGeom prst="roundRect">
            <a:avLst>
              <a:gd name="adj" fmla="val 18750"/>
            </a:avLst>
          </a:prstGeom>
          <a:solidFill>
            <a:srgbClr val="2A3B5A"/>
          </a:solidFill>
          <a:ln w="12700">
            <a:solidFill>
              <a:srgbClr val="2A3B5A"/>
            </a:solidFill>
            <a:prstDash val="solid"/>
          </a:ln>
        </p:spPr>
      </p:sp>
      <p:sp>
        <p:nvSpPr>
          <p:cNvPr id="6" name="Text 4"/>
          <p:cNvSpPr/>
          <p:nvPr/>
        </p:nvSpPr>
        <p:spPr>
          <a:xfrm>
            <a:off x="2395728" y="164592"/>
            <a:ext cx="6309360" cy="292608"/>
          </a:xfrm>
          <a:prstGeom prst="rect">
            <a:avLst/>
          </a:prstGeom>
          <a:noFill/>
          <a:ln/>
        </p:spPr>
        <p:txBody>
          <a:bodyPr wrap="square" lIns="0" tIns="0" rIns="0" bIns="0" rtlCol="0" anchor="ctr"/>
          <a:lstStyle/>
          <a:p>
            <a:pPr indent="0" marL="0">
              <a:buNone/>
            </a:pPr>
            <a:r>
              <a:rPr lang="en-US" sz="900" dirty="0">
                <a:solidFill>
                  <a:srgbClr val="FFFFFF"/>
                </a:solidFill>
              </a:rPr>
              <a:t>  ·  5.10.07 · Dividing by Tenths and Hundredths</a:t>
            </a:r>
            <a:endParaRPr lang="en-US" sz="900" dirty="0"/>
          </a:p>
        </p:txBody>
      </p:sp>
      <p:sp>
        <p:nvSpPr>
          <p:cNvPr id="7" name="Text 5"/>
          <p:cNvSpPr/>
          <p:nvPr/>
        </p:nvSpPr>
        <p:spPr>
          <a:xfrm>
            <a:off x="457200" y="1097280"/>
            <a:ext cx="8229600" cy="182880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50 ÷ 0.1</a:t>
            </a:r>
            <a:endParaRPr lang="en-US" sz="4400" dirty="0"/>
          </a:p>
        </p:txBody>
      </p:sp>
      <p:sp>
        <p:nvSpPr>
          <p:cNvPr id="8" name="Text 6"/>
          <p:cNvSpPr/>
          <p:nvPr/>
        </p:nvSpPr>
        <p:spPr>
          <a:xfrm>
            <a:off x="457200" y="3931920"/>
            <a:ext cx="8229600" cy="640080"/>
          </a:xfrm>
          <a:prstGeom prst="rect">
            <a:avLst/>
          </a:prstGeom>
          <a:noFill/>
          <a:ln/>
        </p:spPr>
        <p:txBody>
          <a:bodyPr wrap="square" lIns="0" tIns="0" rIns="0" bIns="0" rtlCol="0" anchor="ctr"/>
          <a:lstStyle/>
          <a:p>
            <a:pPr algn="ctr" indent="0" marL="0">
              <a:buNone/>
            </a:pPr>
            <a:r>
              <a:rPr lang="en-US" sz="1500" i="1" dirty="0">
                <a:solidFill>
                  <a:srgbClr val="8899BB"/>
                </a:solidFill>
              </a:rPr>
              <a:t>Don't calculate exactly yet -- what's your best estimate?</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Check the Estimate</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Estimate First</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2560320" cy="2743200"/>
          </a:xfrm>
          <a:prstGeom prst="roundRect">
            <a:avLst>
              <a:gd name="adj" fmla="val 3571"/>
            </a:avLst>
          </a:prstGeom>
          <a:solidFill>
            <a:srgbClr val="FFFFFF"/>
          </a:solidFill>
          <a:ln w="6350">
            <a:solidFill>
              <a:srgbClr val="DDDDEE"/>
            </a:solidFill>
            <a:prstDash val="solid"/>
          </a:ln>
        </p:spPr>
      </p:sp>
      <p:sp>
        <p:nvSpPr>
          <p:cNvPr id="7" name="Text 5"/>
          <p:cNvSpPr/>
          <p:nvPr/>
        </p:nvSpPr>
        <p:spPr>
          <a:xfrm>
            <a:off x="594360" y="1024128"/>
            <a:ext cx="2286000" cy="457200"/>
          </a:xfrm>
          <a:prstGeom prst="rect">
            <a:avLst/>
          </a:prstGeom>
          <a:noFill/>
          <a:ln/>
        </p:spPr>
        <p:txBody>
          <a:bodyPr wrap="square" lIns="0" tIns="0" rIns="0" bIns="0" rtlCol="0" anchor="ctr"/>
          <a:lstStyle/>
          <a:p>
            <a:pPr indent="0" marL="0">
              <a:buNone/>
            </a:pPr>
            <a:r>
              <a:rPr lang="en-US" sz="1300" b="1" dirty="0">
                <a:solidFill>
                  <a:srgbClr val="4A3D8F"/>
                </a:solidFill>
              </a:rPr>
              <a:t>Think about the size</a:t>
            </a:r>
            <a:endParaRPr lang="en-US" sz="1300" dirty="0"/>
          </a:p>
        </p:txBody>
      </p:sp>
      <p:sp>
        <p:nvSpPr>
          <p:cNvPr id="8" name="Shape 6"/>
          <p:cNvSpPr/>
          <p:nvPr/>
        </p:nvSpPr>
        <p:spPr>
          <a:xfrm>
            <a:off x="594360" y="1508760"/>
            <a:ext cx="2286000" cy="0"/>
          </a:xfrm>
          <a:prstGeom prst="line">
            <a:avLst/>
          </a:prstGeom>
          <a:noFill/>
          <a:ln w="6350">
            <a:solidFill>
              <a:srgbClr val="CCCCCC"/>
            </a:solidFill>
            <a:prstDash val="solid"/>
          </a:ln>
        </p:spPr>
      </p:sp>
      <p:sp>
        <p:nvSpPr>
          <p:cNvPr id="9" name="Text 7"/>
          <p:cNvSpPr/>
          <p:nvPr/>
        </p:nvSpPr>
        <p:spPr>
          <a:xfrm>
            <a:off x="685800" y="1600200"/>
            <a:ext cx="2240280" cy="411480"/>
          </a:xfrm>
          <a:prstGeom prst="rect">
            <a:avLst/>
          </a:prstGeom>
          <a:noFill/>
          <a:ln/>
        </p:spPr>
        <p:txBody>
          <a:bodyPr wrap="square" lIns="0" tIns="0" rIns="0" bIns="0" rtlCol="0" anchor="ctr"/>
          <a:lstStyle/>
          <a:p>
            <a:pPr indent="0" marL="0">
              <a:buNone/>
            </a:pPr>
            <a:r>
              <a:rPr lang="en-US" sz="1200" dirty="0">
                <a:solidFill>
                  <a:srgbClr val="1A1A2E"/>
                </a:solidFill>
                <a:latin typeface="Cambria" pitchFamily="34" charset="0"/>
                <a:ea typeface="Cambria" pitchFamily="34" charset="-122"/>
                <a:cs typeface="Cambria" pitchFamily="34" charset="-120"/>
              </a:rPr>
              <a:t>Dividing by a number less than 1 makes the quotient larger.</a:t>
            </a:r>
            <a:endParaRPr lang="en-US" sz="1200" dirty="0"/>
          </a:p>
        </p:txBody>
      </p:sp>
      <p:sp>
        <p:nvSpPr>
          <p:cNvPr id="10" name="Text 8"/>
          <p:cNvSpPr/>
          <p:nvPr/>
        </p:nvSpPr>
        <p:spPr>
          <a:xfrm>
            <a:off x="685800" y="2057400"/>
            <a:ext cx="2240280" cy="411480"/>
          </a:xfrm>
          <a:prstGeom prst="rect">
            <a:avLst/>
          </a:prstGeom>
          <a:noFill/>
          <a:ln/>
        </p:spPr>
        <p:txBody>
          <a:bodyPr wrap="square" lIns="0" tIns="0" rIns="0" bIns="0" rtlCol="0" anchor="ctr"/>
          <a:lstStyle/>
          <a:p>
            <a:pPr indent="0" marL="0">
              <a:buNone/>
            </a:pPr>
            <a:r>
              <a:rPr lang="en-US" sz="1200" dirty="0">
                <a:solidFill>
                  <a:srgbClr val="1A1A2E"/>
                </a:solidFill>
                <a:latin typeface="Cambria" pitchFamily="34" charset="0"/>
                <a:ea typeface="Cambria" pitchFamily="34" charset="-122"/>
                <a:cs typeface="Cambria" pitchFamily="34" charset="-120"/>
              </a:rPr>
              <a:t>So 50 ÷ 0.1 will be much more than 50.</a:t>
            </a:r>
            <a:endParaRPr lang="en-US" sz="1200" dirty="0"/>
          </a:p>
        </p:txBody>
      </p:sp>
      <p:sp>
        <p:nvSpPr>
          <p:cNvPr id="11" name="Text 9"/>
          <p:cNvSpPr/>
          <p:nvPr/>
        </p:nvSpPr>
        <p:spPr>
          <a:xfrm>
            <a:off x="685800" y="2514600"/>
            <a:ext cx="2240280" cy="411480"/>
          </a:xfrm>
          <a:prstGeom prst="rect">
            <a:avLst/>
          </a:prstGeom>
          <a:noFill/>
          <a:ln/>
        </p:spPr>
        <p:txBody>
          <a:bodyPr wrap="square" lIns="0" tIns="0" rIns="0" bIns="0" rtlCol="0" anchor="ctr"/>
          <a:lstStyle/>
          <a:p>
            <a:pPr indent="0" marL="0">
              <a:buNone/>
            </a:pPr>
            <a:r>
              <a:rPr lang="en-US" sz="1200" dirty="0">
                <a:solidFill>
                  <a:srgbClr val="1A1A2E"/>
                </a:solidFill>
                <a:latin typeface="Cambria" pitchFamily="34" charset="0"/>
                <a:ea typeface="Cambria" pitchFamily="34" charset="-122"/>
                <a:cs typeface="Cambria" pitchFamily="34" charset="-120"/>
              </a:rPr>
              <a:t>Estimate: way bigger than 50.</a:t>
            </a:r>
            <a:endParaRPr lang="en-US" sz="1200" dirty="0"/>
          </a:p>
        </p:txBody>
      </p:sp>
      <p:sp>
        <p:nvSpPr>
          <p:cNvPr id="12" name="Shape 10"/>
          <p:cNvSpPr/>
          <p:nvPr/>
        </p:nvSpPr>
        <p:spPr>
          <a:xfrm>
            <a:off x="3200400" y="960120"/>
            <a:ext cx="2560320" cy="2743200"/>
          </a:xfrm>
          <a:prstGeom prst="roundRect">
            <a:avLst>
              <a:gd name="adj" fmla="val 3571"/>
            </a:avLst>
          </a:prstGeom>
          <a:solidFill>
            <a:srgbClr val="FFFFFF"/>
          </a:solidFill>
          <a:ln w="6350">
            <a:solidFill>
              <a:srgbClr val="DDDDEE"/>
            </a:solidFill>
            <a:prstDash val="solid"/>
          </a:ln>
        </p:spPr>
      </p:sp>
      <p:sp>
        <p:nvSpPr>
          <p:cNvPr id="13" name="Text 11"/>
          <p:cNvSpPr/>
          <p:nvPr/>
        </p:nvSpPr>
        <p:spPr>
          <a:xfrm>
            <a:off x="3337560" y="1024128"/>
            <a:ext cx="2286000" cy="457200"/>
          </a:xfrm>
          <a:prstGeom prst="rect">
            <a:avLst/>
          </a:prstGeom>
          <a:noFill/>
          <a:ln/>
        </p:spPr>
        <p:txBody>
          <a:bodyPr wrap="square" lIns="0" tIns="0" rIns="0" bIns="0" rtlCol="0" anchor="ctr"/>
          <a:lstStyle/>
          <a:p>
            <a:pPr indent="0" marL="0">
              <a:buNone/>
            </a:pPr>
            <a:r>
              <a:rPr lang="en-US" sz="1300" b="1" dirty="0">
                <a:solidFill>
                  <a:srgbClr val="4A3D8F"/>
                </a:solidFill>
              </a:rPr>
              <a:t>Compare to ÷1</a:t>
            </a:r>
            <a:endParaRPr lang="en-US" sz="1300" dirty="0"/>
          </a:p>
        </p:txBody>
      </p:sp>
      <p:sp>
        <p:nvSpPr>
          <p:cNvPr id="14" name="Shape 12"/>
          <p:cNvSpPr/>
          <p:nvPr/>
        </p:nvSpPr>
        <p:spPr>
          <a:xfrm>
            <a:off x="3337560" y="1508760"/>
            <a:ext cx="2286000" cy="0"/>
          </a:xfrm>
          <a:prstGeom prst="line">
            <a:avLst/>
          </a:prstGeom>
          <a:noFill/>
          <a:ln w="6350">
            <a:solidFill>
              <a:srgbClr val="CCCCCC"/>
            </a:solidFill>
            <a:prstDash val="solid"/>
          </a:ln>
        </p:spPr>
      </p:sp>
      <p:sp>
        <p:nvSpPr>
          <p:cNvPr id="15" name="Text 13"/>
          <p:cNvSpPr/>
          <p:nvPr/>
        </p:nvSpPr>
        <p:spPr>
          <a:xfrm>
            <a:off x="3429000" y="1600200"/>
            <a:ext cx="2240280" cy="411480"/>
          </a:xfrm>
          <a:prstGeom prst="rect">
            <a:avLst/>
          </a:prstGeom>
          <a:noFill/>
          <a:ln/>
        </p:spPr>
        <p:txBody>
          <a:bodyPr wrap="square" lIns="0" tIns="0" rIns="0" bIns="0" rtlCol="0" anchor="ctr"/>
          <a:lstStyle/>
          <a:p>
            <a:pPr indent="0" marL="0">
              <a:buNone/>
            </a:pPr>
            <a:r>
              <a:rPr lang="en-US" sz="1200" dirty="0">
                <a:solidFill>
                  <a:srgbClr val="1A1A2E"/>
                </a:solidFill>
                <a:latin typeface="Cambria" pitchFamily="34" charset="0"/>
                <a:ea typeface="Cambria" pitchFamily="34" charset="-122"/>
                <a:cs typeface="Cambria" pitchFamily="34" charset="-120"/>
              </a:rPr>
              <a:t>50 ÷ 1 = 50, and 0.1 is 10 times smaller than 1.</a:t>
            </a:r>
            <a:endParaRPr lang="en-US" sz="1200" dirty="0"/>
          </a:p>
        </p:txBody>
      </p:sp>
      <p:sp>
        <p:nvSpPr>
          <p:cNvPr id="16" name="Text 14"/>
          <p:cNvSpPr/>
          <p:nvPr/>
        </p:nvSpPr>
        <p:spPr>
          <a:xfrm>
            <a:off x="3429000" y="2057400"/>
            <a:ext cx="2240280" cy="411480"/>
          </a:xfrm>
          <a:prstGeom prst="rect">
            <a:avLst/>
          </a:prstGeom>
          <a:noFill/>
          <a:ln/>
        </p:spPr>
        <p:txBody>
          <a:bodyPr wrap="square" lIns="0" tIns="0" rIns="0" bIns="0" rtlCol="0" anchor="ctr"/>
          <a:lstStyle/>
          <a:p>
            <a:pPr indent="0" marL="0">
              <a:buNone/>
            </a:pPr>
            <a:r>
              <a:rPr lang="en-US" sz="1200" dirty="0">
                <a:solidFill>
                  <a:srgbClr val="1A1A2E"/>
                </a:solidFill>
                <a:latin typeface="Cambria" pitchFamily="34" charset="0"/>
                <a:ea typeface="Cambria" pitchFamily="34" charset="-122"/>
                <a:cs typeface="Cambria" pitchFamily="34" charset="-120"/>
              </a:rPr>
              <a:t>A smaller divisor means a bigger quotient.</a:t>
            </a:r>
            <a:endParaRPr lang="en-US" sz="1200" dirty="0"/>
          </a:p>
        </p:txBody>
      </p:sp>
      <p:sp>
        <p:nvSpPr>
          <p:cNvPr id="17" name="Text 15"/>
          <p:cNvSpPr/>
          <p:nvPr/>
        </p:nvSpPr>
        <p:spPr>
          <a:xfrm>
            <a:off x="3429000" y="2514600"/>
            <a:ext cx="2240280" cy="411480"/>
          </a:xfrm>
          <a:prstGeom prst="rect">
            <a:avLst/>
          </a:prstGeom>
          <a:noFill/>
          <a:ln/>
        </p:spPr>
        <p:txBody>
          <a:bodyPr wrap="square" lIns="0" tIns="0" rIns="0" bIns="0" rtlCol="0" anchor="ctr"/>
          <a:lstStyle/>
          <a:p>
            <a:pPr indent="0" marL="0">
              <a:buNone/>
            </a:pPr>
            <a:r>
              <a:rPr lang="en-US" sz="1200" dirty="0">
                <a:solidFill>
                  <a:srgbClr val="1A1A2E"/>
                </a:solidFill>
                <a:latin typeface="Cambria" pitchFamily="34" charset="0"/>
                <a:ea typeface="Cambria" pitchFamily="34" charset="-122"/>
                <a:cs typeface="Cambria" pitchFamily="34" charset="-120"/>
              </a:rPr>
              <a:t>Estimate: about 10 times 50.</a:t>
            </a:r>
            <a:endParaRPr lang="en-US" sz="1200" dirty="0"/>
          </a:p>
        </p:txBody>
      </p:sp>
      <p:sp>
        <p:nvSpPr>
          <p:cNvPr id="18" name="Shape 16"/>
          <p:cNvSpPr/>
          <p:nvPr/>
        </p:nvSpPr>
        <p:spPr>
          <a:xfrm>
            <a:off x="5943600" y="960120"/>
            <a:ext cx="2560320" cy="2743200"/>
          </a:xfrm>
          <a:prstGeom prst="roundRect">
            <a:avLst>
              <a:gd name="adj" fmla="val 3571"/>
            </a:avLst>
          </a:prstGeom>
          <a:solidFill>
            <a:srgbClr val="FFFFFF"/>
          </a:solidFill>
          <a:ln w="6350">
            <a:solidFill>
              <a:srgbClr val="DDDDEE"/>
            </a:solidFill>
            <a:prstDash val="solid"/>
          </a:ln>
        </p:spPr>
      </p:sp>
      <p:sp>
        <p:nvSpPr>
          <p:cNvPr id="19" name="Text 17"/>
          <p:cNvSpPr/>
          <p:nvPr/>
        </p:nvSpPr>
        <p:spPr>
          <a:xfrm>
            <a:off x="6080760" y="1024128"/>
            <a:ext cx="2286000" cy="457200"/>
          </a:xfrm>
          <a:prstGeom prst="rect">
            <a:avLst/>
          </a:prstGeom>
          <a:noFill/>
          <a:ln/>
        </p:spPr>
        <p:txBody>
          <a:bodyPr wrap="square" lIns="0" tIns="0" rIns="0" bIns="0" rtlCol="0" anchor="ctr"/>
          <a:lstStyle/>
          <a:p>
            <a:pPr indent="0" marL="0">
              <a:buNone/>
            </a:pPr>
            <a:r>
              <a:rPr lang="en-US" sz="1300" b="1" dirty="0">
                <a:solidFill>
                  <a:srgbClr val="4A3D8F"/>
                </a:solidFill>
              </a:rPr>
              <a:t>Count in tenths</a:t>
            </a:r>
            <a:endParaRPr lang="en-US" sz="1300" dirty="0"/>
          </a:p>
        </p:txBody>
      </p:sp>
      <p:sp>
        <p:nvSpPr>
          <p:cNvPr id="20" name="Shape 18"/>
          <p:cNvSpPr/>
          <p:nvPr/>
        </p:nvSpPr>
        <p:spPr>
          <a:xfrm>
            <a:off x="6080760" y="1508760"/>
            <a:ext cx="2286000" cy="0"/>
          </a:xfrm>
          <a:prstGeom prst="line">
            <a:avLst/>
          </a:prstGeom>
          <a:noFill/>
          <a:ln w="6350">
            <a:solidFill>
              <a:srgbClr val="CCCCCC"/>
            </a:solidFill>
            <a:prstDash val="solid"/>
          </a:ln>
        </p:spPr>
      </p:sp>
      <p:sp>
        <p:nvSpPr>
          <p:cNvPr id="21" name="Text 19"/>
          <p:cNvSpPr/>
          <p:nvPr/>
        </p:nvSpPr>
        <p:spPr>
          <a:xfrm>
            <a:off x="6172200" y="1600200"/>
            <a:ext cx="2240280" cy="411480"/>
          </a:xfrm>
          <a:prstGeom prst="rect">
            <a:avLst/>
          </a:prstGeom>
          <a:noFill/>
          <a:ln/>
        </p:spPr>
        <p:txBody>
          <a:bodyPr wrap="square" lIns="0" tIns="0" rIns="0" bIns="0" rtlCol="0" anchor="ctr"/>
          <a:lstStyle/>
          <a:p>
            <a:pPr indent="0" marL="0">
              <a:buNone/>
            </a:pPr>
            <a:r>
              <a:rPr lang="en-US" sz="1200" dirty="0">
                <a:solidFill>
                  <a:srgbClr val="1A1A2E"/>
                </a:solidFill>
                <a:latin typeface="Cambria" pitchFamily="34" charset="0"/>
                <a:ea typeface="Cambria" pitchFamily="34" charset="-122"/>
                <a:cs typeface="Cambria" pitchFamily="34" charset="-120"/>
              </a:rPr>
              <a:t>50 wholes = 500 tenths.</a:t>
            </a:r>
            <a:endParaRPr lang="en-US" sz="1200" dirty="0"/>
          </a:p>
        </p:txBody>
      </p:sp>
      <p:sp>
        <p:nvSpPr>
          <p:cNvPr id="22" name="Text 20"/>
          <p:cNvSpPr/>
          <p:nvPr/>
        </p:nvSpPr>
        <p:spPr>
          <a:xfrm>
            <a:off x="6172200" y="2057400"/>
            <a:ext cx="2240280" cy="411480"/>
          </a:xfrm>
          <a:prstGeom prst="rect">
            <a:avLst/>
          </a:prstGeom>
          <a:noFill/>
          <a:ln/>
        </p:spPr>
        <p:txBody>
          <a:bodyPr wrap="square" lIns="0" tIns="0" rIns="0" bIns="0" rtlCol="0" anchor="ctr"/>
          <a:lstStyle/>
          <a:p>
            <a:pPr indent="0" marL="0">
              <a:buNone/>
            </a:pPr>
            <a:r>
              <a:rPr lang="en-US" sz="1200" dirty="0">
                <a:solidFill>
                  <a:srgbClr val="1A1A2E"/>
                </a:solidFill>
                <a:latin typeface="Cambria" pitchFamily="34" charset="0"/>
                <a:ea typeface="Cambria" pitchFamily="34" charset="-122"/>
                <a:cs typeface="Cambria" pitchFamily="34" charset="-120"/>
              </a:rPr>
              <a:t>Dividing by 0.1 counts tenths.</a:t>
            </a:r>
            <a:endParaRPr lang="en-US" sz="1200" dirty="0"/>
          </a:p>
        </p:txBody>
      </p:sp>
      <p:sp>
        <p:nvSpPr>
          <p:cNvPr id="23" name="Text 21"/>
          <p:cNvSpPr/>
          <p:nvPr/>
        </p:nvSpPr>
        <p:spPr>
          <a:xfrm>
            <a:off x="6172200" y="2514600"/>
            <a:ext cx="2240280" cy="411480"/>
          </a:xfrm>
          <a:prstGeom prst="rect">
            <a:avLst/>
          </a:prstGeom>
          <a:noFill/>
          <a:ln/>
        </p:spPr>
        <p:txBody>
          <a:bodyPr wrap="square" lIns="0" tIns="0" rIns="0" bIns="0" rtlCol="0" anchor="ctr"/>
          <a:lstStyle/>
          <a:p>
            <a:pPr indent="0" marL="0">
              <a:buNone/>
            </a:pPr>
            <a:r>
              <a:rPr lang="en-US" sz="1200" dirty="0">
                <a:solidFill>
                  <a:srgbClr val="1A1A2E"/>
                </a:solidFill>
                <a:latin typeface="Cambria" pitchFamily="34" charset="0"/>
                <a:ea typeface="Cambria" pitchFamily="34" charset="-122"/>
                <a:cs typeface="Cambria" pitchFamily="34" charset="-120"/>
              </a:rPr>
              <a:t>Estimate: in the hundreds.</a:t>
            </a:r>
            <a:endParaRPr lang="en-US" sz="1200" dirty="0"/>
          </a:p>
        </p:txBody>
      </p:sp>
      <p:sp>
        <p:nvSpPr>
          <p:cNvPr id="24" name="Shape 22"/>
          <p:cNvSpPr/>
          <p:nvPr/>
        </p:nvSpPr>
        <p:spPr>
          <a:xfrm>
            <a:off x="457200" y="3794760"/>
            <a:ext cx="8229600" cy="457200"/>
          </a:xfrm>
          <a:prstGeom prst="roundRect">
            <a:avLst>
              <a:gd name="adj" fmla="val 16000"/>
            </a:avLst>
          </a:prstGeom>
          <a:solidFill>
            <a:srgbClr val="2E6E44"/>
          </a:solidFill>
          <a:ln w="12700">
            <a:solidFill>
              <a:srgbClr val="2E6E44"/>
            </a:solidFill>
            <a:prstDash val="solid"/>
          </a:ln>
        </p:spPr>
      </p:sp>
      <p:sp>
        <p:nvSpPr>
          <p:cNvPr id="25" name="Text 23"/>
          <p:cNvSpPr/>
          <p:nvPr/>
        </p:nvSpPr>
        <p:spPr>
          <a:xfrm>
            <a:off x="457200" y="3794760"/>
            <a:ext cx="8229600" cy="457200"/>
          </a:xfrm>
          <a:prstGeom prst="rect">
            <a:avLst/>
          </a:prstGeom>
          <a:noFill/>
          <a:ln/>
        </p:spPr>
        <p:txBody>
          <a:bodyPr wrap="square" lIns="0" tIns="0" rIns="0" bIns="0" rtlCol="0" anchor="ctr"/>
          <a:lstStyle/>
          <a:p>
            <a:pPr algn="ctr" indent="0" marL="0">
              <a:buNone/>
            </a:pPr>
            <a:r>
              <a:rPr lang="en-US" sz="1400" b="1" dirty="0">
                <a:solidFill>
                  <a:srgbClr val="FFFFFF"/>
                </a:solidFill>
              </a:rPr>
              <a:t>Exact answer: 500 (there are 500 tenths in 50 wholes)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4A3D8F"/>
          </a:solidFill>
          <a:ln w="12700">
            <a:solidFill>
              <a:srgbClr val="4A3D8F"/>
            </a:solidFill>
            <a:prstDash val="solid"/>
          </a:ln>
        </p:spPr>
      </p:sp>
      <p:sp>
        <p:nvSpPr>
          <p:cNvPr id="3" name="Shape 1"/>
          <p:cNvSpPr/>
          <p:nvPr/>
        </p:nvSpPr>
        <p:spPr>
          <a:xfrm>
            <a:off x="457200" y="320040"/>
            <a:ext cx="2194560" cy="292608"/>
          </a:xfrm>
          <a:prstGeom prst="roundRect">
            <a:avLst>
              <a:gd name="adj" fmla="val 18750"/>
            </a:avLst>
          </a:prstGeom>
          <a:solidFill>
            <a:srgbClr val="000000">
              <a:alpha val="35000"/>
            </a:srgbClr>
          </a:solidFill>
          <a:ln w="9525">
            <a:solidFill>
              <a:srgbClr val="FFFFFF"/>
            </a:solidFill>
            <a:prstDash val="solid"/>
          </a:ln>
        </p:spPr>
      </p:sp>
      <p:sp>
        <p:nvSpPr>
          <p:cNvPr id="4" name="Text 2"/>
          <p:cNvSpPr/>
          <p:nvPr/>
        </p:nvSpPr>
        <p:spPr>
          <a:xfrm>
            <a:off x="457200" y="320040"/>
            <a:ext cx="219456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ESTIMATE FIRST</a:t>
            </a:r>
            <a:endParaRPr lang="en-US" sz="800" dirty="0"/>
          </a:p>
        </p:txBody>
      </p:sp>
      <p:sp>
        <p:nvSpPr>
          <p:cNvPr id="5" name="Text 3"/>
          <p:cNvSpPr/>
          <p:nvPr/>
        </p:nvSpPr>
        <p:spPr>
          <a:xfrm>
            <a:off x="457200" y="777240"/>
            <a:ext cx="8229600" cy="548640"/>
          </a:xfrm>
          <a:prstGeom prst="rect">
            <a:avLst/>
          </a:prstGeom>
          <a:noFill/>
          <a:ln/>
        </p:spPr>
        <p:txBody>
          <a:bodyPr wrap="square" lIns="0" tIns="0" rIns="0" bIns="0" rtlCol="0" anchor="ctr"/>
          <a:lstStyle/>
          <a:p>
            <a:pPr indent="0" marL="0">
              <a:buNone/>
            </a:pPr>
            <a:r>
              <a:rPr lang="en-US" sz="2000" b="1" spc="200" kern="0" dirty="0">
                <a:solidFill>
                  <a:srgbClr val="FFFFFF"/>
                </a:solidFill>
              </a:rPr>
              <a:t>The Rule</a:t>
            </a:r>
            <a:endParaRPr lang="en-US" sz="2000" dirty="0"/>
          </a:p>
        </p:txBody>
      </p:sp>
      <p:sp>
        <p:nvSpPr>
          <p:cNvPr id="6" name="Shape 4"/>
          <p:cNvSpPr/>
          <p:nvPr/>
        </p:nvSpPr>
        <p:spPr>
          <a:xfrm>
            <a:off x="457200" y="1371600"/>
            <a:ext cx="8229600" cy="0"/>
          </a:xfrm>
          <a:prstGeom prst="line">
            <a:avLst/>
          </a:prstGeom>
          <a:noFill/>
          <a:ln w="6350">
            <a:solidFill>
              <a:srgbClr val="8888CC"/>
            </a:solidFill>
            <a:prstDash val="solid"/>
          </a:ln>
        </p:spPr>
      </p:sp>
      <p:sp>
        <p:nvSpPr>
          <p:cNvPr id="7" name="Text 5"/>
          <p:cNvSpPr/>
          <p:nvPr/>
        </p:nvSpPr>
        <p:spPr>
          <a:xfrm>
            <a:off x="457200" y="1508760"/>
            <a:ext cx="8229600" cy="548640"/>
          </a:xfrm>
          <a:prstGeom prst="rect">
            <a:avLst/>
          </a:prstGeom>
          <a:noFill/>
          <a:ln/>
        </p:spPr>
        <p:txBody>
          <a:bodyPr wrap="square" lIns="0" tIns="0" rIns="0" bIns="0" rtlCol="0" anchor="ctr"/>
          <a:lstStyle/>
          <a:p>
            <a:pPr indent="0" marL="0">
              <a:buNone/>
            </a:pPr>
            <a:r>
              <a:rPr lang="en-US" sz="1800" i="1" dirty="0">
                <a:solidFill>
                  <a:srgbClr val="CCCCFF"/>
                </a:solidFill>
              </a:rPr>
              <a:t>Every time you divide by 0.1, the quotient becomes ___</a:t>
            </a:r>
            <a:endParaRPr lang="en-US" sz="1800" dirty="0"/>
          </a:p>
        </p:txBody>
      </p:sp>
      <p:sp>
        <p:nvSpPr>
          <p:cNvPr id="8" name="Text 6"/>
          <p:cNvSpPr/>
          <p:nvPr/>
        </p:nvSpPr>
        <p:spPr>
          <a:xfrm>
            <a:off x="457200" y="2148840"/>
            <a:ext cx="8229600" cy="18288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10 times larger, because dividing by 0.1 counts how many tenths fit inside the whole amount.</a:t>
            </a:r>
            <a:endParaRPr lang="en-US" sz="2200" dirty="0"/>
          </a:p>
        </p:txBody>
      </p:sp>
      <p:sp>
        <p:nvSpPr>
          <p:cNvPr id="9" name="Shape 7"/>
          <p:cNvSpPr/>
          <p:nvPr/>
        </p:nvSpPr>
        <p:spPr>
          <a:xfrm>
            <a:off x="2286000" y="4343400"/>
            <a:ext cx="4572000" cy="438912"/>
          </a:xfrm>
          <a:prstGeom prst="roundRect">
            <a:avLst>
              <a:gd name="adj" fmla="val 12500"/>
            </a:avLst>
          </a:prstGeom>
          <a:solidFill>
            <a:srgbClr val="464EB8"/>
          </a:solidFill>
          <a:ln w="12700">
            <a:solidFill>
              <a:srgbClr val="464EB8"/>
            </a:solidFill>
            <a:prstDash val="solid"/>
          </a:ln>
        </p:spPr>
      </p:sp>
      <p:sp>
        <p:nvSpPr>
          <p:cNvPr id="10" name="Text 8"/>
          <p:cNvSpPr/>
          <p:nvPr/>
        </p:nvSpPr>
        <p:spPr>
          <a:xfrm>
            <a:off x="2286000" y="4343400"/>
            <a:ext cx="45720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one word for the rule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E6E44"/>
          </a:solidFill>
          <a:ln w="12700">
            <a:solidFill>
              <a:srgbClr val="2E6E44"/>
            </a:solidFill>
            <a:prstDash val="solid"/>
          </a:ln>
        </p:spPr>
      </p:sp>
      <p:sp>
        <p:nvSpPr>
          <p:cNvPr id="3" name="Shape 1"/>
          <p:cNvSpPr/>
          <p:nvPr/>
        </p:nvSpPr>
        <p:spPr>
          <a:xfrm>
            <a:off x="457200" y="320040"/>
            <a:ext cx="2194560" cy="292608"/>
          </a:xfrm>
          <a:prstGeom prst="roundRect">
            <a:avLst>
              <a:gd name="adj" fmla="val 18750"/>
            </a:avLst>
          </a:prstGeom>
          <a:solidFill>
            <a:srgbClr val="000000">
              <a:alpha val="35000"/>
            </a:srgbClr>
          </a:solidFill>
          <a:ln w="9525">
            <a:solidFill>
              <a:srgbClr val="FFFFFF"/>
            </a:solidFill>
            <a:prstDash val="solid"/>
          </a:ln>
        </p:spPr>
      </p:sp>
      <p:sp>
        <p:nvSpPr>
          <p:cNvPr id="4" name="Text 2"/>
          <p:cNvSpPr/>
          <p:nvPr/>
        </p:nvSpPr>
        <p:spPr>
          <a:xfrm>
            <a:off x="457200" y="320040"/>
            <a:ext cx="219456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ESTIMATE FIRST</a:t>
            </a:r>
            <a:endParaRPr lang="en-US" sz="800" dirty="0"/>
          </a:p>
        </p:txBody>
      </p:sp>
      <p:sp>
        <p:nvSpPr>
          <p:cNvPr id="5" name="Text 3"/>
          <p:cNvSpPr/>
          <p:nvPr/>
        </p:nvSpPr>
        <p:spPr>
          <a:xfrm>
            <a:off x="457200" y="777240"/>
            <a:ext cx="8229600" cy="548640"/>
          </a:xfrm>
          <a:prstGeom prst="rect">
            <a:avLst/>
          </a:prstGeom>
          <a:noFill/>
          <a:ln/>
        </p:spPr>
        <p:txBody>
          <a:bodyPr wrap="square" lIns="0" tIns="0" rIns="0" bIns="0" rtlCol="0" anchor="ctr"/>
          <a:lstStyle/>
          <a:p>
            <a:pPr indent="0" marL="0">
              <a:buNone/>
            </a:pPr>
            <a:r>
              <a:rPr lang="en-US" sz="2000" b="1" spc="200" kern="0" dirty="0">
                <a:solidFill>
                  <a:srgbClr val="FFFFFF"/>
                </a:solidFill>
              </a:rPr>
              <a:t>Try It</a:t>
            </a:r>
            <a:endParaRPr lang="en-US" sz="2000" dirty="0"/>
          </a:p>
        </p:txBody>
      </p:sp>
      <p:sp>
        <p:nvSpPr>
          <p:cNvPr id="6" name="Shape 4"/>
          <p:cNvSpPr/>
          <p:nvPr/>
        </p:nvSpPr>
        <p:spPr>
          <a:xfrm>
            <a:off x="457200" y="1371600"/>
            <a:ext cx="8229600" cy="0"/>
          </a:xfrm>
          <a:prstGeom prst="line">
            <a:avLst/>
          </a:prstGeom>
          <a:noFill/>
          <a:ln w="6350">
            <a:solidFill>
              <a:srgbClr val="55AA77"/>
            </a:solidFill>
            <a:prstDash val="solid"/>
          </a:ln>
        </p:spPr>
      </p:sp>
      <p:sp>
        <p:nvSpPr>
          <p:cNvPr id="7" name="Text 5"/>
          <p:cNvSpPr/>
          <p:nvPr/>
        </p:nvSpPr>
        <p:spPr>
          <a:xfrm>
            <a:off x="457200" y="1554480"/>
            <a:ext cx="8229600" cy="155448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80 ÷ 0.01</a:t>
            </a:r>
            <a:endParaRPr lang="en-US" sz="4000" dirty="0"/>
          </a:p>
        </p:txBody>
      </p:sp>
      <p:sp>
        <p:nvSpPr>
          <p:cNvPr id="8" name="Shape 6"/>
          <p:cNvSpPr/>
          <p:nvPr/>
        </p:nvSpPr>
        <p:spPr>
          <a:xfrm>
            <a:off x="1828800" y="3794760"/>
            <a:ext cx="5486400" cy="438912"/>
          </a:xfrm>
          <a:prstGeom prst="roundRect">
            <a:avLst>
              <a:gd name="adj" fmla="val 12500"/>
            </a:avLst>
          </a:prstGeom>
          <a:solidFill>
            <a:srgbClr val="464EB8"/>
          </a:solidFill>
          <a:ln w="12700">
            <a:solidFill>
              <a:srgbClr val="464EB8"/>
            </a:solidFill>
            <a:prstDash val="solid"/>
          </a:ln>
        </p:spPr>
      </p:sp>
      <p:sp>
        <p:nvSpPr>
          <p:cNvPr id="9" name="Text 7"/>
          <p:cNvSpPr/>
          <p:nvPr/>
        </p:nvSpPr>
        <p:spPr>
          <a:xfrm>
            <a:off x="1828800" y="3794760"/>
            <a:ext cx="54864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estimate + exact answer</a:t>
            </a:r>
            <a:endParaRPr lang="en-US" sz="1200" dirty="0"/>
          </a:p>
        </p:txBody>
      </p:sp>
      <p:sp>
        <p:nvSpPr>
          <p:cNvPr id="10" name="Shape 8"/>
          <p:cNvSpPr/>
          <p:nvPr/>
        </p:nvSpPr>
        <p:spPr>
          <a:xfrm>
            <a:off x="914400" y="4343400"/>
            <a:ext cx="7315200" cy="457200"/>
          </a:xfrm>
          <a:prstGeom prst="roundRect">
            <a:avLst>
              <a:gd name="adj" fmla="val 16000"/>
            </a:avLst>
          </a:prstGeom>
          <a:solidFill>
            <a:srgbClr val="1A5533"/>
          </a:solidFill>
          <a:ln w="12700">
            <a:solidFill>
              <a:srgbClr val="1A5533"/>
            </a:solidFill>
            <a:prstDash val="solid"/>
          </a:ln>
        </p:spPr>
      </p:sp>
      <p:sp>
        <p:nvSpPr>
          <p:cNvPr id="11" name="Text 9"/>
          <p:cNvSpPr/>
          <p:nvPr/>
        </p:nvSpPr>
        <p:spPr>
          <a:xfrm>
            <a:off x="914400" y="4343400"/>
            <a:ext cx="7315200" cy="457200"/>
          </a:xfrm>
          <a:prstGeom prst="rect">
            <a:avLst/>
          </a:prstGeom>
          <a:noFill/>
          <a:ln/>
        </p:spPr>
        <p:txBody>
          <a:bodyPr wrap="square" lIns="0" tIns="0" rIns="0" bIns="0" rtlCol="0" anchor="ctr"/>
          <a:lstStyle/>
          <a:p>
            <a:pPr algn="ctr" indent="0" marL="0">
              <a:buNone/>
            </a:pPr>
            <a:r>
              <a:rPr lang="en-US" sz="1300" dirty="0">
                <a:solidFill>
                  <a:srgbClr val="CCFFDD"/>
                </a:solidFill>
              </a:rPr>
              <a:t>Answer: 8,000 — there are 8,000 hundredths in 80 wholes, so dividing by 0.01 makes the quotient 100 times larger.</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w="12700">
            <a:solidFill>
              <a:srgbClr val="1B2A4A"/>
            </a:solidFill>
            <a:prstDash val="solid"/>
          </a:ln>
        </p:spPr>
      </p:sp>
      <p:sp>
        <p:nvSpPr>
          <p:cNvPr id="3" name="Shape 1"/>
          <p:cNvSpPr/>
          <p:nvPr/>
        </p:nvSpPr>
        <p:spPr>
          <a:xfrm>
            <a:off x="0" y="3474720"/>
            <a:ext cx="9144000" cy="1668780"/>
          </a:xfrm>
          <a:prstGeom prst="rect">
            <a:avLst/>
          </a:prstGeom>
          <a:solidFill>
            <a:srgbClr val="4A3D8F"/>
          </a:solidFill>
          <a:ln w="12700">
            <a:solidFill>
              <a:srgbClr val="4A3D8F"/>
            </a:solidFill>
            <a:prstDash val="solid"/>
          </a:ln>
        </p:spPr>
      </p:sp>
      <p:sp>
        <p:nvSpPr>
          <p:cNvPr id="4" name="Text 2"/>
          <p:cNvSpPr/>
          <p:nvPr/>
        </p:nvSpPr>
        <p:spPr>
          <a:xfrm>
            <a:off x="457200" y="320040"/>
            <a:ext cx="8229600" cy="365760"/>
          </a:xfrm>
          <a:prstGeom prst="rect">
            <a:avLst/>
          </a:prstGeom>
          <a:noFill/>
          <a:ln/>
        </p:spPr>
        <p:txBody>
          <a:bodyPr wrap="square" lIns="0" tIns="0" rIns="0" bIns="0" rtlCol="0" anchor="ctr"/>
          <a:lstStyle/>
          <a:p>
            <a:pPr indent="0" marL="0">
              <a:buNone/>
            </a:pPr>
            <a:r>
              <a:rPr lang="en-US" sz="1300" i="1" spc="200" kern="0" dirty="0">
                <a:solidFill>
                  <a:srgbClr val="FFFFFF"/>
                </a:solidFill>
              </a:rPr>
              <a:t>Optima Academy Online</a:t>
            </a:r>
            <a:endParaRPr lang="en-US" sz="1300" dirty="0"/>
          </a:p>
        </p:txBody>
      </p:sp>
      <p:sp>
        <p:nvSpPr>
          <p:cNvPr id="5" name="Text 3"/>
          <p:cNvSpPr/>
          <p:nvPr/>
        </p:nvSpPr>
        <p:spPr>
          <a:xfrm>
            <a:off x="457200" y="777240"/>
            <a:ext cx="8229600" cy="502920"/>
          </a:xfrm>
          <a:prstGeom prst="rect">
            <a:avLst/>
          </a:prstGeom>
          <a:noFill/>
          <a:ln/>
        </p:spPr>
        <p:txBody>
          <a:bodyPr wrap="square" lIns="0" tIns="0" rIns="0" bIns="0" rtlCol="0" anchor="ctr"/>
          <a:lstStyle/>
          <a:p>
            <a:pPr indent="0" marL="0">
              <a:buNone/>
            </a:pPr>
            <a:r>
              <a:rPr lang="en-US" sz="1800" b="1" spc="100" kern="0" dirty="0">
                <a:solidFill>
                  <a:srgbClr val="D9941A"/>
                </a:solidFill>
              </a:rPr>
              <a:t>5.10.07</a:t>
            </a:r>
            <a:endParaRPr lang="en-US" sz="1800" dirty="0"/>
          </a:p>
        </p:txBody>
      </p:sp>
      <p:sp>
        <p:nvSpPr>
          <p:cNvPr id="6" name="Text 4"/>
          <p:cNvSpPr/>
          <p:nvPr/>
        </p:nvSpPr>
        <p:spPr>
          <a:xfrm>
            <a:off x="457200" y="1325880"/>
            <a:ext cx="8229600" cy="12801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Dividing a Whole Number by 0.1 and 0.01</a:t>
            </a:r>
            <a:endParaRPr lang="en-US" sz="3800" dirty="0"/>
          </a:p>
        </p:txBody>
      </p:sp>
      <p:sp>
        <p:nvSpPr>
          <p:cNvPr id="7" name="Text 5"/>
          <p:cNvSpPr/>
          <p:nvPr/>
        </p:nvSpPr>
        <p:spPr>
          <a:xfrm>
            <a:off x="457200" y="2697480"/>
            <a:ext cx="8229600" cy="502920"/>
          </a:xfrm>
          <a:prstGeom prst="rect">
            <a:avLst/>
          </a:prstGeom>
          <a:noFill/>
          <a:ln/>
        </p:spPr>
        <p:txBody>
          <a:bodyPr wrap="square" lIns="0" tIns="0" rIns="0" bIns="0" rtlCol="0" anchor="ctr"/>
          <a:lstStyle/>
          <a:p>
            <a:pPr indent="0" marL="0">
              <a:buNone/>
            </a:pPr>
            <a:r>
              <a:rPr lang="en-US" sz="1600" i="1" dirty="0">
                <a:solidFill>
                  <a:srgbClr val="AAAACC"/>
                </a:solidFill>
              </a:rPr>
              <a:t>Unit 10: Decimal Operations · Lesson 7 of 8</a:t>
            </a:r>
            <a:endParaRPr lang="en-US" sz="1600" dirty="0"/>
          </a:p>
        </p:txBody>
      </p:sp>
      <p:sp>
        <p:nvSpPr>
          <p:cNvPr id="8" name="Text 6"/>
          <p:cNvSpPr/>
          <p:nvPr/>
        </p:nvSpPr>
        <p:spPr>
          <a:xfrm>
            <a:off x="457200" y="3657600"/>
            <a:ext cx="8229600" cy="411480"/>
          </a:xfrm>
          <a:prstGeom prst="rect">
            <a:avLst/>
          </a:prstGeom>
          <a:noFill/>
          <a:ln/>
        </p:spPr>
        <p:txBody>
          <a:bodyPr wrap="square" lIns="0" tIns="0" rIns="0" bIns="0" rtlCol="0" anchor="ctr"/>
          <a:lstStyle/>
          <a:p>
            <a:pPr indent="0" marL="0">
              <a:buNone/>
            </a:pPr>
            <a:r>
              <a:rPr lang="en-US" sz="1300" spc="100" kern="0" dirty="0">
                <a:solidFill>
                  <a:srgbClr val="FFFFFF"/>
                </a:solidFill>
              </a:rPr>
              <a:t>MA.5.NSO.2.5   ·   TEKS 5.3.F   ·   TEKS 5.3.G</a:t>
            </a:r>
            <a:endParaRPr lang="en-US" sz="1300" dirty="0"/>
          </a:p>
        </p:txBody>
      </p:sp>
      <p:sp>
        <p:nvSpPr>
          <p:cNvPr id="9" name="Text 7"/>
          <p:cNvSpPr/>
          <p:nvPr/>
        </p:nvSpPr>
        <p:spPr>
          <a:xfrm>
            <a:off x="457200" y="4206240"/>
            <a:ext cx="8229600" cy="365760"/>
          </a:xfrm>
          <a:prstGeom prst="rect">
            <a:avLst/>
          </a:prstGeom>
          <a:noFill/>
          <a:ln/>
        </p:spPr>
        <p:txBody>
          <a:bodyPr wrap="square" lIns="0" tIns="0" rIns="0" bIns="0" rtlCol="0" anchor="ctr"/>
          <a:lstStyle/>
          <a:p>
            <a:pPr indent="0" marL="0">
              <a:buNone/>
            </a:pPr>
            <a:r>
              <a:rPr lang="en-US" sz="1400" i="1" dirty="0">
                <a:solidFill>
                  <a:srgbClr val="CCCCEE"/>
                </a:solidFill>
              </a:rPr>
              <a:t>Teacher Slides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Today's Goal</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Learning Objective</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005840"/>
            <a:ext cx="8229600" cy="1508760"/>
          </a:xfrm>
          <a:prstGeom prst="roundRect">
            <a:avLst>
              <a:gd name="adj" fmla="val 6061"/>
            </a:avLst>
          </a:prstGeom>
          <a:solidFill>
            <a:srgbClr val="EAE8F5"/>
          </a:solidFill>
          <a:ln w="6350">
            <a:solidFill>
              <a:srgbClr val="DDDDEE"/>
            </a:solidFill>
            <a:prstDash val="solid"/>
          </a:ln>
        </p:spPr>
      </p:sp>
      <p:sp>
        <p:nvSpPr>
          <p:cNvPr id="7" name="Text 5"/>
          <p:cNvSpPr/>
          <p:nvPr/>
        </p:nvSpPr>
        <p:spPr>
          <a:xfrm>
            <a:off x="685800" y="1078992"/>
            <a:ext cx="7772400" cy="347472"/>
          </a:xfrm>
          <a:prstGeom prst="rect">
            <a:avLst/>
          </a:prstGeom>
          <a:noFill/>
          <a:ln/>
        </p:spPr>
        <p:txBody>
          <a:bodyPr wrap="square" lIns="0" tIns="0" rIns="0" bIns="0" rtlCol="0" anchor="ctr"/>
          <a:lstStyle/>
          <a:p>
            <a:pPr indent="0" marL="0">
              <a:buNone/>
            </a:pPr>
            <a:r>
              <a:rPr lang="en-US" sz="1300" b="1" spc="100" kern="0" dirty="0">
                <a:solidFill>
                  <a:srgbClr val="4A3D8F"/>
                </a:solidFill>
              </a:rPr>
              <a:t>I can...</a:t>
            </a:r>
            <a:endParaRPr lang="en-US" sz="1300" dirty="0"/>
          </a:p>
        </p:txBody>
      </p:sp>
      <p:sp>
        <p:nvSpPr>
          <p:cNvPr id="8" name="Text 6"/>
          <p:cNvSpPr/>
          <p:nvPr/>
        </p:nvSpPr>
        <p:spPr>
          <a:xfrm>
            <a:off x="685800" y="1463040"/>
            <a:ext cx="7772400" cy="960120"/>
          </a:xfrm>
          <a:prstGeom prst="rect">
            <a:avLst/>
          </a:prstGeom>
          <a:noFill/>
          <a:ln/>
        </p:spPr>
        <p:txBody>
          <a:bodyPr wrap="square" lIns="0" tIns="0" rIns="0" bIns="0" rtlCol="0" anchor="ctr"/>
          <a:lstStyle/>
          <a:p>
            <a:pPr indent="0" marL="0">
              <a:buNone/>
            </a:pPr>
            <a:r>
              <a:rPr lang="en-US" sz="1800" dirty="0">
                <a:solidFill>
                  <a:srgbClr val="1A1A2E"/>
                </a:solidFill>
                <a:latin typeface="Cambria" pitchFamily="34" charset="0"/>
                <a:ea typeface="Cambria" pitchFamily="34" charset="-122"/>
                <a:cs typeface="Cambria" pitchFamily="34" charset="-120"/>
              </a:rPr>
              <a:t>I can divide a whole number by 0.1 or 0.01 by counting how many tenths or hundredths fit inside it.</a:t>
            </a:r>
            <a:endParaRPr lang="en-US" sz="1800" dirty="0"/>
          </a:p>
        </p:txBody>
      </p:sp>
      <p:sp>
        <p:nvSpPr>
          <p:cNvPr id="9" name="Shape 7"/>
          <p:cNvSpPr/>
          <p:nvPr/>
        </p:nvSpPr>
        <p:spPr>
          <a:xfrm>
            <a:off x="457200" y="2743200"/>
            <a:ext cx="8229600" cy="1280160"/>
          </a:xfrm>
          <a:prstGeom prst="roundRect">
            <a:avLst>
              <a:gd name="adj" fmla="val 7143"/>
            </a:avLst>
          </a:prstGeom>
          <a:solidFill>
            <a:srgbClr val="FFFFFF"/>
          </a:solidFill>
          <a:ln w="6350">
            <a:solidFill>
              <a:srgbClr val="DDDDEE"/>
            </a:solidFill>
            <a:prstDash val="solid"/>
          </a:ln>
        </p:spPr>
      </p:sp>
      <p:sp>
        <p:nvSpPr>
          <p:cNvPr id="10" name="Text 8"/>
          <p:cNvSpPr/>
          <p:nvPr/>
        </p:nvSpPr>
        <p:spPr>
          <a:xfrm>
            <a:off x="685800" y="2834640"/>
            <a:ext cx="7772400" cy="1097280"/>
          </a:xfrm>
          <a:prstGeom prst="rect">
            <a:avLst/>
          </a:prstGeom>
          <a:noFill/>
          <a:ln/>
        </p:spPr>
        <p:txBody>
          <a:bodyPr wrap="square" lIns="0" tIns="0" rIns="0" bIns="0" rtlCol="0" anchor="ctr"/>
          <a:lstStyle/>
          <a:p>
            <a:pPr indent="0" marL="0">
              <a:buNone/>
            </a:pPr>
            <a:r>
              <a:rPr lang="en-US" sz="1600" i="1" dirty="0">
                <a:solidFill>
                  <a:srgbClr val="5A5A7A"/>
                </a:solidFill>
                <a:latin typeface="Cambria" pitchFamily="34" charset="0"/>
                <a:ea typeface="Cambria" pitchFamily="34" charset="-122"/>
                <a:cs typeface="Cambria" pitchFamily="34" charset="-120"/>
              </a:rPr>
              <a:t>“Dividing by a decimal smaller than 1 always gives a larger quotient, because smaller pieces mean more pieces fit.”</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Warm-Up</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Readiness Check</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051560"/>
            <a:ext cx="8229600" cy="868680"/>
          </a:xfrm>
          <a:prstGeom prst="roundRect">
            <a:avLst>
              <a:gd name="adj" fmla="val 10526"/>
            </a:avLst>
          </a:prstGeom>
          <a:solidFill>
            <a:srgbClr val="FFFFFF"/>
          </a:solidFill>
          <a:ln w="6350">
            <a:solidFill>
              <a:srgbClr val="DDDDEE"/>
            </a:solidFill>
            <a:prstDash val="solid"/>
          </a:ln>
        </p:spPr>
      </p:sp>
      <p:sp>
        <p:nvSpPr>
          <p:cNvPr id="7" name="Text 5"/>
          <p:cNvSpPr/>
          <p:nvPr/>
        </p:nvSpPr>
        <p:spPr>
          <a:xfrm>
            <a:off x="731520" y="1051560"/>
            <a:ext cx="7680960" cy="868680"/>
          </a:xfrm>
          <a:prstGeom prst="rect">
            <a:avLst/>
          </a:prstGeom>
          <a:noFill/>
          <a:ln/>
        </p:spPr>
        <p:txBody>
          <a:bodyPr wrap="square" lIns="0" tIns="0" rIns="0" bIns="0" rtlCol="0" anchor="ctr"/>
          <a:lstStyle/>
          <a:p>
            <a:pPr indent="0" marL="0">
              <a:buNone/>
            </a:pPr>
            <a:r>
              <a:rPr lang="en-US" sz="1800" dirty="0">
                <a:solidFill>
                  <a:srgbClr val="1A1A2E"/>
                </a:solidFill>
                <a:latin typeface="Cambria" pitchFamily="34" charset="0"/>
                <a:ea typeface="Cambria" pitchFamily="34" charset="-122"/>
                <a:cs typeface="Cambria" pitchFamily="34" charset="-120"/>
              </a:rPr>
              <a:t>6 × 10 = ______</a:t>
            </a:r>
            <a:endParaRPr lang="en-US" sz="1800" dirty="0"/>
          </a:p>
        </p:txBody>
      </p:sp>
      <p:sp>
        <p:nvSpPr>
          <p:cNvPr id="8" name="Shape 6"/>
          <p:cNvSpPr/>
          <p:nvPr/>
        </p:nvSpPr>
        <p:spPr>
          <a:xfrm>
            <a:off x="457200" y="2103120"/>
            <a:ext cx="8229600" cy="868680"/>
          </a:xfrm>
          <a:prstGeom prst="roundRect">
            <a:avLst>
              <a:gd name="adj" fmla="val 10526"/>
            </a:avLst>
          </a:prstGeom>
          <a:solidFill>
            <a:srgbClr val="FFFFFF"/>
          </a:solidFill>
          <a:ln w="6350">
            <a:solidFill>
              <a:srgbClr val="DDDDEE"/>
            </a:solidFill>
            <a:prstDash val="solid"/>
          </a:ln>
        </p:spPr>
      </p:sp>
      <p:sp>
        <p:nvSpPr>
          <p:cNvPr id="9" name="Text 7"/>
          <p:cNvSpPr/>
          <p:nvPr/>
        </p:nvSpPr>
        <p:spPr>
          <a:xfrm>
            <a:off x="731520" y="2103120"/>
            <a:ext cx="7680960" cy="868680"/>
          </a:xfrm>
          <a:prstGeom prst="rect">
            <a:avLst/>
          </a:prstGeom>
          <a:noFill/>
          <a:ln/>
        </p:spPr>
        <p:txBody>
          <a:bodyPr wrap="square" lIns="0" tIns="0" rIns="0" bIns="0" rtlCol="0" anchor="ctr"/>
          <a:lstStyle/>
          <a:p>
            <a:pPr indent="0" marL="0">
              <a:buNone/>
            </a:pPr>
            <a:r>
              <a:rPr lang="en-US" sz="1800" dirty="0">
                <a:solidFill>
                  <a:srgbClr val="1A1A2E"/>
                </a:solidFill>
                <a:latin typeface="Cambria" pitchFamily="34" charset="0"/>
                <a:ea typeface="Cambria" pitchFamily="34" charset="-122"/>
                <a:cs typeface="Cambria" pitchFamily="34" charset="-120"/>
              </a:rPr>
              <a:t>6 × 100 = ______</a:t>
            </a:r>
            <a:endParaRPr lang="en-US" sz="1800" dirty="0"/>
          </a:p>
        </p:txBody>
      </p:sp>
      <p:sp>
        <p:nvSpPr>
          <p:cNvPr id="10" name="Shape 8"/>
          <p:cNvSpPr/>
          <p:nvPr/>
        </p:nvSpPr>
        <p:spPr>
          <a:xfrm>
            <a:off x="457200" y="3154680"/>
            <a:ext cx="8229600" cy="868680"/>
          </a:xfrm>
          <a:prstGeom prst="roundRect">
            <a:avLst>
              <a:gd name="adj" fmla="val 10526"/>
            </a:avLst>
          </a:prstGeom>
          <a:solidFill>
            <a:srgbClr val="FFFFFF"/>
          </a:solidFill>
          <a:ln w="6350">
            <a:solidFill>
              <a:srgbClr val="DDDDEE"/>
            </a:solidFill>
            <a:prstDash val="solid"/>
          </a:ln>
        </p:spPr>
      </p:sp>
      <p:sp>
        <p:nvSpPr>
          <p:cNvPr id="11" name="Text 9"/>
          <p:cNvSpPr/>
          <p:nvPr/>
        </p:nvSpPr>
        <p:spPr>
          <a:xfrm>
            <a:off x="731520" y="3154680"/>
            <a:ext cx="7680960" cy="868680"/>
          </a:xfrm>
          <a:prstGeom prst="rect">
            <a:avLst/>
          </a:prstGeom>
          <a:noFill/>
          <a:ln/>
        </p:spPr>
        <p:txBody>
          <a:bodyPr wrap="square" lIns="0" tIns="0" rIns="0" bIns="0" rtlCol="0" anchor="ctr"/>
          <a:lstStyle/>
          <a:p>
            <a:pPr indent="0" marL="0">
              <a:buNone/>
            </a:pPr>
            <a:r>
              <a:rPr lang="en-US" sz="1800" dirty="0">
                <a:solidFill>
                  <a:srgbClr val="1A1A2E"/>
                </a:solidFill>
                <a:latin typeface="Cambria" pitchFamily="34" charset="0"/>
                <a:ea typeface="Cambria" pitchFamily="34" charset="-122"/>
                <a:cs typeface="Cambria" pitchFamily="34" charset="-120"/>
              </a:rPr>
              <a:t>How many tenths are in 1 whole? ______</a:t>
            </a:r>
            <a:endParaRPr lang="en-US" sz="1800" dirty="0"/>
          </a:p>
        </p:txBody>
      </p:sp>
      <p:sp>
        <p:nvSpPr>
          <p:cNvPr id="12" name="Shape 10"/>
          <p:cNvSpPr/>
          <p:nvPr/>
        </p:nvSpPr>
        <p:spPr>
          <a:xfrm>
            <a:off x="1371600" y="4343400"/>
            <a:ext cx="6400800" cy="438912"/>
          </a:xfrm>
          <a:prstGeom prst="roundRect">
            <a:avLst>
              <a:gd name="adj" fmla="val 12500"/>
            </a:avLst>
          </a:prstGeom>
          <a:solidFill>
            <a:srgbClr val="464EB8"/>
          </a:solidFill>
          <a:ln w="12700">
            <a:solidFill>
              <a:srgbClr val="464EB8"/>
            </a:solidFill>
            <a:prstDash val="solid"/>
          </a:ln>
        </p:spPr>
      </p:sp>
      <p:sp>
        <p:nvSpPr>
          <p:cNvPr id="13" name="Text 11"/>
          <p:cNvSpPr/>
          <p:nvPr/>
        </p:nvSpPr>
        <p:spPr>
          <a:xfrm>
            <a:off x="1371600" y="4343400"/>
            <a:ext cx="64008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three answers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Hook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Real-World Context</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005840"/>
            <a:ext cx="8229600" cy="1463040"/>
          </a:xfrm>
          <a:prstGeom prst="roundRect">
            <a:avLst>
              <a:gd name="adj" fmla="val 6250"/>
            </a:avLst>
          </a:prstGeom>
          <a:solidFill>
            <a:srgbClr val="F5E6C8"/>
          </a:solidFill>
          <a:ln w="6350">
            <a:solidFill>
              <a:srgbClr val="DDDDEE"/>
            </a:solidFill>
            <a:prstDash val="solid"/>
          </a:ln>
        </p:spPr>
      </p:sp>
      <p:sp>
        <p:nvSpPr>
          <p:cNvPr id="7" name="Text 5"/>
          <p:cNvSpPr/>
          <p:nvPr/>
        </p:nvSpPr>
        <p:spPr>
          <a:xfrm>
            <a:off x="685800" y="1143000"/>
            <a:ext cx="7772400" cy="1188720"/>
          </a:xfrm>
          <a:prstGeom prst="rect">
            <a:avLst/>
          </a:prstGeom>
          <a:noFill/>
          <a:ln/>
        </p:spPr>
        <p:txBody>
          <a:bodyPr wrap="square" lIns="0" tIns="0" rIns="0" bIns="0" rtlCol="0" anchor="ctr"/>
          <a:lstStyle/>
          <a:p>
            <a:pPr indent="0" marL="0">
              <a:buNone/>
            </a:pPr>
            <a:r>
              <a:rPr lang="en-US" sz="1700" dirty="0">
                <a:solidFill>
                  <a:srgbClr val="1A1A2E"/>
                </a:solidFill>
                <a:latin typeface="Cambria" pitchFamily="34" charset="0"/>
                <a:ea typeface="Cambria" pitchFamily="34" charset="-122"/>
                <a:cs typeface="Cambria" pitchFamily="34" charset="-120"/>
              </a:rPr>
              <a:t>A runner ties a ribbon marker every 0.1 mile along a 4-mile trail.</a:t>
            </a:r>
            <a:endParaRPr lang="en-US" sz="1700" dirty="0"/>
          </a:p>
        </p:txBody>
      </p:sp>
      <p:sp>
        <p:nvSpPr>
          <p:cNvPr id="8" name="Text 6"/>
          <p:cNvSpPr/>
          <p:nvPr/>
        </p:nvSpPr>
        <p:spPr>
          <a:xfrm>
            <a:off x="685800" y="2743200"/>
            <a:ext cx="7772400" cy="548640"/>
          </a:xfrm>
          <a:prstGeom prst="rect">
            <a:avLst/>
          </a:prstGeom>
          <a:noFill/>
          <a:ln/>
        </p:spPr>
        <p:txBody>
          <a:bodyPr wrap="square" lIns="0" tIns="0" rIns="0" bIns="0" rtlCol="0" anchor="ctr"/>
          <a:lstStyle/>
          <a:p>
            <a:pPr indent="0" marL="0">
              <a:buNone/>
            </a:pPr>
            <a:r>
              <a:rPr lang="en-US" sz="1400" b="1" i="1" dirty="0">
                <a:solidFill>
                  <a:srgbClr val="8A5726"/>
                </a:solidFill>
              </a:rPr>
              <a:t>Why can division by a decimal less than 1 make the answer larger?</a:t>
            </a:r>
            <a:endParaRPr lang="en-US" sz="1400" dirty="0"/>
          </a:p>
        </p:txBody>
      </p:sp>
      <p:sp>
        <p:nvSpPr>
          <p:cNvPr id="9" name="Shape 7"/>
          <p:cNvSpPr/>
          <p:nvPr/>
        </p:nvSpPr>
        <p:spPr>
          <a:xfrm>
            <a:off x="1097280" y="3931920"/>
            <a:ext cx="6949440" cy="438912"/>
          </a:xfrm>
          <a:prstGeom prst="roundRect">
            <a:avLst>
              <a:gd name="adj" fmla="val 12500"/>
            </a:avLst>
          </a:prstGeom>
          <a:solidFill>
            <a:srgbClr val="464EB8"/>
          </a:solidFill>
          <a:ln w="12700">
            <a:solidFill>
              <a:srgbClr val="464EB8"/>
            </a:solidFill>
            <a:prstDash val="solid"/>
          </a:ln>
        </p:spPr>
      </p:sp>
      <p:sp>
        <p:nvSpPr>
          <p:cNvPr id="10" name="Text 8"/>
          <p:cNvSpPr/>
          <p:nvPr/>
        </p:nvSpPr>
        <p:spPr>
          <a:xfrm>
            <a:off x="1097280" y="3931920"/>
            <a:ext cx="694944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guess for the number of markers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Notice &amp; Wonder</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Decimal Division</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8229600" cy="2011680"/>
          </a:xfrm>
          <a:prstGeom prst="roundRect">
            <a:avLst>
              <a:gd name="adj" fmla="val 4545"/>
            </a:avLst>
          </a:prstGeom>
          <a:solidFill>
            <a:srgbClr val="FFFFFF"/>
          </a:solidFill>
          <a:ln w="6350">
            <a:solidFill>
              <a:srgbClr val="DDDDEE"/>
            </a:solidFill>
            <a:prstDash val="solid"/>
          </a:ln>
        </p:spPr>
      </p:sp>
      <p:sp>
        <p:nvSpPr>
          <p:cNvPr id="7" name="Text 5"/>
          <p:cNvSpPr/>
          <p:nvPr/>
        </p:nvSpPr>
        <p:spPr>
          <a:xfrm>
            <a:off x="685800" y="1051560"/>
            <a:ext cx="7772400" cy="1828800"/>
          </a:xfrm>
          <a:prstGeom prst="rect">
            <a:avLst/>
          </a:prstGeom>
          <a:noFill/>
          <a:ln/>
        </p:spPr>
        <p:txBody>
          <a:bodyPr wrap="square" lIns="0" tIns="0" rIns="0" bIns="0" rtlCol="0" anchor="ctr"/>
          <a:lstStyle/>
          <a:p>
            <a:pPr indent="0" marL="0">
              <a:buNone/>
            </a:pPr>
            <a:r>
              <a:rPr lang="en-US" sz="2000" dirty="0">
                <a:solidFill>
                  <a:srgbClr val="1A1A2E"/>
                </a:solidFill>
                <a:latin typeface="Cambria" pitchFamily="34" charset="0"/>
                <a:ea typeface="Cambria" pitchFamily="34" charset="-122"/>
                <a:cs typeface="Cambria" pitchFamily="34" charset="-120"/>
              </a:rPr>
              <a:t>4 ÷ 0.1</a:t>
            </a:r>
            <a:endParaRPr lang="en-US" sz="2000" dirty="0"/>
          </a:p>
        </p:txBody>
      </p:sp>
      <p:sp>
        <p:nvSpPr>
          <p:cNvPr id="8" name="Shape 6"/>
          <p:cNvSpPr/>
          <p:nvPr/>
        </p:nvSpPr>
        <p:spPr>
          <a:xfrm>
            <a:off x="457200" y="3154680"/>
            <a:ext cx="3931920" cy="1508760"/>
          </a:xfrm>
          <a:prstGeom prst="roundRect">
            <a:avLst>
              <a:gd name="adj" fmla="val 6061"/>
            </a:avLst>
          </a:prstGeom>
          <a:solidFill>
            <a:srgbClr val="EAE8F5"/>
          </a:solidFill>
          <a:ln w="6350">
            <a:solidFill>
              <a:srgbClr val="DDDDEE"/>
            </a:solidFill>
            <a:prstDash val="solid"/>
          </a:ln>
        </p:spPr>
      </p:sp>
      <p:sp>
        <p:nvSpPr>
          <p:cNvPr id="9" name="Text 7"/>
          <p:cNvSpPr/>
          <p:nvPr/>
        </p:nvSpPr>
        <p:spPr>
          <a:xfrm>
            <a:off x="640080" y="3246120"/>
            <a:ext cx="3566160" cy="347472"/>
          </a:xfrm>
          <a:prstGeom prst="rect">
            <a:avLst/>
          </a:prstGeom>
          <a:noFill/>
          <a:ln/>
        </p:spPr>
        <p:txBody>
          <a:bodyPr wrap="square" lIns="0" tIns="0" rIns="0" bIns="0" rtlCol="0" anchor="ctr"/>
          <a:lstStyle/>
          <a:p>
            <a:pPr indent="0" marL="0">
              <a:buNone/>
            </a:pPr>
            <a:r>
              <a:rPr lang="en-US" sz="1300" b="1" dirty="0">
                <a:solidFill>
                  <a:srgbClr val="4A3D8F"/>
                </a:solidFill>
              </a:rPr>
              <a:t>I notice...</a:t>
            </a:r>
            <a:endParaRPr lang="en-US" sz="1300" dirty="0"/>
          </a:p>
        </p:txBody>
      </p:sp>
      <p:sp>
        <p:nvSpPr>
          <p:cNvPr id="10" name="Shape 8"/>
          <p:cNvSpPr/>
          <p:nvPr/>
        </p:nvSpPr>
        <p:spPr>
          <a:xfrm>
            <a:off x="4754880" y="3154680"/>
            <a:ext cx="3931920" cy="1508760"/>
          </a:xfrm>
          <a:prstGeom prst="roundRect">
            <a:avLst>
              <a:gd name="adj" fmla="val 6061"/>
            </a:avLst>
          </a:prstGeom>
          <a:solidFill>
            <a:srgbClr val="E6F2EA"/>
          </a:solidFill>
          <a:ln w="6350">
            <a:solidFill>
              <a:srgbClr val="DDDDEE"/>
            </a:solidFill>
            <a:prstDash val="solid"/>
          </a:ln>
        </p:spPr>
      </p:sp>
      <p:sp>
        <p:nvSpPr>
          <p:cNvPr id="11" name="Text 9"/>
          <p:cNvSpPr/>
          <p:nvPr/>
        </p:nvSpPr>
        <p:spPr>
          <a:xfrm>
            <a:off x="4937760" y="3246120"/>
            <a:ext cx="3566160" cy="347472"/>
          </a:xfrm>
          <a:prstGeom prst="rect">
            <a:avLst/>
          </a:prstGeom>
          <a:noFill/>
          <a:ln/>
        </p:spPr>
        <p:txBody>
          <a:bodyPr wrap="square" lIns="0" tIns="0" rIns="0" bIns="0" rtlCol="0" anchor="ctr"/>
          <a:lstStyle/>
          <a:p>
            <a:pPr indent="0" marL="0">
              <a:buNone/>
            </a:pPr>
            <a:r>
              <a:rPr lang="en-US" sz="1300" b="1" dirty="0">
                <a:solidFill>
                  <a:srgbClr val="2E6E44"/>
                </a:solidFill>
              </a:rPr>
              <a:t>I wonder...</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Concrete</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CPA · Model</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Text 4"/>
          <p:cNvSpPr/>
          <p:nvPr/>
        </p:nvSpPr>
        <p:spPr>
          <a:xfrm>
            <a:off x="457200" y="914400"/>
            <a:ext cx="8229600" cy="365760"/>
          </a:xfrm>
          <a:prstGeom prst="rect">
            <a:avLst/>
          </a:prstGeom>
          <a:noFill/>
          <a:ln/>
        </p:spPr>
        <p:txBody>
          <a:bodyPr wrap="square" lIns="0" tIns="0" rIns="0" bIns="0" rtlCol="0" anchor="ctr"/>
          <a:lstStyle/>
          <a:p>
            <a:pPr indent="0" marL="0">
              <a:buNone/>
            </a:pPr>
            <a:r>
              <a:rPr lang="en-US" sz="1400" i="1" dirty="0">
                <a:solidFill>
                  <a:srgbClr val="5A5A7A"/>
                </a:solidFill>
              </a:rPr>
              <a:t>Measure off how many 0.1-size scoops fit inside 1 whole.</a:t>
            </a:r>
            <a:endParaRPr lang="en-US" sz="1400" dirty="0"/>
          </a:p>
        </p:txBody>
      </p:sp>
      <p:sp>
        <p:nvSpPr>
          <p:cNvPr id="7" name="Shape 5"/>
          <p:cNvSpPr/>
          <p:nvPr/>
        </p:nvSpPr>
        <p:spPr>
          <a:xfrm>
            <a:off x="914400" y="1600200"/>
            <a:ext cx="7315200" cy="502920"/>
          </a:xfrm>
          <a:prstGeom prst="rect">
            <a:avLst/>
          </a:prstGeom>
          <a:solidFill>
            <a:srgbClr val="F5F5F8"/>
          </a:solidFill>
          <a:ln w="25400">
            <a:solidFill>
              <a:srgbClr val="1B2A4A"/>
            </a:solidFill>
            <a:prstDash val="solid"/>
          </a:ln>
        </p:spPr>
      </p:sp>
      <p:sp>
        <p:nvSpPr>
          <p:cNvPr id="8" name="Shape 6"/>
          <p:cNvSpPr/>
          <p:nvPr/>
        </p:nvSpPr>
        <p:spPr>
          <a:xfrm>
            <a:off x="914400" y="1600200"/>
            <a:ext cx="731520" cy="502920"/>
          </a:xfrm>
          <a:prstGeom prst="rect">
            <a:avLst/>
          </a:prstGeom>
          <a:solidFill>
            <a:srgbClr val="B87333">
              <a:alpha val="75000"/>
            </a:srgbClr>
          </a:solidFill>
          <a:ln w="19050">
            <a:solidFill>
              <a:srgbClr val="FFFFFF"/>
            </a:solidFill>
            <a:prstDash val="solid"/>
          </a:ln>
        </p:spPr>
      </p:sp>
      <p:sp>
        <p:nvSpPr>
          <p:cNvPr id="9" name="Text 7"/>
          <p:cNvSpPr/>
          <p:nvPr/>
        </p:nvSpPr>
        <p:spPr>
          <a:xfrm>
            <a:off x="914400" y="2157984"/>
            <a:ext cx="731520" cy="274320"/>
          </a:xfrm>
          <a:prstGeom prst="rect">
            <a:avLst/>
          </a:prstGeom>
          <a:noFill/>
          <a:ln/>
        </p:spPr>
        <p:txBody>
          <a:bodyPr wrap="square" lIns="0" tIns="0" rIns="0" bIns="0" rtlCol="0" anchor="ctr"/>
          <a:lstStyle/>
          <a:p>
            <a:pPr algn="ctr" indent="0" marL="0">
              <a:buNone/>
            </a:pPr>
            <a:r>
              <a:rPr lang="en-US" sz="1100" b="1" dirty="0">
                <a:solidFill>
                  <a:srgbClr val="5A5A7A"/>
                </a:solidFill>
              </a:rPr>
              <a:t>1</a:t>
            </a:r>
            <a:endParaRPr lang="en-US" sz="1100" dirty="0"/>
          </a:p>
        </p:txBody>
      </p:sp>
      <p:sp>
        <p:nvSpPr>
          <p:cNvPr id="10" name="Shape 8"/>
          <p:cNvSpPr/>
          <p:nvPr/>
        </p:nvSpPr>
        <p:spPr>
          <a:xfrm>
            <a:off x="1645920" y="1600200"/>
            <a:ext cx="731520" cy="502920"/>
          </a:xfrm>
          <a:prstGeom prst="rect">
            <a:avLst/>
          </a:prstGeom>
          <a:solidFill>
            <a:srgbClr val="D4943A">
              <a:alpha val="75000"/>
            </a:srgbClr>
          </a:solidFill>
          <a:ln w="19050">
            <a:solidFill>
              <a:srgbClr val="FFFFFF"/>
            </a:solidFill>
            <a:prstDash val="solid"/>
          </a:ln>
        </p:spPr>
      </p:sp>
      <p:sp>
        <p:nvSpPr>
          <p:cNvPr id="11" name="Text 9"/>
          <p:cNvSpPr/>
          <p:nvPr/>
        </p:nvSpPr>
        <p:spPr>
          <a:xfrm>
            <a:off x="1645920" y="2157984"/>
            <a:ext cx="731520" cy="274320"/>
          </a:xfrm>
          <a:prstGeom prst="rect">
            <a:avLst/>
          </a:prstGeom>
          <a:noFill/>
          <a:ln/>
        </p:spPr>
        <p:txBody>
          <a:bodyPr wrap="square" lIns="0" tIns="0" rIns="0" bIns="0" rtlCol="0" anchor="ctr"/>
          <a:lstStyle/>
          <a:p>
            <a:pPr algn="ctr" indent="0" marL="0">
              <a:buNone/>
            </a:pPr>
            <a:r>
              <a:rPr lang="en-US" sz="1100" b="1" dirty="0">
                <a:solidFill>
                  <a:srgbClr val="5A5A7A"/>
                </a:solidFill>
              </a:rPr>
              <a:t>2</a:t>
            </a:r>
            <a:endParaRPr lang="en-US" sz="1100" dirty="0"/>
          </a:p>
        </p:txBody>
      </p:sp>
      <p:sp>
        <p:nvSpPr>
          <p:cNvPr id="12" name="Shape 10"/>
          <p:cNvSpPr/>
          <p:nvPr/>
        </p:nvSpPr>
        <p:spPr>
          <a:xfrm>
            <a:off x="2377440" y="1600200"/>
            <a:ext cx="731520" cy="502920"/>
          </a:xfrm>
          <a:prstGeom prst="rect">
            <a:avLst/>
          </a:prstGeom>
          <a:solidFill>
            <a:srgbClr val="B87333">
              <a:alpha val="75000"/>
            </a:srgbClr>
          </a:solidFill>
          <a:ln w="19050">
            <a:solidFill>
              <a:srgbClr val="FFFFFF"/>
            </a:solidFill>
            <a:prstDash val="solid"/>
          </a:ln>
        </p:spPr>
      </p:sp>
      <p:sp>
        <p:nvSpPr>
          <p:cNvPr id="13" name="Text 11"/>
          <p:cNvSpPr/>
          <p:nvPr/>
        </p:nvSpPr>
        <p:spPr>
          <a:xfrm>
            <a:off x="2377440" y="2157984"/>
            <a:ext cx="731520" cy="274320"/>
          </a:xfrm>
          <a:prstGeom prst="rect">
            <a:avLst/>
          </a:prstGeom>
          <a:noFill/>
          <a:ln/>
        </p:spPr>
        <p:txBody>
          <a:bodyPr wrap="square" lIns="0" tIns="0" rIns="0" bIns="0" rtlCol="0" anchor="ctr"/>
          <a:lstStyle/>
          <a:p>
            <a:pPr algn="ctr" indent="0" marL="0">
              <a:buNone/>
            </a:pPr>
            <a:r>
              <a:rPr lang="en-US" sz="1100" b="1" dirty="0">
                <a:solidFill>
                  <a:srgbClr val="5A5A7A"/>
                </a:solidFill>
              </a:rPr>
              <a:t>3</a:t>
            </a:r>
            <a:endParaRPr lang="en-US" sz="1100" dirty="0"/>
          </a:p>
        </p:txBody>
      </p:sp>
      <p:sp>
        <p:nvSpPr>
          <p:cNvPr id="14" name="Shape 12"/>
          <p:cNvSpPr/>
          <p:nvPr/>
        </p:nvSpPr>
        <p:spPr>
          <a:xfrm>
            <a:off x="3108960" y="1600200"/>
            <a:ext cx="731520" cy="502920"/>
          </a:xfrm>
          <a:prstGeom prst="rect">
            <a:avLst/>
          </a:prstGeom>
          <a:solidFill>
            <a:srgbClr val="D4943A">
              <a:alpha val="75000"/>
            </a:srgbClr>
          </a:solidFill>
          <a:ln w="19050">
            <a:solidFill>
              <a:srgbClr val="FFFFFF"/>
            </a:solidFill>
            <a:prstDash val="solid"/>
          </a:ln>
        </p:spPr>
      </p:sp>
      <p:sp>
        <p:nvSpPr>
          <p:cNvPr id="15" name="Text 13"/>
          <p:cNvSpPr/>
          <p:nvPr/>
        </p:nvSpPr>
        <p:spPr>
          <a:xfrm>
            <a:off x="3108960" y="2157984"/>
            <a:ext cx="731520" cy="274320"/>
          </a:xfrm>
          <a:prstGeom prst="rect">
            <a:avLst/>
          </a:prstGeom>
          <a:noFill/>
          <a:ln/>
        </p:spPr>
        <p:txBody>
          <a:bodyPr wrap="square" lIns="0" tIns="0" rIns="0" bIns="0" rtlCol="0" anchor="ctr"/>
          <a:lstStyle/>
          <a:p>
            <a:pPr algn="ctr" indent="0" marL="0">
              <a:buNone/>
            </a:pPr>
            <a:r>
              <a:rPr lang="en-US" sz="1100" b="1" dirty="0">
                <a:solidFill>
                  <a:srgbClr val="5A5A7A"/>
                </a:solidFill>
              </a:rPr>
              <a:t>4</a:t>
            </a:r>
            <a:endParaRPr lang="en-US" sz="1100" dirty="0"/>
          </a:p>
        </p:txBody>
      </p:sp>
      <p:sp>
        <p:nvSpPr>
          <p:cNvPr id="16" name="Shape 14"/>
          <p:cNvSpPr/>
          <p:nvPr/>
        </p:nvSpPr>
        <p:spPr>
          <a:xfrm>
            <a:off x="3840480" y="1600200"/>
            <a:ext cx="731520" cy="502920"/>
          </a:xfrm>
          <a:prstGeom prst="rect">
            <a:avLst/>
          </a:prstGeom>
          <a:solidFill>
            <a:srgbClr val="B87333">
              <a:alpha val="75000"/>
            </a:srgbClr>
          </a:solidFill>
          <a:ln w="19050">
            <a:solidFill>
              <a:srgbClr val="FFFFFF"/>
            </a:solidFill>
            <a:prstDash val="solid"/>
          </a:ln>
        </p:spPr>
      </p:sp>
      <p:sp>
        <p:nvSpPr>
          <p:cNvPr id="17" name="Text 15"/>
          <p:cNvSpPr/>
          <p:nvPr/>
        </p:nvSpPr>
        <p:spPr>
          <a:xfrm>
            <a:off x="3840480" y="2157984"/>
            <a:ext cx="731520" cy="274320"/>
          </a:xfrm>
          <a:prstGeom prst="rect">
            <a:avLst/>
          </a:prstGeom>
          <a:noFill/>
          <a:ln/>
        </p:spPr>
        <p:txBody>
          <a:bodyPr wrap="square" lIns="0" tIns="0" rIns="0" bIns="0" rtlCol="0" anchor="ctr"/>
          <a:lstStyle/>
          <a:p>
            <a:pPr algn="ctr" indent="0" marL="0">
              <a:buNone/>
            </a:pPr>
            <a:r>
              <a:rPr lang="en-US" sz="1100" b="1" dirty="0">
                <a:solidFill>
                  <a:srgbClr val="5A5A7A"/>
                </a:solidFill>
              </a:rPr>
              <a:t>5</a:t>
            </a:r>
            <a:endParaRPr lang="en-US" sz="1100" dirty="0"/>
          </a:p>
        </p:txBody>
      </p:sp>
      <p:sp>
        <p:nvSpPr>
          <p:cNvPr id="18" name="Shape 16"/>
          <p:cNvSpPr/>
          <p:nvPr/>
        </p:nvSpPr>
        <p:spPr>
          <a:xfrm>
            <a:off x="4572000" y="1600200"/>
            <a:ext cx="731520" cy="502920"/>
          </a:xfrm>
          <a:prstGeom prst="rect">
            <a:avLst/>
          </a:prstGeom>
          <a:solidFill>
            <a:srgbClr val="D4943A">
              <a:alpha val="75000"/>
            </a:srgbClr>
          </a:solidFill>
          <a:ln w="19050">
            <a:solidFill>
              <a:srgbClr val="FFFFFF"/>
            </a:solidFill>
            <a:prstDash val="solid"/>
          </a:ln>
        </p:spPr>
      </p:sp>
      <p:sp>
        <p:nvSpPr>
          <p:cNvPr id="19" name="Text 17"/>
          <p:cNvSpPr/>
          <p:nvPr/>
        </p:nvSpPr>
        <p:spPr>
          <a:xfrm>
            <a:off x="4572000" y="2157984"/>
            <a:ext cx="731520" cy="274320"/>
          </a:xfrm>
          <a:prstGeom prst="rect">
            <a:avLst/>
          </a:prstGeom>
          <a:noFill/>
          <a:ln/>
        </p:spPr>
        <p:txBody>
          <a:bodyPr wrap="square" lIns="0" tIns="0" rIns="0" bIns="0" rtlCol="0" anchor="ctr"/>
          <a:lstStyle/>
          <a:p>
            <a:pPr algn="ctr" indent="0" marL="0">
              <a:buNone/>
            </a:pPr>
            <a:r>
              <a:rPr lang="en-US" sz="1100" b="1" dirty="0">
                <a:solidFill>
                  <a:srgbClr val="5A5A7A"/>
                </a:solidFill>
              </a:rPr>
              <a:t>6</a:t>
            </a:r>
            <a:endParaRPr lang="en-US" sz="1100" dirty="0"/>
          </a:p>
        </p:txBody>
      </p:sp>
      <p:sp>
        <p:nvSpPr>
          <p:cNvPr id="20" name="Shape 18"/>
          <p:cNvSpPr/>
          <p:nvPr/>
        </p:nvSpPr>
        <p:spPr>
          <a:xfrm>
            <a:off x="5303520" y="1600200"/>
            <a:ext cx="731520" cy="502920"/>
          </a:xfrm>
          <a:prstGeom prst="rect">
            <a:avLst/>
          </a:prstGeom>
          <a:solidFill>
            <a:srgbClr val="B87333">
              <a:alpha val="75000"/>
            </a:srgbClr>
          </a:solidFill>
          <a:ln w="19050">
            <a:solidFill>
              <a:srgbClr val="FFFFFF"/>
            </a:solidFill>
            <a:prstDash val="solid"/>
          </a:ln>
        </p:spPr>
      </p:sp>
      <p:sp>
        <p:nvSpPr>
          <p:cNvPr id="21" name="Text 19"/>
          <p:cNvSpPr/>
          <p:nvPr/>
        </p:nvSpPr>
        <p:spPr>
          <a:xfrm>
            <a:off x="5303520" y="2157984"/>
            <a:ext cx="731520" cy="274320"/>
          </a:xfrm>
          <a:prstGeom prst="rect">
            <a:avLst/>
          </a:prstGeom>
          <a:noFill/>
          <a:ln/>
        </p:spPr>
        <p:txBody>
          <a:bodyPr wrap="square" lIns="0" tIns="0" rIns="0" bIns="0" rtlCol="0" anchor="ctr"/>
          <a:lstStyle/>
          <a:p>
            <a:pPr algn="ctr" indent="0" marL="0">
              <a:buNone/>
            </a:pPr>
            <a:r>
              <a:rPr lang="en-US" sz="1100" b="1" dirty="0">
                <a:solidFill>
                  <a:srgbClr val="5A5A7A"/>
                </a:solidFill>
              </a:rPr>
              <a:t>7</a:t>
            </a:r>
            <a:endParaRPr lang="en-US" sz="1100" dirty="0"/>
          </a:p>
        </p:txBody>
      </p:sp>
      <p:sp>
        <p:nvSpPr>
          <p:cNvPr id="22" name="Shape 20"/>
          <p:cNvSpPr/>
          <p:nvPr/>
        </p:nvSpPr>
        <p:spPr>
          <a:xfrm>
            <a:off x="6035040" y="1600200"/>
            <a:ext cx="731520" cy="502920"/>
          </a:xfrm>
          <a:prstGeom prst="rect">
            <a:avLst/>
          </a:prstGeom>
          <a:solidFill>
            <a:srgbClr val="D4943A">
              <a:alpha val="75000"/>
            </a:srgbClr>
          </a:solidFill>
          <a:ln w="19050">
            <a:solidFill>
              <a:srgbClr val="FFFFFF"/>
            </a:solidFill>
            <a:prstDash val="solid"/>
          </a:ln>
        </p:spPr>
      </p:sp>
      <p:sp>
        <p:nvSpPr>
          <p:cNvPr id="23" name="Text 21"/>
          <p:cNvSpPr/>
          <p:nvPr/>
        </p:nvSpPr>
        <p:spPr>
          <a:xfrm>
            <a:off x="6035040" y="2157984"/>
            <a:ext cx="731520" cy="274320"/>
          </a:xfrm>
          <a:prstGeom prst="rect">
            <a:avLst/>
          </a:prstGeom>
          <a:noFill/>
          <a:ln/>
        </p:spPr>
        <p:txBody>
          <a:bodyPr wrap="square" lIns="0" tIns="0" rIns="0" bIns="0" rtlCol="0" anchor="ctr"/>
          <a:lstStyle/>
          <a:p>
            <a:pPr algn="ctr" indent="0" marL="0">
              <a:buNone/>
            </a:pPr>
            <a:r>
              <a:rPr lang="en-US" sz="1100" b="1" dirty="0">
                <a:solidFill>
                  <a:srgbClr val="5A5A7A"/>
                </a:solidFill>
              </a:rPr>
              <a:t>8</a:t>
            </a:r>
            <a:endParaRPr lang="en-US" sz="1100" dirty="0"/>
          </a:p>
        </p:txBody>
      </p:sp>
      <p:sp>
        <p:nvSpPr>
          <p:cNvPr id="24" name="Shape 22"/>
          <p:cNvSpPr/>
          <p:nvPr/>
        </p:nvSpPr>
        <p:spPr>
          <a:xfrm>
            <a:off x="6766560" y="1600200"/>
            <a:ext cx="731520" cy="502920"/>
          </a:xfrm>
          <a:prstGeom prst="rect">
            <a:avLst/>
          </a:prstGeom>
          <a:solidFill>
            <a:srgbClr val="B87333">
              <a:alpha val="75000"/>
            </a:srgbClr>
          </a:solidFill>
          <a:ln w="19050">
            <a:solidFill>
              <a:srgbClr val="FFFFFF"/>
            </a:solidFill>
            <a:prstDash val="solid"/>
          </a:ln>
        </p:spPr>
      </p:sp>
      <p:sp>
        <p:nvSpPr>
          <p:cNvPr id="25" name="Text 23"/>
          <p:cNvSpPr/>
          <p:nvPr/>
        </p:nvSpPr>
        <p:spPr>
          <a:xfrm>
            <a:off x="6766560" y="2157984"/>
            <a:ext cx="731520" cy="274320"/>
          </a:xfrm>
          <a:prstGeom prst="rect">
            <a:avLst/>
          </a:prstGeom>
          <a:noFill/>
          <a:ln/>
        </p:spPr>
        <p:txBody>
          <a:bodyPr wrap="square" lIns="0" tIns="0" rIns="0" bIns="0" rtlCol="0" anchor="ctr"/>
          <a:lstStyle/>
          <a:p>
            <a:pPr algn="ctr" indent="0" marL="0">
              <a:buNone/>
            </a:pPr>
            <a:r>
              <a:rPr lang="en-US" sz="1100" b="1" dirty="0">
                <a:solidFill>
                  <a:srgbClr val="5A5A7A"/>
                </a:solidFill>
              </a:rPr>
              <a:t>9</a:t>
            </a:r>
            <a:endParaRPr lang="en-US" sz="1100" dirty="0"/>
          </a:p>
        </p:txBody>
      </p:sp>
      <p:sp>
        <p:nvSpPr>
          <p:cNvPr id="26" name="Shape 24"/>
          <p:cNvSpPr/>
          <p:nvPr/>
        </p:nvSpPr>
        <p:spPr>
          <a:xfrm>
            <a:off x="7498080" y="1600200"/>
            <a:ext cx="731520" cy="502920"/>
          </a:xfrm>
          <a:prstGeom prst="rect">
            <a:avLst/>
          </a:prstGeom>
          <a:solidFill>
            <a:srgbClr val="D4943A">
              <a:alpha val="75000"/>
            </a:srgbClr>
          </a:solidFill>
          <a:ln w="19050">
            <a:solidFill>
              <a:srgbClr val="FFFFFF"/>
            </a:solidFill>
            <a:prstDash val="solid"/>
          </a:ln>
        </p:spPr>
      </p:sp>
      <p:sp>
        <p:nvSpPr>
          <p:cNvPr id="27" name="Text 25"/>
          <p:cNvSpPr/>
          <p:nvPr/>
        </p:nvSpPr>
        <p:spPr>
          <a:xfrm>
            <a:off x="7498080" y="2157984"/>
            <a:ext cx="731520" cy="274320"/>
          </a:xfrm>
          <a:prstGeom prst="rect">
            <a:avLst/>
          </a:prstGeom>
          <a:noFill/>
          <a:ln/>
        </p:spPr>
        <p:txBody>
          <a:bodyPr wrap="square" lIns="0" tIns="0" rIns="0" bIns="0" rtlCol="0" anchor="ctr"/>
          <a:lstStyle/>
          <a:p>
            <a:pPr algn="ctr" indent="0" marL="0">
              <a:buNone/>
            </a:pPr>
            <a:r>
              <a:rPr lang="en-US" sz="1100" b="1" dirty="0">
                <a:solidFill>
                  <a:srgbClr val="5A5A7A"/>
                </a:solidFill>
              </a:rPr>
              <a:t>10</a:t>
            </a:r>
            <a:endParaRPr lang="en-US" sz="1100" dirty="0"/>
          </a:p>
        </p:txBody>
      </p:sp>
      <p:sp>
        <p:nvSpPr>
          <p:cNvPr id="28" name="Shape 26"/>
          <p:cNvSpPr/>
          <p:nvPr/>
        </p:nvSpPr>
        <p:spPr>
          <a:xfrm>
            <a:off x="914400" y="1490472"/>
            <a:ext cx="0" cy="109728"/>
          </a:xfrm>
          <a:prstGeom prst="line">
            <a:avLst/>
          </a:prstGeom>
          <a:noFill/>
          <a:ln w="19050">
            <a:solidFill>
              <a:srgbClr val="1B2A4A"/>
            </a:solidFill>
            <a:prstDash val="solid"/>
          </a:ln>
        </p:spPr>
      </p:sp>
      <p:sp>
        <p:nvSpPr>
          <p:cNvPr id="29" name="Shape 27"/>
          <p:cNvSpPr/>
          <p:nvPr/>
        </p:nvSpPr>
        <p:spPr>
          <a:xfrm>
            <a:off x="1645920" y="1490472"/>
            <a:ext cx="0" cy="109728"/>
          </a:xfrm>
          <a:prstGeom prst="line">
            <a:avLst/>
          </a:prstGeom>
          <a:noFill/>
          <a:ln w="19050">
            <a:solidFill>
              <a:srgbClr val="1B2A4A"/>
            </a:solidFill>
            <a:prstDash val="solid"/>
          </a:ln>
        </p:spPr>
      </p:sp>
      <p:sp>
        <p:nvSpPr>
          <p:cNvPr id="30" name="Shape 28"/>
          <p:cNvSpPr/>
          <p:nvPr/>
        </p:nvSpPr>
        <p:spPr>
          <a:xfrm>
            <a:off x="2377440" y="1490472"/>
            <a:ext cx="0" cy="109728"/>
          </a:xfrm>
          <a:prstGeom prst="line">
            <a:avLst/>
          </a:prstGeom>
          <a:noFill/>
          <a:ln w="19050">
            <a:solidFill>
              <a:srgbClr val="1B2A4A"/>
            </a:solidFill>
            <a:prstDash val="solid"/>
          </a:ln>
        </p:spPr>
      </p:sp>
      <p:sp>
        <p:nvSpPr>
          <p:cNvPr id="31" name="Shape 29"/>
          <p:cNvSpPr/>
          <p:nvPr/>
        </p:nvSpPr>
        <p:spPr>
          <a:xfrm>
            <a:off x="3108960" y="1490472"/>
            <a:ext cx="0" cy="109728"/>
          </a:xfrm>
          <a:prstGeom prst="line">
            <a:avLst/>
          </a:prstGeom>
          <a:noFill/>
          <a:ln w="19050">
            <a:solidFill>
              <a:srgbClr val="1B2A4A"/>
            </a:solidFill>
            <a:prstDash val="solid"/>
          </a:ln>
        </p:spPr>
      </p:sp>
      <p:sp>
        <p:nvSpPr>
          <p:cNvPr id="32" name="Shape 30"/>
          <p:cNvSpPr/>
          <p:nvPr/>
        </p:nvSpPr>
        <p:spPr>
          <a:xfrm>
            <a:off x="3840480" y="1490472"/>
            <a:ext cx="0" cy="109728"/>
          </a:xfrm>
          <a:prstGeom prst="line">
            <a:avLst/>
          </a:prstGeom>
          <a:noFill/>
          <a:ln w="19050">
            <a:solidFill>
              <a:srgbClr val="1B2A4A"/>
            </a:solidFill>
            <a:prstDash val="solid"/>
          </a:ln>
        </p:spPr>
      </p:sp>
      <p:sp>
        <p:nvSpPr>
          <p:cNvPr id="33" name="Shape 31"/>
          <p:cNvSpPr/>
          <p:nvPr/>
        </p:nvSpPr>
        <p:spPr>
          <a:xfrm>
            <a:off x="4572000" y="1490472"/>
            <a:ext cx="0" cy="109728"/>
          </a:xfrm>
          <a:prstGeom prst="line">
            <a:avLst/>
          </a:prstGeom>
          <a:noFill/>
          <a:ln w="19050">
            <a:solidFill>
              <a:srgbClr val="1B2A4A"/>
            </a:solidFill>
            <a:prstDash val="solid"/>
          </a:ln>
        </p:spPr>
      </p:sp>
      <p:sp>
        <p:nvSpPr>
          <p:cNvPr id="34" name="Shape 32"/>
          <p:cNvSpPr/>
          <p:nvPr/>
        </p:nvSpPr>
        <p:spPr>
          <a:xfrm>
            <a:off x="5303520" y="1490472"/>
            <a:ext cx="0" cy="109728"/>
          </a:xfrm>
          <a:prstGeom prst="line">
            <a:avLst/>
          </a:prstGeom>
          <a:noFill/>
          <a:ln w="19050">
            <a:solidFill>
              <a:srgbClr val="1B2A4A"/>
            </a:solidFill>
            <a:prstDash val="solid"/>
          </a:ln>
        </p:spPr>
      </p:sp>
      <p:sp>
        <p:nvSpPr>
          <p:cNvPr id="35" name="Shape 33"/>
          <p:cNvSpPr/>
          <p:nvPr/>
        </p:nvSpPr>
        <p:spPr>
          <a:xfrm>
            <a:off x="6035040" y="1490472"/>
            <a:ext cx="0" cy="109728"/>
          </a:xfrm>
          <a:prstGeom prst="line">
            <a:avLst/>
          </a:prstGeom>
          <a:noFill/>
          <a:ln w="19050">
            <a:solidFill>
              <a:srgbClr val="1B2A4A"/>
            </a:solidFill>
            <a:prstDash val="solid"/>
          </a:ln>
        </p:spPr>
      </p:sp>
      <p:sp>
        <p:nvSpPr>
          <p:cNvPr id="36" name="Shape 34"/>
          <p:cNvSpPr/>
          <p:nvPr/>
        </p:nvSpPr>
        <p:spPr>
          <a:xfrm>
            <a:off x="6766560" y="1490472"/>
            <a:ext cx="0" cy="109728"/>
          </a:xfrm>
          <a:prstGeom prst="line">
            <a:avLst/>
          </a:prstGeom>
          <a:noFill/>
          <a:ln w="19050">
            <a:solidFill>
              <a:srgbClr val="1B2A4A"/>
            </a:solidFill>
            <a:prstDash val="solid"/>
          </a:ln>
        </p:spPr>
      </p:sp>
      <p:sp>
        <p:nvSpPr>
          <p:cNvPr id="37" name="Shape 35"/>
          <p:cNvSpPr/>
          <p:nvPr/>
        </p:nvSpPr>
        <p:spPr>
          <a:xfrm>
            <a:off x="7498080" y="1490472"/>
            <a:ext cx="0" cy="109728"/>
          </a:xfrm>
          <a:prstGeom prst="line">
            <a:avLst/>
          </a:prstGeom>
          <a:noFill/>
          <a:ln w="19050">
            <a:solidFill>
              <a:srgbClr val="1B2A4A"/>
            </a:solidFill>
            <a:prstDash val="solid"/>
          </a:ln>
        </p:spPr>
      </p:sp>
      <p:sp>
        <p:nvSpPr>
          <p:cNvPr id="38" name="Shape 36"/>
          <p:cNvSpPr/>
          <p:nvPr/>
        </p:nvSpPr>
        <p:spPr>
          <a:xfrm>
            <a:off x="8229600" y="1490472"/>
            <a:ext cx="0" cy="109728"/>
          </a:xfrm>
          <a:prstGeom prst="line">
            <a:avLst/>
          </a:prstGeom>
          <a:noFill/>
          <a:ln w="19050">
            <a:solidFill>
              <a:srgbClr val="1B2A4A"/>
            </a:solidFill>
            <a:prstDash val="solid"/>
          </a:ln>
        </p:spPr>
      </p:sp>
      <p:sp>
        <p:nvSpPr>
          <p:cNvPr id="39" name="Text 37"/>
          <p:cNvSpPr/>
          <p:nvPr/>
        </p:nvSpPr>
        <p:spPr>
          <a:xfrm>
            <a:off x="914400" y="2468880"/>
            <a:ext cx="7315200" cy="292608"/>
          </a:xfrm>
          <a:prstGeom prst="rect">
            <a:avLst/>
          </a:prstGeom>
          <a:noFill/>
          <a:ln/>
        </p:spPr>
        <p:txBody>
          <a:bodyPr wrap="square" lIns="0" tIns="0" rIns="0" bIns="0" rtlCol="0" anchor="ctr"/>
          <a:lstStyle/>
          <a:p>
            <a:pPr algn="ctr" indent="0" marL="0">
              <a:buNone/>
            </a:pPr>
            <a:r>
              <a:rPr lang="en-US" sz="1100" i="1" dirty="0">
                <a:solidFill>
                  <a:srgbClr val="5A5A7A"/>
                </a:solidFill>
              </a:rPr>
              <a:t>each jump = 0.1 (one tenth)</a:t>
            </a:r>
            <a:endParaRPr lang="en-US" sz="1100" dirty="0"/>
          </a:p>
        </p:txBody>
      </p:sp>
      <p:sp>
        <p:nvSpPr>
          <p:cNvPr id="40" name="Text 38"/>
          <p:cNvSpPr/>
          <p:nvPr/>
        </p:nvSpPr>
        <p:spPr>
          <a:xfrm>
            <a:off x="914400" y="1216152"/>
            <a:ext cx="7315200" cy="274320"/>
          </a:xfrm>
          <a:prstGeom prst="rect">
            <a:avLst/>
          </a:prstGeom>
          <a:noFill/>
          <a:ln/>
        </p:spPr>
        <p:txBody>
          <a:bodyPr wrap="square" lIns="0" tIns="0" rIns="0" bIns="0" rtlCol="0" anchor="ctr"/>
          <a:lstStyle/>
          <a:p>
            <a:pPr algn="ctr" indent="0" marL="0">
              <a:buNone/>
            </a:pPr>
            <a:r>
              <a:rPr lang="en-US" sz="1300" b="1" dirty="0">
                <a:solidFill>
                  <a:srgbClr val="1B2A4A"/>
                </a:solidFill>
              </a:rPr>
              <a:t>1 whole ÷ 0.1 = 10 tenths</a:t>
            </a:r>
            <a:endParaRPr lang="en-US" sz="1300" dirty="0"/>
          </a:p>
        </p:txBody>
      </p:sp>
      <p:sp>
        <p:nvSpPr>
          <p:cNvPr id="41" name="Shape 39"/>
          <p:cNvSpPr/>
          <p:nvPr/>
        </p:nvSpPr>
        <p:spPr>
          <a:xfrm>
            <a:off x="914400" y="2880360"/>
            <a:ext cx="7315200" cy="1234440"/>
          </a:xfrm>
          <a:prstGeom prst="roundRect">
            <a:avLst>
              <a:gd name="adj" fmla="val 7407"/>
            </a:avLst>
          </a:prstGeom>
          <a:solidFill>
            <a:srgbClr val="FFFFFF"/>
          </a:solidFill>
          <a:ln w="6350">
            <a:solidFill>
              <a:srgbClr val="DDDDEE"/>
            </a:solidFill>
            <a:prstDash val="solid"/>
          </a:ln>
        </p:spPr>
      </p:sp>
      <p:sp>
        <p:nvSpPr>
          <p:cNvPr id="42" name="Text 40"/>
          <p:cNvSpPr/>
          <p:nvPr/>
        </p:nvSpPr>
        <p:spPr>
          <a:xfrm>
            <a:off x="1097280" y="3017520"/>
            <a:ext cx="6949440" cy="502920"/>
          </a:xfrm>
          <a:prstGeom prst="rect">
            <a:avLst/>
          </a:prstGeom>
          <a:noFill/>
          <a:ln/>
        </p:spPr>
        <p:txBody>
          <a:bodyPr wrap="square" lIns="0" tIns="0" rIns="0" bIns="0" rtlCol="0" anchor="ctr"/>
          <a:lstStyle/>
          <a:p>
            <a:pPr indent="0" marL="0">
              <a:buNone/>
            </a:pPr>
            <a:r>
              <a:rPr lang="en-US" sz="1500" dirty="0">
                <a:solidFill>
                  <a:srgbClr val="1A1A2E"/>
                </a:solidFill>
                <a:latin typeface="Cambria" pitchFamily="34" charset="0"/>
                <a:ea typeface="Cambria" pitchFamily="34" charset="-122"/>
                <a:cs typeface="Cambria" pitchFamily="34" charset="-120"/>
              </a:rPr>
              <a:t>Every whole holds 10 tenths, so 3 wholes ÷ 0.1 = 3 × 10 = 30 tenths.</a:t>
            </a:r>
            <a:endParaRPr lang="en-US" sz="1500" dirty="0"/>
          </a:p>
        </p:txBody>
      </p:sp>
      <p:sp>
        <p:nvSpPr>
          <p:cNvPr id="43" name="Text 41"/>
          <p:cNvSpPr/>
          <p:nvPr/>
        </p:nvSpPr>
        <p:spPr>
          <a:xfrm>
            <a:off x="1097280" y="3520440"/>
            <a:ext cx="6949440" cy="457200"/>
          </a:xfrm>
          <a:prstGeom prst="rect">
            <a:avLst/>
          </a:prstGeom>
          <a:noFill/>
          <a:ln/>
        </p:spPr>
        <p:txBody>
          <a:bodyPr wrap="square" lIns="0" tIns="0" rIns="0" bIns="0" rtlCol="0" anchor="ctr"/>
          <a:lstStyle/>
          <a:p>
            <a:pPr indent="0" marL="0">
              <a:buNone/>
            </a:pPr>
            <a:r>
              <a:rPr lang="en-US" sz="2200" b="1" dirty="0">
                <a:solidFill>
                  <a:srgbClr val="8A5726"/>
                </a:solidFill>
                <a:latin typeface="Cambria" pitchFamily="34" charset="0"/>
                <a:ea typeface="Cambria" pitchFamily="34" charset="-122"/>
                <a:cs typeface="Cambria" pitchFamily="34" charset="-120"/>
              </a:rPr>
              <a:t>3 ÷ 0.1 = 30</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Pictorial</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CPA · Diagram</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Text 4"/>
          <p:cNvSpPr/>
          <p:nvPr/>
        </p:nvSpPr>
        <p:spPr>
          <a:xfrm>
            <a:off x="457200" y="896112"/>
            <a:ext cx="8229600" cy="320040"/>
          </a:xfrm>
          <a:prstGeom prst="rect">
            <a:avLst/>
          </a:prstGeom>
          <a:noFill/>
          <a:ln/>
        </p:spPr>
        <p:txBody>
          <a:bodyPr wrap="square" lIns="0" tIns="0" rIns="0" bIns="0" rtlCol="0" anchor="ctr"/>
          <a:lstStyle/>
          <a:p>
            <a:pPr indent="0" marL="0">
              <a:buNone/>
            </a:pPr>
            <a:r>
              <a:rPr lang="en-US" sz="1300" i="1" dirty="0">
                <a:solidFill>
                  <a:srgbClr val="5A5A7A"/>
                </a:solidFill>
              </a:rPr>
              <a:t>Dividing by 0.1 slides every digit one place value to the left.</a:t>
            </a:r>
            <a:endParaRPr lang="en-US" sz="1300" dirty="0"/>
          </a:p>
        </p:txBody>
      </p:sp>
      <p:sp>
        <p:nvSpPr>
          <p:cNvPr id="7" name="Shape 5"/>
          <p:cNvSpPr/>
          <p:nvPr/>
        </p:nvSpPr>
        <p:spPr>
          <a:xfrm>
            <a:off x="2834640" y="1371600"/>
            <a:ext cx="1219200" cy="365760"/>
          </a:xfrm>
          <a:prstGeom prst="rect">
            <a:avLst/>
          </a:prstGeom>
          <a:solidFill>
            <a:srgbClr val="1B2A4A"/>
          </a:solidFill>
          <a:ln w="12700">
            <a:solidFill>
              <a:srgbClr val="1B2A4A"/>
            </a:solidFill>
            <a:prstDash val="solid"/>
          </a:ln>
        </p:spPr>
      </p:sp>
      <p:sp>
        <p:nvSpPr>
          <p:cNvPr id="8" name="Text 6"/>
          <p:cNvSpPr/>
          <p:nvPr/>
        </p:nvSpPr>
        <p:spPr>
          <a:xfrm>
            <a:off x="2834640" y="1371600"/>
            <a:ext cx="1219200" cy="365760"/>
          </a:xfrm>
          <a:prstGeom prst="rect">
            <a:avLst/>
          </a:prstGeom>
          <a:noFill/>
          <a:ln/>
        </p:spPr>
        <p:txBody>
          <a:bodyPr wrap="square" lIns="0" tIns="0" rIns="0" bIns="0" rtlCol="0" anchor="ctr"/>
          <a:lstStyle/>
          <a:p>
            <a:pPr algn="ctr" indent="0" marL="0">
              <a:buNone/>
            </a:pPr>
            <a:r>
              <a:rPr lang="en-US" sz="900" b="1" dirty="0">
                <a:solidFill>
                  <a:srgbClr val="FFFFFF"/>
                </a:solidFill>
              </a:rPr>
              <a:t>Hundreds</a:t>
            </a:r>
            <a:endParaRPr lang="en-US" sz="900" dirty="0"/>
          </a:p>
        </p:txBody>
      </p:sp>
      <p:sp>
        <p:nvSpPr>
          <p:cNvPr id="9" name="Shape 7"/>
          <p:cNvSpPr/>
          <p:nvPr/>
        </p:nvSpPr>
        <p:spPr>
          <a:xfrm>
            <a:off x="4053840" y="1371600"/>
            <a:ext cx="1219200" cy="365760"/>
          </a:xfrm>
          <a:prstGeom prst="rect">
            <a:avLst/>
          </a:prstGeom>
          <a:solidFill>
            <a:srgbClr val="1B2A4A"/>
          </a:solidFill>
          <a:ln w="12700">
            <a:solidFill>
              <a:srgbClr val="1B2A4A"/>
            </a:solidFill>
            <a:prstDash val="solid"/>
          </a:ln>
        </p:spPr>
      </p:sp>
      <p:sp>
        <p:nvSpPr>
          <p:cNvPr id="10" name="Text 8"/>
          <p:cNvSpPr/>
          <p:nvPr/>
        </p:nvSpPr>
        <p:spPr>
          <a:xfrm>
            <a:off x="4053840" y="1371600"/>
            <a:ext cx="1219200" cy="365760"/>
          </a:xfrm>
          <a:prstGeom prst="rect">
            <a:avLst/>
          </a:prstGeom>
          <a:noFill/>
          <a:ln/>
        </p:spPr>
        <p:txBody>
          <a:bodyPr wrap="square" lIns="0" tIns="0" rIns="0" bIns="0" rtlCol="0" anchor="ctr"/>
          <a:lstStyle/>
          <a:p>
            <a:pPr algn="ctr" indent="0" marL="0">
              <a:buNone/>
            </a:pPr>
            <a:r>
              <a:rPr lang="en-US" sz="900" b="1" dirty="0">
                <a:solidFill>
                  <a:srgbClr val="FFFFFF"/>
                </a:solidFill>
              </a:rPr>
              <a:t>Tens</a:t>
            </a:r>
            <a:endParaRPr lang="en-US" sz="900" dirty="0"/>
          </a:p>
        </p:txBody>
      </p:sp>
      <p:sp>
        <p:nvSpPr>
          <p:cNvPr id="11" name="Shape 9"/>
          <p:cNvSpPr/>
          <p:nvPr/>
        </p:nvSpPr>
        <p:spPr>
          <a:xfrm>
            <a:off x="5273040" y="1371600"/>
            <a:ext cx="1219200" cy="365760"/>
          </a:xfrm>
          <a:prstGeom prst="rect">
            <a:avLst/>
          </a:prstGeom>
          <a:solidFill>
            <a:srgbClr val="1B2A4A"/>
          </a:solidFill>
          <a:ln w="12700">
            <a:solidFill>
              <a:srgbClr val="1B2A4A"/>
            </a:solidFill>
            <a:prstDash val="solid"/>
          </a:ln>
        </p:spPr>
      </p:sp>
      <p:sp>
        <p:nvSpPr>
          <p:cNvPr id="12" name="Text 10"/>
          <p:cNvSpPr/>
          <p:nvPr/>
        </p:nvSpPr>
        <p:spPr>
          <a:xfrm>
            <a:off x="5273040" y="1371600"/>
            <a:ext cx="1219200" cy="365760"/>
          </a:xfrm>
          <a:prstGeom prst="rect">
            <a:avLst/>
          </a:prstGeom>
          <a:noFill/>
          <a:ln/>
        </p:spPr>
        <p:txBody>
          <a:bodyPr wrap="square" lIns="0" tIns="0" rIns="0" bIns="0" rtlCol="0" anchor="ctr"/>
          <a:lstStyle/>
          <a:p>
            <a:pPr algn="ctr" indent="0" marL="0">
              <a:buNone/>
            </a:pPr>
            <a:r>
              <a:rPr lang="en-US" sz="900" b="1" dirty="0">
                <a:solidFill>
                  <a:srgbClr val="FFFFFF"/>
                </a:solidFill>
              </a:rPr>
              <a:t>Ones</a:t>
            </a:r>
            <a:endParaRPr lang="en-US" sz="900" dirty="0"/>
          </a:p>
        </p:txBody>
      </p:sp>
      <p:sp>
        <p:nvSpPr>
          <p:cNvPr id="13" name="Shape 11"/>
          <p:cNvSpPr/>
          <p:nvPr/>
        </p:nvSpPr>
        <p:spPr>
          <a:xfrm>
            <a:off x="2834640" y="1737360"/>
            <a:ext cx="1219200" cy="566928"/>
          </a:xfrm>
          <a:prstGeom prst="rect">
            <a:avLst/>
          </a:prstGeom>
          <a:solidFill>
            <a:srgbClr val="FFFFFF"/>
          </a:solidFill>
          <a:ln w="12700">
            <a:solidFill>
              <a:srgbClr val="999999"/>
            </a:solidFill>
            <a:prstDash val="solid"/>
          </a:ln>
        </p:spPr>
      </p:sp>
      <p:sp>
        <p:nvSpPr>
          <p:cNvPr id="14" name="Shape 12"/>
          <p:cNvSpPr/>
          <p:nvPr/>
        </p:nvSpPr>
        <p:spPr>
          <a:xfrm>
            <a:off x="4053840" y="1737360"/>
            <a:ext cx="1219200" cy="566928"/>
          </a:xfrm>
          <a:prstGeom prst="rect">
            <a:avLst/>
          </a:prstGeom>
          <a:solidFill>
            <a:srgbClr val="FFFFFF"/>
          </a:solidFill>
          <a:ln w="12700">
            <a:solidFill>
              <a:srgbClr val="999999"/>
            </a:solidFill>
            <a:prstDash val="solid"/>
          </a:ln>
        </p:spPr>
      </p:sp>
      <p:sp>
        <p:nvSpPr>
          <p:cNvPr id="15" name="Shape 13"/>
          <p:cNvSpPr/>
          <p:nvPr/>
        </p:nvSpPr>
        <p:spPr>
          <a:xfrm>
            <a:off x="5273040" y="1737360"/>
            <a:ext cx="1219200" cy="566928"/>
          </a:xfrm>
          <a:prstGeom prst="rect">
            <a:avLst/>
          </a:prstGeom>
          <a:solidFill>
            <a:srgbClr val="FFFFFF"/>
          </a:solidFill>
          <a:ln w="12700">
            <a:solidFill>
              <a:srgbClr val="999999"/>
            </a:solidFill>
            <a:prstDash val="solid"/>
          </a:ln>
        </p:spPr>
      </p:sp>
      <p:sp>
        <p:nvSpPr>
          <p:cNvPr id="16" name="Text 14"/>
          <p:cNvSpPr/>
          <p:nvPr/>
        </p:nvSpPr>
        <p:spPr>
          <a:xfrm>
            <a:off x="5273040" y="1737360"/>
            <a:ext cx="1219200" cy="566928"/>
          </a:xfrm>
          <a:prstGeom prst="rect">
            <a:avLst/>
          </a:prstGeom>
          <a:noFill/>
          <a:ln/>
        </p:spPr>
        <p:txBody>
          <a:bodyPr wrap="square" lIns="0" tIns="0" rIns="0" bIns="0" rtlCol="0" anchor="ctr"/>
          <a:lstStyle/>
          <a:p>
            <a:pPr algn="ctr" indent="0" marL="0">
              <a:buNone/>
            </a:pPr>
            <a:r>
              <a:rPr lang="en-US" sz="2400" b="1" dirty="0">
                <a:solidFill>
                  <a:srgbClr val="4A3D8F"/>
                </a:solidFill>
                <a:latin typeface="Cambria" pitchFamily="34" charset="0"/>
                <a:ea typeface="Cambria" pitchFamily="34" charset="-122"/>
                <a:cs typeface="Cambria" pitchFamily="34" charset="-120"/>
              </a:rPr>
              <a:t>3</a:t>
            </a:r>
            <a:endParaRPr lang="en-US" sz="2400" dirty="0"/>
          </a:p>
        </p:txBody>
      </p:sp>
      <p:sp>
        <p:nvSpPr>
          <p:cNvPr id="17" name="Shape 15"/>
          <p:cNvSpPr/>
          <p:nvPr/>
        </p:nvSpPr>
        <p:spPr>
          <a:xfrm>
            <a:off x="2834640" y="2807208"/>
            <a:ext cx="1219200" cy="566928"/>
          </a:xfrm>
          <a:prstGeom prst="rect">
            <a:avLst/>
          </a:prstGeom>
          <a:solidFill>
            <a:srgbClr val="FFFFFF"/>
          </a:solidFill>
          <a:ln w="12700">
            <a:solidFill>
              <a:srgbClr val="999999"/>
            </a:solidFill>
            <a:prstDash val="solid"/>
          </a:ln>
        </p:spPr>
      </p:sp>
      <p:sp>
        <p:nvSpPr>
          <p:cNvPr id="18" name="Shape 16"/>
          <p:cNvSpPr/>
          <p:nvPr/>
        </p:nvSpPr>
        <p:spPr>
          <a:xfrm>
            <a:off x="4053840" y="2807208"/>
            <a:ext cx="1219200" cy="566928"/>
          </a:xfrm>
          <a:prstGeom prst="rect">
            <a:avLst/>
          </a:prstGeom>
          <a:solidFill>
            <a:srgbClr val="FFFFFF"/>
          </a:solidFill>
          <a:ln w="12700">
            <a:solidFill>
              <a:srgbClr val="999999"/>
            </a:solidFill>
            <a:prstDash val="solid"/>
          </a:ln>
        </p:spPr>
      </p:sp>
      <p:sp>
        <p:nvSpPr>
          <p:cNvPr id="19" name="Text 17"/>
          <p:cNvSpPr/>
          <p:nvPr/>
        </p:nvSpPr>
        <p:spPr>
          <a:xfrm>
            <a:off x="4053840" y="2807208"/>
            <a:ext cx="1219200" cy="566928"/>
          </a:xfrm>
          <a:prstGeom prst="rect">
            <a:avLst/>
          </a:prstGeom>
          <a:noFill/>
          <a:ln/>
        </p:spPr>
        <p:txBody>
          <a:bodyPr wrap="square" lIns="0" tIns="0" rIns="0" bIns="0" rtlCol="0" anchor="ctr"/>
          <a:lstStyle/>
          <a:p>
            <a:pPr algn="ctr" indent="0" marL="0">
              <a:buNone/>
            </a:pPr>
            <a:r>
              <a:rPr lang="en-US" sz="2400" b="1" dirty="0">
                <a:solidFill>
                  <a:srgbClr val="4A3D8F"/>
                </a:solidFill>
                <a:latin typeface="Cambria" pitchFamily="34" charset="0"/>
                <a:ea typeface="Cambria" pitchFamily="34" charset="-122"/>
                <a:cs typeface="Cambria" pitchFamily="34" charset="-120"/>
              </a:rPr>
              <a:t>3</a:t>
            </a:r>
            <a:endParaRPr lang="en-US" sz="2400" dirty="0"/>
          </a:p>
        </p:txBody>
      </p:sp>
      <p:sp>
        <p:nvSpPr>
          <p:cNvPr id="20" name="Shape 18"/>
          <p:cNvSpPr/>
          <p:nvPr/>
        </p:nvSpPr>
        <p:spPr>
          <a:xfrm>
            <a:off x="5273040" y="2807208"/>
            <a:ext cx="1219200" cy="566928"/>
          </a:xfrm>
          <a:prstGeom prst="rect">
            <a:avLst/>
          </a:prstGeom>
          <a:solidFill>
            <a:srgbClr val="FFFFFF"/>
          </a:solidFill>
          <a:ln w="12700">
            <a:solidFill>
              <a:srgbClr val="999999"/>
            </a:solidFill>
            <a:prstDash val="solid"/>
          </a:ln>
        </p:spPr>
      </p:sp>
      <p:sp>
        <p:nvSpPr>
          <p:cNvPr id="21" name="Text 19"/>
          <p:cNvSpPr/>
          <p:nvPr/>
        </p:nvSpPr>
        <p:spPr>
          <a:xfrm>
            <a:off x="5273040" y="2807208"/>
            <a:ext cx="1219200" cy="566928"/>
          </a:xfrm>
          <a:prstGeom prst="rect">
            <a:avLst/>
          </a:prstGeom>
          <a:noFill/>
          <a:ln/>
        </p:spPr>
        <p:txBody>
          <a:bodyPr wrap="square" lIns="0" tIns="0" rIns="0" bIns="0" rtlCol="0" anchor="ctr"/>
          <a:lstStyle/>
          <a:p>
            <a:pPr algn="ctr" indent="0" marL="0">
              <a:buNone/>
            </a:pPr>
            <a:r>
              <a:rPr lang="en-US" sz="2400" b="1" dirty="0">
                <a:solidFill>
                  <a:srgbClr val="4A3D8F"/>
                </a:solidFill>
                <a:latin typeface="Cambria" pitchFamily="34" charset="0"/>
                <a:ea typeface="Cambria" pitchFamily="34" charset="-122"/>
                <a:cs typeface="Cambria" pitchFamily="34" charset="-120"/>
              </a:rPr>
              <a:t>0</a:t>
            </a:r>
            <a:endParaRPr lang="en-US" sz="2400" dirty="0"/>
          </a:p>
        </p:txBody>
      </p:sp>
      <p:sp>
        <p:nvSpPr>
          <p:cNvPr id="22" name="Text 20"/>
          <p:cNvSpPr/>
          <p:nvPr/>
        </p:nvSpPr>
        <p:spPr>
          <a:xfrm>
            <a:off x="1828800" y="1737360"/>
            <a:ext cx="914400" cy="566928"/>
          </a:xfrm>
          <a:prstGeom prst="rect">
            <a:avLst/>
          </a:prstGeom>
          <a:noFill/>
          <a:ln/>
        </p:spPr>
        <p:txBody>
          <a:bodyPr wrap="square" lIns="0" tIns="0" rIns="0" bIns="0" rtlCol="0" anchor="ctr"/>
          <a:lstStyle/>
          <a:p>
            <a:pPr algn="r" indent="0" marL="0">
              <a:buNone/>
            </a:pPr>
            <a:r>
              <a:rPr lang="en-US" sz="1000" b="1" dirty="0">
                <a:solidFill>
                  <a:srgbClr val="5A5A7A"/>
                </a:solidFill>
              </a:rPr>
              <a:t>3</a:t>
            </a:r>
            <a:endParaRPr lang="en-US" sz="1000" dirty="0"/>
          </a:p>
        </p:txBody>
      </p:sp>
      <p:sp>
        <p:nvSpPr>
          <p:cNvPr id="23" name="Text 21"/>
          <p:cNvSpPr/>
          <p:nvPr/>
        </p:nvSpPr>
        <p:spPr>
          <a:xfrm>
            <a:off x="1828800" y="2807208"/>
            <a:ext cx="914400" cy="566928"/>
          </a:xfrm>
          <a:prstGeom prst="rect">
            <a:avLst/>
          </a:prstGeom>
          <a:noFill/>
          <a:ln/>
        </p:spPr>
        <p:txBody>
          <a:bodyPr wrap="square" lIns="0" tIns="0" rIns="0" bIns="0" rtlCol="0" anchor="ctr"/>
          <a:lstStyle/>
          <a:p>
            <a:pPr algn="r" indent="0" marL="0">
              <a:buNone/>
            </a:pPr>
            <a:r>
              <a:rPr lang="en-US" sz="1000" b="1" dirty="0">
                <a:solidFill>
                  <a:srgbClr val="5A5A7A"/>
                </a:solidFill>
              </a:rPr>
              <a:t>÷ 0.1</a:t>
            </a:r>
            <a:endParaRPr lang="en-US" sz="1000" dirty="0"/>
          </a:p>
        </p:txBody>
      </p:sp>
      <p:sp>
        <p:nvSpPr>
          <p:cNvPr id="24" name="Shape 22"/>
          <p:cNvSpPr/>
          <p:nvPr/>
        </p:nvSpPr>
        <p:spPr>
          <a:xfrm flipV="1">
            <a:off x="4663440" y="2304288"/>
            <a:ext cx="1219200" cy="502920"/>
          </a:xfrm>
          <a:prstGeom prst="line">
            <a:avLst/>
          </a:prstGeom>
          <a:noFill/>
          <a:ln w="28575">
            <a:solidFill>
              <a:srgbClr val="D9941A"/>
            </a:solidFill>
            <a:prstDash val="solid"/>
            <a:tailEnd type="triangle"/>
          </a:ln>
        </p:spPr>
      </p:sp>
      <p:sp>
        <p:nvSpPr>
          <p:cNvPr id="25" name="Text 23"/>
          <p:cNvSpPr/>
          <p:nvPr/>
        </p:nvSpPr>
        <p:spPr>
          <a:xfrm>
            <a:off x="2834640" y="3465576"/>
            <a:ext cx="3657600" cy="365760"/>
          </a:xfrm>
          <a:prstGeom prst="rect">
            <a:avLst/>
          </a:prstGeom>
          <a:noFill/>
          <a:ln/>
        </p:spPr>
        <p:txBody>
          <a:bodyPr wrap="square" lIns="0" tIns="0" rIns="0" bIns="0" rtlCol="0" anchor="ctr"/>
          <a:lstStyle/>
          <a:p>
            <a:pPr algn="ctr" indent="0" marL="0">
              <a:buNone/>
            </a:pPr>
            <a:r>
              <a:rPr lang="en-US" sz="1200" i="1" dirty="0">
                <a:solidFill>
                  <a:srgbClr val="5A5A7A"/>
                </a:solidFill>
              </a:rPr>
              <a:t>3 ÷ 0.1 = 30 -- the digit 3 slides one place left.</a:t>
            </a:r>
            <a:endParaRPr lang="en-US" sz="1200" dirty="0"/>
          </a:p>
        </p:txBody>
      </p:sp>
      <p:sp>
        <p:nvSpPr>
          <p:cNvPr id="26" name="Shape 24"/>
          <p:cNvSpPr/>
          <p:nvPr/>
        </p:nvSpPr>
        <p:spPr>
          <a:xfrm>
            <a:off x="914400" y="3520440"/>
            <a:ext cx="7315200" cy="685800"/>
          </a:xfrm>
          <a:prstGeom prst="roundRect">
            <a:avLst>
              <a:gd name="adj" fmla="val 13333"/>
            </a:avLst>
          </a:prstGeom>
          <a:solidFill>
            <a:srgbClr val="F5E6C8"/>
          </a:solidFill>
          <a:ln w="6350">
            <a:solidFill>
              <a:srgbClr val="DDDDEE"/>
            </a:solidFill>
            <a:prstDash val="solid"/>
          </a:ln>
        </p:spPr>
      </p:sp>
      <p:sp>
        <p:nvSpPr>
          <p:cNvPr id="27" name="Text 25"/>
          <p:cNvSpPr/>
          <p:nvPr/>
        </p:nvSpPr>
        <p:spPr>
          <a:xfrm>
            <a:off x="1097280" y="3566160"/>
            <a:ext cx="6949440" cy="594360"/>
          </a:xfrm>
          <a:prstGeom prst="rect">
            <a:avLst/>
          </a:prstGeom>
          <a:noFill/>
          <a:ln/>
        </p:spPr>
        <p:txBody>
          <a:bodyPr wrap="square" lIns="0" tIns="0" rIns="0" bIns="0" rtlCol="0" anchor="ctr"/>
          <a:lstStyle/>
          <a:p>
            <a:pPr indent="0" marL="0">
              <a:buNone/>
            </a:pPr>
            <a:r>
              <a:rPr lang="en-US" sz="1300" dirty="0">
                <a:solidFill>
                  <a:srgbClr val="1A1A2E"/>
                </a:solidFill>
                <a:latin typeface="Cambria" pitchFamily="34" charset="0"/>
                <a:ea typeface="Cambria" pitchFamily="34" charset="-122"/>
                <a:cs typeface="Cambria" pitchFamily="34" charset="-120"/>
              </a:rPr>
              <a:t>4 ÷ 0.01 = 400 -- dividing by 0.01 slides every digit two places left instead of one.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Abstract</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CPA · Rule</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188720"/>
            <a:ext cx="8229600" cy="2103120"/>
          </a:xfrm>
          <a:prstGeom prst="roundRect">
            <a:avLst>
              <a:gd name="adj" fmla="val 4348"/>
            </a:avLst>
          </a:prstGeom>
          <a:solidFill>
            <a:srgbClr val="F5E6C8"/>
          </a:solidFill>
          <a:ln w="6350">
            <a:solidFill>
              <a:srgbClr val="DDDDEE"/>
            </a:solidFill>
            <a:prstDash val="solid"/>
          </a:ln>
        </p:spPr>
      </p:sp>
      <p:sp>
        <p:nvSpPr>
          <p:cNvPr id="7" name="Text 5"/>
          <p:cNvSpPr/>
          <p:nvPr/>
        </p:nvSpPr>
        <p:spPr>
          <a:xfrm>
            <a:off x="731520" y="1371600"/>
            <a:ext cx="7680960" cy="1737360"/>
          </a:xfrm>
          <a:prstGeom prst="rect">
            <a:avLst/>
          </a:prstGeom>
          <a:noFill/>
          <a:ln/>
        </p:spPr>
        <p:txBody>
          <a:bodyPr wrap="square" lIns="0" tIns="0" rIns="0" bIns="0" rtlCol="0" anchor="ctr"/>
          <a:lstStyle/>
          <a:p>
            <a:pPr indent="0" marL="0">
              <a:buNone/>
            </a:pPr>
            <a:r>
              <a:rPr lang="en-US" sz="1600" dirty="0">
                <a:solidFill>
                  <a:srgbClr val="1A1A2E"/>
                </a:solidFill>
                <a:latin typeface="Cambria" pitchFamily="34" charset="0"/>
                <a:ea typeface="Cambria" pitchFamily="34" charset="-122"/>
                <a:cs typeface="Cambria" pitchFamily="34" charset="-120"/>
              </a:rPr>
              <a:t>To divide a whole number by 0.1, multiply by 10. To divide by 0.01, multiply by 100 -- because dividing by a decimal smaller than 1 counts smaller equal pieces, which means more pieces fit.</a:t>
            </a:r>
            <a:endParaRPr lang="en-US" sz="1600" dirty="0"/>
          </a:p>
        </p:txBody>
      </p:sp>
      <p:sp>
        <p:nvSpPr>
          <p:cNvPr id="8" name="Shape 6"/>
          <p:cNvSpPr/>
          <p:nvPr/>
        </p:nvSpPr>
        <p:spPr>
          <a:xfrm>
            <a:off x="1554480" y="3520440"/>
            <a:ext cx="6035040" cy="438912"/>
          </a:xfrm>
          <a:prstGeom prst="roundRect">
            <a:avLst>
              <a:gd name="adj" fmla="val 12500"/>
            </a:avLst>
          </a:prstGeom>
          <a:solidFill>
            <a:srgbClr val="464EB8"/>
          </a:solidFill>
          <a:ln w="12700">
            <a:solidFill>
              <a:srgbClr val="464EB8"/>
            </a:solidFill>
            <a:prstDash val="solid"/>
          </a:ln>
        </p:spPr>
      </p:sp>
      <p:sp>
        <p:nvSpPr>
          <p:cNvPr id="9" name="Text 7"/>
          <p:cNvSpPr/>
          <p:nvPr/>
        </p:nvSpPr>
        <p:spPr>
          <a:xfrm>
            <a:off x="1554480" y="3520440"/>
            <a:ext cx="603504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one word for the rule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Vocabulary</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Key Terms</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3977640" cy="1554480"/>
          </a:xfrm>
          <a:prstGeom prst="roundRect">
            <a:avLst>
              <a:gd name="adj" fmla="val 5882"/>
            </a:avLst>
          </a:prstGeom>
          <a:solidFill>
            <a:srgbClr val="FFFFFF"/>
          </a:solidFill>
          <a:ln w="6350">
            <a:solidFill>
              <a:srgbClr val="DDDDEE"/>
            </a:solidFill>
            <a:prstDash val="solid"/>
          </a:ln>
        </p:spPr>
      </p:sp>
      <p:sp>
        <p:nvSpPr>
          <p:cNvPr id="7" name="Text 5"/>
          <p:cNvSpPr/>
          <p:nvPr/>
        </p:nvSpPr>
        <p:spPr>
          <a:xfrm>
            <a:off x="640080" y="1051560"/>
            <a:ext cx="3657600" cy="365760"/>
          </a:xfrm>
          <a:prstGeom prst="rect">
            <a:avLst/>
          </a:prstGeom>
          <a:noFill/>
          <a:ln/>
        </p:spPr>
        <p:txBody>
          <a:bodyPr wrap="square" lIns="0" tIns="0" rIns="0" bIns="0" rtlCol="0" anchor="ctr"/>
          <a:lstStyle/>
          <a:p>
            <a:pPr indent="0" marL="0">
              <a:buNone/>
            </a:pPr>
            <a:r>
              <a:rPr lang="en-US" sz="1600" b="1" dirty="0">
                <a:solidFill>
                  <a:srgbClr val="8A5726"/>
                </a:solidFill>
                <a:latin typeface="Cambria" pitchFamily="34" charset="0"/>
                <a:ea typeface="Cambria" pitchFamily="34" charset="-122"/>
                <a:cs typeface="Cambria" pitchFamily="34" charset="-120"/>
              </a:rPr>
              <a:t>scoop</a:t>
            </a:r>
            <a:endParaRPr lang="en-US" sz="1600" dirty="0"/>
          </a:p>
        </p:txBody>
      </p:sp>
      <p:sp>
        <p:nvSpPr>
          <p:cNvPr id="8" name="Text 6"/>
          <p:cNvSpPr/>
          <p:nvPr/>
        </p:nvSpPr>
        <p:spPr>
          <a:xfrm>
            <a:off x="640080" y="1417320"/>
            <a:ext cx="3657600" cy="548640"/>
          </a:xfrm>
          <a:prstGeom prst="rect">
            <a:avLst/>
          </a:prstGeom>
          <a:noFill/>
          <a:ln/>
        </p:spPr>
        <p:txBody>
          <a:bodyPr wrap="square" lIns="0" tIns="0" rIns="0" bIns="0" rtlCol="0" anchor="ctr"/>
          <a:lstStyle/>
          <a:p>
            <a:pPr indent="0" marL="0">
              <a:buNone/>
            </a:pPr>
            <a:r>
              <a:rPr lang="en-US" sz="1200" dirty="0">
                <a:solidFill>
                  <a:srgbClr val="1A1A2E"/>
                </a:solidFill>
              </a:rPr>
              <a:t>the piece-size used to measure how many fit</a:t>
            </a:r>
            <a:endParaRPr lang="en-US" sz="1200" dirty="0"/>
          </a:p>
        </p:txBody>
      </p:sp>
      <p:sp>
        <p:nvSpPr>
          <p:cNvPr id="9" name="Text 7"/>
          <p:cNvSpPr/>
          <p:nvPr/>
        </p:nvSpPr>
        <p:spPr>
          <a:xfrm>
            <a:off x="640080" y="1965960"/>
            <a:ext cx="3657600" cy="457200"/>
          </a:xfrm>
          <a:prstGeom prst="rect">
            <a:avLst/>
          </a:prstGeom>
          <a:noFill/>
          <a:ln/>
        </p:spPr>
        <p:txBody>
          <a:bodyPr wrap="square" lIns="0" tIns="0" rIns="0" bIns="0" rtlCol="0" anchor="ctr"/>
          <a:lstStyle/>
          <a:p>
            <a:pPr indent="0" marL="0">
              <a:buNone/>
            </a:pPr>
            <a:r>
              <a:rPr lang="en-US" sz="1100" i="1" dirty="0">
                <a:solidFill>
                  <a:srgbClr val="5A5A7A"/>
                </a:solidFill>
              </a:rPr>
              <a:t>e.g. in 3 ÷ 0.1, the scoop size is 0.1</a:t>
            </a:r>
            <a:endParaRPr lang="en-US" sz="1100" dirty="0"/>
          </a:p>
        </p:txBody>
      </p:sp>
      <p:sp>
        <p:nvSpPr>
          <p:cNvPr id="10" name="Shape 8"/>
          <p:cNvSpPr/>
          <p:nvPr/>
        </p:nvSpPr>
        <p:spPr>
          <a:xfrm>
            <a:off x="4663440" y="960120"/>
            <a:ext cx="3977640" cy="1554480"/>
          </a:xfrm>
          <a:prstGeom prst="roundRect">
            <a:avLst>
              <a:gd name="adj" fmla="val 5882"/>
            </a:avLst>
          </a:prstGeom>
          <a:solidFill>
            <a:srgbClr val="FFFFFF"/>
          </a:solidFill>
          <a:ln w="6350">
            <a:solidFill>
              <a:srgbClr val="DDDDEE"/>
            </a:solidFill>
            <a:prstDash val="solid"/>
          </a:ln>
        </p:spPr>
      </p:sp>
      <p:sp>
        <p:nvSpPr>
          <p:cNvPr id="11" name="Text 9"/>
          <p:cNvSpPr/>
          <p:nvPr/>
        </p:nvSpPr>
        <p:spPr>
          <a:xfrm>
            <a:off x="4846320" y="1051560"/>
            <a:ext cx="3657600" cy="365760"/>
          </a:xfrm>
          <a:prstGeom prst="rect">
            <a:avLst/>
          </a:prstGeom>
          <a:noFill/>
          <a:ln/>
        </p:spPr>
        <p:txBody>
          <a:bodyPr wrap="square" lIns="0" tIns="0" rIns="0" bIns="0" rtlCol="0" anchor="ctr"/>
          <a:lstStyle/>
          <a:p>
            <a:pPr indent="0" marL="0">
              <a:buNone/>
            </a:pPr>
            <a:r>
              <a:rPr lang="en-US" sz="1600" b="1" dirty="0">
                <a:solidFill>
                  <a:srgbClr val="8A5726"/>
                </a:solidFill>
                <a:latin typeface="Cambria" pitchFamily="34" charset="0"/>
                <a:ea typeface="Cambria" pitchFamily="34" charset="-122"/>
                <a:cs typeface="Cambria" pitchFamily="34" charset="-120"/>
              </a:rPr>
              <a:t>one tenth</a:t>
            </a:r>
            <a:endParaRPr lang="en-US" sz="1600" dirty="0"/>
          </a:p>
        </p:txBody>
      </p:sp>
      <p:sp>
        <p:nvSpPr>
          <p:cNvPr id="12" name="Text 10"/>
          <p:cNvSpPr/>
          <p:nvPr/>
        </p:nvSpPr>
        <p:spPr>
          <a:xfrm>
            <a:off x="4846320" y="1417320"/>
            <a:ext cx="3657600" cy="548640"/>
          </a:xfrm>
          <a:prstGeom prst="rect">
            <a:avLst/>
          </a:prstGeom>
          <a:noFill/>
          <a:ln/>
        </p:spPr>
        <p:txBody>
          <a:bodyPr wrap="square" lIns="0" tIns="0" rIns="0" bIns="0" rtlCol="0" anchor="ctr"/>
          <a:lstStyle/>
          <a:p>
            <a:pPr indent="0" marL="0">
              <a:buNone/>
            </a:pPr>
            <a:r>
              <a:rPr lang="en-US" sz="1200" dirty="0">
                <a:solidFill>
                  <a:srgbClr val="1A1A2E"/>
                </a:solidFill>
              </a:rPr>
              <a:t>one out of 10 equal parts of a whole</a:t>
            </a:r>
            <a:endParaRPr lang="en-US" sz="1200" dirty="0"/>
          </a:p>
        </p:txBody>
      </p:sp>
      <p:sp>
        <p:nvSpPr>
          <p:cNvPr id="13" name="Text 11"/>
          <p:cNvSpPr/>
          <p:nvPr/>
        </p:nvSpPr>
        <p:spPr>
          <a:xfrm>
            <a:off x="4846320" y="1965960"/>
            <a:ext cx="3657600" cy="457200"/>
          </a:xfrm>
          <a:prstGeom prst="rect">
            <a:avLst/>
          </a:prstGeom>
          <a:noFill/>
          <a:ln/>
        </p:spPr>
        <p:txBody>
          <a:bodyPr wrap="square" lIns="0" tIns="0" rIns="0" bIns="0" rtlCol="0" anchor="ctr"/>
          <a:lstStyle/>
          <a:p>
            <a:pPr indent="0" marL="0">
              <a:buNone/>
            </a:pPr>
            <a:r>
              <a:rPr lang="en-US" sz="1100" i="1" dirty="0">
                <a:solidFill>
                  <a:srgbClr val="5A5A7A"/>
                </a:solidFill>
              </a:rPr>
              <a:t>e.g. 1 whole = 10 tenths</a:t>
            </a:r>
            <a:endParaRPr lang="en-US" sz="1100" dirty="0"/>
          </a:p>
        </p:txBody>
      </p:sp>
      <p:sp>
        <p:nvSpPr>
          <p:cNvPr id="14" name="Shape 12"/>
          <p:cNvSpPr/>
          <p:nvPr/>
        </p:nvSpPr>
        <p:spPr>
          <a:xfrm>
            <a:off x="457200" y="2651760"/>
            <a:ext cx="3977640" cy="1554480"/>
          </a:xfrm>
          <a:prstGeom prst="roundRect">
            <a:avLst>
              <a:gd name="adj" fmla="val 5882"/>
            </a:avLst>
          </a:prstGeom>
          <a:solidFill>
            <a:srgbClr val="FFFFFF"/>
          </a:solidFill>
          <a:ln w="6350">
            <a:solidFill>
              <a:srgbClr val="DDDDEE"/>
            </a:solidFill>
            <a:prstDash val="solid"/>
          </a:ln>
        </p:spPr>
      </p:sp>
      <p:sp>
        <p:nvSpPr>
          <p:cNvPr id="15" name="Text 13"/>
          <p:cNvSpPr/>
          <p:nvPr/>
        </p:nvSpPr>
        <p:spPr>
          <a:xfrm>
            <a:off x="640080" y="2743200"/>
            <a:ext cx="3657600" cy="365760"/>
          </a:xfrm>
          <a:prstGeom prst="rect">
            <a:avLst/>
          </a:prstGeom>
          <a:noFill/>
          <a:ln/>
        </p:spPr>
        <p:txBody>
          <a:bodyPr wrap="square" lIns="0" tIns="0" rIns="0" bIns="0" rtlCol="0" anchor="ctr"/>
          <a:lstStyle/>
          <a:p>
            <a:pPr indent="0" marL="0">
              <a:buNone/>
            </a:pPr>
            <a:r>
              <a:rPr lang="en-US" sz="1600" b="1" dirty="0">
                <a:solidFill>
                  <a:srgbClr val="8A5726"/>
                </a:solidFill>
                <a:latin typeface="Cambria" pitchFamily="34" charset="0"/>
                <a:ea typeface="Cambria" pitchFamily="34" charset="-122"/>
                <a:cs typeface="Cambria" pitchFamily="34" charset="-120"/>
              </a:rPr>
              <a:t>one hundredth</a:t>
            </a:r>
            <a:endParaRPr lang="en-US" sz="1600" dirty="0"/>
          </a:p>
        </p:txBody>
      </p:sp>
      <p:sp>
        <p:nvSpPr>
          <p:cNvPr id="16" name="Text 14"/>
          <p:cNvSpPr/>
          <p:nvPr/>
        </p:nvSpPr>
        <p:spPr>
          <a:xfrm>
            <a:off x="640080" y="3108960"/>
            <a:ext cx="3657600" cy="548640"/>
          </a:xfrm>
          <a:prstGeom prst="rect">
            <a:avLst/>
          </a:prstGeom>
          <a:noFill/>
          <a:ln/>
        </p:spPr>
        <p:txBody>
          <a:bodyPr wrap="square" lIns="0" tIns="0" rIns="0" bIns="0" rtlCol="0" anchor="ctr"/>
          <a:lstStyle/>
          <a:p>
            <a:pPr indent="0" marL="0">
              <a:buNone/>
            </a:pPr>
            <a:r>
              <a:rPr lang="en-US" sz="1200" dirty="0">
                <a:solidFill>
                  <a:srgbClr val="1A1A2E"/>
                </a:solidFill>
              </a:rPr>
              <a:t>one out of 100 equal parts of a whole</a:t>
            </a:r>
            <a:endParaRPr lang="en-US" sz="1200" dirty="0"/>
          </a:p>
        </p:txBody>
      </p:sp>
      <p:sp>
        <p:nvSpPr>
          <p:cNvPr id="17" name="Text 15"/>
          <p:cNvSpPr/>
          <p:nvPr/>
        </p:nvSpPr>
        <p:spPr>
          <a:xfrm>
            <a:off x="640080" y="3657600"/>
            <a:ext cx="3657600" cy="457200"/>
          </a:xfrm>
          <a:prstGeom prst="rect">
            <a:avLst/>
          </a:prstGeom>
          <a:noFill/>
          <a:ln/>
        </p:spPr>
        <p:txBody>
          <a:bodyPr wrap="square" lIns="0" tIns="0" rIns="0" bIns="0" rtlCol="0" anchor="ctr"/>
          <a:lstStyle/>
          <a:p>
            <a:pPr indent="0" marL="0">
              <a:buNone/>
            </a:pPr>
            <a:r>
              <a:rPr lang="en-US" sz="1100" i="1" dirty="0">
                <a:solidFill>
                  <a:srgbClr val="5A5A7A"/>
                </a:solidFill>
              </a:rPr>
              <a:t>e.g. 1 whole = 100 hundredths</a:t>
            </a:r>
            <a:endParaRPr lang="en-US" sz="1100" dirty="0"/>
          </a:p>
        </p:txBody>
      </p:sp>
      <p:sp>
        <p:nvSpPr>
          <p:cNvPr id="18" name="Shape 16"/>
          <p:cNvSpPr/>
          <p:nvPr/>
        </p:nvSpPr>
        <p:spPr>
          <a:xfrm>
            <a:off x="4663440" y="2651760"/>
            <a:ext cx="3977640" cy="1554480"/>
          </a:xfrm>
          <a:prstGeom prst="roundRect">
            <a:avLst>
              <a:gd name="adj" fmla="val 5882"/>
            </a:avLst>
          </a:prstGeom>
          <a:solidFill>
            <a:srgbClr val="FFFFFF"/>
          </a:solidFill>
          <a:ln w="6350">
            <a:solidFill>
              <a:srgbClr val="DDDDEE"/>
            </a:solidFill>
            <a:prstDash val="solid"/>
          </a:ln>
        </p:spPr>
      </p:sp>
      <p:sp>
        <p:nvSpPr>
          <p:cNvPr id="19" name="Text 17"/>
          <p:cNvSpPr/>
          <p:nvPr/>
        </p:nvSpPr>
        <p:spPr>
          <a:xfrm>
            <a:off x="4846320" y="2743200"/>
            <a:ext cx="3657600" cy="365760"/>
          </a:xfrm>
          <a:prstGeom prst="rect">
            <a:avLst/>
          </a:prstGeom>
          <a:noFill/>
          <a:ln/>
        </p:spPr>
        <p:txBody>
          <a:bodyPr wrap="square" lIns="0" tIns="0" rIns="0" bIns="0" rtlCol="0" anchor="ctr"/>
          <a:lstStyle/>
          <a:p>
            <a:pPr indent="0" marL="0">
              <a:buNone/>
            </a:pPr>
            <a:r>
              <a:rPr lang="en-US" sz="1600" b="1" dirty="0">
                <a:solidFill>
                  <a:srgbClr val="8A5726"/>
                </a:solidFill>
                <a:latin typeface="Cambria" pitchFamily="34" charset="0"/>
                <a:ea typeface="Cambria" pitchFamily="34" charset="-122"/>
                <a:cs typeface="Cambria" pitchFamily="34" charset="-120"/>
              </a:rPr>
              <a:t>fit</a:t>
            </a:r>
            <a:endParaRPr lang="en-US" sz="1600" dirty="0"/>
          </a:p>
        </p:txBody>
      </p:sp>
      <p:sp>
        <p:nvSpPr>
          <p:cNvPr id="20" name="Text 18"/>
          <p:cNvSpPr/>
          <p:nvPr/>
        </p:nvSpPr>
        <p:spPr>
          <a:xfrm>
            <a:off x="4846320" y="3108960"/>
            <a:ext cx="3657600" cy="548640"/>
          </a:xfrm>
          <a:prstGeom prst="rect">
            <a:avLst/>
          </a:prstGeom>
          <a:noFill/>
          <a:ln/>
        </p:spPr>
        <p:txBody>
          <a:bodyPr wrap="square" lIns="0" tIns="0" rIns="0" bIns="0" rtlCol="0" anchor="ctr"/>
          <a:lstStyle/>
          <a:p>
            <a:pPr indent="0" marL="0">
              <a:buNone/>
            </a:pPr>
            <a:r>
              <a:rPr lang="en-US" sz="1200" dirty="0">
                <a:solidFill>
                  <a:srgbClr val="1A1A2E"/>
                </a:solidFill>
              </a:rPr>
              <a:t>to measure how many equal-size pieces cover the amount</a:t>
            </a:r>
            <a:endParaRPr lang="en-US" sz="1200" dirty="0"/>
          </a:p>
        </p:txBody>
      </p:sp>
      <p:sp>
        <p:nvSpPr>
          <p:cNvPr id="21" name="Text 19"/>
          <p:cNvSpPr/>
          <p:nvPr/>
        </p:nvSpPr>
        <p:spPr>
          <a:xfrm>
            <a:off x="4846320" y="3657600"/>
            <a:ext cx="3657600" cy="457200"/>
          </a:xfrm>
          <a:prstGeom prst="rect">
            <a:avLst/>
          </a:prstGeom>
          <a:noFill/>
          <a:ln/>
        </p:spPr>
        <p:txBody>
          <a:bodyPr wrap="square" lIns="0" tIns="0" rIns="0" bIns="0" rtlCol="0" anchor="ctr"/>
          <a:lstStyle/>
          <a:p>
            <a:pPr indent="0" marL="0">
              <a:buNone/>
            </a:pPr>
            <a:r>
              <a:rPr lang="en-US" sz="1100" i="1" dirty="0">
                <a:solidFill>
                  <a:srgbClr val="5A5A7A"/>
                </a:solidFill>
              </a:rPr>
              <a:t>e.g. 30 tenths fit inside 3 wholes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Guided Practice</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WATCH &amp; FOLLOW</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Text 4"/>
          <p:cNvSpPr/>
          <p:nvPr/>
        </p:nvSpPr>
        <p:spPr>
          <a:xfrm>
            <a:off x="457200" y="914400"/>
            <a:ext cx="8229600" cy="411480"/>
          </a:xfrm>
          <a:prstGeom prst="rect">
            <a:avLst/>
          </a:prstGeom>
          <a:noFill/>
          <a:ln/>
        </p:spPr>
        <p:txBody>
          <a:bodyPr wrap="square" lIns="0" tIns="0" rIns="0" bIns="0" rtlCol="0" anchor="ctr"/>
          <a:lstStyle/>
          <a:p>
            <a:pPr indent="0" marL="0">
              <a:buNone/>
            </a:pPr>
            <a:r>
              <a:rPr lang="en-US" sz="1800" b="1" dirty="0">
                <a:solidFill>
                  <a:srgbClr val="8A5726"/>
                </a:solidFill>
                <a:latin typeface="Cambria" pitchFamily="34" charset="0"/>
                <a:ea typeface="Cambria" pitchFamily="34" charset="-122"/>
                <a:cs typeface="Cambria" pitchFamily="34" charset="-120"/>
              </a:rPr>
              <a:t>6 ÷ 0.1          4 ÷ 0.01</a:t>
            </a:r>
            <a:endParaRPr lang="en-US" sz="1800" dirty="0"/>
          </a:p>
        </p:txBody>
      </p:sp>
      <p:sp>
        <p:nvSpPr>
          <p:cNvPr id="7" name="Shape 5"/>
          <p:cNvSpPr/>
          <p:nvPr/>
        </p:nvSpPr>
        <p:spPr>
          <a:xfrm>
            <a:off x="365760" y="1463040"/>
            <a:ext cx="4069080" cy="1280160"/>
          </a:xfrm>
          <a:prstGeom prst="roundRect">
            <a:avLst>
              <a:gd name="adj" fmla="val 7143"/>
            </a:avLst>
          </a:prstGeom>
          <a:solidFill>
            <a:srgbClr val="FFFFFF"/>
          </a:solidFill>
          <a:ln w="6350">
            <a:solidFill>
              <a:srgbClr val="DDDDEE"/>
            </a:solidFill>
            <a:prstDash val="solid"/>
          </a:ln>
        </p:spPr>
      </p:sp>
      <p:sp>
        <p:nvSpPr>
          <p:cNvPr id="8" name="Shape 6"/>
          <p:cNvSpPr/>
          <p:nvPr/>
        </p:nvSpPr>
        <p:spPr>
          <a:xfrm>
            <a:off x="502920" y="1554480"/>
            <a:ext cx="347472" cy="347472"/>
          </a:xfrm>
          <a:prstGeom prst="ellipse">
            <a:avLst/>
          </a:prstGeom>
          <a:solidFill>
            <a:srgbClr val="B87333"/>
          </a:solidFill>
          <a:ln w="12700">
            <a:solidFill>
              <a:srgbClr val="B87333"/>
            </a:solidFill>
            <a:prstDash val="solid"/>
          </a:ln>
        </p:spPr>
      </p:sp>
      <p:sp>
        <p:nvSpPr>
          <p:cNvPr id="9" name="Text 7"/>
          <p:cNvSpPr/>
          <p:nvPr/>
        </p:nvSpPr>
        <p:spPr>
          <a:xfrm>
            <a:off x="502920" y="155448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0" name="Text 8"/>
          <p:cNvSpPr/>
          <p:nvPr/>
        </p:nvSpPr>
        <p:spPr>
          <a:xfrm>
            <a:off x="960120" y="1554480"/>
            <a:ext cx="3291840" cy="347472"/>
          </a:xfrm>
          <a:prstGeom prst="rect">
            <a:avLst/>
          </a:prstGeom>
          <a:noFill/>
          <a:ln/>
        </p:spPr>
        <p:txBody>
          <a:bodyPr wrap="square" lIns="0" tIns="0" rIns="0" bIns="0" rtlCol="0" anchor="ctr"/>
          <a:lstStyle/>
          <a:p>
            <a:pPr indent="0" marL="0">
              <a:buNone/>
            </a:pPr>
            <a:r>
              <a:rPr lang="en-US" sz="1150" b="1" dirty="0">
                <a:solidFill>
                  <a:srgbClr val="8A5726"/>
                </a:solidFill>
              </a:rPr>
              <a:t>Count the pieces</a:t>
            </a:r>
            <a:endParaRPr lang="en-US" sz="1150" dirty="0"/>
          </a:p>
        </p:txBody>
      </p:sp>
      <p:sp>
        <p:nvSpPr>
          <p:cNvPr id="11" name="Text 9"/>
          <p:cNvSpPr/>
          <p:nvPr/>
        </p:nvSpPr>
        <p:spPr>
          <a:xfrm>
            <a:off x="960120" y="1901952"/>
            <a:ext cx="3291840" cy="685800"/>
          </a:xfrm>
          <a:prstGeom prst="rect">
            <a:avLst/>
          </a:prstGeom>
          <a:noFill/>
          <a:ln/>
        </p:spPr>
        <p:txBody>
          <a:bodyPr wrap="square" lIns="0" tIns="0" rIns="0" bIns="0" rtlCol="0" anchor="ctr"/>
          <a:lstStyle/>
          <a:p>
            <a:pPr indent="0" marL="0">
              <a:buNone/>
            </a:pPr>
            <a:r>
              <a:rPr lang="en-US" sz="1050" dirty="0">
                <a:solidFill>
                  <a:srgbClr val="1A1A2E"/>
                </a:solidFill>
                <a:latin typeface="Cambria" pitchFamily="34" charset="0"/>
                <a:ea typeface="Cambria" pitchFamily="34" charset="-122"/>
                <a:cs typeface="Cambria" pitchFamily="34" charset="-120"/>
              </a:rPr>
              <a:t>6 ÷ 0.1 asks how many tenths fit in 6 wholes.</a:t>
            </a:r>
            <a:endParaRPr lang="en-US" sz="1050" dirty="0"/>
          </a:p>
        </p:txBody>
      </p:sp>
      <p:sp>
        <p:nvSpPr>
          <p:cNvPr id="12" name="Shape 10"/>
          <p:cNvSpPr/>
          <p:nvPr/>
        </p:nvSpPr>
        <p:spPr>
          <a:xfrm>
            <a:off x="4663440" y="1463040"/>
            <a:ext cx="4069080" cy="1280160"/>
          </a:xfrm>
          <a:prstGeom prst="roundRect">
            <a:avLst>
              <a:gd name="adj" fmla="val 7143"/>
            </a:avLst>
          </a:prstGeom>
          <a:solidFill>
            <a:srgbClr val="FFFFFF"/>
          </a:solidFill>
          <a:ln w="6350">
            <a:solidFill>
              <a:srgbClr val="DDDDEE"/>
            </a:solidFill>
            <a:prstDash val="solid"/>
          </a:ln>
        </p:spPr>
      </p:sp>
      <p:sp>
        <p:nvSpPr>
          <p:cNvPr id="13" name="Shape 11"/>
          <p:cNvSpPr/>
          <p:nvPr/>
        </p:nvSpPr>
        <p:spPr>
          <a:xfrm>
            <a:off x="4800600" y="1554480"/>
            <a:ext cx="347472" cy="347472"/>
          </a:xfrm>
          <a:prstGeom prst="ellipse">
            <a:avLst/>
          </a:prstGeom>
          <a:solidFill>
            <a:srgbClr val="B87333"/>
          </a:solidFill>
          <a:ln w="12700">
            <a:solidFill>
              <a:srgbClr val="B87333"/>
            </a:solidFill>
            <a:prstDash val="solid"/>
          </a:ln>
        </p:spPr>
      </p:sp>
      <p:sp>
        <p:nvSpPr>
          <p:cNvPr id="14" name="Text 12"/>
          <p:cNvSpPr/>
          <p:nvPr/>
        </p:nvSpPr>
        <p:spPr>
          <a:xfrm>
            <a:off x="4800600" y="155448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5" name="Text 13"/>
          <p:cNvSpPr/>
          <p:nvPr/>
        </p:nvSpPr>
        <p:spPr>
          <a:xfrm>
            <a:off x="5257800" y="1554480"/>
            <a:ext cx="3291840" cy="347472"/>
          </a:xfrm>
          <a:prstGeom prst="rect">
            <a:avLst/>
          </a:prstGeom>
          <a:noFill/>
          <a:ln/>
        </p:spPr>
        <p:txBody>
          <a:bodyPr wrap="square" lIns="0" tIns="0" rIns="0" bIns="0" rtlCol="0" anchor="ctr"/>
          <a:lstStyle/>
          <a:p>
            <a:pPr indent="0" marL="0">
              <a:buNone/>
            </a:pPr>
            <a:r>
              <a:rPr lang="en-US" sz="1150" b="1" dirty="0">
                <a:solidFill>
                  <a:srgbClr val="8A5726"/>
                </a:solidFill>
              </a:rPr>
              <a:t>Multiply by 10</a:t>
            </a:r>
            <a:endParaRPr lang="en-US" sz="1150" dirty="0"/>
          </a:p>
        </p:txBody>
      </p:sp>
      <p:sp>
        <p:nvSpPr>
          <p:cNvPr id="16" name="Text 14"/>
          <p:cNvSpPr/>
          <p:nvPr/>
        </p:nvSpPr>
        <p:spPr>
          <a:xfrm>
            <a:off x="5257800" y="1901952"/>
            <a:ext cx="3291840" cy="685800"/>
          </a:xfrm>
          <a:prstGeom prst="rect">
            <a:avLst/>
          </a:prstGeom>
          <a:noFill/>
          <a:ln/>
        </p:spPr>
        <p:txBody>
          <a:bodyPr wrap="square" lIns="0" tIns="0" rIns="0" bIns="0" rtlCol="0" anchor="ctr"/>
          <a:lstStyle/>
          <a:p>
            <a:pPr indent="0" marL="0">
              <a:buNone/>
            </a:pPr>
            <a:r>
              <a:rPr lang="en-US" sz="1050" dirty="0">
                <a:solidFill>
                  <a:srgbClr val="1A1A2E"/>
                </a:solidFill>
                <a:latin typeface="Cambria" pitchFamily="34" charset="0"/>
                <a:ea typeface="Cambria" pitchFamily="34" charset="-122"/>
                <a:cs typeface="Cambria" pitchFamily="34" charset="-120"/>
              </a:rPr>
              <a:t>6 × 10 = 60, so 6 ÷ 0.1 = 60.</a:t>
            </a:r>
            <a:endParaRPr lang="en-US" sz="1050" dirty="0"/>
          </a:p>
        </p:txBody>
      </p:sp>
      <p:sp>
        <p:nvSpPr>
          <p:cNvPr id="17" name="Shape 15"/>
          <p:cNvSpPr/>
          <p:nvPr/>
        </p:nvSpPr>
        <p:spPr>
          <a:xfrm>
            <a:off x="365760" y="2880360"/>
            <a:ext cx="4069080" cy="1280160"/>
          </a:xfrm>
          <a:prstGeom prst="roundRect">
            <a:avLst>
              <a:gd name="adj" fmla="val 7143"/>
            </a:avLst>
          </a:prstGeom>
          <a:solidFill>
            <a:srgbClr val="FFFFFF"/>
          </a:solidFill>
          <a:ln w="6350">
            <a:solidFill>
              <a:srgbClr val="DDDDEE"/>
            </a:solidFill>
            <a:prstDash val="solid"/>
          </a:ln>
        </p:spPr>
      </p:sp>
      <p:sp>
        <p:nvSpPr>
          <p:cNvPr id="18" name="Shape 16"/>
          <p:cNvSpPr/>
          <p:nvPr/>
        </p:nvSpPr>
        <p:spPr>
          <a:xfrm>
            <a:off x="502920" y="2971800"/>
            <a:ext cx="347472" cy="347472"/>
          </a:xfrm>
          <a:prstGeom prst="ellipse">
            <a:avLst/>
          </a:prstGeom>
          <a:solidFill>
            <a:srgbClr val="B87333"/>
          </a:solidFill>
          <a:ln w="12700">
            <a:solidFill>
              <a:srgbClr val="B87333"/>
            </a:solidFill>
            <a:prstDash val="solid"/>
          </a:ln>
        </p:spPr>
      </p:sp>
      <p:sp>
        <p:nvSpPr>
          <p:cNvPr id="19" name="Text 17"/>
          <p:cNvSpPr/>
          <p:nvPr/>
        </p:nvSpPr>
        <p:spPr>
          <a:xfrm>
            <a:off x="502920" y="297180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0" name="Text 18"/>
          <p:cNvSpPr/>
          <p:nvPr/>
        </p:nvSpPr>
        <p:spPr>
          <a:xfrm>
            <a:off x="960120" y="2971800"/>
            <a:ext cx="3291840" cy="347472"/>
          </a:xfrm>
          <a:prstGeom prst="rect">
            <a:avLst/>
          </a:prstGeom>
          <a:noFill/>
          <a:ln/>
        </p:spPr>
        <p:txBody>
          <a:bodyPr wrap="square" lIns="0" tIns="0" rIns="0" bIns="0" rtlCol="0" anchor="ctr"/>
          <a:lstStyle/>
          <a:p>
            <a:pPr indent="0" marL="0">
              <a:buNone/>
            </a:pPr>
            <a:r>
              <a:rPr lang="en-US" sz="1150" b="1" dirty="0">
                <a:solidFill>
                  <a:srgbClr val="8A5726"/>
                </a:solidFill>
              </a:rPr>
              <a:t>Now the hundredths</a:t>
            </a:r>
            <a:endParaRPr lang="en-US" sz="1150" dirty="0"/>
          </a:p>
        </p:txBody>
      </p:sp>
      <p:sp>
        <p:nvSpPr>
          <p:cNvPr id="21" name="Text 19"/>
          <p:cNvSpPr/>
          <p:nvPr/>
        </p:nvSpPr>
        <p:spPr>
          <a:xfrm>
            <a:off x="960120" y="3319272"/>
            <a:ext cx="3291840" cy="685800"/>
          </a:xfrm>
          <a:prstGeom prst="rect">
            <a:avLst/>
          </a:prstGeom>
          <a:noFill/>
          <a:ln/>
        </p:spPr>
        <p:txBody>
          <a:bodyPr wrap="square" lIns="0" tIns="0" rIns="0" bIns="0" rtlCol="0" anchor="ctr"/>
          <a:lstStyle/>
          <a:p>
            <a:pPr indent="0" marL="0">
              <a:buNone/>
            </a:pPr>
            <a:r>
              <a:rPr lang="en-US" sz="1050" dirty="0">
                <a:solidFill>
                  <a:srgbClr val="1A1A2E"/>
                </a:solidFill>
                <a:latin typeface="Cambria" pitchFamily="34" charset="0"/>
                <a:ea typeface="Cambria" pitchFamily="34" charset="-122"/>
                <a:cs typeface="Cambria" pitchFamily="34" charset="-120"/>
              </a:rPr>
              <a:t>4 ÷ 0.01 asks how many hundredths fit in 4 wholes.</a:t>
            </a:r>
            <a:endParaRPr lang="en-US" sz="1050" dirty="0"/>
          </a:p>
        </p:txBody>
      </p:sp>
      <p:sp>
        <p:nvSpPr>
          <p:cNvPr id="22" name="Shape 20"/>
          <p:cNvSpPr/>
          <p:nvPr/>
        </p:nvSpPr>
        <p:spPr>
          <a:xfrm>
            <a:off x="4663440" y="2880360"/>
            <a:ext cx="4069080" cy="1280160"/>
          </a:xfrm>
          <a:prstGeom prst="roundRect">
            <a:avLst>
              <a:gd name="adj" fmla="val 7143"/>
            </a:avLst>
          </a:prstGeom>
          <a:solidFill>
            <a:srgbClr val="FFFFFF"/>
          </a:solidFill>
          <a:ln w="6350">
            <a:solidFill>
              <a:srgbClr val="DDDDEE"/>
            </a:solidFill>
            <a:prstDash val="solid"/>
          </a:ln>
        </p:spPr>
      </p:sp>
      <p:sp>
        <p:nvSpPr>
          <p:cNvPr id="23" name="Shape 21"/>
          <p:cNvSpPr/>
          <p:nvPr/>
        </p:nvSpPr>
        <p:spPr>
          <a:xfrm>
            <a:off x="4800600" y="2971800"/>
            <a:ext cx="347472" cy="347472"/>
          </a:xfrm>
          <a:prstGeom prst="ellipse">
            <a:avLst/>
          </a:prstGeom>
          <a:solidFill>
            <a:srgbClr val="B87333"/>
          </a:solidFill>
          <a:ln w="12700">
            <a:solidFill>
              <a:srgbClr val="B87333"/>
            </a:solidFill>
            <a:prstDash val="solid"/>
          </a:ln>
        </p:spPr>
      </p:sp>
      <p:sp>
        <p:nvSpPr>
          <p:cNvPr id="24" name="Text 22"/>
          <p:cNvSpPr/>
          <p:nvPr/>
        </p:nvSpPr>
        <p:spPr>
          <a:xfrm>
            <a:off x="4800600" y="297180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5" name="Text 23"/>
          <p:cNvSpPr/>
          <p:nvPr/>
        </p:nvSpPr>
        <p:spPr>
          <a:xfrm>
            <a:off x="5257800" y="2971800"/>
            <a:ext cx="3291840" cy="347472"/>
          </a:xfrm>
          <a:prstGeom prst="rect">
            <a:avLst/>
          </a:prstGeom>
          <a:noFill/>
          <a:ln/>
        </p:spPr>
        <p:txBody>
          <a:bodyPr wrap="square" lIns="0" tIns="0" rIns="0" bIns="0" rtlCol="0" anchor="ctr"/>
          <a:lstStyle/>
          <a:p>
            <a:pPr indent="0" marL="0">
              <a:buNone/>
            </a:pPr>
            <a:r>
              <a:rPr lang="en-US" sz="1150" b="1" dirty="0">
                <a:solidFill>
                  <a:srgbClr val="8A5726"/>
                </a:solidFill>
              </a:rPr>
              <a:t>Multiply by 100</a:t>
            </a:r>
            <a:endParaRPr lang="en-US" sz="1150" dirty="0"/>
          </a:p>
        </p:txBody>
      </p:sp>
      <p:sp>
        <p:nvSpPr>
          <p:cNvPr id="26" name="Text 24"/>
          <p:cNvSpPr/>
          <p:nvPr/>
        </p:nvSpPr>
        <p:spPr>
          <a:xfrm>
            <a:off x="5257800" y="3319272"/>
            <a:ext cx="3291840" cy="685800"/>
          </a:xfrm>
          <a:prstGeom prst="rect">
            <a:avLst/>
          </a:prstGeom>
          <a:noFill/>
          <a:ln/>
        </p:spPr>
        <p:txBody>
          <a:bodyPr wrap="square" lIns="0" tIns="0" rIns="0" bIns="0" rtlCol="0" anchor="ctr"/>
          <a:lstStyle/>
          <a:p>
            <a:pPr indent="0" marL="0">
              <a:buNone/>
            </a:pPr>
            <a:r>
              <a:rPr lang="en-US" sz="1050" dirty="0">
                <a:solidFill>
                  <a:srgbClr val="1A1A2E"/>
                </a:solidFill>
                <a:latin typeface="Cambria" pitchFamily="34" charset="0"/>
                <a:ea typeface="Cambria" pitchFamily="34" charset="-122"/>
                <a:cs typeface="Cambria" pitchFamily="34" charset="-120"/>
              </a:rPr>
              <a:t>4 × 100 = 400, so 4 ÷ 0.01 = 400.</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Guided Practice</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Same Dividend, Two Divisors</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3931920" cy="3383280"/>
          </a:xfrm>
          <a:prstGeom prst="roundRect">
            <a:avLst>
              <a:gd name="adj" fmla="val 2703"/>
            </a:avLst>
          </a:prstGeom>
          <a:solidFill>
            <a:srgbClr val="FFFFFF"/>
          </a:solidFill>
          <a:ln w="6350">
            <a:solidFill>
              <a:srgbClr val="DDDDEE"/>
            </a:solidFill>
            <a:prstDash val="solid"/>
          </a:ln>
        </p:spPr>
      </p:sp>
      <p:sp>
        <p:nvSpPr>
          <p:cNvPr id="7" name="Text 5"/>
          <p:cNvSpPr/>
          <p:nvPr/>
        </p:nvSpPr>
        <p:spPr>
          <a:xfrm>
            <a:off x="640080" y="1051560"/>
            <a:ext cx="3566160" cy="365760"/>
          </a:xfrm>
          <a:prstGeom prst="rect">
            <a:avLst/>
          </a:prstGeom>
          <a:noFill/>
          <a:ln/>
        </p:spPr>
        <p:txBody>
          <a:bodyPr wrap="square" lIns="0" tIns="0" rIns="0" bIns="0" rtlCol="0" anchor="ctr"/>
          <a:lstStyle/>
          <a:p>
            <a:pPr indent="0" marL="0">
              <a:buNone/>
            </a:pPr>
            <a:r>
              <a:rPr lang="en-US" sz="1800" b="1" dirty="0">
                <a:solidFill>
                  <a:srgbClr val="8A5726"/>
                </a:solidFill>
                <a:latin typeface="Cambria" pitchFamily="34" charset="0"/>
                <a:ea typeface="Cambria" pitchFamily="34" charset="-122"/>
                <a:cs typeface="Cambria" pitchFamily="34" charset="-120"/>
              </a:rPr>
              <a:t>25 ÷ 0.1</a:t>
            </a:r>
            <a:endParaRPr lang="en-US" sz="1800" dirty="0"/>
          </a:p>
        </p:txBody>
      </p:sp>
      <p:sp>
        <p:nvSpPr>
          <p:cNvPr id="8" name="Text 6"/>
          <p:cNvSpPr/>
          <p:nvPr/>
        </p:nvSpPr>
        <p:spPr>
          <a:xfrm>
            <a:off x="640080" y="1508760"/>
            <a:ext cx="3566160" cy="457200"/>
          </a:xfrm>
          <a:prstGeom prst="rect">
            <a:avLst/>
          </a:prstGeom>
          <a:noFill/>
          <a:ln/>
        </p:spPr>
        <p:txBody>
          <a:bodyPr wrap="square" lIns="0" tIns="0" rIns="0" bIns="0" rtlCol="0" anchor="ctr"/>
          <a:lstStyle/>
          <a:p>
            <a:pPr indent="0" marL="0">
              <a:buNone/>
            </a:pPr>
            <a:r>
              <a:rPr lang="en-US" sz="1300" dirty="0">
                <a:solidFill>
                  <a:srgbClr val="1A1A2E"/>
                </a:solidFill>
                <a:latin typeface="Cambria" pitchFamily="34" charset="0"/>
                <a:ea typeface="Cambria" pitchFamily="34" charset="-122"/>
                <a:cs typeface="Cambria" pitchFamily="34" charset="-120"/>
              </a:rPr>
              <a:t>25 wholes = 250 tenths.</a:t>
            </a:r>
            <a:endParaRPr lang="en-US" sz="1300" dirty="0"/>
          </a:p>
        </p:txBody>
      </p:sp>
      <p:sp>
        <p:nvSpPr>
          <p:cNvPr id="9" name="Text 7"/>
          <p:cNvSpPr/>
          <p:nvPr/>
        </p:nvSpPr>
        <p:spPr>
          <a:xfrm>
            <a:off x="640080" y="2057400"/>
            <a:ext cx="3566160" cy="457200"/>
          </a:xfrm>
          <a:prstGeom prst="rect">
            <a:avLst/>
          </a:prstGeom>
          <a:noFill/>
          <a:ln/>
        </p:spPr>
        <p:txBody>
          <a:bodyPr wrap="square" lIns="0" tIns="0" rIns="0" bIns="0" rtlCol="0" anchor="ctr"/>
          <a:lstStyle/>
          <a:p>
            <a:pPr indent="0" marL="0">
              <a:buNone/>
            </a:pPr>
            <a:r>
              <a:rPr lang="en-US" sz="1500" dirty="0">
                <a:solidFill>
                  <a:srgbClr val="1A1A2E"/>
                </a:solidFill>
                <a:latin typeface="Cambria" pitchFamily="34" charset="0"/>
                <a:ea typeface="Cambria" pitchFamily="34" charset="-122"/>
                <a:cs typeface="Cambria" pitchFamily="34" charset="-120"/>
              </a:rPr>
              <a:t>25 × 10 = 250</a:t>
            </a:r>
            <a:endParaRPr lang="en-US" sz="1500" dirty="0"/>
          </a:p>
        </p:txBody>
      </p:sp>
      <p:sp>
        <p:nvSpPr>
          <p:cNvPr id="10" name="Text 8"/>
          <p:cNvSpPr/>
          <p:nvPr/>
        </p:nvSpPr>
        <p:spPr>
          <a:xfrm>
            <a:off x="640080" y="2651760"/>
            <a:ext cx="3566160" cy="548640"/>
          </a:xfrm>
          <a:prstGeom prst="rect">
            <a:avLst/>
          </a:prstGeom>
          <a:noFill/>
          <a:ln/>
        </p:spPr>
        <p:txBody>
          <a:bodyPr wrap="square" lIns="0" tIns="0" rIns="0" bIns="0" rtlCol="0" anchor="ctr"/>
          <a:lstStyle/>
          <a:p>
            <a:pPr indent="0" marL="0">
              <a:buNone/>
            </a:pPr>
            <a:r>
              <a:rPr lang="en-US" sz="2600" b="1" dirty="0">
                <a:solidFill>
                  <a:srgbClr val="8A5726"/>
                </a:solidFill>
                <a:latin typeface="Cambria" pitchFamily="34" charset="0"/>
                <a:ea typeface="Cambria" pitchFamily="34" charset="-122"/>
                <a:cs typeface="Cambria" pitchFamily="34" charset="-120"/>
              </a:rPr>
              <a:t>= 250</a:t>
            </a:r>
            <a:endParaRPr lang="en-US" sz="2600" dirty="0"/>
          </a:p>
        </p:txBody>
      </p:sp>
      <p:sp>
        <p:nvSpPr>
          <p:cNvPr id="11" name="Shape 9"/>
          <p:cNvSpPr/>
          <p:nvPr/>
        </p:nvSpPr>
        <p:spPr>
          <a:xfrm>
            <a:off x="4754880" y="960120"/>
            <a:ext cx="3931920" cy="3383280"/>
          </a:xfrm>
          <a:prstGeom prst="roundRect">
            <a:avLst>
              <a:gd name="adj" fmla="val 2703"/>
            </a:avLst>
          </a:prstGeom>
          <a:solidFill>
            <a:srgbClr val="FFFFFF"/>
          </a:solidFill>
          <a:ln w="6350">
            <a:solidFill>
              <a:srgbClr val="DDDDEE"/>
            </a:solidFill>
            <a:prstDash val="solid"/>
          </a:ln>
        </p:spPr>
      </p:sp>
      <p:sp>
        <p:nvSpPr>
          <p:cNvPr id="12" name="Text 10"/>
          <p:cNvSpPr/>
          <p:nvPr/>
        </p:nvSpPr>
        <p:spPr>
          <a:xfrm>
            <a:off x="4937760" y="1051560"/>
            <a:ext cx="3566160" cy="365760"/>
          </a:xfrm>
          <a:prstGeom prst="rect">
            <a:avLst/>
          </a:prstGeom>
          <a:noFill/>
          <a:ln/>
        </p:spPr>
        <p:txBody>
          <a:bodyPr wrap="square" lIns="0" tIns="0" rIns="0" bIns="0" rtlCol="0" anchor="ctr"/>
          <a:lstStyle/>
          <a:p>
            <a:pPr indent="0" marL="0">
              <a:buNone/>
            </a:pPr>
            <a:r>
              <a:rPr lang="en-US" sz="1800" b="1" dirty="0">
                <a:solidFill>
                  <a:srgbClr val="8A5726"/>
                </a:solidFill>
                <a:latin typeface="Cambria" pitchFamily="34" charset="0"/>
                <a:ea typeface="Cambria" pitchFamily="34" charset="-122"/>
                <a:cs typeface="Cambria" pitchFamily="34" charset="-120"/>
              </a:rPr>
              <a:t>25 ÷ 0.01</a:t>
            </a:r>
            <a:endParaRPr lang="en-US" sz="1800" dirty="0"/>
          </a:p>
        </p:txBody>
      </p:sp>
      <p:sp>
        <p:nvSpPr>
          <p:cNvPr id="13" name="Text 11"/>
          <p:cNvSpPr/>
          <p:nvPr/>
        </p:nvSpPr>
        <p:spPr>
          <a:xfrm>
            <a:off x="4937760" y="1508760"/>
            <a:ext cx="3566160" cy="457200"/>
          </a:xfrm>
          <a:prstGeom prst="rect">
            <a:avLst/>
          </a:prstGeom>
          <a:noFill/>
          <a:ln/>
        </p:spPr>
        <p:txBody>
          <a:bodyPr wrap="square" lIns="0" tIns="0" rIns="0" bIns="0" rtlCol="0" anchor="ctr"/>
          <a:lstStyle/>
          <a:p>
            <a:pPr indent="0" marL="0">
              <a:buNone/>
            </a:pPr>
            <a:r>
              <a:rPr lang="en-US" sz="1300" dirty="0">
                <a:solidFill>
                  <a:srgbClr val="1A1A2E"/>
                </a:solidFill>
                <a:latin typeface="Cambria" pitchFamily="34" charset="0"/>
                <a:ea typeface="Cambria" pitchFamily="34" charset="-122"/>
                <a:cs typeface="Cambria" pitchFamily="34" charset="-120"/>
              </a:rPr>
              <a:t>25 wholes = 2,500 hundredths.</a:t>
            </a:r>
            <a:endParaRPr lang="en-US" sz="1300" dirty="0"/>
          </a:p>
        </p:txBody>
      </p:sp>
      <p:sp>
        <p:nvSpPr>
          <p:cNvPr id="14" name="Text 12"/>
          <p:cNvSpPr/>
          <p:nvPr/>
        </p:nvSpPr>
        <p:spPr>
          <a:xfrm>
            <a:off x="4937760" y="2057400"/>
            <a:ext cx="3566160" cy="457200"/>
          </a:xfrm>
          <a:prstGeom prst="rect">
            <a:avLst/>
          </a:prstGeom>
          <a:noFill/>
          <a:ln/>
        </p:spPr>
        <p:txBody>
          <a:bodyPr wrap="square" lIns="0" tIns="0" rIns="0" bIns="0" rtlCol="0" anchor="ctr"/>
          <a:lstStyle/>
          <a:p>
            <a:pPr indent="0" marL="0">
              <a:buNone/>
            </a:pPr>
            <a:r>
              <a:rPr lang="en-US" sz="1500" dirty="0">
                <a:solidFill>
                  <a:srgbClr val="1A1A2E"/>
                </a:solidFill>
                <a:latin typeface="Cambria" pitchFamily="34" charset="0"/>
                <a:ea typeface="Cambria" pitchFamily="34" charset="-122"/>
                <a:cs typeface="Cambria" pitchFamily="34" charset="-120"/>
              </a:rPr>
              <a:t>25 × 100 = 2,500</a:t>
            </a:r>
            <a:endParaRPr lang="en-US" sz="1500" dirty="0"/>
          </a:p>
        </p:txBody>
      </p:sp>
      <p:sp>
        <p:nvSpPr>
          <p:cNvPr id="15" name="Text 13"/>
          <p:cNvSpPr/>
          <p:nvPr/>
        </p:nvSpPr>
        <p:spPr>
          <a:xfrm>
            <a:off x="4937760" y="2651760"/>
            <a:ext cx="3566160" cy="548640"/>
          </a:xfrm>
          <a:prstGeom prst="rect">
            <a:avLst/>
          </a:prstGeom>
          <a:noFill/>
          <a:ln/>
        </p:spPr>
        <p:txBody>
          <a:bodyPr wrap="square" lIns="0" tIns="0" rIns="0" bIns="0" rtlCol="0" anchor="ctr"/>
          <a:lstStyle/>
          <a:p>
            <a:pPr indent="0" marL="0">
              <a:buNone/>
            </a:pPr>
            <a:r>
              <a:rPr lang="en-US" sz="2600" b="1" dirty="0">
                <a:solidFill>
                  <a:srgbClr val="8A5726"/>
                </a:solidFill>
                <a:latin typeface="Cambria" pitchFamily="34" charset="0"/>
                <a:ea typeface="Cambria" pitchFamily="34" charset="-122"/>
                <a:cs typeface="Cambria" pitchFamily="34" charset="-120"/>
              </a:rPr>
              <a:t>= 2,500</a:t>
            </a:r>
            <a:endParaRPr lang="en-US" sz="2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Students Try</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Your Turn</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005840"/>
            <a:ext cx="8229600" cy="2011680"/>
          </a:xfrm>
          <a:prstGeom prst="roundRect">
            <a:avLst>
              <a:gd name="adj" fmla="val 4545"/>
            </a:avLst>
          </a:prstGeom>
          <a:solidFill>
            <a:srgbClr val="FFFFFF"/>
          </a:solidFill>
          <a:ln w="6350">
            <a:solidFill>
              <a:srgbClr val="DDDDEE"/>
            </a:solidFill>
            <a:prstDash val="solid"/>
          </a:ln>
        </p:spPr>
      </p:sp>
      <p:sp>
        <p:nvSpPr>
          <p:cNvPr id="7" name="Text 5"/>
          <p:cNvSpPr/>
          <p:nvPr/>
        </p:nvSpPr>
        <p:spPr>
          <a:xfrm>
            <a:off x="685800" y="1188720"/>
            <a:ext cx="7772400" cy="1645920"/>
          </a:xfrm>
          <a:prstGeom prst="rect">
            <a:avLst/>
          </a:prstGeom>
          <a:noFill/>
          <a:ln/>
        </p:spPr>
        <p:txBody>
          <a:bodyPr wrap="square" lIns="0" tIns="0" rIns="0" bIns="0" rtlCol="0" anchor="ctr"/>
          <a:lstStyle/>
          <a:p>
            <a:pPr indent="0" marL="0">
              <a:buNone/>
            </a:pPr>
            <a:r>
              <a:rPr lang="en-US" sz="1700" dirty="0">
                <a:solidFill>
                  <a:srgbClr val="1A1A2E"/>
                </a:solidFill>
                <a:latin typeface="Cambria" pitchFamily="34" charset="0"/>
                <a:ea typeface="Cambria" pitchFamily="34" charset="-122"/>
                <a:cs typeface="Cambria" pitchFamily="34" charset="-120"/>
              </a:rPr>
              <a:t>A gardener has 5 meters of string. She cuts it into pieces that are each 0.1 meter long. How many pieces does she get?</a:t>
            </a:r>
            <a:endParaRPr lang="en-US" sz="1700" dirty="0"/>
          </a:p>
        </p:txBody>
      </p:sp>
      <p:sp>
        <p:nvSpPr>
          <p:cNvPr id="8" name="Shape 6"/>
          <p:cNvSpPr/>
          <p:nvPr/>
        </p:nvSpPr>
        <p:spPr>
          <a:xfrm>
            <a:off x="457200" y="3200400"/>
            <a:ext cx="1920240" cy="292608"/>
          </a:xfrm>
          <a:prstGeom prst="roundRect">
            <a:avLst>
              <a:gd name="adj" fmla="val 18750"/>
            </a:avLst>
          </a:prstGeom>
          <a:solidFill>
            <a:srgbClr val="B87333"/>
          </a:solidFill>
          <a:ln w="12700">
            <a:solidFill>
              <a:srgbClr val="B87333"/>
            </a:solidFill>
            <a:prstDash val="solid"/>
          </a:ln>
        </p:spPr>
      </p:sp>
      <p:sp>
        <p:nvSpPr>
          <p:cNvPr id="9" name="Text 7"/>
          <p:cNvSpPr/>
          <p:nvPr/>
        </p:nvSpPr>
        <p:spPr>
          <a:xfrm>
            <a:off x="457200" y="3200400"/>
            <a:ext cx="192024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TRY IT</a:t>
            </a:r>
            <a:endParaRPr lang="en-US" sz="800" dirty="0"/>
          </a:p>
        </p:txBody>
      </p:sp>
      <p:sp>
        <p:nvSpPr>
          <p:cNvPr id="10" name="Shape 8"/>
          <p:cNvSpPr/>
          <p:nvPr/>
        </p:nvSpPr>
        <p:spPr>
          <a:xfrm>
            <a:off x="914400" y="3749040"/>
            <a:ext cx="7315200" cy="438912"/>
          </a:xfrm>
          <a:prstGeom prst="roundRect">
            <a:avLst>
              <a:gd name="adj" fmla="val 12500"/>
            </a:avLst>
          </a:prstGeom>
          <a:solidFill>
            <a:srgbClr val="464EB8"/>
          </a:solidFill>
          <a:ln w="12700">
            <a:solidFill>
              <a:srgbClr val="464EB8"/>
            </a:solidFill>
            <a:prstDash val="solid"/>
          </a:ln>
        </p:spPr>
      </p:sp>
      <p:sp>
        <p:nvSpPr>
          <p:cNvPr id="11" name="Text 9"/>
          <p:cNvSpPr/>
          <p:nvPr/>
        </p:nvSpPr>
        <p:spPr>
          <a:xfrm>
            <a:off x="914400" y="3749040"/>
            <a:ext cx="73152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answer AND how many tenths are in 5 wholes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Connection Forward</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Where This Leads</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371600"/>
            <a:ext cx="8229600" cy="1828800"/>
          </a:xfrm>
          <a:prstGeom prst="roundRect">
            <a:avLst>
              <a:gd name="adj" fmla="val 5000"/>
            </a:avLst>
          </a:prstGeom>
          <a:solidFill>
            <a:srgbClr val="F5E6C8"/>
          </a:solidFill>
          <a:ln w="6350">
            <a:solidFill>
              <a:srgbClr val="DDDDEE"/>
            </a:solidFill>
            <a:prstDash val="solid"/>
          </a:ln>
        </p:spPr>
      </p:sp>
      <p:sp>
        <p:nvSpPr>
          <p:cNvPr id="7" name="Text 5"/>
          <p:cNvSpPr/>
          <p:nvPr/>
        </p:nvSpPr>
        <p:spPr>
          <a:xfrm>
            <a:off x="731520" y="1645920"/>
            <a:ext cx="7680960" cy="1280160"/>
          </a:xfrm>
          <a:prstGeom prst="rect">
            <a:avLst/>
          </a:prstGeom>
          <a:noFill/>
          <a:ln/>
        </p:spPr>
        <p:txBody>
          <a:bodyPr wrap="square" lIns="0" tIns="0" rIns="0" bIns="0" rtlCol="0" anchor="ctr"/>
          <a:lstStyle/>
          <a:p>
            <a:pPr indent="0" marL="0">
              <a:buNone/>
            </a:pPr>
            <a:r>
              <a:rPr lang="en-US" sz="1900" dirty="0">
                <a:solidFill>
                  <a:srgbClr val="1A1A2E"/>
                </a:solidFill>
                <a:latin typeface="Cambria" pitchFamily="34" charset="0"/>
                <a:ea typeface="Cambria" pitchFamily="34" charset="-122"/>
                <a:cs typeface="Cambria" pitchFamily="34" charset="-120"/>
              </a:rPr>
              <a:t>Next lesson, you will divide a whole number by any decimal, not just 0.1 or 0.01.</a:t>
            </a:r>
            <a:endParaRPr lang="en-US" sz="1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Exit Check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Mastery · 3 min</a:t>
            </a:r>
            <a:endParaRPr lang="en-US" sz="1100" dirty="0"/>
          </a:p>
        </p:txBody>
      </p:sp>
      <p:sp>
        <p:nvSpPr>
          <p:cNvPr id="5" name="Shape 3"/>
          <p:cNvSpPr/>
          <p:nvPr/>
        </p:nvSpPr>
        <p:spPr>
          <a:xfrm>
            <a:off x="0" y="777240"/>
            <a:ext cx="9144000" cy="4366260"/>
          </a:xfrm>
          <a:prstGeom prst="rect">
            <a:avLst/>
          </a:prstGeom>
          <a:solidFill>
            <a:srgbClr val="1B2A4A"/>
          </a:solidFill>
          <a:ln w="12700">
            <a:solidFill>
              <a:srgbClr val="1B2A4A"/>
            </a:solidFill>
            <a:prstDash val="solid"/>
          </a:ln>
        </p:spPr>
      </p:sp>
      <p:sp>
        <p:nvSpPr>
          <p:cNvPr id="6" name="Shape 4"/>
          <p:cNvSpPr/>
          <p:nvPr/>
        </p:nvSpPr>
        <p:spPr>
          <a:xfrm>
            <a:off x="731520" y="960120"/>
            <a:ext cx="7680960" cy="1097280"/>
          </a:xfrm>
          <a:prstGeom prst="roundRect">
            <a:avLst>
              <a:gd name="adj" fmla="val 8333"/>
            </a:avLst>
          </a:prstGeom>
          <a:solidFill>
            <a:srgbClr val="FFFFFF"/>
          </a:solidFill>
          <a:ln w="6350">
            <a:solidFill>
              <a:srgbClr val="DDDDEE"/>
            </a:solidFill>
            <a:prstDash val="solid"/>
          </a:ln>
        </p:spPr>
      </p:sp>
      <p:sp>
        <p:nvSpPr>
          <p:cNvPr id="7" name="Text 5"/>
          <p:cNvSpPr/>
          <p:nvPr/>
        </p:nvSpPr>
        <p:spPr>
          <a:xfrm>
            <a:off x="914400" y="1051560"/>
            <a:ext cx="7315200" cy="914400"/>
          </a:xfrm>
          <a:prstGeom prst="rect">
            <a:avLst/>
          </a:prstGeom>
          <a:noFill/>
          <a:ln/>
        </p:spPr>
        <p:txBody>
          <a:bodyPr wrap="square" lIns="0" tIns="0" rIns="0" bIns="0" rtlCol="0" anchor="ctr"/>
          <a:lstStyle/>
          <a:p>
            <a:pPr indent="0" marL="0">
              <a:buNone/>
            </a:pPr>
            <a:r>
              <a:rPr lang="en-US" sz="2000" b="1" dirty="0">
                <a:solidFill>
                  <a:srgbClr val="1A1A2E"/>
                </a:solidFill>
                <a:latin typeface="Cambria" pitchFamily="34" charset="0"/>
                <a:ea typeface="Cambria" pitchFamily="34" charset="-122"/>
                <a:cs typeface="Cambria" pitchFamily="34" charset="-120"/>
              </a:rPr>
              <a:t>8 ÷ 0.1 = ?</a:t>
            </a:r>
            <a:endParaRPr lang="en-US" sz="2000" dirty="0"/>
          </a:p>
        </p:txBody>
      </p:sp>
      <p:sp>
        <p:nvSpPr>
          <p:cNvPr id="8" name="Shape 6"/>
          <p:cNvSpPr/>
          <p:nvPr/>
        </p:nvSpPr>
        <p:spPr>
          <a:xfrm>
            <a:off x="914400" y="2103120"/>
            <a:ext cx="1737360" cy="822960"/>
          </a:xfrm>
          <a:prstGeom prst="roundRect">
            <a:avLst>
              <a:gd name="adj" fmla="val 8889"/>
            </a:avLst>
          </a:prstGeom>
          <a:solidFill>
            <a:srgbClr val="F5F5F8"/>
          </a:solidFill>
          <a:ln w="12700">
            <a:solidFill>
              <a:srgbClr val="F5F5F8"/>
            </a:solidFill>
            <a:prstDash val="solid"/>
          </a:ln>
        </p:spPr>
      </p:sp>
      <p:sp>
        <p:nvSpPr>
          <p:cNvPr id="9" name="Text 7"/>
          <p:cNvSpPr/>
          <p:nvPr/>
        </p:nvSpPr>
        <p:spPr>
          <a:xfrm>
            <a:off x="914400" y="2103120"/>
            <a:ext cx="1737360" cy="822960"/>
          </a:xfrm>
          <a:prstGeom prst="rect">
            <a:avLst/>
          </a:prstGeom>
          <a:noFill/>
          <a:ln/>
        </p:spPr>
        <p:txBody>
          <a:bodyPr wrap="square" lIns="0" tIns="0" rIns="0" bIns="0" rtlCol="0" anchor="ctr"/>
          <a:lstStyle/>
          <a:p>
            <a:pPr algn="ctr" indent="0" marL="0">
              <a:buNone/>
            </a:pPr>
            <a:r>
              <a:rPr lang="en-US" sz="2000" b="1" dirty="0">
                <a:solidFill>
                  <a:srgbClr val="1A1A2E"/>
                </a:solidFill>
              </a:rPr>
              <a:t>0.8</a:t>
            </a:r>
            <a:endParaRPr lang="en-US" sz="2000" dirty="0"/>
          </a:p>
        </p:txBody>
      </p:sp>
      <p:sp>
        <p:nvSpPr>
          <p:cNvPr id="10" name="Shape 8"/>
          <p:cNvSpPr/>
          <p:nvPr/>
        </p:nvSpPr>
        <p:spPr>
          <a:xfrm>
            <a:off x="2834640" y="2103120"/>
            <a:ext cx="1737360" cy="822960"/>
          </a:xfrm>
          <a:prstGeom prst="roundRect">
            <a:avLst>
              <a:gd name="adj" fmla="val 8889"/>
            </a:avLst>
          </a:prstGeom>
          <a:solidFill>
            <a:srgbClr val="F5F5F8"/>
          </a:solidFill>
          <a:ln w="12700">
            <a:solidFill>
              <a:srgbClr val="F5F5F8"/>
            </a:solidFill>
            <a:prstDash val="solid"/>
          </a:ln>
        </p:spPr>
      </p:sp>
      <p:sp>
        <p:nvSpPr>
          <p:cNvPr id="11" name="Text 9"/>
          <p:cNvSpPr/>
          <p:nvPr/>
        </p:nvSpPr>
        <p:spPr>
          <a:xfrm>
            <a:off x="2834640" y="2103120"/>
            <a:ext cx="1737360" cy="822960"/>
          </a:xfrm>
          <a:prstGeom prst="rect">
            <a:avLst/>
          </a:prstGeom>
          <a:noFill/>
          <a:ln/>
        </p:spPr>
        <p:txBody>
          <a:bodyPr wrap="square" lIns="0" tIns="0" rIns="0" bIns="0" rtlCol="0" anchor="ctr"/>
          <a:lstStyle/>
          <a:p>
            <a:pPr algn="ctr" indent="0" marL="0">
              <a:buNone/>
            </a:pPr>
            <a:r>
              <a:rPr lang="en-US" sz="2000" b="1" dirty="0">
                <a:solidFill>
                  <a:srgbClr val="1A1A2E"/>
                </a:solidFill>
              </a:rPr>
              <a:t>8</a:t>
            </a:r>
            <a:endParaRPr lang="en-US" sz="2000" dirty="0"/>
          </a:p>
        </p:txBody>
      </p:sp>
      <p:sp>
        <p:nvSpPr>
          <p:cNvPr id="12" name="Shape 10"/>
          <p:cNvSpPr/>
          <p:nvPr/>
        </p:nvSpPr>
        <p:spPr>
          <a:xfrm>
            <a:off x="4754880" y="2103120"/>
            <a:ext cx="1737360" cy="822960"/>
          </a:xfrm>
          <a:prstGeom prst="roundRect">
            <a:avLst>
              <a:gd name="adj" fmla="val 8889"/>
            </a:avLst>
          </a:prstGeom>
          <a:solidFill>
            <a:srgbClr val="F5F5F8"/>
          </a:solidFill>
          <a:ln w="12700">
            <a:solidFill>
              <a:srgbClr val="F5F5F8"/>
            </a:solidFill>
            <a:prstDash val="solid"/>
          </a:ln>
        </p:spPr>
      </p:sp>
      <p:sp>
        <p:nvSpPr>
          <p:cNvPr id="13" name="Text 11"/>
          <p:cNvSpPr/>
          <p:nvPr/>
        </p:nvSpPr>
        <p:spPr>
          <a:xfrm>
            <a:off x="4754880" y="2103120"/>
            <a:ext cx="1737360" cy="822960"/>
          </a:xfrm>
          <a:prstGeom prst="rect">
            <a:avLst/>
          </a:prstGeom>
          <a:noFill/>
          <a:ln/>
        </p:spPr>
        <p:txBody>
          <a:bodyPr wrap="square" lIns="0" tIns="0" rIns="0" bIns="0" rtlCol="0" anchor="ctr"/>
          <a:lstStyle/>
          <a:p>
            <a:pPr algn="ctr" indent="0" marL="0">
              <a:buNone/>
            </a:pPr>
            <a:r>
              <a:rPr lang="en-US" sz="2000" b="1" dirty="0">
                <a:solidFill>
                  <a:srgbClr val="1A1A2E"/>
                </a:solidFill>
              </a:rPr>
              <a:t>80</a:t>
            </a:r>
            <a:endParaRPr lang="en-US" sz="2000" dirty="0"/>
          </a:p>
        </p:txBody>
      </p:sp>
      <p:sp>
        <p:nvSpPr>
          <p:cNvPr id="14" name="Shape 12"/>
          <p:cNvSpPr/>
          <p:nvPr/>
        </p:nvSpPr>
        <p:spPr>
          <a:xfrm>
            <a:off x="6675120" y="2103120"/>
            <a:ext cx="1737360" cy="822960"/>
          </a:xfrm>
          <a:prstGeom prst="roundRect">
            <a:avLst>
              <a:gd name="adj" fmla="val 8889"/>
            </a:avLst>
          </a:prstGeom>
          <a:solidFill>
            <a:srgbClr val="F5F5F8"/>
          </a:solidFill>
          <a:ln w="12700">
            <a:solidFill>
              <a:srgbClr val="F5F5F8"/>
            </a:solidFill>
            <a:prstDash val="solid"/>
          </a:ln>
        </p:spPr>
      </p:sp>
      <p:sp>
        <p:nvSpPr>
          <p:cNvPr id="15" name="Text 13"/>
          <p:cNvSpPr/>
          <p:nvPr/>
        </p:nvSpPr>
        <p:spPr>
          <a:xfrm>
            <a:off x="6675120" y="2103120"/>
            <a:ext cx="1737360" cy="822960"/>
          </a:xfrm>
          <a:prstGeom prst="rect">
            <a:avLst/>
          </a:prstGeom>
          <a:noFill/>
          <a:ln/>
        </p:spPr>
        <p:txBody>
          <a:bodyPr wrap="square" lIns="0" tIns="0" rIns="0" bIns="0" rtlCol="0" anchor="ctr"/>
          <a:lstStyle/>
          <a:p>
            <a:pPr algn="ctr" indent="0" marL="0">
              <a:buNone/>
            </a:pPr>
            <a:r>
              <a:rPr lang="en-US" sz="2000" b="1" dirty="0">
                <a:solidFill>
                  <a:srgbClr val="1A1A2E"/>
                </a:solidFill>
              </a:rPr>
              <a:t>800</a:t>
            </a:r>
            <a:endParaRPr lang="en-US" sz="2000" dirty="0"/>
          </a:p>
        </p:txBody>
      </p:sp>
      <p:sp>
        <p:nvSpPr>
          <p:cNvPr id="16" name="Shape 14"/>
          <p:cNvSpPr/>
          <p:nvPr/>
        </p:nvSpPr>
        <p:spPr>
          <a:xfrm>
            <a:off x="1371600" y="4206240"/>
            <a:ext cx="6400800" cy="438912"/>
          </a:xfrm>
          <a:prstGeom prst="roundRect">
            <a:avLst>
              <a:gd name="adj" fmla="val 12500"/>
            </a:avLst>
          </a:prstGeom>
          <a:solidFill>
            <a:srgbClr val="464EB8"/>
          </a:solidFill>
          <a:ln w="12700">
            <a:solidFill>
              <a:srgbClr val="464EB8"/>
            </a:solidFill>
            <a:prstDash val="solid"/>
          </a:ln>
        </p:spPr>
      </p:sp>
      <p:sp>
        <p:nvSpPr>
          <p:cNvPr id="17" name="Text 15"/>
          <p:cNvSpPr/>
          <p:nvPr/>
        </p:nvSpPr>
        <p:spPr>
          <a:xfrm>
            <a:off x="1371600" y="4206240"/>
            <a:ext cx="64008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answer</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Exit Check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Mastery · 3 min</a:t>
            </a:r>
            <a:endParaRPr lang="en-US" sz="1100" dirty="0"/>
          </a:p>
        </p:txBody>
      </p:sp>
      <p:sp>
        <p:nvSpPr>
          <p:cNvPr id="5" name="Shape 3"/>
          <p:cNvSpPr/>
          <p:nvPr/>
        </p:nvSpPr>
        <p:spPr>
          <a:xfrm>
            <a:off x="0" y="777240"/>
            <a:ext cx="9144000" cy="4366260"/>
          </a:xfrm>
          <a:prstGeom prst="rect">
            <a:avLst/>
          </a:prstGeom>
          <a:solidFill>
            <a:srgbClr val="1B2A4A"/>
          </a:solidFill>
          <a:ln w="12700">
            <a:solidFill>
              <a:srgbClr val="1B2A4A"/>
            </a:solidFill>
            <a:prstDash val="solid"/>
          </a:ln>
        </p:spPr>
      </p:sp>
      <p:sp>
        <p:nvSpPr>
          <p:cNvPr id="6" name="Shape 4"/>
          <p:cNvSpPr/>
          <p:nvPr/>
        </p:nvSpPr>
        <p:spPr>
          <a:xfrm>
            <a:off x="731520" y="960120"/>
            <a:ext cx="7680960" cy="1097280"/>
          </a:xfrm>
          <a:prstGeom prst="roundRect">
            <a:avLst>
              <a:gd name="adj" fmla="val 8333"/>
            </a:avLst>
          </a:prstGeom>
          <a:solidFill>
            <a:srgbClr val="FFFFFF"/>
          </a:solidFill>
          <a:ln w="6350">
            <a:solidFill>
              <a:srgbClr val="DDDDEE"/>
            </a:solidFill>
            <a:prstDash val="solid"/>
          </a:ln>
        </p:spPr>
      </p:sp>
      <p:sp>
        <p:nvSpPr>
          <p:cNvPr id="7" name="Text 5"/>
          <p:cNvSpPr/>
          <p:nvPr/>
        </p:nvSpPr>
        <p:spPr>
          <a:xfrm>
            <a:off x="914400" y="1051560"/>
            <a:ext cx="7315200" cy="914400"/>
          </a:xfrm>
          <a:prstGeom prst="rect">
            <a:avLst/>
          </a:prstGeom>
          <a:noFill/>
          <a:ln/>
        </p:spPr>
        <p:txBody>
          <a:bodyPr wrap="square" lIns="0" tIns="0" rIns="0" bIns="0" rtlCol="0" anchor="ctr"/>
          <a:lstStyle/>
          <a:p>
            <a:pPr indent="0" marL="0">
              <a:buNone/>
            </a:pPr>
            <a:r>
              <a:rPr lang="en-US" sz="2000" b="1" dirty="0">
                <a:solidFill>
                  <a:srgbClr val="1A1A2E"/>
                </a:solidFill>
                <a:latin typeface="Cambria" pitchFamily="34" charset="0"/>
                <a:ea typeface="Cambria" pitchFamily="34" charset="-122"/>
                <a:cs typeface="Cambria" pitchFamily="34" charset="-120"/>
              </a:rPr>
              <a:t>8 ÷ 0.1 = ?</a:t>
            </a:r>
            <a:endParaRPr lang="en-US" sz="2000" dirty="0"/>
          </a:p>
        </p:txBody>
      </p:sp>
      <p:sp>
        <p:nvSpPr>
          <p:cNvPr id="8" name="Shape 6"/>
          <p:cNvSpPr/>
          <p:nvPr/>
        </p:nvSpPr>
        <p:spPr>
          <a:xfrm>
            <a:off x="914400" y="2103120"/>
            <a:ext cx="1737360" cy="822960"/>
          </a:xfrm>
          <a:prstGeom prst="roundRect">
            <a:avLst>
              <a:gd name="adj" fmla="val 8889"/>
            </a:avLst>
          </a:prstGeom>
          <a:solidFill>
            <a:srgbClr val="F5F5F8"/>
          </a:solidFill>
          <a:ln w="12700">
            <a:solidFill>
              <a:srgbClr val="F5F5F8"/>
            </a:solidFill>
            <a:prstDash val="solid"/>
          </a:ln>
        </p:spPr>
      </p:sp>
      <p:sp>
        <p:nvSpPr>
          <p:cNvPr id="9" name="Text 7"/>
          <p:cNvSpPr/>
          <p:nvPr/>
        </p:nvSpPr>
        <p:spPr>
          <a:xfrm>
            <a:off x="914400" y="2103120"/>
            <a:ext cx="1737360" cy="822960"/>
          </a:xfrm>
          <a:prstGeom prst="rect">
            <a:avLst/>
          </a:prstGeom>
          <a:noFill/>
          <a:ln/>
        </p:spPr>
        <p:txBody>
          <a:bodyPr wrap="square" lIns="0" tIns="0" rIns="0" bIns="0" rtlCol="0" anchor="ctr"/>
          <a:lstStyle/>
          <a:p>
            <a:pPr algn="ctr" indent="0" marL="0">
              <a:buNone/>
            </a:pPr>
            <a:r>
              <a:rPr lang="en-US" sz="2000" b="1" dirty="0">
                <a:solidFill>
                  <a:srgbClr val="1A1A2E"/>
                </a:solidFill>
              </a:rPr>
              <a:t>0.8</a:t>
            </a:r>
            <a:endParaRPr lang="en-US" sz="2000" dirty="0"/>
          </a:p>
        </p:txBody>
      </p:sp>
      <p:sp>
        <p:nvSpPr>
          <p:cNvPr id="10" name="Shape 8"/>
          <p:cNvSpPr/>
          <p:nvPr/>
        </p:nvSpPr>
        <p:spPr>
          <a:xfrm>
            <a:off x="2834640" y="2103120"/>
            <a:ext cx="1737360" cy="822960"/>
          </a:xfrm>
          <a:prstGeom prst="roundRect">
            <a:avLst>
              <a:gd name="adj" fmla="val 8889"/>
            </a:avLst>
          </a:prstGeom>
          <a:solidFill>
            <a:srgbClr val="F5F5F8"/>
          </a:solidFill>
          <a:ln w="12700">
            <a:solidFill>
              <a:srgbClr val="F5F5F8"/>
            </a:solidFill>
            <a:prstDash val="solid"/>
          </a:ln>
        </p:spPr>
      </p:sp>
      <p:sp>
        <p:nvSpPr>
          <p:cNvPr id="11" name="Text 9"/>
          <p:cNvSpPr/>
          <p:nvPr/>
        </p:nvSpPr>
        <p:spPr>
          <a:xfrm>
            <a:off x="2834640" y="2103120"/>
            <a:ext cx="1737360" cy="822960"/>
          </a:xfrm>
          <a:prstGeom prst="rect">
            <a:avLst/>
          </a:prstGeom>
          <a:noFill/>
          <a:ln/>
        </p:spPr>
        <p:txBody>
          <a:bodyPr wrap="square" lIns="0" tIns="0" rIns="0" bIns="0" rtlCol="0" anchor="ctr"/>
          <a:lstStyle/>
          <a:p>
            <a:pPr algn="ctr" indent="0" marL="0">
              <a:buNone/>
            </a:pPr>
            <a:r>
              <a:rPr lang="en-US" sz="2000" b="1" dirty="0">
                <a:solidFill>
                  <a:srgbClr val="1A1A2E"/>
                </a:solidFill>
              </a:rPr>
              <a:t>8</a:t>
            </a:r>
            <a:endParaRPr lang="en-US" sz="2000" dirty="0"/>
          </a:p>
        </p:txBody>
      </p:sp>
      <p:sp>
        <p:nvSpPr>
          <p:cNvPr id="12" name="Shape 10"/>
          <p:cNvSpPr/>
          <p:nvPr/>
        </p:nvSpPr>
        <p:spPr>
          <a:xfrm>
            <a:off x="4754880" y="2103120"/>
            <a:ext cx="1737360" cy="822960"/>
          </a:xfrm>
          <a:prstGeom prst="roundRect">
            <a:avLst>
              <a:gd name="adj" fmla="val 8889"/>
            </a:avLst>
          </a:prstGeom>
          <a:solidFill>
            <a:srgbClr val="2E6E44"/>
          </a:solidFill>
          <a:ln w="12700">
            <a:solidFill>
              <a:srgbClr val="2E6E44"/>
            </a:solidFill>
            <a:prstDash val="solid"/>
          </a:ln>
        </p:spPr>
      </p:sp>
      <p:sp>
        <p:nvSpPr>
          <p:cNvPr id="13" name="Text 11"/>
          <p:cNvSpPr/>
          <p:nvPr/>
        </p:nvSpPr>
        <p:spPr>
          <a:xfrm>
            <a:off x="4754880" y="2103120"/>
            <a:ext cx="1737360" cy="822960"/>
          </a:xfrm>
          <a:prstGeom prst="rect">
            <a:avLst/>
          </a:prstGeom>
          <a:noFill/>
          <a:ln/>
        </p:spPr>
        <p:txBody>
          <a:bodyPr wrap="square" lIns="0" tIns="0" rIns="0" bIns="0" rtlCol="0" anchor="ctr"/>
          <a:lstStyle/>
          <a:p>
            <a:pPr algn="ctr" indent="0" marL="0">
              <a:buNone/>
            </a:pPr>
            <a:r>
              <a:rPr lang="en-US" sz="2000" b="1" dirty="0">
                <a:solidFill>
                  <a:srgbClr val="FFFFFF"/>
                </a:solidFill>
              </a:rPr>
              <a:t>80</a:t>
            </a:r>
            <a:endParaRPr lang="en-US" sz="2000" dirty="0"/>
          </a:p>
        </p:txBody>
      </p:sp>
      <p:sp>
        <p:nvSpPr>
          <p:cNvPr id="14" name="Shape 12"/>
          <p:cNvSpPr/>
          <p:nvPr/>
        </p:nvSpPr>
        <p:spPr>
          <a:xfrm>
            <a:off x="6675120" y="2103120"/>
            <a:ext cx="1737360" cy="822960"/>
          </a:xfrm>
          <a:prstGeom prst="roundRect">
            <a:avLst>
              <a:gd name="adj" fmla="val 8889"/>
            </a:avLst>
          </a:prstGeom>
          <a:solidFill>
            <a:srgbClr val="F5F5F8"/>
          </a:solidFill>
          <a:ln w="12700">
            <a:solidFill>
              <a:srgbClr val="F5F5F8"/>
            </a:solidFill>
            <a:prstDash val="solid"/>
          </a:ln>
        </p:spPr>
      </p:sp>
      <p:sp>
        <p:nvSpPr>
          <p:cNvPr id="15" name="Text 13"/>
          <p:cNvSpPr/>
          <p:nvPr/>
        </p:nvSpPr>
        <p:spPr>
          <a:xfrm>
            <a:off x="6675120" y="2103120"/>
            <a:ext cx="1737360" cy="822960"/>
          </a:xfrm>
          <a:prstGeom prst="rect">
            <a:avLst/>
          </a:prstGeom>
          <a:noFill/>
          <a:ln/>
        </p:spPr>
        <p:txBody>
          <a:bodyPr wrap="square" lIns="0" tIns="0" rIns="0" bIns="0" rtlCol="0" anchor="ctr"/>
          <a:lstStyle/>
          <a:p>
            <a:pPr algn="ctr" indent="0" marL="0">
              <a:buNone/>
            </a:pPr>
            <a:r>
              <a:rPr lang="en-US" sz="2000" b="1" dirty="0">
                <a:solidFill>
                  <a:srgbClr val="1A1A2E"/>
                </a:solidFill>
              </a:rPr>
              <a:t>800</a:t>
            </a:r>
            <a:endParaRPr lang="en-US" sz="2000" dirty="0"/>
          </a:p>
        </p:txBody>
      </p:sp>
      <p:sp>
        <p:nvSpPr>
          <p:cNvPr id="16" name="Text 14"/>
          <p:cNvSpPr/>
          <p:nvPr/>
        </p:nvSpPr>
        <p:spPr>
          <a:xfrm>
            <a:off x="914400" y="4773168"/>
            <a:ext cx="7315200" cy="365760"/>
          </a:xfrm>
          <a:prstGeom prst="rect">
            <a:avLst/>
          </a:prstGeom>
          <a:noFill/>
          <a:ln/>
        </p:spPr>
        <p:txBody>
          <a:bodyPr wrap="square" lIns="0" tIns="0" rIns="0" bIns="0" rtlCol="0" anchor="ctr"/>
          <a:lstStyle/>
          <a:p>
            <a:pPr algn="ctr" indent="0" marL="0">
              <a:buNone/>
            </a:pPr>
            <a:r>
              <a:rPr lang="en-US" sz="1200" dirty="0">
                <a:solidFill>
                  <a:srgbClr val="5A5A7A"/>
                </a:solidFill>
              </a:rPr>
              <a:t>8 wholes = 80 tenths, so 8 ÷ 0.1 = 8 × 10 = 80.</a:t>
            </a:r>
            <a:endParaRPr lang="en-US" sz="1200" dirty="0"/>
          </a:p>
        </p:txBody>
      </p:sp>
      <p:sp>
        <p:nvSpPr>
          <p:cNvPr id="17" name="Shape 15"/>
          <p:cNvSpPr/>
          <p:nvPr/>
        </p:nvSpPr>
        <p:spPr>
          <a:xfrm>
            <a:off x="1371600" y="4206240"/>
            <a:ext cx="6400800" cy="438912"/>
          </a:xfrm>
          <a:prstGeom prst="roundRect">
            <a:avLst>
              <a:gd name="adj" fmla="val 12500"/>
            </a:avLst>
          </a:prstGeom>
          <a:solidFill>
            <a:srgbClr val="464EB8"/>
          </a:solidFill>
          <a:ln w="12700">
            <a:solidFill>
              <a:srgbClr val="464EB8"/>
            </a:solidFill>
            <a:prstDash val="solid"/>
          </a:ln>
        </p:spPr>
      </p:sp>
      <p:sp>
        <p:nvSpPr>
          <p:cNvPr id="18" name="Text 16"/>
          <p:cNvSpPr/>
          <p:nvPr/>
        </p:nvSpPr>
        <p:spPr>
          <a:xfrm>
            <a:off x="1371600" y="4206240"/>
            <a:ext cx="64008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answer</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Math Crew — What Do They Think?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Student Perspectives</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228600" y="914400"/>
            <a:ext cx="4160520" cy="1554480"/>
          </a:xfrm>
          <a:prstGeom prst="roundRect">
            <a:avLst>
              <a:gd name="adj" fmla="val 5882"/>
            </a:avLst>
          </a:prstGeom>
          <a:solidFill>
            <a:srgbClr val="EAE8F5"/>
          </a:solidFill>
          <a:ln w="6350">
            <a:solidFill>
              <a:srgbClr val="DDDDEE"/>
            </a:solidFill>
            <a:prstDash val="solid"/>
          </a:ln>
        </p:spPr>
      </p:sp>
      <p:sp>
        <p:nvSpPr>
          <p:cNvPr id="7" name="Text 5"/>
          <p:cNvSpPr/>
          <p:nvPr/>
        </p:nvSpPr>
        <p:spPr>
          <a:xfrm>
            <a:off x="365760" y="1005840"/>
            <a:ext cx="3886200" cy="320040"/>
          </a:xfrm>
          <a:prstGeom prst="rect">
            <a:avLst/>
          </a:prstGeom>
          <a:noFill/>
          <a:ln/>
        </p:spPr>
        <p:txBody>
          <a:bodyPr wrap="square" lIns="0" tIns="0" rIns="0" bIns="0" rtlCol="0" anchor="ctr"/>
          <a:lstStyle/>
          <a:p>
            <a:pPr indent="0" marL="0">
              <a:buNone/>
            </a:pPr>
            <a:r>
              <a:rPr lang="en-US" sz="1400" b="1" dirty="0">
                <a:solidFill>
                  <a:srgbClr val="4A3D8F"/>
                </a:solidFill>
              </a:rPr>
              <a:t>Atlas</a:t>
            </a:r>
            <a:endParaRPr lang="en-US" sz="1400" dirty="0"/>
          </a:p>
        </p:txBody>
      </p:sp>
      <p:sp>
        <p:nvSpPr>
          <p:cNvPr id="8" name="Text 6"/>
          <p:cNvSpPr/>
          <p:nvPr/>
        </p:nvSpPr>
        <p:spPr>
          <a:xfrm>
            <a:off x="365760" y="1325880"/>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pattern-spotter</a:t>
            </a:r>
            <a:endParaRPr lang="en-US" sz="900" dirty="0"/>
          </a:p>
        </p:txBody>
      </p:sp>
      <p:sp>
        <p:nvSpPr>
          <p:cNvPr id="9" name="Shape 7"/>
          <p:cNvSpPr/>
          <p:nvPr/>
        </p:nvSpPr>
        <p:spPr>
          <a:xfrm>
            <a:off x="365760" y="1572768"/>
            <a:ext cx="3886200" cy="0"/>
          </a:xfrm>
          <a:prstGeom prst="line">
            <a:avLst/>
          </a:prstGeom>
          <a:noFill/>
          <a:ln w="6350">
            <a:solidFill>
              <a:srgbClr val="CCCCCC"/>
            </a:solidFill>
            <a:prstDash val="solid"/>
          </a:ln>
        </p:spPr>
      </p:sp>
      <p:sp>
        <p:nvSpPr>
          <p:cNvPr id="10" name="Text 8"/>
          <p:cNvSpPr/>
          <p:nvPr/>
        </p:nvSpPr>
        <p:spPr>
          <a:xfrm>
            <a:off x="365760" y="1645920"/>
            <a:ext cx="3886200" cy="731520"/>
          </a:xfrm>
          <a:prstGeom prst="rect">
            <a:avLst/>
          </a:prstGeom>
          <a:noFill/>
          <a:ln/>
        </p:spPr>
        <p:txBody>
          <a:bodyPr wrap="square" lIns="0" tIns="0" rIns="0" bIns="0" rtlCol="0" anchor="ctr"/>
          <a:lstStyle/>
          <a:p>
            <a:pPr indent="0" marL="0">
              <a:buNone/>
            </a:pPr>
            <a:r>
              <a:rPr lang="en-US" sz="1000" dirty="0">
                <a:solidFill>
                  <a:srgbClr val="1A1A2E"/>
                </a:solidFill>
              </a:rPr>
              <a:t>I noticed 3 ÷ 0.1 = 30 and 3 ÷ 0.01 = 300 -- dividing by a smaller decimal always makes the quotient ten times bigger.</a:t>
            </a:r>
            <a:endParaRPr lang="en-US" sz="1000" dirty="0"/>
          </a:p>
        </p:txBody>
      </p:sp>
      <p:sp>
        <p:nvSpPr>
          <p:cNvPr id="11" name="Shape 9"/>
          <p:cNvSpPr/>
          <p:nvPr/>
        </p:nvSpPr>
        <p:spPr>
          <a:xfrm>
            <a:off x="4709160" y="914400"/>
            <a:ext cx="4160520" cy="1554480"/>
          </a:xfrm>
          <a:prstGeom prst="roundRect">
            <a:avLst>
              <a:gd name="adj" fmla="val 5882"/>
            </a:avLst>
          </a:prstGeom>
          <a:solidFill>
            <a:srgbClr val="E6F2EA"/>
          </a:solidFill>
          <a:ln w="6350">
            <a:solidFill>
              <a:srgbClr val="DDDDEE"/>
            </a:solidFill>
            <a:prstDash val="solid"/>
          </a:ln>
        </p:spPr>
      </p:sp>
      <p:sp>
        <p:nvSpPr>
          <p:cNvPr id="12" name="Text 10"/>
          <p:cNvSpPr/>
          <p:nvPr/>
        </p:nvSpPr>
        <p:spPr>
          <a:xfrm>
            <a:off x="4846320" y="1005840"/>
            <a:ext cx="3886200" cy="320040"/>
          </a:xfrm>
          <a:prstGeom prst="rect">
            <a:avLst/>
          </a:prstGeom>
          <a:noFill/>
          <a:ln/>
        </p:spPr>
        <p:txBody>
          <a:bodyPr wrap="square" lIns="0" tIns="0" rIns="0" bIns="0" rtlCol="0" anchor="ctr"/>
          <a:lstStyle/>
          <a:p>
            <a:pPr indent="0" marL="0">
              <a:buNone/>
            </a:pPr>
            <a:r>
              <a:rPr lang="en-US" sz="1400" b="1" dirty="0">
                <a:solidFill>
                  <a:srgbClr val="2E6E44"/>
                </a:solidFill>
              </a:rPr>
              <a:t>Felix</a:t>
            </a:r>
            <a:endParaRPr lang="en-US" sz="1400" dirty="0"/>
          </a:p>
        </p:txBody>
      </p:sp>
      <p:sp>
        <p:nvSpPr>
          <p:cNvPr id="13" name="Text 11"/>
          <p:cNvSpPr/>
          <p:nvPr/>
        </p:nvSpPr>
        <p:spPr>
          <a:xfrm>
            <a:off x="4846320" y="1325880"/>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method-tester</a:t>
            </a:r>
            <a:endParaRPr lang="en-US" sz="900" dirty="0"/>
          </a:p>
        </p:txBody>
      </p:sp>
      <p:sp>
        <p:nvSpPr>
          <p:cNvPr id="14" name="Shape 12"/>
          <p:cNvSpPr/>
          <p:nvPr/>
        </p:nvSpPr>
        <p:spPr>
          <a:xfrm>
            <a:off x="4846320" y="1572768"/>
            <a:ext cx="3886200" cy="0"/>
          </a:xfrm>
          <a:prstGeom prst="line">
            <a:avLst/>
          </a:prstGeom>
          <a:noFill/>
          <a:ln w="6350">
            <a:solidFill>
              <a:srgbClr val="CCCCCC"/>
            </a:solidFill>
            <a:prstDash val="solid"/>
          </a:ln>
        </p:spPr>
      </p:sp>
      <p:sp>
        <p:nvSpPr>
          <p:cNvPr id="15" name="Text 13"/>
          <p:cNvSpPr/>
          <p:nvPr/>
        </p:nvSpPr>
        <p:spPr>
          <a:xfrm>
            <a:off x="4846320" y="1645920"/>
            <a:ext cx="3886200" cy="731520"/>
          </a:xfrm>
          <a:prstGeom prst="rect">
            <a:avLst/>
          </a:prstGeom>
          <a:noFill/>
          <a:ln/>
        </p:spPr>
        <p:txBody>
          <a:bodyPr wrap="square" lIns="0" tIns="0" rIns="0" bIns="0" rtlCol="0" anchor="ctr"/>
          <a:lstStyle/>
          <a:p>
            <a:pPr indent="0" marL="0">
              <a:buNone/>
            </a:pPr>
            <a:r>
              <a:rPr lang="en-US" sz="1000" dirty="0">
                <a:solidFill>
                  <a:srgbClr val="1A1A2E"/>
                </a:solidFill>
              </a:rPr>
              <a:t>I check 6 ÷ 0.1 = 60 by multiplying: 60 groups of 0.1 should equal 6. It does.</a:t>
            </a:r>
            <a:endParaRPr lang="en-US" sz="1000" dirty="0"/>
          </a:p>
        </p:txBody>
      </p:sp>
      <p:sp>
        <p:nvSpPr>
          <p:cNvPr id="16" name="Shape 14"/>
          <p:cNvSpPr/>
          <p:nvPr/>
        </p:nvSpPr>
        <p:spPr>
          <a:xfrm>
            <a:off x="228600" y="2578608"/>
            <a:ext cx="4160520" cy="1554480"/>
          </a:xfrm>
          <a:prstGeom prst="roundRect">
            <a:avLst>
              <a:gd name="adj" fmla="val 5882"/>
            </a:avLst>
          </a:prstGeom>
          <a:solidFill>
            <a:srgbClr val="FEF6E4"/>
          </a:solidFill>
          <a:ln w="6350">
            <a:solidFill>
              <a:srgbClr val="DDDDEE"/>
            </a:solidFill>
            <a:prstDash val="solid"/>
          </a:ln>
        </p:spPr>
      </p:sp>
      <p:sp>
        <p:nvSpPr>
          <p:cNvPr id="17" name="Text 15"/>
          <p:cNvSpPr/>
          <p:nvPr/>
        </p:nvSpPr>
        <p:spPr>
          <a:xfrm>
            <a:off x="365760" y="2670048"/>
            <a:ext cx="3886200" cy="320040"/>
          </a:xfrm>
          <a:prstGeom prst="rect">
            <a:avLst/>
          </a:prstGeom>
          <a:noFill/>
          <a:ln/>
        </p:spPr>
        <p:txBody>
          <a:bodyPr wrap="square" lIns="0" tIns="0" rIns="0" bIns="0" rtlCol="0" anchor="ctr"/>
          <a:lstStyle/>
          <a:p>
            <a:pPr indent="0" marL="0">
              <a:buNone/>
            </a:pPr>
            <a:r>
              <a:rPr lang="en-US" sz="1400" b="1" dirty="0">
                <a:solidFill>
                  <a:srgbClr val="D9941A"/>
                </a:solidFill>
              </a:rPr>
              <a:t>Hazel</a:t>
            </a:r>
            <a:endParaRPr lang="en-US" sz="1400" dirty="0"/>
          </a:p>
        </p:txBody>
      </p:sp>
      <p:sp>
        <p:nvSpPr>
          <p:cNvPr id="18" name="Text 16"/>
          <p:cNvSpPr/>
          <p:nvPr/>
        </p:nvSpPr>
        <p:spPr>
          <a:xfrm>
            <a:off x="365760" y="2990088"/>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visual thinker</a:t>
            </a:r>
            <a:endParaRPr lang="en-US" sz="900" dirty="0"/>
          </a:p>
        </p:txBody>
      </p:sp>
      <p:sp>
        <p:nvSpPr>
          <p:cNvPr id="19" name="Shape 17"/>
          <p:cNvSpPr/>
          <p:nvPr/>
        </p:nvSpPr>
        <p:spPr>
          <a:xfrm>
            <a:off x="365760" y="3236976"/>
            <a:ext cx="3886200" cy="0"/>
          </a:xfrm>
          <a:prstGeom prst="line">
            <a:avLst/>
          </a:prstGeom>
          <a:noFill/>
          <a:ln w="6350">
            <a:solidFill>
              <a:srgbClr val="CCCCCC"/>
            </a:solidFill>
            <a:prstDash val="solid"/>
          </a:ln>
        </p:spPr>
      </p:sp>
      <p:sp>
        <p:nvSpPr>
          <p:cNvPr id="20" name="Text 18"/>
          <p:cNvSpPr/>
          <p:nvPr/>
        </p:nvSpPr>
        <p:spPr>
          <a:xfrm>
            <a:off x="365760" y="3310128"/>
            <a:ext cx="3886200" cy="731520"/>
          </a:xfrm>
          <a:prstGeom prst="rect">
            <a:avLst/>
          </a:prstGeom>
          <a:noFill/>
          <a:ln/>
        </p:spPr>
        <p:txBody>
          <a:bodyPr wrap="square" lIns="0" tIns="0" rIns="0" bIns="0" rtlCol="0" anchor="ctr"/>
          <a:lstStyle/>
          <a:p>
            <a:pPr indent="0" marL="0">
              <a:buNone/>
            </a:pPr>
            <a:r>
              <a:rPr lang="en-US" sz="1000" dirty="0">
                <a:solidFill>
                  <a:srgbClr val="1A1A2E"/>
                </a:solidFill>
              </a:rPr>
              <a:t>I picture every whole cut into 10 tenths or 100 hundredths, and I count the scoops one at a time along the bar.</a:t>
            </a:r>
            <a:endParaRPr lang="en-US" sz="1000" dirty="0"/>
          </a:p>
        </p:txBody>
      </p:sp>
      <p:sp>
        <p:nvSpPr>
          <p:cNvPr id="21" name="Shape 19"/>
          <p:cNvSpPr/>
          <p:nvPr/>
        </p:nvSpPr>
        <p:spPr>
          <a:xfrm>
            <a:off x="4709160" y="2578608"/>
            <a:ext cx="4160520" cy="1554480"/>
          </a:xfrm>
          <a:prstGeom prst="roundRect">
            <a:avLst>
              <a:gd name="adj" fmla="val 5882"/>
            </a:avLst>
          </a:prstGeom>
          <a:solidFill>
            <a:srgbClr val="FEF0E6"/>
          </a:solidFill>
          <a:ln w="6350">
            <a:solidFill>
              <a:srgbClr val="DDDDEE"/>
            </a:solidFill>
            <a:prstDash val="solid"/>
          </a:ln>
        </p:spPr>
      </p:sp>
      <p:sp>
        <p:nvSpPr>
          <p:cNvPr id="22" name="Text 20"/>
          <p:cNvSpPr/>
          <p:nvPr/>
        </p:nvSpPr>
        <p:spPr>
          <a:xfrm>
            <a:off x="4846320" y="2670048"/>
            <a:ext cx="3886200" cy="320040"/>
          </a:xfrm>
          <a:prstGeom prst="rect">
            <a:avLst/>
          </a:prstGeom>
          <a:noFill/>
          <a:ln/>
        </p:spPr>
        <p:txBody>
          <a:bodyPr wrap="square" lIns="0" tIns="0" rIns="0" bIns="0" rtlCol="0" anchor="ctr"/>
          <a:lstStyle/>
          <a:p>
            <a:pPr indent="0" marL="0">
              <a:buNone/>
            </a:pPr>
            <a:r>
              <a:rPr lang="en-US" sz="1400" b="1" dirty="0">
                <a:solidFill>
                  <a:srgbClr val="C05818"/>
                </a:solidFill>
              </a:rPr>
              <a:t>Cora</a:t>
            </a:r>
            <a:endParaRPr lang="en-US" sz="1400" dirty="0"/>
          </a:p>
        </p:txBody>
      </p:sp>
      <p:sp>
        <p:nvSpPr>
          <p:cNvPr id="23" name="Text 21"/>
          <p:cNvSpPr/>
          <p:nvPr/>
        </p:nvSpPr>
        <p:spPr>
          <a:xfrm>
            <a:off x="4846320" y="2990088"/>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precise explainer</a:t>
            </a:r>
            <a:endParaRPr lang="en-US" sz="900" dirty="0"/>
          </a:p>
        </p:txBody>
      </p:sp>
      <p:sp>
        <p:nvSpPr>
          <p:cNvPr id="24" name="Shape 22"/>
          <p:cNvSpPr/>
          <p:nvPr/>
        </p:nvSpPr>
        <p:spPr>
          <a:xfrm>
            <a:off x="4846320" y="3236976"/>
            <a:ext cx="3886200" cy="0"/>
          </a:xfrm>
          <a:prstGeom prst="line">
            <a:avLst/>
          </a:prstGeom>
          <a:noFill/>
          <a:ln w="6350">
            <a:solidFill>
              <a:srgbClr val="CCCCCC"/>
            </a:solidFill>
            <a:prstDash val="solid"/>
          </a:ln>
        </p:spPr>
      </p:sp>
      <p:sp>
        <p:nvSpPr>
          <p:cNvPr id="25" name="Text 23"/>
          <p:cNvSpPr/>
          <p:nvPr/>
        </p:nvSpPr>
        <p:spPr>
          <a:xfrm>
            <a:off x="4846320" y="3310128"/>
            <a:ext cx="3886200" cy="731520"/>
          </a:xfrm>
          <a:prstGeom prst="rect">
            <a:avLst/>
          </a:prstGeom>
          <a:noFill/>
          <a:ln/>
        </p:spPr>
        <p:txBody>
          <a:bodyPr wrap="square" lIns="0" tIns="0" rIns="0" bIns="0" rtlCol="0" anchor="ctr"/>
          <a:lstStyle/>
          <a:p>
            <a:pPr indent="0" marL="0">
              <a:buNone/>
            </a:pPr>
            <a:r>
              <a:rPr lang="en-US" sz="1000" dirty="0">
                <a:solidFill>
                  <a:srgbClr val="1A1A2E"/>
                </a:solidFill>
              </a:rPr>
              <a:t>The precise way to say it: dividing by 0.1 counts tenths, and dividing by 0.01 counts hundredths -- smaller scoops mean more scoops.</a:t>
            </a:r>
            <a:endParaRPr lang="en-US" sz="1000" dirty="0"/>
          </a:p>
        </p:txBody>
      </p:sp>
      <p:sp>
        <p:nvSpPr>
          <p:cNvPr id="26" name="Shape 24"/>
          <p:cNvSpPr/>
          <p:nvPr/>
        </p:nvSpPr>
        <p:spPr>
          <a:xfrm>
            <a:off x="914400" y="4315968"/>
            <a:ext cx="7315200" cy="438912"/>
          </a:xfrm>
          <a:prstGeom prst="roundRect">
            <a:avLst>
              <a:gd name="adj" fmla="val 12500"/>
            </a:avLst>
          </a:prstGeom>
          <a:solidFill>
            <a:srgbClr val="464EB8"/>
          </a:solidFill>
          <a:ln w="12700">
            <a:solidFill>
              <a:srgbClr val="464EB8"/>
            </a:solidFill>
            <a:prstDash val="solid"/>
          </a:ln>
        </p:spPr>
      </p:sp>
      <p:sp>
        <p:nvSpPr>
          <p:cNvPr id="27" name="Text 25"/>
          <p:cNvSpPr/>
          <p:nvPr/>
        </p:nvSpPr>
        <p:spPr>
          <a:xfrm>
            <a:off x="914400" y="4315968"/>
            <a:ext cx="73152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which crew member thinks most like you today?</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Before Next Class</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Dismissal</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8229600" cy="960120"/>
          </a:xfrm>
          <a:prstGeom prst="roundRect">
            <a:avLst>
              <a:gd name="adj" fmla="val 9524"/>
            </a:avLst>
          </a:prstGeom>
          <a:solidFill>
            <a:srgbClr val="EAE8F5"/>
          </a:solidFill>
          <a:ln w="6350">
            <a:solidFill>
              <a:srgbClr val="DDDDEE"/>
            </a:solidFill>
            <a:prstDash val="solid"/>
          </a:ln>
        </p:spPr>
      </p:sp>
      <p:sp>
        <p:nvSpPr>
          <p:cNvPr id="7" name="Text 5"/>
          <p:cNvSpPr/>
          <p:nvPr/>
        </p:nvSpPr>
        <p:spPr>
          <a:xfrm>
            <a:off x="685800" y="1024128"/>
            <a:ext cx="7772400" cy="804672"/>
          </a:xfrm>
          <a:prstGeom prst="rect">
            <a:avLst/>
          </a:prstGeom>
          <a:noFill/>
          <a:ln/>
        </p:spPr>
        <p:txBody>
          <a:bodyPr wrap="square" lIns="0" tIns="0" rIns="0" bIns="0" rtlCol="0" anchor="ctr"/>
          <a:lstStyle/>
          <a:p>
            <a:pPr indent="0" marL="0">
              <a:buNone/>
            </a:pPr>
            <a:r>
              <a:rPr lang="en-US" sz="1700" b="1" dirty="0">
                <a:solidFill>
                  <a:srgbClr val="4A3D8F"/>
                </a:solidFill>
              </a:rPr>
              <a:t>Complete before your next class:</a:t>
            </a:r>
            <a:endParaRPr lang="en-US" sz="1700" dirty="0"/>
          </a:p>
        </p:txBody>
      </p:sp>
      <p:sp>
        <p:nvSpPr>
          <p:cNvPr id="8" name="Shape 6"/>
          <p:cNvSpPr/>
          <p:nvPr/>
        </p:nvSpPr>
        <p:spPr>
          <a:xfrm>
            <a:off x="457200" y="2057400"/>
            <a:ext cx="8229600" cy="731520"/>
          </a:xfrm>
          <a:prstGeom prst="roundRect">
            <a:avLst>
              <a:gd name="adj" fmla="val 12500"/>
            </a:avLst>
          </a:prstGeom>
          <a:solidFill>
            <a:srgbClr val="FFFFFF"/>
          </a:solidFill>
          <a:ln w="6350">
            <a:solidFill>
              <a:srgbClr val="DDDDEE"/>
            </a:solidFill>
            <a:prstDash val="solid"/>
          </a:ln>
        </p:spPr>
      </p:sp>
      <p:sp>
        <p:nvSpPr>
          <p:cNvPr id="9" name="Text 7"/>
          <p:cNvSpPr/>
          <p:nvPr/>
        </p:nvSpPr>
        <p:spPr>
          <a:xfrm>
            <a:off x="685800" y="2103120"/>
            <a:ext cx="7772400" cy="640080"/>
          </a:xfrm>
          <a:prstGeom prst="rect">
            <a:avLst/>
          </a:prstGeom>
          <a:noFill/>
          <a:ln/>
        </p:spPr>
        <p:txBody>
          <a:bodyPr wrap="square" lIns="0" tIns="0" rIns="0" bIns="0" rtlCol="0" anchor="ctr"/>
          <a:lstStyle/>
          <a:p>
            <a:pPr indent="0" marL="0">
              <a:buNone/>
            </a:pPr>
            <a:r>
              <a:rPr lang="en-US" sz="1500" dirty="0">
                <a:solidFill>
                  <a:srgbClr val="1A1A2E"/>
                </a:solidFill>
              </a:rPr>
              <a:t>1.  Finish the Independent Practice: dividing whole numbers by 0.1 and 0.01.</a:t>
            </a:r>
            <a:endParaRPr lang="en-US" sz="1500" dirty="0"/>
          </a:p>
        </p:txBody>
      </p:sp>
      <p:sp>
        <p:nvSpPr>
          <p:cNvPr id="10" name="Shape 8"/>
          <p:cNvSpPr/>
          <p:nvPr/>
        </p:nvSpPr>
        <p:spPr>
          <a:xfrm>
            <a:off x="457200" y="2926080"/>
            <a:ext cx="8229600" cy="731520"/>
          </a:xfrm>
          <a:prstGeom prst="roundRect">
            <a:avLst>
              <a:gd name="adj" fmla="val 12500"/>
            </a:avLst>
          </a:prstGeom>
          <a:solidFill>
            <a:srgbClr val="FFFFFF"/>
          </a:solidFill>
          <a:ln w="6350">
            <a:solidFill>
              <a:srgbClr val="DDDDEE"/>
            </a:solidFill>
            <a:prstDash val="solid"/>
          </a:ln>
        </p:spPr>
      </p:sp>
      <p:sp>
        <p:nvSpPr>
          <p:cNvPr id="11" name="Text 9"/>
          <p:cNvSpPr/>
          <p:nvPr/>
        </p:nvSpPr>
        <p:spPr>
          <a:xfrm>
            <a:off x="685800" y="2971800"/>
            <a:ext cx="7772400" cy="640080"/>
          </a:xfrm>
          <a:prstGeom prst="rect">
            <a:avLst/>
          </a:prstGeom>
          <a:noFill/>
          <a:ln/>
        </p:spPr>
        <p:txBody>
          <a:bodyPr wrap="square" lIns="0" tIns="0" rIns="0" bIns="0" rtlCol="0" anchor="ctr"/>
          <a:lstStyle/>
          <a:p>
            <a:pPr indent="0" marL="0">
              <a:buNone/>
            </a:pPr>
            <a:r>
              <a:rPr lang="en-US" sz="1500" dirty="0">
                <a:solidFill>
                  <a:srgbClr val="1A1A2E"/>
                </a:solidFill>
              </a:rPr>
              <a:t>2.  Gather your Math Journal responses from today's lesson.</a:t>
            </a:r>
            <a:endParaRPr lang="en-US" sz="1500" dirty="0"/>
          </a:p>
        </p:txBody>
      </p:sp>
      <p:sp>
        <p:nvSpPr>
          <p:cNvPr id="12" name="Shape 10"/>
          <p:cNvSpPr/>
          <p:nvPr/>
        </p:nvSpPr>
        <p:spPr>
          <a:xfrm>
            <a:off x="457200" y="3794760"/>
            <a:ext cx="8229600" cy="731520"/>
          </a:xfrm>
          <a:prstGeom prst="roundRect">
            <a:avLst>
              <a:gd name="adj" fmla="val 12500"/>
            </a:avLst>
          </a:prstGeom>
          <a:solidFill>
            <a:srgbClr val="FFFFFF"/>
          </a:solidFill>
          <a:ln w="6350">
            <a:solidFill>
              <a:srgbClr val="DDDDEE"/>
            </a:solidFill>
            <a:prstDash val="solid"/>
          </a:ln>
        </p:spPr>
      </p:sp>
      <p:sp>
        <p:nvSpPr>
          <p:cNvPr id="13" name="Text 11"/>
          <p:cNvSpPr/>
          <p:nvPr/>
        </p:nvSpPr>
        <p:spPr>
          <a:xfrm>
            <a:off x="685800" y="3840480"/>
            <a:ext cx="7772400" cy="640080"/>
          </a:xfrm>
          <a:prstGeom prst="rect">
            <a:avLst/>
          </a:prstGeom>
          <a:noFill/>
          <a:ln/>
        </p:spPr>
        <p:txBody>
          <a:bodyPr wrap="square" lIns="0" tIns="0" rIns="0" bIns="0" rtlCol="0" anchor="ctr"/>
          <a:lstStyle/>
          <a:p>
            <a:pPr indent="0" marL="0">
              <a:buNone/>
            </a:pPr>
            <a:r>
              <a:rPr lang="en-US" sz="1500" dirty="0">
                <a:solidFill>
                  <a:srgbClr val="1A1A2E"/>
                </a:solidFill>
              </a:rPr>
              <a:t>3.  Next class: dividing a whole number by any decimal, not just tenths and hundredths.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5.10.07 Dividing a Whole Number by 0.1 and 0.01 — Teacher Slides</dc:title>
  <dc:subject>PptxGenJS Presentation</dc:subject>
  <dc:creator>PptxGenJS</dc:creator>
  <cp:lastModifiedBy>PptxGenJS</cp:lastModifiedBy>
  <cp:revision>1</cp:revision>
  <dcterms:created xsi:type="dcterms:W3CDTF">2026-09-24T15:58:43Z</dcterms:created>
  <dcterms:modified xsi:type="dcterms:W3CDTF">2026-09-24T15:58:43Z</dcterms:modified>
</cp:coreProperties>
</file>