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Talk warm-up (5-7 min). Present the equation, give 60 seconds of silent think time, then a thumbs show of true/false/not sure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Talk warm-up (5-7 min). Present the equation, give 60 seconds of silent think time, then a thumbs show of true/false/not sure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the rule, then let students apply it to the cousin equation independently before revealing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the rule, then let students apply it to the cousin equation independently before revealing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(1 min)
Introduce today's lesson: measuring angles with a protractor. Name the standard on screen.
Transition: "Let's see exactly what we're aiming to be able to do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(1 min)
Read the I Can statement aloud. Emphasize the key idea quote -- placement comes before the number means anything.
Transition: "Before we pick up a protractor, let's warm up our angle vocabulary."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(3 min)
Quick verbal recall -- no protractor yet. Cold-call for each answer: right angle (90°), obtuse, 360°.
Anticipated: most students recall right angle and 360° readily; acute/obtuse labels may need a quick refresher.
Common error: confusing acute (smaller) and obtuse (larger) -- point back to the door-opening image if needed.
Transition: "Let's see why getting an angle exactly right actually matters outside of math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 min)
Read the carpenter/architect example aloud. Take 2-3 chat answers.
Anticipated: builders, pilots, artists, engineers, skateboarders (ramp angles).
Transition: "Let's notice what actually happens when an angle opens wider."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&amp; WONDER (2 min)
Let students describe what they notice about the door opening wider, then what they wonder about how we'd put a number on it.
Anticipated notice: the gap gets bigger / the angle looks bigger.
Anticipated wonder: how do you actually measure that gap in degrees?
Transition: "That's exactly the tool we're picking up today -- the protractor."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(4 min)
This is the physical model: an actual angle opening drawn against a protractor's tick scale, not a stated fact. Point to the center dot, then the zero line, then trace ray 2 out to where it crosses 62°.
Ask: "What would happen to the reading if the center dot weren't on the vertex?"
Common error: students read a number off the scale without checking the center and zero line are aligned first.
Transition: "Now let's compare two different-sized angles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PICTORIAL (3 min)
Both diagrams show a labeled angle read off the same protractor scale. Ask students to compare: which opening looks smaller, and does the degree number agree?
Anticipated: 50° is the smaller opening (acute), 130° is the larger opening (obtuse).
Common error: assuming the bigger-looking sector on the page always means the bigger number -- remind them to check where the ray actually crosses the scale.
Transition: "Let's turn this into a rule you can use with any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ABSTRACT (3 min)
Name this the standing rule: center, baseline, read. Have 2-3 students paraphrase it out loud in their own words before moving on.
Common error: skipping straight to reading a number without doing steps 1 and 2 first.
Transition: "There's one classic protractor trap we need to name before you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GAP-FILL (2 min) -- addresses the IP's Mira reasoning problem. A double-scale protractor has an inner and outer row of numbers. The same two rays can be read as 55° or 125° depending on which ray you treat as the zero line.
Key teaching move: whichever ray sits ON the zero line tells you which row of numbers to read -- and 55° + 125° = 180°, so the two readings are always supplementary.
Common error: reading whichever number the second ray happens to be closest to, without checking which row starts at the zero-line ray.
Transition: "Now you try reading a protractor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(2 min)
Read each term, definition, and example aloud. Point back to the concrete slide's diagram for vertex and angle.
Transition: "Let's put all four words to work reading a real protractor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A (3 min)
Model out loud: check the center dot, confirm ray 1 sits on 0°, then trace ray 2 to where it crosses the scale -- 40°.
Anticipated: students who tracked the tick marks correctly land on 40°.
Common error: miscounting tick marks by 10° due to skipping a mark.
Transition: "Reading the number is half the job -- next we name what kind of angle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B (3 min)
Model the classification rule out loud: less than 90° is acute, exactly 90° is right, between 90° and 180° is obtuse, exactly 180° is straight. 112° is greater than 90° and less than 180°, so it's obtuse.
Anticipated: most students correctly identify obtuse once they compare 112° to 90° and 180°.
Common error: calling any wide-looking angle "obtuse" without actually checking the number against 90° and 180°.
Transition: "Now you'll measure and classify one on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PRACTICE C (3 min) -- addresses the IP's draw-an-angle problem. This reverses the process: instead of reading a measure off an existing angle, students build one to an exact target measure (135°, obtuse).
Anticipated: students who complete steps 1-2 correctly typically mark the correct point on the first try.
Common error: marking 135° on the wrong side (using the inner vs outer scale), landing on 45° instead -- tie this back to the double-scale caution from earlier.
Transition: "Now it's your turn to measure and classify without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TRY (4 min)
Students work independently: read the scale, then classify. Give real silent work time before taking chat answers.
Anticipated: 95°, obtuse (just past a right angle).
Common error: rounding down to 90° and calling it right instead of checking the exact tick mark.
Transition: "Here's where this skill leads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CONNECTION FORWARD (1 min)
Preview 5.11.02, Angles and Lines -- the same measuring skill applies when lines intersect.
Transition: "Let's check what you've got before we wrap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QUESTION (give real think time before advancing; do not reveal yet)
Give real silent think time on the question slide before advancing to the reveal. 100° just past a right angle is a common spot for students to default to "right" without checking the exact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CHECK -- REVEAL (advance only after students have responded in chat)
Give real silent think time on the question slide before advancing to the reveal. 100° just past a right angle is a common spot for students to default to "right" without checking the exact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CREW (~1-2 min)
Briefly read one or two cards — whichever matches where students are in their thinking.
Give real think time before calling on students to share which crew member's approach matches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274320" y="164592"/>
            <a:ext cx="2194560" cy="292608"/>
          </a:xfrm>
          <a:prstGeom prst="roundRect">
            <a:avLst>
              <a:gd name="adj" fmla="val 18750"/>
            </a:avLst>
          </a:prstGeom>
          <a:solidFill>
            <a:srgbClr val="4A3D8F"/>
          </a:solidFill>
          <a:ln w="12700">
            <a:solidFill>
              <a:srgbClr val="4A3D8F"/>
            </a:solidFill>
            <a:prstDash val="solid"/>
          </a:ln>
        </p:spPr>
      </p:sp>
      <p:sp>
        <p:nvSpPr>
          <p:cNvPr id="4" name="Text 2"/>
          <p:cNvSpPr/>
          <p:nvPr/>
        </p:nvSpPr>
        <p:spPr>
          <a:xfrm>
            <a:off x="274320" y="164592"/>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TRUE OR FALSE</a:t>
            </a:r>
            <a:endParaRPr lang="en-US" sz="800" dirty="0"/>
          </a:p>
        </p:txBody>
      </p:sp>
      <p:sp>
        <p:nvSpPr>
          <p:cNvPr id="5" name="Shape 3"/>
          <p:cNvSpPr/>
          <p:nvPr/>
        </p:nvSpPr>
        <p:spPr>
          <a:xfrm>
            <a:off x="2395728" y="164592"/>
            <a:ext cx="6309360" cy="292608"/>
          </a:xfrm>
          <a:prstGeom prst="roundRect">
            <a:avLst>
              <a:gd name="adj" fmla="val 18750"/>
            </a:avLst>
          </a:prstGeom>
          <a:solidFill>
            <a:srgbClr val="2A3B5A"/>
          </a:solidFill>
          <a:ln w="12700">
            <a:solidFill>
              <a:srgbClr val="2A3B5A"/>
            </a:solidFill>
            <a:prstDash val="solid"/>
          </a:ln>
        </p:spPr>
      </p:sp>
      <p:sp>
        <p:nvSpPr>
          <p:cNvPr id="6" name="Text 4"/>
          <p:cNvSpPr/>
          <p:nvPr/>
        </p:nvSpPr>
        <p:spPr>
          <a:xfrm>
            <a:off x="2395728" y="164592"/>
            <a:ext cx="6309360" cy="292608"/>
          </a:xfrm>
          <a:prstGeom prst="rect">
            <a:avLst/>
          </a:prstGeom>
          <a:noFill/>
          <a:ln/>
        </p:spPr>
        <p:txBody>
          <a:bodyPr wrap="square" lIns="0" tIns="0" rIns="0" bIns="0" rtlCol="0" anchor="ctr"/>
          <a:lstStyle/>
          <a:p>
            <a:pPr indent="0" marL="0">
              <a:buNone/>
            </a:pPr>
            <a:r>
              <a:rPr lang="en-US" sz="900" dirty="0">
                <a:solidFill>
                  <a:srgbClr val="FFFFFF"/>
                </a:solidFill>
              </a:rPr>
              <a:t>  ·  Lesson 5.11.01 · Multiplication Fluency</a:t>
            </a:r>
            <a:endParaRPr lang="en-US" sz="900" dirty="0"/>
          </a:p>
        </p:txBody>
      </p:sp>
      <p:sp>
        <p:nvSpPr>
          <p:cNvPr id="7" name="Text 5"/>
          <p:cNvSpPr/>
          <p:nvPr/>
        </p:nvSpPr>
        <p:spPr>
          <a:xfrm>
            <a:off x="457200" y="1097280"/>
            <a:ext cx="8229600" cy="182880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 × 700 = 4,200</a:t>
            </a:r>
            <a:endParaRPr lang="en-US" sz="4000" dirty="0"/>
          </a:p>
        </p:txBody>
      </p:sp>
      <p:sp>
        <p:nvSpPr>
          <p:cNvPr id="8" name="Text 6"/>
          <p:cNvSpPr/>
          <p:nvPr/>
        </p:nvSpPr>
        <p:spPr>
          <a:xfrm>
            <a:off x="457200" y="3931920"/>
            <a:ext cx="8229600" cy="640080"/>
          </a:xfrm>
          <a:prstGeom prst="rect">
            <a:avLst/>
          </a:prstGeom>
          <a:noFill/>
          <a:ln/>
        </p:spPr>
        <p:txBody>
          <a:bodyPr wrap="square" lIns="0" tIns="0" rIns="0" bIns="0" rtlCol="0" anchor="ctr"/>
          <a:lstStyle/>
          <a:p>
            <a:pPr algn="ctr" indent="0" marL="0">
              <a:buNone/>
            </a:pPr>
            <a:r>
              <a:rPr lang="en-US" sz="1500" i="1" dirty="0">
                <a:solidFill>
                  <a:srgbClr val="8899BB"/>
                </a:solidFill>
              </a:rPr>
              <a:t>Is this true or false? Be ready to prove it.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Prove It</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True or False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3931920" cy="3474720"/>
          </a:xfrm>
          <a:prstGeom prst="roundRect">
            <a:avLst>
              <a:gd name="adj" fmla="val 2632"/>
            </a:avLst>
          </a:prstGeom>
          <a:solidFill>
            <a:srgbClr val="E6F2EA"/>
          </a:solidFill>
          <a:ln w="6350">
            <a:solidFill>
              <a:srgbClr val="DDDDEE"/>
            </a:solidFill>
            <a:prstDash val="solid"/>
          </a:ln>
        </p:spPr>
      </p:sp>
      <p:sp>
        <p:nvSpPr>
          <p:cNvPr id="7" name="Text 5"/>
          <p:cNvSpPr/>
          <p:nvPr/>
        </p:nvSpPr>
        <p:spPr>
          <a:xfrm>
            <a:off x="640080" y="1051560"/>
            <a:ext cx="3566160" cy="548640"/>
          </a:xfrm>
          <a:prstGeom prst="rect">
            <a:avLst/>
          </a:prstGeom>
          <a:noFill/>
          <a:ln/>
        </p:spPr>
        <p:txBody>
          <a:bodyPr wrap="square" lIns="0" tIns="0" rIns="0" bIns="0" rtlCol="0" anchor="ctr"/>
          <a:lstStyle/>
          <a:p>
            <a:pPr indent="0" marL="0">
              <a:buNone/>
            </a:pPr>
            <a:r>
              <a:rPr lang="en-US" sz="1300" b="1" dirty="0">
                <a:solidFill>
                  <a:srgbClr val="2E6E44"/>
                </a:solidFill>
              </a:rPr>
              <a:t>Some students think TRUE because…</a:t>
            </a:r>
            <a:endParaRPr lang="en-US" sz="1300" dirty="0"/>
          </a:p>
        </p:txBody>
      </p:sp>
      <p:sp>
        <p:nvSpPr>
          <p:cNvPr id="8" name="Text 6"/>
          <p:cNvSpPr/>
          <p:nvPr/>
        </p:nvSpPr>
        <p:spPr>
          <a:xfrm>
            <a:off x="640080" y="169164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6 × 7 = 42.</a:t>
            </a:r>
            <a:endParaRPr lang="en-US" sz="1300" dirty="0"/>
          </a:p>
        </p:txBody>
      </p:sp>
      <p:sp>
        <p:nvSpPr>
          <p:cNvPr id="9" name="Text 7"/>
          <p:cNvSpPr/>
          <p:nvPr/>
        </p:nvSpPr>
        <p:spPr>
          <a:xfrm>
            <a:off x="640080" y="228600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700 has two zeros, so attach two zeros to 42.</a:t>
            </a:r>
            <a:endParaRPr lang="en-US" sz="1300" dirty="0"/>
          </a:p>
        </p:txBody>
      </p:sp>
      <p:sp>
        <p:nvSpPr>
          <p:cNvPr id="10" name="Text 8"/>
          <p:cNvSpPr/>
          <p:nvPr/>
        </p:nvSpPr>
        <p:spPr>
          <a:xfrm>
            <a:off x="640080" y="288036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42 with two zeros attached is 4,200.</a:t>
            </a:r>
            <a:endParaRPr lang="en-US" sz="1300" dirty="0"/>
          </a:p>
        </p:txBody>
      </p:sp>
      <p:sp>
        <p:nvSpPr>
          <p:cNvPr id="11" name="Shape 9"/>
          <p:cNvSpPr/>
          <p:nvPr/>
        </p:nvSpPr>
        <p:spPr>
          <a:xfrm>
            <a:off x="4754880" y="960120"/>
            <a:ext cx="3931920" cy="3474720"/>
          </a:xfrm>
          <a:prstGeom prst="roundRect">
            <a:avLst>
              <a:gd name="adj" fmla="val 2632"/>
            </a:avLst>
          </a:prstGeom>
          <a:solidFill>
            <a:srgbClr val="FFFFFF"/>
          </a:solidFill>
          <a:ln w="6350">
            <a:solidFill>
              <a:srgbClr val="DDDDEE"/>
            </a:solidFill>
            <a:prstDash val="solid"/>
          </a:ln>
        </p:spPr>
      </p:sp>
      <p:sp>
        <p:nvSpPr>
          <p:cNvPr id="12" name="Text 10"/>
          <p:cNvSpPr/>
          <p:nvPr/>
        </p:nvSpPr>
        <p:spPr>
          <a:xfrm>
            <a:off x="4937760" y="1051560"/>
            <a:ext cx="3566160" cy="548640"/>
          </a:xfrm>
          <a:prstGeom prst="rect">
            <a:avLst/>
          </a:prstGeom>
          <a:noFill/>
          <a:ln/>
        </p:spPr>
        <p:txBody>
          <a:bodyPr wrap="square" lIns="0" tIns="0" rIns="0" bIns="0" rtlCol="0" anchor="ctr"/>
          <a:lstStyle/>
          <a:p>
            <a:pPr indent="0" marL="0">
              <a:buNone/>
            </a:pPr>
            <a:r>
              <a:rPr lang="en-US" sz="1300" b="1" dirty="0">
                <a:solidFill>
                  <a:srgbClr val="A66E10"/>
                </a:solidFill>
              </a:rPr>
              <a:t>Some students think FALSE because…</a:t>
            </a:r>
            <a:endParaRPr lang="en-US" sz="1300" dirty="0"/>
          </a:p>
        </p:txBody>
      </p:sp>
      <p:sp>
        <p:nvSpPr>
          <p:cNvPr id="13" name="Text 11"/>
          <p:cNvSpPr/>
          <p:nvPr/>
        </p:nvSpPr>
        <p:spPr>
          <a:xfrm>
            <a:off x="4937760" y="169164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Maybe multiplied 6 × 70 instead of 6 × 700.</a:t>
            </a:r>
            <a:endParaRPr lang="en-US" sz="1300" dirty="0"/>
          </a:p>
        </p:txBody>
      </p:sp>
      <p:sp>
        <p:nvSpPr>
          <p:cNvPr id="14" name="Text 12"/>
          <p:cNvSpPr/>
          <p:nvPr/>
        </p:nvSpPr>
        <p:spPr>
          <a:xfrm>
            <a:off x="4937760" y="228600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Or attached only one zero instead of two.</a:t>
            </a:r>
            <a:endParaRPr lang="en-US" sz="1300" dirty="0"/>
          </a:p>
        </p:txBody>
      </p:sp>
      <p:sp>
        <p:nvSpPr>
          <p:cNvPr id="15" name="Text 13"/>
          <p:cNvSpPr/>
          <p:nvPr/>
        </p:nvSpPr>
        <p:spPr>
          <a:xfrm>
            <a:off x="4937760" y="2880360"/>
            <a:ext cx="3566160" cy="548640"/>
          </a:xfrm>
          <a:prstGeom prst="rect">
            <a:avLst/>
          </a:prstGeom>
          <a:noFill/>
          <a:ln/>
        </p:spPr>
        <p:txBody>
          <a:bodyPr wrap="square" lIns="0" tIns="0" rIns="0" bIns="0" rtlCol="0" anchor="ctr"/>
          <a:lstStyle/>
          <a:p>
            <a:pPr indent="0" marL="0">
              <a:buNone/>
            </a:pPr>
            <a:r>
              <a:rPr lang="en-US" sz="1300" dirty="0">
                <a:solidFill>
                  <a:srgbClr val="1A1A2E"/>
                </a:solidFill>
                <a:latin typeface="Cambria" pitchFamily="34" charset="0"/>
                <a:ea typeface="Cambria" pitchFamily="34" charset="-122"/>
                <a:cs typeface="Cambria" pitchFamily="34" charset="-120"/>
              </a:rPr>
              <a:t>Either mistake changes the place value of the answer.</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4A3D8F"/>
          </a:solidFill>
          <a:ln w="12700">
            <a:solidFill>
              <a:srgbClr val="4A3D8F"/>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TRUE OR FALSE</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The Rule</a:t>
            </a:r>
            <a:endParaRPr lang="en-US" sz="2000" dirty="0"/>
          </a:p>
        </p:txBody>
      </p:sp>
      <p:sp>
        <p:nvSpPr>
          <p:cNvPr id="6" name="Shape 4"/>
          <p:cNvSpPr/>
          <p:nvPr/>
        </p:nvSpPr>
        <p:spPr>
          <a:xfrm>
            <a:off x="457200" y="1371600"/>
            <a:ext cx="8229600" cy="0"/>
          </a:xfrm>
          <a:prstGeom prst="line">
            <a:avLst/>
          </a:prstGeom>
          <a:noFill/>
          <a:ln w="6350">
            <a:solidFill>
              <a:srgbClr val="8888CC"/>
            </a:solidFill>
            <a:prstDash val="solid"/>
          </a:ln>
        </p:spPr>
      </p:sp>
      <p:sp>
        <p:nvSpPr>
          <p:cNvPr id="7" name="Text 5"/>
          <p:cNvSpPr/>
          <p:nvPr/>
        </p:nvSpPr>
        <p:spPr>
          <a:xfrm>
            <a:off x="457200" y="1508760"/>
            <a:ext cx="8229600" cy="548640"/>
          </a:xfrm>
          <a:prstGeom prst="rect">
            <a:avLst/>
          </a:prstGeom>
          <a:noFill/>
          <a:ln/>
        </p:spPr>
        <p:txBody>
          <a:bodyPr wrap="square" lIns="0" tIns="0" rIns="0" bIns="0" rtlCol="0" anchor="ctr"/>
          <a:lstStyle/>
          <a:p>
            <a:pPr indent="0" marL="0">
              <a:buNone/>
            </a:pPr>
            <a:r>
              <a:rPr lang="en-US" sz="1800" i="1" dirty="0">
                <a:solidFill>
                  <a:srgbClr val="CCCCFF"/>
                </a:solidFill>
              </a:rPr>
              <a:t>Every time you multiply a number by a multiple of 100, you ___</a:t>
            </a:r>
            <a:endParaRPr lang="en-US" sz="1800" dirty="0"/>
          </a:p>
        </p:txBody>
      </p:sp>
      <p:sp>
        <p:nvSpPr>
          <p:cNvPr id="8" name="Text 6"/>
          <p:cNvSpPr/>
          <p:nvPr/>
        </p:nvSpPr>
        <p:spPr>
          <a:xfrm>
            <a:off x="457200" y="2148840"/>
            <a:ext cx="8229600" cy="18288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Multiply the non-zero digits first, then attach all the zeros from both factors to the product.</a:t>
            </a:r>
            <a:endParaRPr lang="en-US" sz="2200" dirty="0"/>
          </a:p>
        </p:txBody>
      </p:sp>
      <p:sp>
        <p:nvSpPr>
          <p:cNvPr id="9" name="Shape 7"/>
          <p:cNvSpPr/>
          <p:nvPr/>
        </p:nvSpPr>
        <p:spPr>
          <a:xfrm>
            <a:off x="2286000" y="4343400"/>
            <a:ext cx="4572000" cy="438912"/>
          </a:xfrm>
          <a:prstGeom prst="roundRect">
            <a:avLst>
              <a:gd name="adj" fmla="val 12500"/>
            </a:avLst>
          </a:prstGeom>
          <a:solidFill>
            <a:srgbClr val="464EB8"/>
          </a:solidFill>
          <a:ln w="12700">
            <a:solidFill>
              <a:srgbClr val="464EB8"/>
            </a:solidFill>
            <a:prstDash val="solid"/>
          </a:ln>
        </p:spPr>
      </p:sp>
      <p:sp>
        <p:nvSpPr>
          <p:cNvPr id="10" name="Text 8"/>
          <p:cNvSpPr/>
          <p:nvPr/>
        </p:nvSpPr>
        <p:spPr>
          <a:xfrm>
            <a:off x="2286000" y="434340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one word for the rule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6E44"/>
          </a:solidFill>
          <a:ln w="12700">
            <a:solidFill>
              <a:srgbClr val="2E6E44"/>
            </a:solidFill>
            <a:prstDash val="solid"/>
          </a:ln>
        </p:spPr>
      </p:sp>
      <p:sp>
        <p:nvSpPr>
          <p:cNvPr id="3" name="Shape 1"/>
          <p:cNvSpPr/>
          <p:nvPr/>
        </p:nvSpPr>
        <p:spPr>
          <a:xfrm>
            <a:off x="457200" y="320040"/>
            <a:ext cx="2194560" cy="292608"/>
          </a:xfrm>
          <a:prstGeom prst="roundRect">
            <a:avLst>
              <a:gd name="adj" fmla="val 18750"/>
            </a:avLst>
          </a:prstGeom>
          <a:solidFill>
            <a:srgbClr val="000000">
              <a:alpha val="35000"/>
            </a:srgbClr>
          </a:solidFill>
          <a:ln w="9525">
            <a:solidFill>
              <a:srgbClr val="FFFFFF"/>
            </a:solidFill>
            <a:prstDash val="solid"/>
          </a:ln>
        </p:spPr>
      </p:sp>
      <p:sp>
        <p:nvSpPr>
          <p:cNvPr id="4" name="Text 2"/>
          <p:cNvSpPr/>
          <p:nvPr/>
        </p:nvSpPr>
        <p:spPr>
          <a:xfrm>
            <a:off x="457200" y="320040"/>
            <a:ext cx="219456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TRUE OR FALSE</a:t>
            </a:r>
            <a:endParaRPr lang="en-US" sz="800" dirty="0"/>
          </a:p>
        </p:txBody>
      </p:sp>
      <p:sp>
        <p:nvSpPr>
          <p:cNvPr id="5" name="Text 3"/>
          <p:cNvSpPr/>
          <p:nvPr/>
        </p:nvSpPr>
        <p:spPr>
          <a:xfrm>
            <a:off x="457200" y="777240"/>
            <a:ext cx="8229600" cy="548640"/>
          </a:xfrm>
          <a:prstGeom prst="rect">
            <a:avLst/>
          </a:prstGeom>
          <a:noFill/>
          <a:ln/>
        </p:spPr>
        <p:txBody>
          <a:bodyPr wrap="square" lIns="0" tIns="0" rIns="0" bIns="0" rtlCol="0" anchor="ctr"/>
          <a:lstStyle/>
          <a:p>
            <a:pPr indent="0" marL="0">
              <a:buNone/>
            </a:pPr>
            <a:r>
              <a:rPr lang="en-US" sz="2000" b="1" spc="200" kern="0" dirty="0">
                <a:solidFill>
                  <a:srgbClr val="FFFFFF"/>
                </a:solidFill>
              </a:rPr>
              <a:t>Try It</a:t>
            </a:r>
            <a:endParaRPr lang="en-US" sz="2000" dirty="0"/>
          </a:p>
        </p:txBody>
      </p:sp>
      <p:sp>
        <p:nvSpPr>
          <p:cNvPr id="6" name="Shape 4"/>
          <p:cNvSpPr/>
          <p:nvPr/>
        </p:nvSpPr>
        <p:spPr>
          <a:xfrm>
            <a:off x="457200" y="1371600"/>
            <a:ext cx="8229600" cy="0"/>
          </a:xfrm>
          <a:prstGeom prst="line">
            <a:avLst/>
          </a:prstGeom>
          <a:noFill/>
          <a:ln w="6350">
            <a:solidFill>
              <a:srgbClr val="55AA77"/>
            </a:solidFill>
            <a:prstDash val="solid"/>
          </a:ln>
        </p:spPr>
      </p:sp>
      <p:sp>
        <p:nvSpPr>
          <p:cNvPr id="7" name="Text 5"/>
          <p:cNvSpPr/>
          <p:nvPr/>
        </p:nvSpPr>
        <p:spPr>
          <a:xfrm>
            <a:off x="457200" y="1554480"/>
            <a:ext cx="8229600" cy="155448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9 × 500 = 4,500</a:t>
            </a:r>
            <a:endParaRPr lang="en-US" sz="3400" dirty="0"/>
          </a:p>
        </p:txBody>
      </p:sp>
      <p:sp>
        <p:nvSpPr>
          <p:cNvPr id="8" name="Shape 6"/>
          <p:cNvSpPr/>
          <p:nvPr/>
        </p:nvSpPr>
        <p:spPr>
          <a:xfrm>
            <a:off x="2286000" y="3794760"/>
            <a:ext cx="45720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2286000" y="3794760"/>
            <a:ext cx="45720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true or false?</a:t>
            </a:r>
            <a:endParaRPr lang="en-US" sz="1200" dirty="0"/>
          </a:p>
        </p:txBody>
      </p:sp>
      <p:sp>
        <p:nvSpPr>
          <p:cNvPr id="10" name="Shape 8"/>
          <p:cNvSpPr/>
          <p:nvPr/>
        </p:nvSpPr>
        <p:spPr>
          <a:xfrm>
            <a:off x="914400" y="4343400"/>
            <a:ext cx="7315200" cy="457200"/>
          </a:xfrm>
          <a:prstGeom prst="roundRect">
            <a:avLst>
              <a:gd name="adj" fmla="val 16000"/>
            </a:avLst>
          </a:prstGeom>
          <a:solidFill>
            <a:srgbClr val="1A5533"/>
          </a:solidFill>
          <a:ln w="12700">
            <a:solidFill>
              <a:srgbClr val="1A5533"/>
            </a:solidFill>
            <a:prstDash val="solid"/>
          </a:ln>
        </p:spPr>
      </p:sp>
      <p:sp>
        <p:nvSpPr>
          <p:cNvPr id="11" name="Text 9"/>
          <p:cNvSpPr/>
          <p:nvPr/>
        </p:nvSpPr>
        <p:spPr>
          <a:xfrm>
            <a:off x="914400" y="4343400"/>
            <a:ext cx="7315200" cy="457200"/>
          </a:xfrm>
          <a:prstGeom prst="rect">
            <a:avLst/>
          </a:prstGeom>
          <a:noFill/>
          <a:ln/>
        </p:spPr>
        <p:txBody>
          <a:bodyPr wrap="square" lIns="0" tIns="0" rIns="0" bIns="0" rtlCol="0" anchor="ctr"/>
          <a:lstStyle/>
          <a:p>
            <a:pPr algn="ctr" indent="0" marL="0">
              <a:buNone/>
            </a:pPr>
            <a:r>
              <a:rPr lang="en-US" sz="1300" dirty="0">
                <a:solidFill>
                  <a:srgbClr val="CCFFDD"/>
                </a:solidFill>
              </a:rPr>
              <a:t>Answer: True — 9 × 5 = 45, then attach two zeros from 500 to get 4,500.</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w="12700">
            <a:solidFill>
              <a:srgbClr val="1B2A4A"/>
            </a:solidFill>
            <a:prstDash val="solid"/>
          </a:ln>
        </p:spPr>
      </p:sp>
      <p:sp>
        <p:nvSpPr>
          <p:cNvPr id="3" name="Shape 1"/>
          <p:cNvSpPr/>
          <p:nvPr/>
        </p:nvSpPr>
        <p:spPr>
          <a:xfrm>
            <a:off x="0" y="3474720"/>
            <a:ext cx="9144000" cy="1668780"/>
          </a:xfrm>
          <a:prstGeom prst="rect">
            <a:avLst/>
          </a:prstGeom>
          <a:solidFill>
            <a:srgbClr val="4A3D8F"/>
          </a:solidFill>
          <a:ln w="12700">
            <a:solidFill>
              <a:srgbClr val="4A3D8F"/>
            </a:solidFill>
            <a:prstDash val="solid"/>
          </a:ln>
        </p:spPr>
      </p:sp>
      <p:sp>
        <p:nvSpPr>
          <p:cNvPr id="4" name="Text 2"/>
          <p:cNvSpPr/>
          <p:nvPr/>
        </p:nvSpPr>
        <p:spPr>
          <a:xfrm>
            <a:off x="457200" y="320040"/>
            <a:ext cx="8229600" cy="365760"/>
          </a:xfrm>
          <a:prstGeom prst="rect">
            <a:avLst/>
          </a:prstGeom>
          <a:noFill/>
          <a:ln/>
        </p:spPr>
        <p:txBody>
          <a:bodyPr wrap="square" lIns="0" tIns="0" rIns="0" bIns="0" rtlCol="0" anchor="ctr"/>
          <a:lstStyle/>
          <a:p>
            <a:pPr indent="0" marL="0">
              <a:buNone/>
            </a:pPr>
            <a:r>
              <a:rPr lang="en-US" sz="1300" i="1" spc="200" kern="0" dirty="0">
                <a:solidFill>
                  <a:srgbClr val="FFFFFF"/>
                </a:solidFill>
              </a:rPr>
              <a:t>Optima Academy Online</a:t>
            </a:r>
            <a:endParaRPr lang="en-US" sz="1300" dirty="0"/>
          </a:p>
        </p:txBody>
      </p:sp>
      <p:sp>
        <p:nvSpPr>
          <p:cNvPr id="5" name="Text 3"/>
          <p:cNvSpPr/>
          <p:nvPr/>
        </p:nvSpPr>
        <p:spPr>
          <a:xfrm>
            <a:off x="457200" y="777240"/>
            <a:ext cx="8229600" cy="502920"/>
          </a:xfrm>
          <a:prstGeom prst="rect">
            <a:avLst/>
          </a:prstGeom>
          <a:noFill/>
          <a:ln/>
        </p:spPr>
        <p:txBody>
          <a:bodyPr wrap="square" lIns="0" tIns="0" rIns="0" bIns="0" rtlCol="0" anchor="ctr"/>
          <a:lstStyle/>
          <a:p>
            <a:pPr indent="0" marL="0">
              <a:buNone/>
            </a:pPr>
            <a:r>
              <a:rPr lang="en-US" sz="1800" b="1" spc="100" kern="0" dirty="0">
                <a:solidFill>
                  <a:srgbClr val="D9941A"/>
                </a:solidFill>
              </a:rPr>
              <a:t>5.11.01</a:t>
            </a:r>
            <a:endParaRPr lang="en-US" sz="1800" dirty="0"/>
          </a:p>
        </p:txBody>
      </p:sp>
      <p:sp>
        <p:nvSpPr>
          <p:cNvPr id="6" name="Text 4"/>
          <p:cNvSpPr/>
          <p:nvPr/>
        </p:nvSpPr>
        <p:spPr>
          <a:xfrm>
            <a:off x="457200" y="1325880"/>
            <a:ext cx="8229600" cy="12801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Measuring Angles</a:t>
            </a:r>
            <a:endParaRPr lang="en-US" sz="3800" dirty="0"/>
          </a:p>
        </p:txBody>
      </p:sp>
      <p:sp>
        <p:nvSpPr>
          <p:cNvPr id="7" name="Text 5"/>
          <p:cNvSpPr/>
          <p:nvPr/>
        </p:nvSpPr>
        <p:spPr>
          <a:xfrm>
            <a:off x="457200" y="2697480"/>
            <a:ext cx="8229600" cy="502920"/>
          </a:xfrm>
          <a:prstGeom prst="rect">
            <a:avLst/>
          </a:prstGeom>
          <a:noFill/>
          <a:ln/>
        </p:spPr>
        <p:txBody>
          <a:bodyPr wrap="square" lIns="0" tIns="0" rIns="0" bIns="0" rtlCol="0" anchor="ctr"/>
          <a:lstStyle/>
          <a:p>
            <a:pPr indent="0" marL="0">
              <a:buNone/>
            </a:pPr>
            <a:r>
              <a:rPr lang="en-US" sz="1600" i="1" dirty="0">
                <a:solidFill>
                  <a:srgbClr val="AAAACC"/>
                </a:solidFill>
              </a:rPr>
              <a:t>Unit 11: Geometry · Lesson 1 of 8</a:t>
            </a:r>
            <a:endParaRPr lang="en-US" sz="1600" dirty="0"/>
          </a:p>
        </p:txBody>
      </p:sp>
      <p:sp>
        <p:nvSpPr>
          <p:cNvPr id="8" name="Text 6"/>
          <p:cNvSpPr/>
          <p:nvPr/>
        </p:nvSpPr>
        <p:spPr>
          <a:xfrm>
            <a:off x="457200" y="3657600"/>
            <a:ext cx="8229600" cy="411480"/>
          </a:xfrm>
          <a:prstGeom prst="rect">
            <a:avLst/>
          </a:prstGeom>
          <a:noFill/>
          <a:ln/>
        </p:spPr>
        <p:txBody>
          <a:bodyPr wrap="square" lIns="0" tIns="0" rIns="0" bIns="0" rtlCol="0" anchor="ctr"/>
          <a:lstStyle/>
          <a:p>
            <a:pPr indent="0" marL="0">
              <a:buNone/>
            </a:pPr>
            <a:r>
              <a:rPr lang="en-US" sz="1300" spc="100" kern="0" dirty="0">
                <a:solidFill>
                  <a:srgbClr val="FFFFFF"/>
                </a:solidFill>
              </a:rPr>
              <a:t>MA.5.GR.1.1   ·   MTR.2.1   ·   MTR.5.1</a:t>
            </a:r>
            <a:endParaRPr lang="en-US" sz="1300" dirty="0"/>
          </a:p>
        </p:txBody>
      </p:sp>
      <p:sp>
        <p:nvSpPr>
          <p:cNvPr id="9" name="Text 7"/>
          <p:cNvSpPr/>
          <p:nvPr/>
        </p:nvSpPr>
        <p:spPr>
          <a:xfrm>
            <a:off x="457200" y="4206240"/>
            <a:ext cx="8229600" cy="365760"/>
          </a:xfrm>
          <a:prstGeom prst="rect">
            <a:avLst/>
          </a:prstGeom>
          <a:noFill/>
          <a:ln/>
        </p:spPr>
        <p:txBody>
          <a:bodyPr wrap="square" lIns="0" tIns="0" rIns="0" bIns="0" rtlCol="0" anchor="ctr"/>
          <a:lstStyle/>
          <a:p>
            <a:pPr indent="0" marL="0">
              <a:buNone/>
            </a:pPr>
            <a:r>
              <a:rPr lang="en-US" sz="1400" i="1" dirty="0">
                <a:solidFill>
                  <a:srgbClr val="CCCCEE"/>
                </a:solidFill>
              </a:rPr>
              <a:t>Teacher Slides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Today's Goal</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Learning Objective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1508760"/>
          </a:xfrm>
          <a:prstGeom prst="roundRect">
            <a:avLst>
              <a:gd name="adj" fmla="val 6061"/>
            </a:avLst>
          </a:prstGeom>
          <a:solidFill>
            <a:srgbClr val="EAE8F5"/>
          </a:solidFill>
          <a:ln w="6350">
            <a:solidFill>
              <a:srgbClr val="DDDDEE"/>
            </a:solidFill>
            <a:prstDash val="solid"/>
          </a:ln>
        </p:spPr>
      </p:sp>
      <p:sp>
        <p:nvSpPr>
          <p:cNvPr id="7" name="Text 5"/>
          <p:cNvSpPr/>
          <p:nvPr/>
        </p:nvSpPr>
        <p:spPr>
          <a:xfrm>
            <a:off x="685800" y="1078992"/>
            <a:ext cx="7772400" cy="347472"/>
          </a:xfrm>
          <a:prstGeom prst="rect">
            <a:avLst/>
          </a:prstGeom>
          <a:noFill/>
          <a:ln/>
        </p:spPr>
        <p:txBody>
          <a:bodyPr wrap="square" lIns="0" tIns="0" rIns="0" bIns="0" rtlCol="0" anchor="ctr"/>
          <a:lstStyle/>
          <a:p>
            <a:pPr indent="0" marL="0">
              <a:buNone/>
            </a:pPr>
            <a:r>
              <a:rPr lang="en-US" sz="1300" b="1" spc="100" kern="0" dirty="0">
                <a:solidFill>
                  <a:srgbClr val="4A3D8F"/>
                </a:solidFill>
              </a:rPr>
              <a:t>I can...</a:t>
            </a:r>
            <a:endParaRPr lang="en-US" sz="1300" dirty="0"/>
          </a:p>
        </p:txBody>
      </p:sp>
      <p:sp>
        <p:nvSpPr>
          <p:cNvPr id="8" name="Text 6"/>
          <p:cNvSpPr/>
          <p:nvPr/>
        </p:nvSpPr>
        <p:spPr>
          <a:xfrm>
            <a:off x="685800" y="1463040"/>
            <a:ext cx="7772400" cy="9601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I can measure an angle with a protractor and name it as acute, right, obtuse, or straight.</a:t>
            </a:r>
            <a:endParaRPr lang="en-US" sz="1800" dirty="0"/>
          </a:p>
        </p:txBody>
      </p:sp>
      <p:sp>
        <p:nvSpPr>
          <p:cNvPr id="9" name="Shape 7"/>
          <p:cNvSpPr/>
          <p:nvPr/>
        </p:nvSpPr>
        <p:spPr>
          <a:xfrm>
            <a:off x="457200" y="2743200"/>
            <a:ext cx="8229600" cy="1280160"/>
          </a:xfrm>
          <a:prstGeom prst="roundRect">
            <a:avLst>
              <a:gd name="adj" fmla="val 7143"/>
            </a:avLst>
          </a:prstGeom>
          <a:solidFill>
            <a:srgbClr val="FFFFFF"/>
          </a:solidFill>
          <a:ln w="6350">
            <a:solidFill>
              <a:srgbClr val="DDDDEE"/>
            </a:solidFill>
            <a:prstDash val="solid"/>
          </a:ln>
        </p:spPr>
      </p:sp>
      <p:sp>
        <p:nvSpPr>
          <p:cNvPr id="10" name="Text 8"/>
          <p:cNvSpPr/>
          <p:nvPr/>
        </p:nvSpPr>
        <p:spPr>
          <a:xfrm>
            <a:off x="685800" y="2834640"/>
            <a:ext cx="7772400" cy="1097280"/>
          </a:xfrm>
          <a:prstGeom prst="rect">
            <a:avLst/>
          </a:prstGeom>
          <a:noFill/>
          <a:ln/>
        </p:spPr>
        <p:txBody>
          <a:bodyPr wrap="square" lIns="0" tIns="0" rIns="0" bIns="0" rtlCol="0" anchor="ctr"/>
          <a:lstStyle/>
          <a:p>
            <a:pPr indent="0" marL="0">
              <a:buNone/>
            </a:pPr>
            <a:r>
              <a:rPr lang="en-US" sz="1600" i="1" dirty="0">
                <a:solidFill>
                  <a:srgbClr val="5A5A7A"/>
                </a:solidFill>
                <a:latin typeface="Cambria" pitchFamily="34" charset="0"/>
                <a:ea typeface="Cambria" pitchFamily="34" charset="-122"/>
                <a:cs typeface="Cambria" pitchFamily="34" charset="-120"/>
              </a:rPr>
              <a:t>“A protractor only works when its center and baseline are placed carefully.”</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Warm-Up: Angle Vocabulary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Readiness · 3 min</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005840"/>
            <a:ext cx="8229600" cy="914400"/>
          </a:xfrm>
          <a:prstGeom prst="roundRect">
            <a:avLst>
              <a:gd name="adj" fmla="val 10000"/>
            </a:avLst>
          </a:prstGeom>
          <a:solidFill>
            <a:srgbClr val="FFFFFF"/>
          </a:solidFill>
          <a:ln w="6350">
            <a:solidFill>
              <a:srgbClr val="DDDDEE"/>
            </a:solidFill>
            <a:prstDash val="solid"/>
          </a:ln>
        </p:spPr>
      </p:sp>
      <p:sp>
        <p:nvSpPr>
          <p:cNvPr id="7" name="Text 5"/>
          <p:cNvSpPr/>
          <p:nvPr/>
        </p:nvSpPr>
        <p:spPr>
          <a:xfrm>
            <a:off x="685800" y="1005840"/>
            <a:ext cx="7772400" cy="91440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1.  A quarter turn makes what kind of angle?</a:t>
            </a:r>
            <a:endParaRPr lang="en-US" sz="1600" dirty="0"/>
          </a:p>
        </p:txBody>
      </p:sp>
      <p:sp>
        <p:nvSpPr>
          <p:cNvPr id="8" name="Shape 6"/>
          <p:cNvSpPr/>
          <p:nvPr/>
        </p:nvSpPr>
        <p:spPr>
          <a:xfrm>
            <a:off x="457200" y="2103120"/>
            <a:ext cx="8229600" cy="914400"/>
          </a:xfrm>
          <a:prstGeom prst="roundRect">
            <a:avLst>
              <a:gd name="adj" fmla="val 10000"/>
            </a:avLst>
          </a:prstGeom>
          <a:solidFill>
            <a:srgbClr val="FFFFFF"/>
          </a:solidFill>
          <a:ln w="6350">
            <a:solidFill>
              <a:srgbClr val="DDDDEE"/>
            </a:solidFill>
            <a:prstDash val="solid"/>
          </a:ln>
        </p:spPr>
      </p:sp>
      <p:sp>
        <p:nvSpPr>
          <p:cNvPr id="9" name="Text 7"/>
          <p:cNvSpPr/>
          <p:nvPr/>
        </p:nvSpPr>
        <p:spPr>
          <a:xfrm>
            <a:off x="685800" y="2103120"/>
            <a:ext cx="7772400" cy="91440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2.  Is an angle wider than a right angle called acute or obtuse?</a:t>
            </a:r>
            <a:endParaRPr lang="en-US" sz="1600" dirty="0"/>
          </a:p>
        </p:txBody>
      </p:sp>
      <p:sp>
        <p:nvSpPr>
          <p:cNvPr id="10" name="Shape 8"/>
          <p:cNvSpPr/>
          <p:nvPr/>
        </p:nvSpPr>
        <p:spPr>
          <a:xfrm>
            <a:off x="457200" y="3200400"/>
            <a:ext cx="8229600" cy="914400"/>
          </a:xfrm>
          <a:prstGeom prst="roundRect">
            <a:avLst>
              <a:gd name="adj" fmla="val 10000"/>
            </a:avLst>
          </a:prstGeom>
          <a:solidFill>
            <a:srgbClr val="FFFFFF"/>
          </a:solidFill>
          <a:ln w="6350">
            <a:solidFill>
              <a:srgbClr val="DDDDEE"/>
            </a:solidFill>
            <a:prstDash val="solid"/>
          </a:ln>
        </p:spPr>
      </p:sp>
      <p:sp>
        <p:nvSpPr>
          <p:cNvPr id="11" name="Text 9"/>
          <p:cNvSpPr/>
          <p:nvPr/>
        </p:nvSpPr>
        <p:spPr>
          <a:xfrm>
            <a:off x="685800" y="3200400"/>
            <a:ext cx="7772400" cy="914400"/>
          </a:xfrm>
          <a:prstGeom prst="rect">
            <a:avLst/>
          </a:prstGeom>
          <a:noFill/>
          <a:ln/>
        </p:spPr>
        <p:txBody>
          <a:bodyPr wrap="square" lIns="0" tIns="0" rIns="0" bIns="0" rtlCol="0" anchor="ctr"/>
          <a:lstStyle/>
          <a:p>
            <a:pPr indent="0" marL="0">
              <a:buNone/>
            </a:pPr>
            <a:r>
              <a:rPr lang="en-US" sz="1600" dirty="0">
                <a:solidFill>
                  <a:srgbClr val="1A1A2E"/>
                </a:solidFill>
                <a:latin typeface="Cambria" pitchFamily="34" charset="0"/>
                <a:ea typeface="Cambria" pitchFamily="34" charset="-122"/>
                <a:cs typeface="Cambria" pitchFamily="34" charset="-120"/>
              </a:rPr>
              <a:t>3.  About how many degrees are in one full turn around a point?</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Hook: Getting the Angle Exactly Right</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Real World</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188720"/>
            <a:ext cx="822960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685800" y="1325880"/>
            <a:ext cx="7772400" cy="128016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Carpenters and architects use a protractor to check that every corner and cut matches the exact angle on the blueprint.</a:t>
            </a:r>
            <a:endParaRPr lang="en-US" sz="1800" dirty="0"/>
          </a:p>
        </p:txBody>
      </p:sp>
      <p:sp>
        <p:nvSpPr>
          <p:cNvPr id="8" name="Shape 6"/>
          <p:cNvSpPr/>
          <p:nvPr/>
        </p:nvSpPr>
        <p:spPr>
          <a:xfrm>
            <a:off x="914400" y="3200400"/>
            <a:ext cx="7315200" cy="438912"/>
          </a:xfrm>
          <a:prstGeom prst="roundRect">
            <a:avLst>
              <a:gd name="adj" fmla="val 12500"/>
            </a:avLst>
          </a:prstGeom>
          <a:solidFill>
            <a:srgbClr val="464EB8"/>
          </a:solidFill>
          <a:ln w="12700">
            <a:solidFill>
              <a:srgbClr val="464EB8"/>
            </a:solidFill>
            <a:prstDash val="solid"/>
          </a:ln>
        </p:spPr>
      </p:sp>
      <p:sp>
        <p:nvSpPr>
          <p:cNvPr id="9" name="Text 7"/>
          <p:cNvSpPr/>
          <p:nvPr/>
        </p:nvSpPr>
        <p:spPr>
          <a:xfrm>
            <a:off x="914400" y="3200400"/>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name one job where getting an angle exactly right matters.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Notice &amp; Wonder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Think</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2011680"/>
          </a:xfrm>
          <a:prstGeom prst="roundRect">
            <a:avLst>
              <a:gd name="adj" fmla="val 4545"/>
            </a:avLst>
          </a:prstGeom>
          <a:solidFill>
            <a:srgbClr val="FFFFFF"/>
          </a:solidFill>
          <a:ln w="6350">
            <a:solidFill>
              <a:srgbClr val="DDDDEE"/>
            </a:solidFill>
            <a:prstDash val="solid"/>
          </a:ln>
        </p:spPr>
      </p:sp>
      <p:sp>
        <p:nvSpPr>
          <p:cNvPr id="7" name="Text 5"/>
          <p:cNvSpPr/>
          <p:nvPr/>
        </p:nvSpPr>
        <p:spPr>
          <a:xfrm>
            <a:off x="685800" y="1051560"/>
            <a:ext cx="7772400" cy="1828800"/>
          </a:xfrm>
          <a:prstGeom prst="rect">
            <a:avLst/>
          </a:prstGeom>
          <a:noFill/>
          <a:ln/>
        </p:spPr>
        <p:txBody>
          <a:bodyPr wrap="square" lIns="0" tIns="0" rIns="0" bIns="0" rtlCol="0" anchor="ctr"/>
          <a:lstStyle/>
          <a:p>
            <a:pPr indent="0" marL="0">
              <a:buNone/>
            </a:pPr>
            <a:r>
              <a:rPr lang="en-US" sz="2000" dirty="0">
                <a:solidFill>
                  <a:srgbClr val="1A1A2E"/>
                </a:solidFill>
                <a:latin typeface="Cambria" pitchFamily="34" charset="0"/>
                <a:ea typeface="Cambria" pitchFamily="34" charset="-122"/>
                <a:cs typeface="Cambria" pitchFamily="34" charset="-120"/>
              </a:rPr>
              <a:t>Look at a door swinging open on its hinge. As it opens wider, what happens to the size of the angle it makes with the door frame?</a:t>
            </a:r>
            <a:endParaRPr lang="en-US" sz="2000" dirty="0"/>
          </a:p>
        </p:txBody>
      </p:sp>
      <p:sp>
        <p:nvSpPr>
          <p:cNvPr id="8" name="Shape 6"/>
          <p:cNvSpPr/>
          <p:nvPr/>
        </p:nvSpPr>
        <p:spPr>
          <a:xfrm>
            <a:off x="457200" y="3154680"/>
            <a:ext cx="3931920" cy="1508760"/>
          </a:xfrm>
          <a:prstGeom prst="roundRect">
            <a:avLst>
              <a:gd name="adj" fmla="val 6061"/>
            </a:avLst>
          </a:prstGeom>
          <a:solidFill>
            <a:srgbClr val="EAE8F5"/>
          </a:solidFill>
          <a:ln w="6350">
            <a:solidFill>
              <a:srgbClr val="DDDDEE"/>
            </a:solidFill>
            <a:prstDash val="solid"/>
          </a:ln>
        </p:spPr>
      </p:sp>
      <p:sp>
        <p:nvSpPr>
          <p:cNvPr id="9" name="Text 7"/>
          <p:cNvSpPr/>
          <p:nvPr/>
        </p:nvSpPr>
        <p:spPr>
          <a:xfrm>
            <a:off x="640080" y="3246120"/>
            <a:ext cx="3566160" cy="347472"/>
          </a:xfrm>
          <a:prstGeom prst="rect">
            <a:avLst/>
          </a:prstGeom>
          <a:noFill/>
          <a:ln/>
        </p:spPr>
        <p:txBody>
          <a:bodyPr wrap="square" lIns="0" tIns="0" rIns="0" bIns="0" rtlCol="0" anchor="ctr"/>
          <a:lstStyle/>
          <a:p>
            <a:pPr indent="0" marL="0">
              <a:buNone/>
            </a:pPr>
            <a:r>
              <a:rPr lang="en-US" sz="1300" b="1" dirty="0">
                <a:solidFill>
                  <a:srgbClr val="4A3D8F"/>
                </a:solidFill>
              </a:rPr>
              <a:t>I notice...</a:t>
            </a:r>
            <a:endParaRPr lang="en-US" sz="1300" dirty="0"/>
          </a:p>
        </p:txBody>
      </p:sp>
      <p:sp>
        <p:nvSpPr>
          <p:cNvPr id="10" name="Shape 8"/>
          <p:cNvSpPr/>
          <p:nvPr/>
        </p:nvSpPr>
        <p:spPr>
          <a:xfrm>
            <a:off x="4754880" y="3154680"/>
            <a:ext cx="3931920" cy="1508760"/>
          </a:xfrm>
          <a:prstGeom prst="roundRect">
            <a:avLst>
              <a:gd name="adj" fmla="val 6061"/>
            </a:avLst>
          </a:prstGeom>
          <a:solidFill>
            <a:srgbClr val="E6F2EA"/>
          </a:solidFill>
          <a:ln w="6350">
            <a:solidFill>
              <a:srgbClr val="DDDDEE"/>
            </a:solidFill>
            <a:prstDash val="solid"/>
          </a:ln>
        </p:spPr>
      </p:sp>
      <p:sp>
        <p:nvSpPr>
          <p:cNvPr id="11" name="Text 9"/>
          <p:cNvSpPr/>
          <p:nvPr/>
        </p:nvSpPr>
        <p:spPr>
          <a:xfrm>
            <a:off x="4937760" y="3246120"/>
            <a:ext cx="3566160" cy="347472"/>
          </a:xfrm>
          <a:prstGeom prst="rect">
            <a:avLst/>
          </a:prstGeom>
          <a:noFill/>
          <a:ln/>
        </p:spPr>
        <p:txBody>
          <a:bodyPr wrap="square" lIns="0" tIns="0" rIns="0" bIns="0" rtlCol="0" anchor="ctr"/>
          <a:lstStyle/>
          <a:p>
            <a:pPr indent="0" marL="0">
              <a:buNone/>
            </a:pPr>
            <a:r>
              <a:rPr lang="en-US" sz="1300" b="1" dirty="0">
                <a:solidFill>
                  <a:srgbClr val="2E6E44"/>
                </a:solidFill>
              </a:rPr>
              <a:t>I wonder...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Concrete: A Real Angle on a Real Scale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Concrete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136038" y="3794760"/>
            <a:ext cx="4871923" cy="0"/>
          </a:xfrm>
          <a:prstGeom prst="line">
            <a:avLst/>
          </a:prstGeom>
          <a:noFill/>
          <a:ln w="15875">
            <a:solidFill>
              <a:srgbClr val="C9C9D9"/>
            </a:solidFill>
            <a:prstDash val="solid"/>
          </a:ln>
        </p:spPr>
      </p:sp>
      <p:sp>
        <p:nvSpPr>
          <p:cNvPr id="7" name="Shape 5"/>
          <p:cNvSpPr/>
          <p:nvPr/>
        </p:nvSpPr>
        <p:spPr>
          <a:xfrm>
            <a:off x="6806794" y="3794760"/>
            <a:ext cx="201168" cy="914"/>
          </a:xfrm>
          <a:prstGeom prst="line">
            <a:avLst/>
          </a:prstGeom>
          <a:noFill/>
          <a:ln w="19050">
            <a:solidFill>
              <a:srgbClr val="9A9AB8"/>
            </a:solidFill>
            <a:prstDash val="solid"/>
          </a:ln>
        </p:spPr>
      </p:sp>
      <p:sp>
        <p:nvSpPr>
          <p:cNvPr id="8" name="Text 6"/>
          <p:cNvSpPr/>
          <p:nvPr/>
        </p:nvSpPr>
        <p:spPr>
          <a:xfrm>
            <a:off x="6989674" y="3657600"/>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0</a:t>
            </a:r>
            <a:endParaRPr lang="en-US" sz="900" dirty="0"/>
          </a:p>
        </p:txBody>
      </p:sp>
      <p:sp>
        <p:nvSpPr>
          <p:cNvPr id="9" name="Shape 7"/>
          <p:cNvSpPr/>
          <p:nvPr/>
        </p:nvSpPr>
        <p:spPr>
          <a:xfrm flipV="1">
            <a:off x="6853888" y="3371760"/>
            <a:ext cx="117066" cy="20642"/>
          </a:xfrm>
          <a:prstGeom prst="line">
            <a:avLst/>
          </a:prstGeom>
          <a:noFill/>
          <a:ln w="9525">
            <a:solidFill>
              <a:srgbClr val="D6D6E4"/>
            </a:solidFill>
            <a:prstDash val="solid"/>
          </a:ln>
        </p:spPr>
      </p:sp>
      <p:sp>
        <p:nvSpPr>
          <p:cNvPr id="10" name="Shape 8"/>
          <p:cNvSpPr/>
          <p:nvPr/>
        </p:nvSpPr>
        <p:spPr>
          <a:xfrm flipV="1">
            <a:off x="6749352" y="2961612"/>
            <a:ext cx="111703" cy="40657"/>
          </a:xfrm>
          <a:prstGeom prst="line">
            <a:avLst/>
          </a:prstGeom>
          <a:noFill/>
          <a:ln w="9525">
            <a:solidFill>
              <a:srgbClr val="D6D6E4"/>
            </a:solidFill>
            <a:prstDash val="solid"/>
          </a:ln>
        </p:spPr>
      </p:sp>
      <p:sp>
        <p:nvSpPr>
          <p:cNvPr id="11" name="Shape 9"/>
          <p:cNvSpPr/>
          <p:nvPr/>
        </p:nvSpPr>
        <p:spPr>
          <a:xfrm flipV="1">
            <a:off x="6507388" y="2576779"/>
            <a:ext cx="174217" cy="100584"/>
          </a:xfrm>
          <a:prstGeom prst="line">
            <a:avLst/>
          </a:prstGeom>
          <a:noFill/>
          <a:ln w="19050">
            <a:solidFill>
              <a:srgbClr val="9A9AB8"/>
            </a:solidFill>
            <a:prstDash val="solid"/>
          </a:ln>
        </p:spPr>
      </p:sp>
      <p:sp>
        <p:nvSpPr>
          <p:cNvPr id="12" name="Text 10"/>
          <p:cNvSpPr/>
          <p:nvPr/>
        </p:nvSpPr>
        <p:spPr>
          <a:xfrm>
            <a:off x="6629015" y="2311603"/>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30</a:t>
            </a:r>
            <a:endParaRPr lang="en-US" sz="900" dirty="0"/>
          </a:p>
        </p:txBody>
      </p:sp>
      <p:sp>
        <p:nvSpPr>
          <p:cNvPr id="13" name="Shape 11"/>
          <p:cNvSpPr/>
          <p:nvPr/>
        </p:nvSpPr>
        <p:spPr>
          <a:xfrm flipV="1">
            <a:off x="6346994" y="2228954"/>
            <a:ext cx="91061" cy="76409"/>
          </a:xfrm>
          <a:prstGeom prst="line">
            <a:avLst/>
          </a:prstGeom>
          <a:noFill/>
          <a:ln w="9525">
            <a:solidFill>
              <a:srgbClr val="D6D6E4"/>
            </a:solidFill>
            <a:prstDash val="solid"/>
          </a:ln>
        </p:spPr>
      </p:sp>
      <p:sp>
        <p:nvSpPr>
          <p:cNvPr id="14" name="Shape 12"/>
          <p:cNvSpPr/>
          <p:nvPr/>
        </p:nvSpPr>
        <p:spPr>
          <a:xfrm flipV="1">
            <a:off x="6061396" y="1928705"/>
            <a:ext cx="76409" cy="91061"/>
          </a:xfrm>
          <a:prstGeom prst="line">
            <a:avLst/>
          </a:prstGeom>
          <a:noFill/>
          <a:ln w="9525">
            <a:solidFill>
              <a:srgbClr val="D6D6E4"/>
            </a:solidFill>
            <a:prstDash val="solid"/>
          </a:ln>
        </p:spPr>
      </p:sp>
      <p:sp>
        <p:nvSpPr>
          <p:cNvPr id="15" name="Shape 13"/>
          <p:cNvSpPr/>
          <p:nvPr/>
        </p:nvSpPr>
        <p:spPr>
          <a:xfrm flipV="1">
            <a:off x="5689397" y="1685155"/>
            <a:ext cx="100584" cy="174217"/>
          </a:xfrm>
          <a:prstGeom prst="line">
            <a:avLst/>
          </a:prstGeom>
          <a:noFill/>
          <a:ln w="19050">
            <a:solidFill>
              <a:srgbClr val="9A9AB8"/>
            </a:solidFill>
            <a:prstDash val="solid"/>
          </a:ln>
        </p:spPr>
      </p:sp>
      <p:sp>
        <p:nvSpPr>
          <p:cNvPr id="16" name="Text 14"/>
          <p:cNvSpPr/>
          <p:nvPr/>
        </p:nvSpPr>
        <p:spPr>
          <a:xfrm>
            <a:off x="5643677" y="1326265"/>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60</a:t>
            </a:r>
            <a:endParaRPr lang="en-US" sz="900" dirty="0"/>
          </a:p>
        </p:txBody>
      </p:sp>
      <p:sp>
        <p:nvSpPr>
          <p:cNvPr id="17" name="Shape 15"/>
          <p:cNvSpPr/>
          <p:nvPr/>
        </p:nvSpPr>
        <p:spPr>
          <a:xfrm flipV="1">
            <a:off x="5364491" y="1505705"/>
            <a:ext cx="40657" cy="111703"/>
          </a:xfrm>
          <a:prstGeom prst="line">
            <a:avLst/>
          </a:prstGeom>
          <a:noFill/>
          <a:ln w="9525">
            <a:solidFill>
              <a:srgbClr val="D6D6E4"/>
            </a:solidFill>
            <a:prstDash val="solid"/>
          </a:ln>
        </p:spPr>
      </p:sp>
      <p:sp>
        <p:nvSpPr>
          <p:cNvPr id="18" name="Shape 16"/>
          <p:cNvSpPr/>
          <p:nvPr/>
        </p:nvSpPr>
        <p:spPr>
          <a:xfrm flipV="1">
            <a:off x="4974358" y="1395806"/>
            <a:ext cx="20642" cy="117066"/>
          </a:xfrm>
          <a:prstGeom prst="line">
            <a:avLst/>
          </a:prstGeom>
          <a:noFill/>
          <a:ln w="9525">
            <a:solidFill>
              <a:srgbClr val="D6D6E4"/>
            </a:solidFill>
            <a:prstDash val="solid"/>
          </a:ln>
        </p:spPr>
      </p:sp>
      <p:sp>
        <p:nvSpPr>
          <p:cNvPr id="19" name="Shape 17"/>
          <p:cNvSpPr/>
          <p:nvPr/>
        </p:nvSpPr>
        <p:spPr>
          <a:xfrm flipV="1">
            <a:off x="4572000" y="1358798"/>
            <a:ext cx="914" cy="201168"/>
          </a:xfrm>
          <a:prstGeom prst="line">
            <a:avLst/>
          </a:prstGeom>
          <a:noFill/>
          <a:ln w="19050">
            <a:solidFill>
              <a:srgbClr val="9A9AB8"/>
            </a:solidFill>
            <a:prstDash val="solid"/>
          </a:ln>
        </p:spPr>
      </p:sp>
      <p:sp>
        <p:nvSpPr>
          <p:cNvPr id="20" name="Text 18"/>
          <p:cNvSpPr/>
          <p:nvPr/>
        </p:nvSpPr>
        <p:spPr>
          <a:xfrm>
            <a:off x="4297680" y="965606"/>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90</a:t>
            </a:r>
            <a:endParaRPr lang="en-US" sz="900" dirty="0"/>
          </a:p>
        </p:txBody>
      </p:sp>
      <p:sp>
        <p:nvSpPr>
          <p:cNvPr id="21" name="Shape 19"/>
          <p:cNvSpPr/>
          <p:nvPr/>
        </p:nvSpPr>
        <p:spPr>
          <a:xfrm>
            <a:off x="4149000" y="1395806"/>
            <a:ext cx="20642" cy="117066"/>
          </a:xfrm>
          <a:prstGeom prst="line">
            <a:avLst/>
          </a:prstGeom>
          <a:noFill/>
          <a:ln w="9525">
            <a:solidFill>
              <a:srgbClr val="D6D6E4"/>
            </a:solidFill>
            <a:prstDash val="solid"/>
          </a:ln>
        </p:spPr>
      </p:sp>
      <p:sp>
        <p:nvSpPr>
          <p:cNvPr id="22" name="Shape 20"/>
          <p:cNvSpPr/>
          <p:nvPr/>
        </p:nvSpPr>
        <p:spPr>
          <a:xfrm>
            <a:off x="3738852" y="1505705"/>
            <a:ext cx="40657" cy="111703"/>
          </a:xfrm>
          <a:prstGeom prst="line">
            <a:avLst/>
          </a:prstGeom>
          <a:noFill/>
          <a:ln w="9525">
            <a:solidFill>
              <a:srgbClr val="D6D6E4"/>
            </a:solidFill>
            <a:prstDash val="solid"/>
          </a:ln>
        </p:spPr>
      </p:sp>
      <p:sp>
        <p:nvSpPr>
          <p:cNvPr id="23" name="Shape 21"/>
          <p:cNvSpPr/>
          <p:nvPr/>
        </p:nvSpPr>
        <p:spPr>
          <a:xfrm>
            <a:off x="3354019" y="1685155"/>
            <a:ext cx="100584" cy="174217"/>
          </a:xfrm>
          <a:prstGeom prst="line">
            <a:avLst/>
          </a:prstGeom>
          <a:noFill/>
          <a:ln w="19050">
            <a:solidFill>
              <a:srgbClr val="9A9AB8"/>
            </a:solidFill>
            <a:prstDash val="solid"/>
          </a:ln>
        </p:spPr>
      </p:sp>
      <p:sp>
        <p:nvSpPr>
          <p:cNvPr id="24" name="Text 22"/>
          <p:cNvSpPr/>
          <p:nvPr/>
        </p:nvSpPr>
        <p:spPr>
          <a:xfrm>
            <a:off x="2951683" y="1326265"/>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120</a:t>
            </a:r>
            <a:endParaRPr lang="en-US" sz="900" dirty="0"/>
          </a:p>
        </p:txBody>
      </p:sp>
      <p:sp>
        <p:nvSpPr>
          <p:cNvPr id="25" name="Shape 23"/>
          <p:cNvSpPr/>
          <p:nvPr/>
        </p:nvSpPr>
        <p:spPr>
          <a:xfrm>
            <a:off x="3006194" y="1928705"/>
            <a:ext cx="76409" cy="91061"/>
          </a:xfrm>
          <a:prstGeom prst="line">
            <a:avLst/>
          </a:prstGeom>
          <a:noFill/>
          <a:ln w="9525">
            <a:solidFill>
              <a:srgbClr val="D6D6E4"/>
            </a:solidFill>
            <a:prstDash val="solid"/>
          </a:ln>
        </p:spPr>
      </p:sp>
      <p:sp>
        <p:nvSpPr>
          <p:cNvPr id="26" name="Shape 24"/>
          <p:cNvSpPr/>
          <p:nvPr/>
        </p:nvSpPr>
        <p:spPr>
          <a:xfrm>
            <a:off x="2705945" y="2228954"/>
            <a:ext cx="91061" cy="76409"/>
          </a:xfrm>
          <a:prstGeom prst="line">
            <a:avLst/>
          </a:prstGeom>
          <a:noFill/>
          <a:ln w="9525">
            <a:solidFill>
              <a:srgbClr val="D6D6E4"/>
            </a:solidFill>
            <a:prstDash val="solid"/>
          </a:ln>
        </p:spPr>
      </p:sp>
      <p:sp>
        <p:nvSpPr>
          <p:cNvPr id="27" name="Shape 25"/>
          <p:cNvSpPr/>
          <p:nvPr/>
        </p:nvSpPr>
        <p:spPr>
          <a:xfrm>
            <a:off x="2462395" y="2576779"/>
            <a:ext cx="174217" cy="100584"/>
          </a:xfrm>
          <a:prstGeom prst="line">
            <a:avLst/>
          </a:prstGeom>
          <a:noFill/>
          <a:ln w="19050">
            <a:solidFill>
              <a:srgbClr val="9A9AB8"/>
            </a:solidFill>
            <a:prstDash val="solid"/>
          </a:ln>
        </p:spPr>
      </p:sp>
      <p:sp>
        <p:nvSpPr>
          <p:cNvPr id="28" name="Text 26"/>
          <p:cNvSpPr/>
          <p:nvPr/>
        </p:nvSpPr>
        <p:spPr>
          <a:xfrm>
            <a:off x="1966345" y="2311603"/>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150</a:t>
            </a:r>
            <a:endParaRPr lang="en-US" sz="900" dirty="0"/>
          </a:p>
        </p:txBody>
      </p:sp>
      <p:sp>
        <p:nvSpPr>
          <p:cNvPr id="29" name="Shape 27"/>
          <p:cNvSpPr/>
          <p:nvPr/>
        </p:nvSpPr>
        <p:spPr>
          <a:xfrm>
            <a:off x="2282945" y="2961612"/>
            <a:ext cx="111703" cy="40657"/>
          </a:xfrm>
          <a:prstGeom prst="line">
            <a:avLst/>
          </a:prstGeom>
          <a:noFill/>
          <a:ln w="9525">
            <a:solidFill>
              <a:srgbClr val="D6D6E4"/>
            </a:solidFill>
            <a:prstDash val="solid"/>
          </a:ln>
        </p:spPr>
      </p:sp>
      <p:sp>
        <p:nvSpPr>
          <p:cNvPr id="30" name="Shape 28"/>
          <p:cNvSpPr/>
          <p:nvPr/>
        </p:nvSpPr>
        <p:spPr>
          <a:xfrm>
            <a:off x="2173046" y="3371760"/>
            <a:ext cx="117066" cy="20642"/>
          </a:xfrm>
          <a:prstGeom prst="line">
            <a:avLst/>
          </a:prstGeom>
          <a:noFill/>
          <a:ln w="9525">
            <a:solidFill>
              <a:srgbClr val="D6D6E4"/>
            </a:solidFill>
            <a:prstDash val="solid"/>
          </a:ln>
        </p:spPr>
      </p:sp>
      <p:sp>
        <p:nvSpPr>
          <p:cNvPr id="31" name="Shape 29"/>
          <p:cNvSpPr/>
          <p:nvPr/>
        </p:nvSpPr>
        <p:spPr>
          <a:xfrm>
            <a:off x="2136038" y="3794760"/>
            <a:ext cx="201168" cy="914"/>
          </a:xfrm>
          <a:prstGeom prst="line">
            <a:avLst/>
          </a:prstGeom>
          <a:noFill/>
          <a:ln w="19050">
            <a:solidFill>
              <a:srgbClr val="9A9AB8"/>
            </a:solidFill>
            <a:prstDash val="solid"/>
          </a:ln>
        </p:spPr>
      </p:sp>
      <p:sp>
        <p:nvSpPr>
          <p:cNvPr id="32" name="Text 30"/>
          <p:cNvSpPr/>
          <p:nvPr/>
        </p:nvSpPr>
        <p:spPr>
          <a:xfrm>
            <a:off x="1605686" y="3657600"/>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180</a:t>
            </a:r>
            <a:endParaRPr lang="en-US" sz="900" dirty="0"/>
          </a:p>
        </p:txBody>
      </p:sp>
      <p:sp>
        <p:nvSpPr>
          <p:cNvPr id="33" name="Shape 31"/>
          <p:cNvSpPr/>
          <p:nvPr/>
        </p:nvSpPr>
        <p:spPr>
          <a:xfrm>
            <a:off x="4572000" y="1772983"/>
            <a:ext cx="2289804" cy="2021777"/>
          </a:xfrm>
          <a:custGeom>
            <a:avLst/>
            <a:gdLst/>
            <a:ahLst/>
            <a:cxnLst/>
            <a:rect l="l" t="t" r="r" b="b"/>
            <a:pathLst>
              <a:path w="2289804" h="2021777">
                <a:moveTo>
                  <a:pt x="0" y="2021777"/>
                </a:moveTo>
                <a:lnTo>
                  <a:pt x="2289804" y="2021777"/>
                </a:lnTo>
                <a:lnTo>
                  <a:pt x="2286453" y="1897947"/>
                </a:lnTo>
                <a:lnTo>
                  <a:pt x="2276411" y="1774479"/>
                </a:lnTo>
                <a:lnTo>
                  <a:pt x="2259706" y="1651736"/>
                </a:lnTo>
                <a:lnTo>
                  <a:pt x="2236388" y="1530075"/>
                </a:lnTo>
                <a:lnTo>
                  <a:pt x="2206525" y="1409853"/>
                </a:lnTo>
                <a:lnTo>
                  <a:pt x="2170204" y="1291423"/>
                </a:lnTo>
                <a:lnTo>
                  <a:pt x="2127531" y="1175129"/>
                </a:lnTo>
                <a:lnTo>
                  <a:pt x="2078632" y="1061314"/>
                </a:lnTo>
                <a:lnTo>
                  <a:pt x="2023650" y="950309"/>
                </a:lnTo>
                <a:lnTo>
                  <a:pt x="1962745" y="842441"/>
                </a:lnTo>
                <a:lnTo>
                  <a:pt x="1896096" y="738023"/>
                </a:lnTo>
                <a:lnTo>
                  <a:pt x="1823897" y="637363"/>
                </a:lnTo>
                <a:lnTo>
                  <a:pt x="1746361" y="540755"/>
                </a:lnTo>
                <a:lnTo>
                  <a:pt x="1663714" y="448481"/>
                </a:lnTo>
                <a:lnTo>
                  <a:pt x="1576197" y="360812"/>
                </a:lnTo>
                <a:lnTo>
                  <a:pt x="1484067" y="278003"/>
                </a:lnTo>
                <a:lnTo>
                  <a:pt x="1387595" y="200299"/>
                </a:lnTo>
                <a:lnTo>
                  <a:pt x="1287061" y="127925"/>
                </a:lnTo>
                <a:lnTo>
                  <a:pt x="1182760" y="61093"/>
                </a:lnTo>
                <a:lnTo>
                  <a:pt x="1074998" y="0"/>
                </a:lnTo>
                <a:close/>
              </a:path>
            </a:pathLst>
          </a:custGeom>
          <a:solidFill>
            <a:srgbClr val="4A3D8F"/>
          </a:solidFill>
          <a:ln w="15875">
            <a:solidFill>
              <a:srgbClr val="FFFFFF"/>
            </a:solidFill>
            <a:prstDash val="solid"/>
          </a:ln>
        </p:spPr>
      </p:sp>
      <p:sp>
        <p:nvSpPr>
          <p:cNvPr id="34" name="Shape 32"/>
          <p:cNvSpPr/>
          <p:nvPr/>
        </p:nvSpPr>
        <p:spPr>
          <a:xfrm>
            <a:off x="5006574" y="2977446"/>
            <a:ext cx="491092" cy="817314"/>
          </a:xfrm>
          <a:custGeom>
            <a:avLst/>
            <a:gdLst/>
            <a:ahLst/>
            <a:cxnLst/>
            <a:rect l="l" t="t" r="r" b="b"/>
            <a:pathLst>
              <a:path w="491092" h="817314">
                <a:moveTo>
                  <a:pt x="491092" y="817314"/>
                </a:moveTo>
                <a:lnTo>
                  <a:pt x="490151" y="775592"/>
                </a:lnTo>
                <a:lnTo>
                  <a:pt x="487331" y="733955"/>
                </a:lnTo>
                <a:lnTo>
                  <a:pt x="482637" y="692487"/>
                </a:lnTo>
                <a:lnTo>
                  <a:pt x="476078" y="651273"/>
                </a:lnTo>
                <a:lnTo>
                  <a:pt x="467669" y="610397"/>
                </a:lnTo>
                <a:lnTo>
                  <a:pt x="457426" y="569941"/>
                </a:lnTo>
                <a:lnTo>
                  <a:pt x="445370" y="529988"/>
                </a:lnTo>
                <a:lnTo>
                  <a:pt x="431525" y="490618"/>
                </a:lnTo>
                <a:lnTo>
                  <a:pt x="415920" y="451913"/>
                </a:lnTo>
                <a:lnTo>
                  <a:pt x="398586" y="413951"/>
                </a:lnTo>
                <a:lnTo>
                  <a:pt x="379559" y="376808"/>
                </a:lnTo>
                <a:lnTo>
                  <a:pt x="358877" y="340561"/>
                </a:lnTo>
                <a:lnTo>
                  <a:pt x="336582" y="305283"/>
                </a:lnTo>
                <a:lnTo>
                  <a:pt x="312720" y="271045"/>
                </a:lnTo>
                <a:lnTo>
                  <a:pt x="287339" y="237918"/>
                </a:lnTo>
                <a:lnTo>
                  <a:pt x="260490" y="205969"/>
                </a:lnTo>
                <a:lnTo>
                  <a:pt x="232229" y="175262"/>
                </a:lnTo>
                <a:lnTo>
                  <a:pt x="202612" y="145860"/>
                </a:lnTo>
                <a:lnTo>
                  <a:pt x="171701" y="117823"/>
                </a:lnTo>
                <a:lnTo>
                  <a:pt x="139557" y="91208"/>
                </a:lnTo>
                <a:lnTo>
                  <a:pt x="106246" y="66068"/>
                </a:lnTo>
                <a:lnTo>
                  <a:pt x="71836" y="42456"/>
                </a:lnTo>
                <a:lnTo>
                  <a:pt x="36397" y="20418"/>
                </a:lnTo>
                <a:lnTo>
                  <a:pt x="0" y="0"/>
                </a:lnTo>
              </a:path>
            </a:pathLst>
          </a:custGeom>
          <a:solidFill>
            <a:srgbClr val="FFFFFF">
              <a:alpha val="0"/>
            </a:srgbClr>
          </a:solidFill>
          <a:ln w="38100">
            <a:solidFill>
              <a:srgbClr val="4A3D8F"/>
            </a:solidFill>
            <a:prstDash val="solid"/>
          </a:ln>
        </p:spPr>
      </p:sp>
      <p:sp>
        <p:nvSpPr>
          <p:cNvPr id="35" name="Shape 33"/>
          <p:cNvSpPr/>
          <p:nvPr/>
        </p:nvSpPr>
        <p:spPr>
          <a:xfrm>
            <a:off x="4572000" y="3794760"/>
            <a:ext cx="2435962" cy="914"/>
          </a:xfrm>
          <a:prstGeom prst="line">
            <a:avLst/>
          </a:prstGeom>
          <a:noFill/>
          <a:ln w="38100">
            <a:solidFill>
              <a:srgbClr val="1B2A4A"/>
            </a:solidFill>
            <a:prstDash val="solid"/>
          </a:ln>
        </p:spPr>
      </p:sp>
      <p:sp>
        <p:nvSpPr>
          <p:cNvPr id="36" name="Shape 34"/>
          <p:cNvSpPr/>
          <p:nvPr/>
        </p:nvSpPr>
        <p:spPr>
          <a:xfrm flipV="1">
            <a:off x="4572000" y="1643934"/>
            <a:ext cx="1143615" cy="2150826"/>
          </a:xfrm>
          <a:prstGeom prst="line">
            <a:avLst/>
          </a:prstGeom>
          <a:noFill/>
          <a:ln w="38100">
            <a:solidFill>
              <a:srgbClr val="1B2A4A"/>
            </a:solidFill>
            <a:prstDash val="solid"/>
          </a:ln>
        </p:spPr>
      </p:sp>
      <p:sp>
        <p:nvSpPr>
          <p:cNvPr id="37" name="Shape 35"/>
          <p:cNvSpPr/>
          <p:nvPr/>
        </p:nvSpPr>
        <p:spPr>
          <a:xfrm>
            <a:off x="4517136" y="3739896"/>
            <a:ext cx="109728" cy="109728"/>
          </a:xfrm>
          <a:prstGeom prst="ellipse">
            <a:avLst/>
          </a:prstGeom>
          <a:solidFill>
            <a:srgbClr val="1B2A4A"/>
          </a:solidFill>
          <a:ln w="12700">
            <a:solidFill>
              <a:srgbClr val="FFFFFF"/>
            </a:solidFill>
            <a:prstDash val="solid"/>
          </a:ln>
        </p:spPr>
      </p:sp>
      <p:sp>
        <p:nvSpPr>
          <p:cNvPr id="38" name="Text 36"/>
          <p:cNvSpPr/>
          <p:nvPr/>
        </p:nvSpPr>
        <p:spPr>
          <a:xfrm>
            <a:off x="4114800" y="3867912"/>
            <a:ext cx="914400" cy="274320"/>
          </a:xfrm>
          <a:prstGeom prst="rect">
            <a:avLst/>
          </a:prstGeom>
          <a:noFill/>
          <a:ln/>
        </p:spPr>
        <p:txBody>
          <a:bodyPr wrap="square" lIns="0" tIns="0" rIns="0" bIns="0" rtlCol="0" anchor="ctr"/>
          <a:lstStyle/>
          <a:p>
            <a:pPr algn="ctr" indent="0" marL="0">
              <a:buNone/>
            </a:pPr>
            <a:r>
              <a:rPr lang="en-US" sz="1200" b="1" dirty="0">
                <a:solidFill>
                  <a:srgbClr val="1B2A4A"/>
                </a:solidFill>
              </a:rPr>
              <a:t>vertex</a:t>
            </a:r>
            <a:endParaRPr lang="en-US" sz="1200" dirty="0"/>
          </a:p>
        </p:txBody>
      </p:sp>
      <p:sp>
        <p:nvSpPr>
          <p:cNvPr id="39" name="Text 37"/>
          <p:cNvSpPr/>
          <p:nvPr/>
        </p:nvSpPr>
        <p:spPr>
          <a:xfrm>
            <a:off x="6596482" y="3474720"/>
            <a:ext cx="914400" cy="274320"/>
          </a:xfrm>
          <a:prstGeom prst="rect">
            <a:avLst/>
          </a:prstGeom>
          <a:noFill/>
          <a:ln/>
        </p:spPr>
        <p:txBody>
          <a:bodyPr wrap="square" lIns="0" tIns="0" rIns="0" bIns="0" rtlCol="0" anchor="ctr"/>
          <a:lstStyle/>
          <a:p>
            <a:pPr algn="ctr" indent="0" marL="0">
              <a:buNone/>
            </a:pPr>
            <a:r>
              <a:rPr lang="en-US" sz="1200" b="1" dirty="0">
                <a:solidFill>
                  <a:srgbClr val="1B2A4A"/>
                </a:solidFill>
              </a:rPr>
              <a:t>ray 1 (zero line)</a:t>
            </a:r>
            <a:endParaRPr lang="en-US" sz="1200" dirty="0"/>
          </a:p>
        </p:txBody>
      </p:sp>
      <p:sp>
        <p:nvSpPr>
          <p:cNvPr id="40" name="Text 38"/>
          <p:cNvSpPr/>
          <p:nvPr/>
        </p:nvSpPr>
        <p:spPr>
          <a:xfrm>
            <a:off x="5279879" y="1310957"/>
            <a:ext cx="914400" cy="274320"/>
          </a:xfrm>
          <a:prstGeom prst="rect">
            <a:avLst/>
          </a:prstGeom>
          <a:noFill/>
          <a:ln/>
        </p:spPr>
        <p:txBody>
          <a:bodyPr wrap="square" lIns="0" tIns="0" rIns="0" bIns="0" rtlCol="0" anchor="ctr"/>
          <a:lstStyle/>
          <a:p>
            <a:pPr algn="ctr" indent="0" marL="0">
              <a:buNone/>
            </a:pPr>
            <a:r>
              <a:rPr lang="en-US" sz="1200" b="1" dirty="0">
                <a:solidFill>
                  <a:srgbClr val="1B2A4A"/>
                </a:solidFill>
              </a:rPr>
              <a:t>ray 2</a:t>
            </a:r>
            <a:endParaRPr lang="en-US" sz="1200" dirty="0"/>
          </a:p>
        </p:txBody>
      </p:sp>
      <p:sp>
        <p:nvSpPr>
          <p:cNvPr id="41" name="Shape 39"/>
          <p:cNvSpPr/>
          <p:nvPr/>
        </p:nvSpPr>
        <p:spPr>
          <a:xfrm>
            <a:off x="5267488" y="2946747"/>
            <a:ext cx="822960" cy="365760"/>
          </a:xfrm>
          <a:prstGeom prst="roundRect">
            <a:avLst>
              <a:gd name="adj" fmla="val 15000"/>
            </a:avLst>
          </a:prstGeom>
          <a:solidFill>
            <a:srgbClr val="4A3D8F"/>
          </a:solidFill>
          <a:ln w="12700">
            <a:solidFill>
              <a:srgbClr val="4A3D8F"/>
            </a:solidFill>
            <a:prstDash val="solid"/>
          </a:ln>
        </p:spPr>
      </p:sp>
      <p:sp>
        <p:nvSpPr>
          <p:cNvPr id="42" name="Text 40"/>
          <p:cNvSpPr/>
          <p:nvPr/>
        </p:nvSpPr>
        <p:spPr>
          <a:xfrm>
            <a:off x="5267488" y="2946747"/>
            <a:ext cx="822960" cy="365760"/>
          </a:xfrm>
          <a:prstGeom prst="rect">
            <a:avLst/>
          </a:prstGeom>
          <a:noFill/>
          <a:ln/>
        </p:spPr>
        <p:txBody>
          <a:bodyPr wrap="square" lIns="0" tIns="0" rIns="0" bIns="0" rtlCol="0" anchor="ctr"/>
          <a:lstStyle/>
          <a:p>
            <a:pPr algn="ctr" indent="0" marL="0">
              <a:buNone/>
            </a:pPr>
            <a:r>
              <a:rPr lang="en-US" sz="1500" b="1" dirty="0">
                <a:solidFill>
                  <a:srgbClr val="FFFFFF"/>
                </a:solidFill>
              </a:rPr>
              <a:t>62°</a:t>
            </a:r>
            <a:endParaRPr lang="en-US" sz="1500" dirty="0"/>
          </a:p>
        </p:txBody>
      </p:sp>
      <p:sp>
        <p:nvSpPr>
          <p:cNvPr id="43" name="Text 41"/>
          <p:cNvSpPr/>
          <p:nvPr/>
        </p:nvSpPr>
        <p:spPr>
          <a:xfrm>
            <a:off x="731520" y="4279392"/>
            <a:ext cx="7680960" cy="274320"/>
          </a:xfrm>
          <a:prstGeom prst="rect">
            <a:avLst/>
          </a:prstGeom>
          <a:noFill/>
          <a:ln/>
        </p:spPr>
        <p:txBody>
          <a:bodyPr wrap="square" lIns="0" tIns="0" rIns="0" bIns="0" rtlCol="0" anchor="ctr"/>
          <a:lstStyle/>
          <a:p>
            <a:pPr algn="ctr" indent="0" marL="0">
              <a:buNone/>
            </a:pPr>
            <a:r>
              <a:rPr lang="en-US" sz="1100" i="1" dirty="0">
                <a:solidFill>
                  <a:srgbClr val="5A5A7A"/>
                </a:solidFill>
              </a:rPr>
              <a:t>Center dot on the vertex. Zero line on ray 1. Ray 2 crosses the scale at 62°.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Pictorial: Compare Two Angles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Pictorial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35254" y="3703320"/>
            <a:ext cx="3701491" cy="0"/>
          </a:xfrm>
          <a:prstGeom prst="line">
            <a:avLst/>
          </a:prstGeom>
          <a:noFill/>
          <a:ln w="15875">
            <a:solidFill>
              <a:srgbClr val="C9C9D9"/>
            </a:solidFill>
            <a:prstDash val="solid"/>
          </a:ln>
        </p:spPr>
      </p:sp>
      <p:sp>
        <p:nvSpPr>
          <p:cNvPr id="7" name="Shape 5"/>
          <p:cNvSpPr/>
          <p:nvPr/>
        </p:nvSpPr>
        <p:spPr>
          <a:xfrm>
            <a:off x="3935578" y="3703320"/>
            <a:ext cx="201168" cy="914"/>
          </a:xfrm>
          <a:prstGeom prst="line">
            <a:avLst/>
          </a:prstGeom>
          <a:noFill/>
          <a:ln w="19050">
            <a:solidFill>
              <a:srgbClr val="9A9AB8"/>
            </a:solidFill>
            <a:prstDash val="solid"/>
          </a:ln>
        </p:spPr>
      </p:sp>
      <p:sp>
        <p:nvSpPr>
          <p:cNvPr id="8" name="Text 6"/>
          <p:cNvSpPr/>
          <p:nvPr/>
        </p:nvSpPr>
        <p:spPr>
          <a:xfrm>
            <a:off x="4118458" y="3566160"/>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0</a:t>
            </a:r>
            <a:endParaRPr lang="en-US" sz="900" dirty="0"/>
          </a:p>
        </p:txBody>
      </p:sp>
      <p:sp>
        <p:nvSpPr>
          <p:cNvPr id="9" name="Shape 7"/>
          <p:cNvSpPr/>
          <p:nvPr/>
        </p:nvSpPr>
        <p:spPr>
          <a:xfrm flipV="1">
            <a:off x="3991563" y="3381941"/>
            <a:ext cx="117066" cy="20642"/>
          </a:xfrm>
          <a:prstGeom prst="line">
            <a:avLst/>
          </a:prstGeom>
          <a:noFill/>
          <a:ln w="9525">
            <a:solidFill>
              <a:srgbClr val="D6D6E4"/>
            </a:solidFill>
            <a:prstDash val="solid"/>
          </a:ln>
        </p:spPr>
      </p:sp>
      <p:sp>
        <p:nvSpPr>
          <p:cNvPr id="10" name="Shape 8"/>
          <p:cNvSpPr/>
          <p:nvPr/>
        </p:nvSpPr>
        <p:spPr>
          <a:xfrm flipV="1">
            <a:off x="3913429" y="3070328"/>
            <a:ext cx="111703" cy="40657"/>
          </a:xfrm>
          <a:prstGeom prst="line">
            <a:avLst/>
          </a:prstGeom>
          <a:noFill/>
          <a:ln w="9525">
            <a:solidFill>
              <a:srgbClr val="D6D6E4"/>
            </a:solidFill>
            <a:prstDash val="solid"/>
          </a:ln>
        </p:spPr>
      </p:sp>
      <p:sp>
        <p:nvSpPr>
          <p:cNvPr id="11" name="Shape 9"/>
          <p:cNvSpPr/>
          <p:nvPr/>
        </p:nvSpPr>
        <p:spPr>
          <a:xfrm flipV="1">
            <a:off x="3714576" y="2777947"/>
            <a:ext cx="174217" cy="100584"/>
          </a:xfrm>
          <a:prstGeom prst="line">
            <a:avLst/>
          </a:prstGeom>
          <a:noFill/>
          <a:ln w="19050">
            <a:solidFill>
              <a:srgbClr val="9A9AB8"/>
            </a:solidFill>
            <a:prstDash val="solid"/>
          </a:ln>
        </p:spPr>
      </p:sp>
      <p:sp>
        <p:nvSpPr>
          <p:cNvPr id="12" name="Text 10"/>
          <p:cNvSpPr/>
          <p:nvPr/>
        </p:nvSpPr>
        <p:spPr>
          <a:xfrm>
            <a:off x="3836203" y="2512771"/>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30</a:t>
            </a:r>
            <a:endParaRPr lang="en-US" sz="900" dirty="0"/>
          </a:p>
        </p:txBody>
      </p:sp>
      <p:sp>
        <p:nvSpPr>
          <p:cNvPr id="13" name="Shape 11"/>
          <p:cNvSpPr/>
          <p:nvPr/>
        </p:nvSpPr>
        <p:spPr>
          <a:xfrm flipV="1">
            <a:off x="3612692" y="2513684"/>
            <a:ext cx="91061" cy="76409"/>
          </a:xfrm>
          <a:prstGeom prst="line">
            <a:avLst/>
          </a:prstGeom>
          <a:noFill/>
          <a:ln w="9525">
            <a:solidFill>
              <a:srgbClr val="D6D6E4"/>
            </a:solidFill>
            <a:prstDash val="solid"/>
          </a:ln>
        </p:spPr>
      </p:sp>
      <p:sp>
        <p:nvSpPr>
          <p:cNvPr id="14" name="Shape 12"/>
          <p:cNvSpPr/>
          <p:nvPr/>
        </p:nvSpPr>
        <p:spPr>
          <a:xfrm flipV="1">
            <a:off x="3399227" y="2285567"/>
            <a:ext cx="76409" cy="91061"/>
          </a:xfrm>
          <a:prstGeom prst="line">
            <a:avLst/>
          </a:prstGeom>
          <a:noFill/>
          <a:ln w="9525">
            <a:solidFill>
              <a:srgbClr val="D6D6E4"/>
            </a:solidFill>
            <a:prstDash val="solid"/>
          </a:ln>
        </p:spPr>
      </p:sp>
      <p:sp>
        <p:nvSpPr>
          <p:cNvPr id="15" name="Shape 13"/>
          <p:cNvSpPr/>
          <p:nvPr/>
        </p:nvSpPr>
        <p:spPr>
          <a:xfrm flipV="1">
            <a:off x="3110789" y="2100527"/>
            <a:ext cx="100584" cy="174217"/>
          </a:xfrm>
          <a:prstGeom prst="line">
            <a:avLst/>
          </a:prstGeom>
          <a:noFill/>
          <a:ln w="19050">
            <a:solidFill>
              <a:srgbClr val="9A9AB8"/>
            </a:solidFill>
            <a:prstDash val="solid"/>
          </a:ln>
        </p:spPr>
      </p:sp>
      <p:sp>
        <p:nvSpPr>
          <p:cNvPr id="16" name="Text 14"/>
          <p:cNvSpPr/>
          <p:nvPr/>
        </p:nvSpPr>
        <p:spPr>
          <a:xfrm>
            <a:off x="3065069" y="1741637"/>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60</a:t>
            </a:r>
            <a:endParaRPr lang="en-US" sz="900" dirty="0"/>
          </a:p>
        </p:txBody>
      </p:sp>
      <p:sp>
        <p:nvSpPr>
          <p:cNvPr id="17" name="Shape 15"/>
          <p:cNvSpPr/>
          <p:nvPr/>
        </p:nvSpPr>
        <p:spPr>
          <a:xfrm flipV="1">
            <a:off x="2878336" y="1964188"/>
            <a:ext cx="40657" cy="111703"/>
          </a:xfrm>
          <a:prstGeom prst="line">
            <a:avLst/>
          </a:prstGeom>
          <a:noFill/>
          <a:ln w="9525">
            <a:solidFill>
              <a:srgbClr val="D6D6E4"/>
            </a:solidFill>
            <a:prstDash val="solid"/>
          </a:ln>
        </p:spPr>
      </p:sp>
      <p:sp>
        <p:nvSpPr>
          <p:cNvPr id="18" name="Shape 16"/>
          <p:cNvSpPr/>
          <p:nvPr/>
        </p:nvSpPr>
        <p:spPr>
          <a:xfrm flipV="1">
            <a:off x="2586737" y="1880691"/>
            <a:ext cx="20642" cy="117066"/>
          </a:xfrm>
          <a:prstGeom prst="line">
            <a:avLst/>
          </a:prstGeom>
          <a:noFill/>
          <a:ln w="9525">
            <a:solidFill>
              <a:srgbClr val="D6D6E4"/>
            </a:solidFill>
            <a:prstDash val="solid"/>
          </a:ln>
        </p:spPr>
      </p:sp>
      <p:sp>
        <p:nvSpPr>
          <p:cNvPr id="19" name="Shape 17"/>
          <p:cNvSpPr/>
          <p:nvPr/>
        </p:nvSpPr>
        <p:spPr>
          <a:xfrm flipV="1">
            <a:off x="2286000" y="1852574"/>
            <a:ext cx="914" cy="201168"/>
          </a:xfrm>
          <a:prstGeom prst="line">
            <a:avLst/>
          </a:prstGeom>
          <a:noFill/>
          <a:ln w="19050">
            <a:solidFill>
              <a:srgbClr val="9A9AB8"/>
            </a:solidFill>
            <a:prstDash val="solid"/>
          </a:ln>
        </p:spPr>
      </p:sp>
      <p:sp>
        <p:nvSpPr>
          <p:cNvPr id="20" name="Text 18"/>
          <p:cNvSpPr/>
          <p:nvPr/>
        </p:nvSpPr>
        <p:spPr>
          <a:xfrm>
            <a:off x="2011680" y="1459382"/>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90</a:t>
            </a:r>
            <a:endParaRPr lang="en-US" sz="900" dirty="0"/>
          </a:p>
        </p:txBody>
      </p:sp>
      <p:sp>
        <p:nvSpPr>
          <p:cNvPr id="21" name="Shape 19"/>
          <p:cNvSpPr/>
          <p:nvPr/>
        </p:nvSpPr>
        <p:spPr>
          <a:xfrm>
            <a:off x="1964621" y="1880691"/>
            <a:ext cx="20642" cy="117066"/>
          </a:xfrm>
          <a:prstGeom prst="line">
            <a:avLst/>
          </a:prstGeom>
          <a:noFill/>
          <a:ln w="9525">
            <a:solidFill>
              <a:srgbClr val="D6D6E4"/>
            </a:solidFill>
            <a:prstDash val="solid"/>
          </a:ln>
        </p:spPr>
      </p:sp>
      <p:sp>
        <p:nvSpPr>
          <p:cNvPr id="22" name="Shape 20"/>
          <p:cNvSpPr/>
          <p:nvPr/>
        </p:nvSpPr>
        <p:spPr>
          <a:xfrm>
            <a:off x="1653008" y="1964188"/>
            <a:ext cx="40657" cy="111703"/>
          </a:xfrm>
          <a:prstGeom prst="line">
            <a:avLst/>
          </a:prstGeom>
          <a:noFill/>
          <a:ln w="9525">
            <a:solidFill>
              <a:srgbClr val="D6D6E4"/>
            </a:solidFill>
            <a:prstDash val="solid"/>
          </a:ln>
        </p:spPr>
      </p:sp>
      <p:sp>
        <p:nvSpPr>
          <p:cNvPr id="23" name="Shape 21"/>
          <p:cNvSpPr/>
          <p:nvPr/>
        </p:nvSpPr>
        <p:spPr>
          <a:xfrm>
            <a:off x="1360627" y="2100527"/>
            <a:ext cx="100584" cy="174217"/>
          </a:xfrm>
          <a:prstGeom prst="line">
            <a:avLst/>
          </a:prstGeom>
          <a:noFill/>
          <a:ln w="19050">
            <a:solidFill>
              <a:srgbClr val="9A9AB8"/>
            </a:solidFill>
            <a:prstDash val="solid"/>
          </a:ln>
        </p:spPr>
      </p:sp>
      <p:sp>
        <p:nvSpPr>
          <p:cNvPr id="24" name="Text 22"/>
          <p:cNvSpPr/>
          <p:nvPr/>
        </p:nvSpPr>
        <p:spPr>
          <a:xfrm>
            <a:off x="958291" y="1741637"/>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120</a:t>
            </a:r>
            <a:endParaRPr lang="en-US" sz="900" dirty="0"/>
          </a:p>
        </p:txBody>
      </p:sp>
      <p:sp>
        <p:nvSpPr>
          <p:cNvPr id="25" name="Shape 23"/>
          <p:cNvSpPr/>
          <p:nvPr/>
        </p:nvSpPr>
        <p:spPr>
          <a:xfrm>
            <a:off x="1096364" y="2285567"/>
            <a:ext cx="76409" cy="91061"/>
          </a:xfrm>
          <a:prstGeom prst="line">
            <a:avLst/>
          </a:prstGeom>
          <a:noFill/>
          <a:ln w="9525">
            <a:solidFill>
              <a:srgbClr val="D6D6E4"/>
            </a:solidFill>
            <a:prstDash val="solid"/>
          </a:ln>
        </p:spPr>
      </p:sp>
      <p:sp>
        <p:nvSpPr>
          <p:cNvPr id="26" name="Shape 24"/>
          <p:cNvSpPr/>
          <p:nvPr/>
        </p:nvSpPr>
        <p:spPr>
          <a:xfrm>
            <a:off x="868247" y="2513684"/>
            <a:ext cx="91061" cy="76409"/>
          </a:xfrm>
          <a:prstGeom prst="line">
            <a:avLst/>
          </a:prstGeom>
          <a:noFill/>
          <a:ln w="9525">
            <a:solidFill>
              <a:srgbClr val="D6D6E4"/>
            </a:solidFill>
            <a:prstDash val="solid"/>
          </a:ln>
        </p:spPr>
      </p:sp>
      <p:sp>
        <p:nvSpPr>
          <p:cNvPr id="27" name="Shape 25"/>
          <p:cNvSpPr/>
          <p:nvPr/>
        </p:nvSpPr>
        <p:spPr>
          <a:xfrm>
            <a:off x="683207" y="2777947"/>
            <a:ext cx="174217" cy="100584"/>
          </a:xfrm>
          <a:prstGeom prst="line">
            <a:avLst/>
          </a:prstGeom>
          <a:noFill/>
          <a:ln w="19050">
            <a:solidFill>
              <a:srgbClr val="9A9AB8"/>
            </a:solidFill>
            <a:prstDash val="solid"/>
          </a:ln>
        </p:spPr>
      </p:sp>
      <p:sp>
        <p:nvSpPr>
          <p:cNvPr id="28" name="Text 26"/>
          <p:cNvSpPr/>
          <p:nvPr/>
        </p:nvSpPr>
        <p:spPr>
          <a:xfrm>
            <a:off x="187157" y="2512771"/>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150</a:t>
            </a:r>
            <a:endParaRPr lang="en-US" sz="900" dirty="0"/>
          </a:p>
        </p:txBody>
      </p:sp>
      <p:sp>
        <p:nvSpPr>
          <p:cNvPr id="29" name="Shape 27"/>
          <p:cNvSpPr/>
          <p:nvPr/>
        </p:nvSpPr>
        <p:spPr>
          <a:xfrm>
            <a:off x="546868" y="3070328"/>
            <a:ext cx="111703" cy="40657"/>
          </a:xfrm>
          <a:prstGeom prst="line">
            <a:avLst/>
          </a:prstGeom>
          <a:noFill/>
          <a:ln w="9525">
            <a:solidFill>
              <a:srgbClr val="D6D6E4"/>
            </a:solidFill>
            <a:prstDash val="solid"/>
          </a:ln>
        </p:spPr>
      </p:sp>
      <p:sp>
        <p:nvSpPr>
          <p:cNvPr id="30" name="Shape 28"/>
          <p:cNvSpPr/>
          <p:nvPr/>
        </p:nvSpPr>
        <p:spPr>
          <a:xfrm>
            <a:off x="463371" y="3381941"/>
            <a:ext cx="117066" cy="20642"/>
          </a:xfrm>
          <a:prstGeom prst="line">
            <a:avLst/>
          </a:prstGeom>
          <a:noFill/>
          <a:ln w="9525">
            <a:solidFill>
              <a:srgbClr val="D6D6E4"/>
            </a:solidFill>
            <a:prstDash val="solid"/>
          </a:ln>
        </p:spPr>
      </p:sp>
      <p:sp>
        <p:nvSpPr>
          <p:cNvPr id="31" name="Shape 29"/>
          <p:cNvSpPr/>
          <p:nvPr/>
        </p:nvSpPr>
        <p:spPr>
          <a:xfrm>
            <a:off x="435254" y="3703320"/>
            <a:ext cx="201168" cy="914"/>
          </a:xfrm>
          <a:prstGeom prst="line">
            <a:avLst/>
          </a:prstGeom>
          <a:noFill/>
          <a:ln w="19050">
            <a:solidFill>
              <a:srgbClr val="9A9AB8"/>
            </a:solidFill>
            <a:prstDash val="solid"/>
          </a:ln>
        </p:spPr>
      </p:sp>
      <p:sp>
        <p:nvSpPr>
          <p:cNvPr id="32" name="Text 30"/>
          <p:cNvSpPr/>
          <p:nvPr/>
        </p:nvSpPr>
        <p:spPr>
          <a:xfrm>
            <a:off x="-95098" y="3566160"/>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180</a:t>
            </a:r>
            <a:endParaRPr lang="en-US" sz="900" dirty="0"/>
          </a:p>
        </p:txBody>
      </p:sp>
      <p:sp>
        <p:nvSpPr>
          <p:cNvPr id="33" name="Shape 31"/>
          <p:cNvSpPr/>
          <p:nvPr/>
        </p:nvSpPr>
        <p:spPr>
          <a:xfrm>
            <a:off x="2286000" y="2196695"/>
            <a:ext cx="1713271" cy="1506625"/>
          </a:xfrm>
          <a:custGeom>
            <a:avLst/>
            <a:gdLst/>
            <a:ahLst/>
            <a:cxnLst/>
            <a:rect l="l" t="t" r="r" b="b"/>
            <a:pathLst>
              <a:path w="1713271" h="1506625">
                <a:moveTo>
                  <a:pt x="0" y="1506625"/>
                </a:moveTo>
                <a:lnTo>
                  <a:pt x="1713271" y="1204529"/>
                </a:lnTo>
                <a:lnTo>
                  <a:pt x="1698463" y="1130085"/>
                </a:lnTo>
                <a:lnTo>
                  <a:pt x="1680422" y="1056357"/>
                </a:lnTo>
                <a:lnTo>
                  <a:pt x="1659182" y="983487"/>
                </a:lnTo>
                <a:lnTo>
                  <a:pt x="1634784" y="911612"/>
                </a:lnTo>
                <a:lnTo>
                  <a:pt x="1607274" y="840870"/>
                </a:lnTo>
                <a:lnTo>
                  <a:pt x="1576704" y="771396"/>
                </a:lnTo>
                <a:lnTo>
                  <a:pt x="1543134" y="703321"/>
                </a:lnTo>
                <a:lnTo>
                  <a:pt x="1506625" y="636775"/>
                </a:lnTo>
                <a:lnTo>
                  <a:pt x="1467249" y="571885"/>
                </a:lnTo>
                <a:lnTo>
                  <a:pt x="1425080" y="508774"/>
                </a:lnTo>
                <a:lnTo>
                  <a:pt x="1380197" y="447562"/>
                </a:lnTo>
                <a:lnTo>
                  <a:pt x="1332688" y="388367"/>
                </a:lnTo>
                <a:lnTo>
                  <a:pt x="1282642" y="331300"/>
                </a:lnTo>
                <a:lnTo>
                  <a:pt x="1230154" y="276471"/>
                </a:lnTo>
                <a:lnTo>
                  <a:pt x="1175325" y="223983"/>
                </a:lnTo>
                <a:lnTo>
                  <a:pt x="1118258" y="173937"/>
                </a:lnTo>
                <a:lnTo>
                  <a:pt x="1059063" y="126428"/>
                </a:lnTo>
                <a:lnTo>
                  <a:pt x="997851" y="81546"/>
                </a:lnTo>
                <a:lnTo>
                  <a:pt x="934741" y="39376"/>
                </a:lnTo>
                <a:lnTo>
                  <a:pt x="869850" y="0"/>
                </a:lnTo>
                <a:close/>
              </a:path>
            </a:pathLst>
          </a:custGeom>
          <a:solidFill>
            <a:srgbClr val="2E6E44"/>
          </a:solidFill>
          <a:ln w="15875">
            <a:solidFill>
              <a:srgbClr val="FFFFFF"/>
            </a:solidFill>
            <a:prstDash val="solid"/>
          </a:ln>
        </p:spPr>
      </p:sp>
      <p:sp>
        <p:nvSpPr>
          <p:cNvPr id="34" name="Shape 32"/>
          <p:cNvSpPr/>
          <p:nvPr/>
        </p:nvSpPr>
        <p:spPr>
          <a:xfrm>
            <a:off x="2637642" y="3094259"/>
            <a:ext cx="340957" cy="486937"/>
          </a:xfrm>
          <a:custGeom>
            <a:avLst/>
            <a:gdLst/>
            <a:ahLst/>
            <a:cxnLst/>
            <a:rect l="l" t="t" r="r" b="b"/>
            <a:pathLst>
              <a:path w="340957" h="486937">
                <a:moveTo>
                  <a:pt x="340957" y="486937"/>
                </a:moveTo>
                <a:lnTo>
                  <a:pt x="336060" y="461840"/>
                </a:lnTo>
                <a:lnTo>
                  <a:pt x="330253" y="436937"/>
                </a:lnTo>
                <a:lnTo>
                  <a:pt x="323545" y="412262"/>
                </a:lnTo>
                <a:lnTo>
                  <a:pt x="315945" y="387847"/>
                </a:lnTo>
                <a:lnTo>
                  <a:pt x="307462" y="363725"/>
                </a:lnTo>
                <a:lnTo>
                  <a:pt x="298107" y="339926"/>
                </a:lnTo>
                <a:lnTo>
                  <a:pt x="287894" y="316484"/>
                </a:lnTo>
                <a:lnTo>
                  <a:pt x="276835" y="293428"/>
                </a:lnTo>
                <a:lnTo>
                  <a:pt x="264946" y="270790"/>
                </a:lnTo>
                <a:lnTo>
                  <a:pt x="252241" y="248599"/>
                </a:lnTo>
                <a:lnTo>
                  <a:pt x="238738" y="226884"/>
                </a:lnTo>
                <a:lnTo>
                  <a:pt x="224454" y="205674"/>
                </a:lnTo>
                <a:lnTo>
                  <a:pt x="209409" y="184998"/>
                </a:lnTo>
                <a:lnTo>
                  <a:pt x="193622" y="164883"/>
                </a:lnTo>
                <a:lnTo>
                  <a:pt x="177115" y="145354"/>
                </a:lnTo>
                <a:lnTo>
                  <a:pt x="159908" y="126439"/>
                </a:lnTo>
                <a:lnTo>
                  <a:pt x="142025" y="108162"/>
                </a:lnTo>
                <a:lnTo>
                  <a:pt x="123490" y="90546"/>
                </a:lnTo>
                <a:lnTo>
                  <a:pt x="104326" y="73617"/>
                </a:lnTo>
                <a:lnTo>
                  <a:pt x="84560" y="57395"/>
                </a:lnTo>
                <a:lnTo>
                  <a:pt x="64217" y="41902"/>
                </a:lnTo>
                <a:lnTo>
                  <a:pt x="43324" y="27159"/>
                </a:lnTo>
                <a:lnTo>
                  <a:pt x="21909" y="13186"/>
                </a:lnTo>
                <a:lnTo>
                  <a:pt x="0" y="0"/>
                </a:lnTo>
              </a:path>
            </a:pathLst>
          </a:custGeom>
          <a:solidFill>
            <a:srgbClr val="FFFFFF">
              <a:alpha val="0"/>
            </a:srgbClr>
          </a:solidFill>
          <a:ln w="38100">
            <a:solidFill>
              <a:srgbClr val="2E6E44"/>
            </a:solidFill>
            <a:prstDash val="solid"/>
          </a:ln>
        </p:spPr>
      </p:sp>
      <p:sp>
        <p:nvSpPr>
          <p:cNvPr id="35" name="Shape 33"/>
          <p:cNvSpPr/>
          <p:nvPr/>
        </p:nvSpPr>
        <p:spPr>
          <a:xfrm flipV="1">
            <a:off x="2286000" y="3381941"/>
            <a:ext cx="1822629" cy="321379"/>
          </a:xfrm>
          <a:prstGeom prst="line">
            <a:avLst/>
          </a:prstGeom>
          <a:noFill/>
          <a:ln w="38100">
            <a:solidFill>
              <a:srgbClr val="1B2A4A"/>
            </a:solidFill>
            <a:prstDash val="solid"/>
          </a:ln>
        </p:spPr>
      </p:sp>
      <p:sp>
        <p:nvSpPr>
          <p:cNvPr id="36" name="Shape 34"/>
          <p:cNvSpPr/>
          <p:nvPr/>
        </p:nvSpPr>
        <p:spPr>
          <a:xfrm flipV="1">
            <a:off x="2286000" y="2100527"/>
            <a:ext cx="925373" cy="1602793"/>
          </a:xfrm>
          <a:prstGeom prst="line">
            <a:avLst/>
          </a:prstGeom>
          <a:noFill/>
          <a:ln w="38100">
            <a:solidFill>
              <a:srgbClr val="1B2A4A"/>
            </a:solidFill>
            <a:prstDash val="solid"/>
          </a:ln>
        </p:spPr>
      </p:sp>
      <p:sp>
        <p:nvSpPr>
          <p:cNvPr id="37" name="Shape 35"/>
          <p:cNvSpPr/>
          <p:nvPr/>
        </p:nvSpPr>
        <p:spPr>
          <a:xfrm>
            <a:off x="2231136" y="3648456"/>
            <a:ext cx="109728" cy="109728"/>
          </a:xfrm>
          <a:prstGeom prst="ellipse">
            <a:avLst/>
          </a:prstGeom>
          <a:solidFill>
            <a:srgbClr val="1B2A4A"/>
          </a:solidFill>
          <a:ln w="12700">
            <a:solidFill>
              <a:srgbClr val="FFFFFF"/>
            </a:solidFill>
            <a:prstDash val="solid"/>
          </a:ln>
        </p:spPr>
      </p:sp>
      <p:sp>
        <p:nvSpPr>
          <p:cNvPr id="38" name="Text 36"/>
          <p:cNvSpPr/>
          <p:nvPr/>
        </p:nvSpPr>
        <p:spPr>
          <a:xfrm>
            <a:off x="1828800" y="3776472"/>
            <a:ext cx="914400" cy="274320"/>
          </a:xfrm>
          <a:prstGeom prst="rect">
            <a:avLst/>
          </a:prstGeom>
          <a:noFill/>
          <a:ln/>
        </p:spPr>
        <p:txBody>
          <a:bodyPr wrap="square" lIns="0" tIns="0" rIns="0" bIns="0" rtlCol="0" anchor="ctr"/>
          <a:lstStyle/>
          <a:p>
            <a:pPr algn="ctr" indent="0" marL="0">
              <a:buNone/>
            </a:pPr>
            <a:r>
              <a:rPr lang="en-US" sz="1200" b="1" dirty="0">
                <a:solidFill>
                  <a:srgbClr val="1B2A4A"/>
                </a:solidFill>
              </a:rPr>
              <a:t>vertex</a:t>
            </a:r>
            <a:endParaRPr lang="en-US" sz="1200" dirty="0"/>
          </a:p>
        </p:txBody>
      </p:sp>
      <p:sp>
        <p:nvSpPr>
          <p:cNvPr id="39" name="Shape 37"/>
          <p:cNvSpPr/>
          <p:nvPr/>
        </p:nvSpPr>
        <p:spPr>
          <a:xfrm>
            <a:off x="2750229" y="2907262"/>
            <a:ext cx="822960" cy="365760"/>
          </a:xfrm>
          <a:prstGeom prst="roundRect">
            <a:avLst>
              <a:gd name="adj" fmla="val 15000"/>
            </a:avLst>
          </a:prstGeom>
          <a:solidFill>
            <a:srgbClr val="2E6E44"/>
          </a:solidFill>
          <a:ln w="12700">
            <a:solidFill>
              <a:srgbClr val="2E6E44"/>
            </a:solidFill>
            <a:prstDash val="solid"/>
          </a:ln>
        </p:spPr>
      </p:sp>
      <p:sp>
        <p:nvSpPr>
          <p:cNvPr id="40" name="Text 38"/>
          <p:cNvSpPr/>
          <p:nvPr/>
        </p:nvSpPr>
        <p:spPr>
          <a:xfrm>
            <a:off x="2750229" y="2907262"/>
            <a:ext cx="822960" cy="365760"/>
          </a:xfrm>
          <a:prstGeom prst="rect">
            <a:avLst/>
          </a:prstGeom>
          <a:noFill/>
          <a:ln/>
        </p:spPr>
        <p:txBody>
          <a:bodyPr wrap="square" lIns="0" tIns="0" rIns="0" bIns="0" rtlCol="0" anchor="ctr"/>
          <a:lstStyle/>
          <a:p>
            <a:pPr algn="ctr" indent="0" marL="0">
              <a:buNone/>
            </a:pPr>
            <a:r>
              <a:rPr lang="en-US" sz="1500" b="1" dirty="0">
                <a:solidFill>
                  <a:srgbClr val="FFFFFF"/>
                </a:solidFill>
              </a:rPr>
              <a:t>50°</a:t>
            </a:r>
            <a:endParaRPr lang="en-US" sz="1500" dirty="0"/>
          </a:p>
        </p:txBody>
      </p:sp>
      <p:sp>
        <p:nvSpPr>
          <p:cNvPr id="41" name="Text 39"/>
          <p:cNvSpPr/>
          <p:nvPr/>
        </p:nvSpPr>
        <p:spPr>
          <a:xfrm>
            <a:off x="274320" y="4187952"/>
            <a:ext cx="4023360" cy="274320"/>
          </a:xfrm>
          <a:prstGeom prst="rect">
            <a:avLst/>
          </a:prstGeom>
          <a:noFill/>
          <a:ln/>
        </p:spPr>
        <p:txBody>
          <a:bodyPr wrap="square" lIns="0" tIns="0" rIns="0" bIns="0" rtlCol="0" anchor="ctr"/>
          <a:lstStyle/>
          <a:p>
            <a:pPr algn="ctr" indent="0" marL="0">
              <a:buNone/>
            </a:pPr>
            <a:r>
              <a:rPr lang="en-US" sz="1100" i="1" dirty="0">
                <a:solidFill>
                  <a:srgbClr val="5A5A7A"/>
                </a:solidFill>
              </a:rPr>
              <a:t>50° — less than 90° → acute</a:t>
            </a:r>
            <a:endParaRPr lang="en-US" sz="1100" dirty="0"/>
          </a:p>
        </p:txBody>
      </p:sp>
      <p:sp>
        <p:nvSpPr>
          <p:cNvPr id="42" name="Shape 40"/>
          <p:cNvSpPr/>
          <p:nvPr/>
        </p:nvSpPr>
        <p:spPr>
          <a:xfrm>
            <a:off x="5007254" y="3703320"/>
            <a:ext cx="3701491" cy="0"/>
          </a:xfrm>
          <a:prstGeom prst="line">
            <a:avLst/>
          </a:prstGeom>
          <a:noFill/>
          <a:ln w="15875">
            <a:solidFill>
              <a:srgbClr val="C9C9D9"/>
            </a:solidFill>
            <a:prstDash val="solid"/>
          </a:ln>
        </p:spPr>
      </p:sp>
      <p:sp>
        <p:nvSpPr>
          <p:cNvPr id="43" name="Shape 41"/>
          <p:cNvSpPr/>
          <p:nvPr/>
        </p:nvSpPr>
        <p:spPr>
          <a:xfrm>
            <a:off x="8507578" y="3703320"/>
            <a:ext cx="201168" cy="914"/>
          </a:xfrm>
          <a:prstGeom prst="line">
            <a:avLst/>
          </a:prstGeom>
          <a:noFill/>
          <a:ln w="19050">
            <a:solidFill>
              <a:srgbClr val="9A9AB8"/>
            </a:solidFill>
            <a:prstDash val="solid"/>
          </a:ln>
        </p:spPr>
      </p:sp>
      <p:sp>
        <p:nvSpPr>
          <p:cNvPr id="44" name="Text 42"/>
          <p:cNvSpPr/>
          <p:nvPr/>
        </p:nvSpPr>
        <p:spPr>
          <a:xfrm>
            <a:off x="8690458" y="3566160"/>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0</a:t>
            </a:r>
            <a:endParaRPr lang="en-US" sz="900" dirty="0"/>
          </a:p>
        </p:txBody>
      </p:sp>
      <p:sp>
        <p:nvSpPr>
          <p:cNvPr id="45" name="Shape 43"/>
          <p:cNvSpPr/>
          <p:nvPr/>
        </p:nvSpPr>
        <p:spPr>
          <a:xfrm flipV="1">
            <a:off x="8563563" y="3381941"/>
            <a:ext cx="117066" cy="20642"/>
          </a:xfrm>
          <a:prstGeom prst="line">
            <a:avLst/>
          </a:prstGeom>
          <a:noFill/>
          <a:ln w="9525">
            <a:solidFill>
              <a:srgbClr val="D6D6E4"/>
            </a:solidFill>
            <a:prstDash val="solid"/>
          </a:ln>
        </p:spPr>
      </p:sp>
      <p:sp>
        <p:nvSpPr>
          <p:cNvPr id="46" name="Shape 44"/>
          <p:cNvSpPr/>
          <p:nvPr/>
        </p:nvSpPr>
        <p:spPr>
          <a:xfrm flipV="1">
            <a:off x="8485429" y="3070328"/>
            <a:ext cx="111703" cy="40657"/>
          </a:xfrm>
          <a:prstGeom prst="line">
            <a:avLst/>
          </a:prstGeom>
          <a:noFill/>
          <a:ln w="9525">
            <a:solidFill>
              <a:srgbClr val="D6D6E4"/>
            </a:solidFill>
            <a:prstDash val="solid"/>
          </a:ln>
        </p:spPr>
      </p:sp>
      <p:sp>
        <p:nvSpPr>
          <p:cNvPr id="47" name="Shape 45"/>
          <p:cNvSpPr/>
          <p:nvPr/>
        </p:nvSpPr>
        <p:spPr>
          <a:xfrm flipV="1">
            <a:off x="8286576" y="2777947"/>
            <a:ext cx="174217" cy="100584"/>
          </a:xfrm>
          <a:prstGeom prst="line">
            <a:avLst/>
          </a:prstGeom>
          <a:noFill/>
          <a:ln w="19050">
            <a:solidFill>
              <a:srgbClr val="9A9AB8"/>
            </a:solidFill>
            <a:prstDash val="solid"/>
          </a:ln>
        </p:spPr>
      </p:sp>
      <p:sp>
        <p:nvSpPr>
          <p:cNvPr id="48" name="Text 46"/>
          <p:cNvSpPr/>
          <p:nvPr/>
        </p:nvSpPr>
        <p:spPr>
          <a:xfrm>
            <a:off x="8408203" y="2512771"/>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30</a:t>
            </a:r>
            <a:endParaRPr lang="en-US" sz="900" dirty="0"/>
          </a:p>
        </p:txBody>
      </p:sp>
      <p:sp>
        <p:nvSpPr>
          <p:cNvPr id="49" name="Shape 47"/>
          <p:cNvSpPr/>
          <p:nvPr/>
        </p:nvSpPr>
        <p:spPr>
          <a:xfrm flipV="1">
            <a:off x="8184692" y="2513684"/>
            <a:ext cx="91061" cy="76409"/>
          </a:xfrm>
          <a:prstGeom prst="line">
            <a:avLst/>
          </a:prstGeom>
          <a:noFill/>
          <a:ln w="9525">
            <a:solidFill>
              <a:srgbClr val="D6D6E4"/>
            </a:solidFill>
            <a:prstDash val="solid"/>
          </a:ln>
        </p:spPr>
      </p:sp>
      <p:sp>
        <p:nvSpPr>
          <p:cNvPr id="50" name="Shape 48"/>
          <p:cNvSpPr/>
          <p:nvPr/>
        </p:nvSpPr>
        <p:spPr>
          <a:xfrm flipV="1">
            <a:off x="7971227" y="2285567"/>
            <a:ext cx="76409" cy="91061"/>
          </a:xfrm>
          <a:prstGeom prst="line">
            <a:avLst/>
          </a:prstGeom>
          <a:noFill/>
          <a:ln w="9525">
            <a:solidFill>
              <a:srgbClr val="D6D6E4"/>
            </a:solidFill>
            <a:prstDash val="solid"/>
          </a:ln>
        </p:spPr>
      </p:sp>
      <p:sp>
        <p:nvSpPr>
          <p:cNvPr id="51" name="Shape 49"/>
          <p:cNvSpPr/>
          <p:nvPr/>
        </p:nvSpPr>
        <p:spPr>
          <a:xfrm flipV="1">
            <a:off x="7682789" y="2100527"/>
            <a:ext cx="100584" cy="174217"/>
          </a:xfrm>
          <a:prstGeom prst="line">
            <a:avLst/>
          </a:prstGeom>
          <a:noFill/>
          <a:ln w="19050">
            <a:solidFill>
              <a:srgbClr val="9A9AB8"/>
            </a:solidFill>
            <a:prstDash val="solid"/>
          </a:ln>
        </p:spPr>
      </p:sp>
      <p:sp>
        <p:nvSpPr>
          <p:cNvPr id="52" name="Text 50"/>
          <p:cNvSpPr/>
          <p:nvPr/>
        </p:nvSpPr>
        <p:spPr>
          <a:xfrm>
            <a:off x="7637069" y="1741637"/>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60</a:t>
            </a:r>
            <a:endParaRPr lang="en-US" sz="900" dirty="0"/>
          </a:p>
        </p:txBody>
      </p:sp>
      <p:sp>
        <p:nvSpPr>
          <p:cNvPr id="53" name="Shape 51"/>
          <p:cNvSpPr/>
          <p:nvPr/>
        </p:nvSpPr>
        <p:spPr>
          <a:xfrm flipV="1">
            <a:off x="7450336" y="1964188"/>
            <a:ext cx="40657" cy="111703"/>
          </a:xfrm>
          <a:prstGeom prst="line">
            <a:avLst/>
          </a:prstGeom>
          <a:noFill/>
          <a:ln w="9525">
            <a:solidFill>
              <a:srgbClr val="D6D6E4"/>
            </a:solidFill>
            <a:prstDash val="solid"/>
          </a:ln>
        </p:spPr>
      </p:sp>
      <p:sp>
        <p:nvSpPr>
          <p:cNvPr id="54" name="Shape 52"/>
          <p:cNvSpPr/>
          <p:nvPr/>
        </p:nvSpPr>
        <p:spPr>
          <a:xfrm flipV="1">
            <a:off x="7158737" y="1880691"/>
            <a:ext cx="20642" cy="117066"/>
          </a:xfrm>
          <a:prstGeom prst="line">
            <a:avLst/>
          </a:prstGeom>
          <a:noFill/>
          <a:ln w="9525">
            <a:solidFill>
              <a:srgbClr val="D6D6E4"/>
            </a:solidFill>
            <a:prstDash val="solid"/>
          </a:ln>
        </p:spPr>
      </p:sp>
      <p:sp>
        <p:nvSpPr>
          <p:cNvPr id="55" name="Shape 53"/>
          <p:cNvSpPr/>
          <p:nvPr/>
        </p:nvSpPr>
        <p:spPr>
          <a:xfrm flipV="1">
            <a:off x="6858000" y="1852574"/>
            <a:ext cx="914" cy="201168"/>
          </a:xfrm>
          <a:prstGeom prst="line">
            <a:avLst/>
          </a:prstGeom>
          <a:noFill/>
          <a:ln w="19050">
            <a:solidFill>
              <a:srgbClr val="9A9AB8"/>
            </a:solidFill>
            <a:prstDash val="solid"/>
          </a:ln>
        </p:spPr>
      </p:sp>
      <p:sp>
        <p:nvSpPr>
          <p:cNvPr id="56" name="Text 54"/>
          <p:cNvSpPr/>
          <p:nvPr/>
        </p:nvSpPr>
        <p:spPr>
          <a:xfrm>
            <a:off x="6583680" y="1459382"/>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90</a:t>
            </a:r>
            <a:endParaRPr lang="en-US" sz="900" dirty="0"/>
          </a:p>
        </p:txBody>
      </p:sp>
      <p:sp>
        <p:nvSpPr>
          <p:cNvPr id="57" name="Shape 55"/>
          <p:cNvSpPr/>
          <p:nvPr/>
        </p:nvSpPr>
        <p:spPr>
          <a:xfrm>
            <a:off x="6536621" y="1880691"/>
            <a:ext cx="20642" cy="117066"/>
          </a:xfrm>
          <a:prstGeom prst="line">
            <a:avLst/>
          </a:prstGeom>
          <a:noFill/>
          <a:ln w="9525">
            <a:solidFill>
              <a:srgbClr val="D6D6E4"/>
            </a:solidFill>
            <a:prstDash val="solid"/>
          </a:ln>
        </p:spPr>
      </p:sp>
      <p:sp>
        <p:nvSpPr>
          <p:cNvPr id="58" name="Shape 56"/>
          <p:cNvSpPr/>
          <p:nvPr/>
        </p:nvSpPr>
        <p:spPr>
          <a:xfrm>
            <a:off x="6225008" y="1964188"/>
            <a:ext cx="40657" cy="111703"/>
          </a:xfrm>
          <a:prstGeom prst="line">
            <a:avLst/>
          </a:prstGeom>
          <a:noFill/>
          <a:ln w="9525">
            <a:solidFill>
              <a:srgbClr val="D6D6E4"/>
            </a:solidFill>
            <a:prstDash val="solid"/>
          </a:ln>
        </p:spPr>
      </p:sp>
      <p:sp>
        <p:nvSpPr>
          <p:cNvPr id="59" name="Shape 57"/>
          <p:cNvSpPr/>
          <p:nvPr/>
        </p:nvSpPr>
        <p:spPr>
          <a:xfrm>
            <a:off x="5932627" y="2100527"/>
            <a:ext cx="100584" cy="174217"/>
          </a:xfrm>
          <a:prstGeom prst="line">
            <a:avLst/>
          </a:prstGeom>
          <a:noFill/>
          <a:ln w="19050">
            <a:solidFill>
              <a:srgbClr val="9A9AB8"/>
            </a:solidFill>
            <a:prstDash val="solid"/>
          </a:ln>
        </p:spPr>
      </p:sp>
      <p:sp>
        <p:nvSpPr>
          <p:cNvPr id="60" name="Text 58"/>
          <p:cNvSpPr/>
          <p:nvPr/>
        </p:nvSpPr>
        <p:spPr>
          <a:xfrm>
            <a:off x="5530291" y="1741637"/>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120</a:t>
            </a:r>
            <a:endParaRPr lang="en-US" sz="900" dirty="0"/>
          </a:p>
        </p:txBody>
      </p:sp>
      <p:sp>
        <p:nvSpPr>
          <p:cNvPr id="61" name="Shape 59"/>
          <p:cNvSpPr/>
          <p:nvPr/>
        </p:nvSpPr>
        <p:spPr>
          <a:xfrm>
            <a:off x="5668364" y="2285567"/>
            <a:ext cx="76409" cy="91061"/>
          </a:xfrm>
          <a:prstGeom prst="line">
            <a:avLst/>
          </a:prstGeom>
          <a:noFill/>
          <a:ln w="9525">
            <a:solidFill>
              <a:srgbClr val="D6D6E4"/>
            </a:solidFill>
            <a:prstDash val="solid"/>
          </a:ln>
        </p:spPr>
      </p:sp>
      <p:sp>
        <p:nvSpPr>
          <p:cNvPr id="62" name="Shape 60"/>
          <p:cNvSpPr/>
          <p:nvPr/>
        </p:nvSpPr>
        <p:spPr>
          <a:xfrm>
            <a:off x="5440247" y="2513684"/>
            <a:ext cx="91061" cy="76409"/>
          </a:xfrm>
          <a:prstGeom prst="line">
            <a:avLst/>
          </a:prstGeom>
          <a:noFill/>
          <a:ln w="9525">
            <a:solidFill>
              <a:srgbClr val="D6D6E4"/>
            </a:solidFill>
            <a:prstDash val="solid"/>
          </a:ln>
        </p:spPr>
      </p:sp>
      <p:sp>
        <p:nvSpPr>
          <p:cNvPr id="63" name="Shape 61"/>
          <p:cNvSpPr/>
          <p:nvPr/>
        </p:nvSpPr>
        <p:spPr>
          <a:xfrm>
            <a:off x="5255207" y="2777947"/>
            <a:ext cx="174217" cy="100584"/>
          </a:xfrm>
          <a:prstGeom prst="line">
            <a:avLst/>
          </a:prstGeom>
          <a:noFill/>
          <a:ln w="19050">
            <a:solidFill>
              <a:srgbClr val="9A9AB8"/>
            </a:solidFill>
            <a:prstDash val="solid"/>
          </a:ln>
        </p:spPr>
      </p:sp>
      <p:sp>
        <p:nvSpPr>
          <p:cNvPr id="64" name="Text 62"/>
          <p:cNvSpPr/>
          <p:nvPr/>
        </p:nvSpPr>
        <p:spPr>
          <a:xfrm>
            <a:off x="4759157" y="2512771"/>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150</a:t>
            </a:r>
            <a:endParaRPr lang="en-US" sz="900" dirty="0"/>
          </a:p>
        </p:txBody>
      </p:sp>
      <p:sp>
        <p:nvSpPr>
          <p:cNvPr id="65" name="Shape 63"/>
          <p:cNvSpPr/>
          <p:nvPr/>
        </p:nvSpPr>
        <p:spPr>
          <a:xfrm>
            <a:off x="5118868" y="3070328"/>
            <a:ext cx="111703" cy="40657"/>
          </a:xfrm>
          <a:prstGeom prst="line">
            <a:avLst/>
          </a:prstGeom>
          <a:noFill/>
          <a:ln w="9525">
            <a:solidFill>
              <a:srgbClr val="D6D6E4"/>
            </a:solidFill>
            <a:prstDash val="solid"/>
          </a:ln>
        </p:spPr>
      </p:sp>
      <p:sp>
        <p:nvSpPr>
          <p:cNvPr id="66" name="Shape 64"/>
          <p:cNvSpPr/>
          <p:nvPr/>
        </p:nvSpPr>
        <p:spPr>
          <a:xfrm>
            <a:off x="5035371" y="3381941"/>
            <a:ext cx="117066" cy="20642"/>
          </a:xfrm>
          <a:prstGeom prst="line">
            <a:avLst/>
          </a:prstGeom>
          <a:noFill/>
          <a:ln w="9525">
            <a:solidFill>
              <a:srgbClr val="D6D6E4"/>
            </a:solidFill>
            <a:prstDash val="solid"/>
          </a:ln>
        </p:spPr>
      </p:sp>
      <p:sp>
        <p:nvSpPr>
          <p:cNvPr id="67" name="Shape 65"/>
          <p:cNvSpPr/>
          <p:nvPr/>
        </p:nvSpPr>
        <p:spPr>
          <a:xfrm>
            <a:off x="5007254" y="3703320"/>
            <a:ext cx="201168" cy="914"/>
          </a:xfrm>
          <a:prstGeom prst="line">
            <a:avLst/>
          </a:prstGeom>
          <a:noFill/>
          <a:ln w="19050">
            <a:solidFill>
              <a:srgbClr val="9A9AB8"/>
            </a:solidFill>
            <a:prstDash val="solid"/>
          </a:ln>
        </p:spPr>
      </p:sp>
      <p:sp>
        <p:nvSpPr>
          <p:cNvPr id="68" name="Text 66"/>
          <p:cNvSpPr/>
          <p:nvPr/>
        </p:nvSpPr>
        <p:spPr>
          <a:xfrm>
            <a:off x="4476902" y="3566160"/>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180</a:t>
            </a:r>
            <a:endParaRPr lang="en-US" sz="900" dirty="0"/>
          </a:p>
        </p:txBody>
      </p:sp>
      <p:sp>
        <p:nvSpPr>
          <p:cNvPr id="69" name="Shape 67"/>
          <p:cNvSpPr/>
          <p:nvPr/>
        </p:nvSpPr>
        <p:spPr>
          <a:xfrm>
            <a:off x="5525312" y="1964679"/>
            <a:ext cx="3045959" cy="1738641"/>
          </a:xfrm>
          <a:custGeom>
            <a:avLst/>
            <a:gdLst/>
            <a:ahLst/>
            <a:cxnLst/>
            <a:rect l="l" t="t" r="r" b="b"/>
            <a:pathLst>
              <a:path w="3045959" h="1738641">
                <a:moveTo>
                  <a:pt x="1332688" y="1738641"/>
                </a:moveTo>
                <a:lnTo>
                  <a:pt x="3045959" y="1436545"/>
                </a:lnTo>
                <a:lnTo>
                  <a:pt x="3000748" y="1244539"/>
                </a:lnTo>
                <a:lnTo>
                  <a:pt x="2934091" y="1058886"/>
                </a:lnTo>
                <a:lnTo>
                  <a:pt x="2846847" y="881971"/>
                </a:lnTo>
                <a:lnTo>
                  <a:pt x="2740136" y="716071"/>
                </a:lnTo>
                <a:lnTo>
                  <a:pt x="2615330" y="563316"/>
                </a:lnTo>
                <a:lnTo>
                  <a:pt x="2474035" y="425672"/>
                </a:lnTo>
                <a:lnTo>
                  <a:pt x="2318066" y="304908"/>
                </a:lnTo>
                <a:lnTo>
                  <a:pt x="2149428" y="202576"/>
                </a:lnTo>
                <a:lnTo>
                  <a:pt x="1970291" y="119993"/>
                </a:lnTo>
                <a:lnTo>
                  <a:pt x="1782956" y="58219"/>
                </a:lnTo>
                <a:lnTo>
                  <a:pt x="1589832" y="18049"/>
                </a:lnTo>
                <a:lnTo>
                  <a:pt x="1393403" y="0"/>
                </a:lnTo>
                <a:lnTo>
                  <a:pt x="1196193" y="4303"/>
                </a:lnTo>
                <a:lnTo>
                  <a:pt x="1000738" y="30903"/>
                </a:lnTo>
                <a:lnTo>
                  <a:pt x="809550" y="79459"/>
                </a:lnTo>
                <a:lnTo>
                  <a:pt x="625088" y="149345"/>
                </a:lnTo>
                <a:lnTo>
                  <a:pt x="449723" y="239664"/>
                </a:lnTo>
                <a:lnTo>
                  <a:pt x="285710" y="349254"/>
                </a:lnTo>
                <a:lnTo>
                  <a:pt x="135157" y="476707"/>
                </a:lnTo>
                <a:lnTo>
                  <a:pt x="0" y="620383"/>
                </a:lnTo>
                <a:close/>
              </a:path>
            </a:pathLst>
          </a:custGeom>
          <a:solidFill>
            <a:srgbClr val="C05818"/>
          </a:solidFill>
          <a:ln w="15875">
            <a:solidFill>
              <a:srgbClr val="FFFFFF"/>
            </a:solidFill>
            <a:prstDash val="solid"/>
          </a:ln>
        </p:spPr>
      </p:sp>
      <p:sp>
        <p:nvSpPr>
          <p:cNvPr id="70" name="Shape 68"/>
          <p:cNvSpPr/>
          <p:nvPr/>
        </p:nvSpPr>
        <p:spPr>
          <a:xfrm>
            <a:off x="6319254" y="3000204"/>
            <a:ext cx="1231345" cy="580992"/>
          </a:xfrm>
          <a:custGeom>
            <a:avLst/>
            <a:gdLst/>
            <a:ahLst/>
            <a:cxnLst/>
            <a:rect l="l" t="t" r="r" b="b"/>
            <a:pathLst>
              <a:path w="1231345" h="580992">
                <a:moveTo>
                  <a:pt x="1231345" y="580992"/>
                </a:moveTo>
                <a:lnTo>
                  <a:pt x="1216724" y="516158"/>
                </a:lnTo>
                <a:lnTo>
                  <a:pt x="1196048" y="452993"/>
                </a:lnTo>
                <a:lnTo>
                  <a:pt x="1169502" y="392062"/>
                </a:lnTo>
                <a:lnTo>
                  <a:pt x="1137322" y="333909"/>
                </a:lnTo>
                <a:lnTo>
                  <a:pt x="1099797" y="279053"/>
                </a:lnTo>
                <a:lnTo>
                  <a:pt x="1057261" y="227985"/>
                </a:lnTo>
                <a:lnTo>
                  <a:pt x="1010094" y="181160"/>
                </a:lnTo>
                <a:lnTo>
                  <a:pt x="958718" y="138996"/>
                </a:lnTo>
                <a:lnTo>
                  <a:pt x="903591" y="101871"/>
                </a:lnTo>
                <a:lnTo>
                  <a:pt x="845205" y="70115"/>
                </a:lnTo>
                <a:lnTo>
                  <a:pt x="784083" y="44013"/>
                </a:lnTo>
                <a:lnTo>
                  <a:pt x="720769" y="23796"/>
                </a:lnTo>
                <a:lnTo>
                  <a:pt x="655830" y="9647"/>
                </a:lnTo>
                <a:lnTo>
                  <a:pt x="589845" y="1691"/>
                </a:lnTo>
                <a:lnTo>
                  <a:pt x="523404" y="0"/>
                </a:lnTo>
                <a:lnTo>
                  <a:pt x="457100" y="4588"/>
                </a:lnTo>
                <a:lnTo>
                  <a:pt x="391525" y="15414"/>
                </a:lnTo>
                <a:lnTo>
                  <a:pt x="327265" y="32383"/>
                </a:lnTo>
                <a:lnTo>
                  <a:pt x="264893" y="55341"/>
                </a:lnTo>
                <a:lnTo>
                  <a:pt x="204968" y="84085"/>
                </a:lnTo>
                <a:lnTo>
                  <a:pt x="148023" y="118357"/>
                </a:lnTo>
                <a:lnTo>
                  <a:pt x="94568" y="157852"/>
                </a:lnTo>
                <a:lnTo>
                  <a:pt x="45079" y="202216"/>
                </a:lnTo>
                <a:lnTo>
                  <a:pt x="0" y="251054"/>
                </a:lnTo>
              </a:path>
            </a:pathLst>
          </a:custGeom>
          <a:solidFill>
            <a:srgbClr val="FFFFFF">
              <a:alpha val="0"/>
            </a:srgbClr>
          </a:solidFill>
          <a:ln w="38100">
            <a:solidFill>
              <a:srgbClr val="C05818"/>
            </a:solidFill>
            <a:prstDash val="solid"/>
          </a:ln>
        </p:spPr>
      </p:sp>
      <p:sp>
        <p:nvSpPr>
          <p:cNvPr id="71" name="Shape 69"/>
          <p:cNvSpPr/>
          <p:nvPr/>
        </p:nvSpPr>
        <p:spPr>
          <a:xfrm flipV="1">
            <a:off x="6858000" y="3381941"/>
            <a:ext cx="1822629" cy="321379"/>
          </a:xfrm>
          <a:prstGeom prst="line">
            <a:avLst/>
          </a:prstGeom>
          <a:noFill/>
          <a:ln w="38100">
            <a:solidFill>
              <a:srgbClr val="1B2A4A"/>
            </a:solidFill>
            <a:prstDash val="solid"/>
          </a:ln>
        </p:spPr>
      </p:sp>
      <p:sp>
        <p:nvSpPr>
          <p:cNvPr id="72" name="Shape 70"/>
          <p:cNvSpPr/>
          <p:nvPr/>
        </p:nvSpPr>
        <p:spPr>
          <a:xfrm>
            <a:off x="5440247" y="2513684"/>
            <a:ext cx="1417753" cy="1189636"/>
          </a:xfrm>
          <a:prstGeom prst="line">
            <a:avLst/>
          </a:prstGeom>
          <a:noFill/>
          <a:ln w="38100">
            <a:solidFill>
              <a:srgbClr val="1B2A4A"/>
            </a:solidFill>
            <a:prstDash val="solid"/>
          </a:ln>
        </p:spPr>
      </p:sp>
      <p:sp>
        <p:nvSpPr>
          <p:cNvPr id="73" name="Shape 71"/>
          <p:cNvSpPr/>
          <p:nvPr/>
        </p:nvSpPr>
        <p:spPr>
          <a:xfrm>
            <a:off x="6803136" y="3648456"/>
            <a:ext cx="109728" cy="109728"/>
          </a:xfrm>
          <a:prstGeom prst="ellipse">
            <a:avLst/>
          </a:prstGeom>
          <a:solidFill>
            <a:srgbClr val="1B2A4A"/>
          </a:solidFill>
          <a:ln w="12700">
            <a:solidFill>
              <a:srgbClr val="FFFFFF"/>
            </a:solidFill>
            <a:prstDash val="solid"/>
          </a:ln>
        </p:spPr>
      </p:sp>
      <p:sp>
        <p:nvSpPr>
          <p:cNvPr id="74" name="Text 72"/>
          <p:cNvSpPr/>
          <p:nvPr/>
        </p:nvSpPr>
        <p:spPr>
          <a:xfrm>
            <a:off x="6400800" y="3776472"/>
            <a:ext cx="914400" cy="274320"/>
          </a:xfrm>
          <a:prstGeom prst="rect">
            <a:avLst/>
          </a:prstGeom>
          <a:noFill/>
          <a:ln/>
        </p:spPr>
        <p:txBody>
          <a:bodyPr wrap="square" lIns="0" tIns="0" rIns="0" bIns="0" rtlCol="0" anchor="ctr"/>
          <a:lstStyle/>
          <a:p>
            <a:pPr algn="ctr" indent="0" marL="0">
              <a:buNone/>
            </a:pPr>
            <a:r>
              <a:rPr lang="en-US" sz="1200" b="1" dirty="0">
                <a:solidFill>
                  <a:srgbClr val="1B2A4A"/>
                </a:solidFill>
              </a:rPr>
              <a:t>vertex</a:t>
            </a:r>
            <a:endParaRPr lang="en-US" sz="1200" dirty="0"/>
          </a:p>
        </p:txBody>
      </p:sp>
      <p:sp>
        <p:nvSpPr>
          <p:cNvPr id="75" name="Shape 73"/>
          <p:cNvSpPr/>
          <p:nvPr/>
        </p:nvSpPr>
        <p:spPr>
          <a:xfrm>
            <a:off x="6723209" y="2487823"/>
            <a:ext cx="822960" cy="365760"/>
          </a:xfrm>
          <a:prstGeom prst="roundRect">
            <a:avLst>
              <a:gd name="adj" fmla="val 15000"/>
            </a:avLst>
          </a:prstGeom>
          <a:solidFill>
            <a:srgbClr val="C05818"/>
          </a:solidFill>
          <a:ln w="12700">
            <a:solidFill>
              <a:srgbClr val="C05818"/>
            </a:solidFill>
            <a:prstDash val="solid"/>
          </a:ln>
        </p:spPr>
      </p:sp>
      <p:sp>
        <p:nvSpPr>
          <p:cNvPr id="76" name="Text 74"/>
          <p:cNvSpPr/>
          <p:nvPr/>
        </p:nvSpPr>
        <p:spPr>
          <a:xfrm>
            <a:off x="6723209" y="2487823"/>
            <a:ext cx="822960" cy="365760"/>
          </a:xfrm>
          <a:prstGeom prst="rect">
            <a:avLst/>
          </a:prstGeom>
          <a:noFill/>
          <a:ln/>
        </p:spPr>
        <p:txBody>
          <a:bodyPr wrap="square" lIns="0" tIns="0" rIns="0" bIns="0" rtlCol="0" anchor="ctr"/>
          <a:lstStyle/>
          <a:p>
            <a:pPr algn="ctr" indent="0" marL="0">
              <a:buNone/>
            </a:pPr>
            <a:r>
              <a:rPr lang="en-US" sz="1500" b="1" dirty="0">
                <a:solidFill>
                  <a:srgbClr val="FFFFFF"/>
                </a:solidFill>
              </a:rPr>
              <a:t>130°</a:t>
            </a:r>
            <a:endParaRPr lang="en-US" sz="1500" dirty="0"/>
          </a:p>
        </p:txBody>
      </p:sp>
      <p:sp>
        <p:nvSpPr>
          <p:cNvPr id="77" name="Text 75"/>
          <p:cNvSpPr/>
          <p:nvPr/>
        </p:nvSpPr>
        <p:spPr>
          <a:xfrm>
            <a:off x="4846320" y="4187952"/>
            <a:ext cx="4023360" cy="274320"/>
          </a:xfrm>
          <a:prstGeom prst="rect">
            <a:avLst/>
          </a:prstGeom>
          <a:noFill/>
          <a:ln/>
        </p:spPr>
        <p:txBody>
          <a:bodyPr wrap="square" lIns="0" tIns="0" rIns="0" bIns="0" rtlCol="0" anchor="ctr"/>
          <a:lstStyle/>
          <a:p>
            <a:pPr algn="ctr" indent="0" marL="0">
              <a:buNone/>
            </a:pPr>
            <a:r>
              <a:rPr lang="en-US" sz="1100" i="1" dirty="0">
                <a:solidFill>
                  <a:srgbClr val="5A5A7A"/>
                </a:solidFill>
              </a:rPr>
              <a:t>130° — more than 90°, less than 180° → obtuse</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Abstract: The Protractor Rule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CPA · Abstract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548640" y="1051560"/>
            <a:ext cx="457200" cy="457200"/>
          </a:xfrm>
          <a:prstGeom prst="ellipse">
            <a:avLst/>
          </a:prstGeom>
          <a:solidFill>
            <a:srgbClr val="4A3D8F"/>
          </a:solidFill>
          <a:ln w="12700">
            <a:solidFill>
              <a:srgbClr val="4A3D8F"/>
            </a:solidFill>
            <a:prstDash val="solid"/>
          </a:ln>
        </p:spPr>
      </p:sp>
      <p:sp>
        <p:nvSpPr>
          <p:cNvPr id="7" name="Text 5"/>
          <p:cNvSpPr/>
          <p:nvPr/>
        </p:nvSpPr>
        <p:spPr>
          <a:xfrm>
            <a:off x="548640" y="10515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8" name="Shape 6"/>
          <p:cNvSpPr/>
          <p:nvPr/>
        </p:nvSpPr>
        <p:spPr>
          <a:xfrm>
            <a:off x="1188720" y="1005840"/>
            <a:ext cx="7223760" cy="914400"/>
          </a:xfrm>
          <a:prstGeom prst="roundRect">
            <a:avLst>
              <a:gd name="adj" fmla="val 10000"/>
            </a:avLst>
          </a:prstGeom>
          <a:solidFill>
            <a:srgbClr val="FFFFFF"/>
          </a:solidFill>
          <a:ln w="6350">
            <a:solidFill>
              <a:srgbClr val="DDDDEE"/>
            </a:solidFill>
            <a:prstDash val="solid"/>
          </a:ln>
        </p:spPr>
      </p:sp>
      <p:sp>
        <p:nvSpPr>
          <p:cNvPr id="9" name="Text 7"/>
          <p:cNvSpPr/>
          <p:nvPr/>
        </p:nvSpPr>
        <p:spPr>
          <a:xfrm>
            <a:off x="1371600" y="1005840"/>
            <a:ext cx="6858000" cy="914400"/>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Place the center dot of the protractor exactly on the vertex.</a:t>
            </a:r>
            <a:endParaRPr lang="en-US" sz="1500" dirty="0"/>
          </a:p>
        </p:txBody>
      </p:sp>
      <p:sp>
        <p:nvSpPr>
          <p:cNvPr id="10" name="Shape 8"/>
          <p:cNvSpPr/>
          <p:nvPr/>
        </p:nvSpPr>
        <p:spPr>
          <a:xfrm>
            <a:off x="548640" y="2103120"/>
            <a:ext cx="457200" cy="457200"/>
          </a:xfrm>
          <a:prstGeom prst="ellipse">
            <a:avLst/>
          </a:prstGeom>
          <a:solidFill>
            <a:srgbClr val="4A3D8F"/>
          </a:solidFill>
          <a:ln w="12700">
            <a:solidFill>
              <a:srgbClr val="4A3D8F"/>
            </a:solidFill>
            <a:prstDash val="solid"/>
          </a:ln>
        </p:spPr>
      </p:sp>
      <p:sp>
        <p:nvSpPr>
          <p:cNvPr id="11" name="Text 9"/>
          <p:cNvSpPr/>
          <p:nvPr/>
        </p:nvSpPr>
        <p:spPr>
          <a:xfrm>
            <a:off x="548640" y="21031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2" name="Shape 10"/>
          <p:cNvSpPr/>
          <p:nvPr/>
        </p:nvSpPr>
        <p:spPr>
          <a:xfrm>
            <a:off x="1188720" y="2057400"/>
            <a:ext cx="7223760" cy="914400"/>
          </a:xfrm>
          <a:prstGeom prst="roundRect">
            <a:avLst>
              <a:gd name="adj" fmla="val 10000"/>
            </a:avLst>
          </a:prstGeom>
          <a:solidFill>
            <a:srgbClr val="FFFFFF"/>
          </a:solidFill>
          <a:ln w="6350">
            <a:solidFill>
              <a:srgbClr val="DDDDEE"/>
            </a:solidFill>
            <a:prstDash val="solid"/>
          </a:ln>
        </p:spPr>
      </p:sp>
      <p:sp>
        <p:nvSpPr>
          <p:cNvPr id="13" name="Text 11"/>
          <p:cNvSpPr/>
          <p:nvPr/>
        </p:nvSpPr>
        <p:spPr>
          <a:xfrm>
            <a:off x="1371600" y="2057400"/>
            <a:ext cx="6858000" cy="914400"/>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Line up the zero line of the protractor with one ray.</a:t>
            </a:r>
            <a:endParaRPr lang="en-US" sz="1500" dirty="0"/>
          </a:p>
        </p:txBody>
      </p:sp>
      <p:sp>
        <p:nvSpPr>
          <p:cNvPr id="14" name="Shape 12"/>
          <p:cNvSpPr/>
          <p:nvPr/>
        </p:nvSpPr>
        <p:spPr>
          <a:xfrm>
            <a:off x="548640" y="3154680"/>
            <a:ext cx="457200" cy="457200"/>
          </a:xfrm>
          <a:prstGeom prst="ellipse">
            <a:avLst/>
          </a:prstGeom>
          <a:solidFill>
            <a:srgbClr val="4A3D8F"/>
          </a:solidFill>
          <a:ln w="12700">
            <a:solidFill>
              <a:srgbClr val="4A3D8F"/>
            </a:solidFill>
            <a:prstDash val="solid"/>
          </a:ln>
        </p:spPr>
      </p:sp>
      <p:sp>
        <p:nvSpPr>
          <p:cNvPr id="15" name="Text 13"/>
          <p:cNvSpPr/>
          <p:nvPr/>
        </p:nvSpPr>
        <p:spPr>
          <a:xfrm>
            <a:off x="548640" y="31546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6" name="Shape 14"/>
          <p:cNvSpPr/>
          <p:nvPr/>
        </p:nvSpPr>
        <p:spPr>
          <a:xfrm>
            <a:off x="1188720" y="3108960"/>
            <a:ext cx="7223760" cy="914400"/>
          </a:xfrm>
          <a:prstGeom prst="roundRect">
            <a:avLst>
              <a:gd name="adj" fmla="val 10000"/>
            </a:avLst>
          </a:prstGeom>
          <a:solidFill>
            <a:srgbClr val="FFFFFF"/>
          </a:solidFill>
          <a:ln w="6350">
            <a:solidFill>
              <a:srgbClr val="DDDDEE"/>
            </a:solidFill>
            <a:prstDash val="solid"/>
          </a:ln>
        </p:spPr>
      </p:sp>
      <p:sp>
        <p:nvSpPr>
          <p:cNvPr id="17" name="Text 15"/>
          <p:cNvSpPr/>
          <p:nvPr/>
        </p:nvSpPr>
        <p:spPr>
          <a:xfrm>
            <a:off x="1371600" y="3108960"/>
            <a:ext cx="6858000" cy="914400"/>
          </a:xfrm>
          <a:prstGeom prst="rect">
            <a:avLst/>
          </a:prstGeom>
          <a:noFill/>
          <a:ln/>
        </p:spPr>
        <p:txBody>
          <a:bodyPr wrap="square" lIns="0" tIns="0" rIns="0" bIns="0" rtlCol="0" anchor="ctr"/>
          <a:lstStyle/>
          <a:p>
            <a:pPr indent="0" marL="0">
              <a:buNone/>
            </a:pPr>
            <a:r>
              <a:rPr lang="en-US" sz="1500" dirty="0">
                <a:solidFill>
                  <a:srgbClr val="1A1A2E"/>
                </a:solidFill>
                <a:latin typeface="Cambria" pitchFamily="34" charset="0"/>
                <a:ea typeface="Cambria" pitchFamily="34" charset="-122"/>
                <a:cs typeface="Cambria" pitchFamily="34" charset="-120"/>
              </a:rPr>
              <a:t>Read the number where the second ray crosses the scale -- that number is the angle's degree measure.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Watch Out: Reading the Correct Scale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Common Error</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761488" y="2880360"/>
            <a:ext cx="3621024" cy="0"/>
          </a:xfrm>
          <a:prstGeom prst="line">
            <a:avLst/>
          </a:prstGeom>
          <a:noFill/>
          <a:ln w="15875">
            <a:solidFill>
              <a:srgbClr val="C9C9D9"/>
            </a:solidFill>
            <a:prstDash val="solid"/>
          </a:ln>
        </p:spPr>
      </p:sp>
      <p:sp>
        <p:nvSpPr>
          <p:cNvPr id="7" name="Shape 5"/>
          <p:cNvSpPr/>
          <p:nvPr/>
        </p:nvSpPr>
        <p:spPr>
          <a:xfrm>
            <a:off x="6181344" y="2880360"/>
            <a:ext cx="201168" cy="914"/>
          </a:xfrm>
          <a:prstGeom prst="line">
            <a:avLst/>
          </a:prstGeom>
          <a:noFill/>
          <a:ln w="19050">
            <a:solidFill>
              <a:srgbClr val="9A9AB8"/>
            </a:solidFill>
            <a:prstDash val="solid"/>
          </a:ln>
        </p:spPr>
      </p:sp>
      <p:sp>
        <p:nvSpPr>
          <p:cNvPr id="8" name="Text 6"/>
          <p:cNvSpPr/>
          <p:nvPr/>
        </p:nvSpPr>
        <p:spPr>
          <a:xfrm>
            <a:off x="6364224" y="2743200"/>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0</a:t>
            </a:r>
            <a:endParaRPr lang="en-US" sz="900" dirty="0"/>
          </a:p>
        </p:txBody>
      </p:sp>
      <p:sp>
        <p:nvSpPr>
          <p:cNvPr id="9" name="Shape 7"/>
          <p:cNvSpPr/>
          <p:nvPr/>
        </p:nvSpPr>
        <p:spPr>
          <a:xfrm flipV="1">
            <a:off x="6237940" y="2565968"/>
            <a:ext cx="117066" cy="20642"/>
          </a:xfrm>
          <a:prstGeom prst="line">
            <a:avLst/>
          </a:prstGeom>
          <a:noFill/>
          <a:ln w="9525">
            <a:solidFill>
              <a:srgbClr val="D6D6E4"/>
            </a:solidFill>
            <a:prstDash val="solid"/>
          </a:ln>
        </p:spPr>
      </p:sp>
      <p:sp>
        <p:nvSpPr>
          <p:cNvPr id="10" name="Shape 8"/>
          <p:cNvSpPr/>
          <p:nvPr/>
        </p:nvSpPr>
        <p:spPr>
          <a:xfrm flipV="1">
            <a:off x="6161622" y="2261128"/>
            <a:ext cx="111703" cy="40657"/>
          </a:xfrm>
          <a:prstGeom prst="line">
            <a:avLst/>
          </a:prstGeom>
          <a:noFill/>
          <a:ln w="9525">
            <a:solidFill>
              <a:srgbClr val="D6D6E4"/>
            </a:solidFill>
            <a:prstDash val="solid"/>
          </a:ln>
        </p:spPr>
      </p:sp>
      <p:sp>
        <p:nvSpPr>
          <p:cNvPr id="11" name="Shape 9"/>
          <p:cNvSpPr/>
          <p:nvPr/>
        </p:nvSpPr>
        <p:spPr>
          <a:xfrm flipV="1">
            <a:off x="5965733" y="1975104"/>
            <a:ext cx="174217" cy="100584"/>
          </a:xfrm>
          <a:prstGeom prst="line">
            <a:avLst/>
          </a:prstGeom>
          <a:noFill/>
          <a:ln w="19050">
            <a:solidFill>
              <a:srgbClr val="9A9AB8"/>
            </a:solidFill>
            <a:prstDash val="solid"/>
          </a:ln>
        </p:spPr>
      </p:sp>
      <p:sp>
        <p:nvSpPr>
          <p:cNvPr id="12" name="Text 10"/>
          <p:cNvSpPr/>
          <p:nvPr/>
        </p:nvSpPr>
        <p:spPr>
          <a:xfrm>
            <a:off x="6087360" y="1709928"/>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30</a:t>
            </a:r>
            <a:endParaRPr lang="en-US" sz="900" dirty="0"/>
          </a:p>
        </p:txBody>
      </p:sp>
      <p:sp>
        <p:nvSpPr>
          <p:cNvPr id="13" name="Shape 11"/>
          <p:cNvSpPr/>
          <p:nvPr/>
        </p:nvSpPr>
        <p:spPr>
          <a:xfrm flipV="1">
            <a:off x="5867871" y="1716585"/>
            <a:ext cx="91061" cy="76409"/>
          </a:xfrm>
          <a:prstGeom prst="line">
            <a:avLst/>
          </a:prstGeom>
          <a:noFill/>
          <a:ln w="9525">
            <a:solidFill>
              <a:srgbClr val="D6D6E4"/>
            </a:solidFill>
            <a:prstDash val="solid"/>
          </a:ln>
        </p:spPr>
      </p:sp>
      <p:sp>
        <p:nvSpPr>
          <p:cNvPr id="14" name="Shape 12"/>
          <p:cNvSpPr/>
          <p:nvPr/>
        </p:nvSpPr>
        <p:spPr>
          <a:xfrm flipV="1">
            <a:off x="5659365" y="1493427"/>
            <a:ext cx="76409" cy="91061"/>
          </a:xfrm>
          <a:prstGeom prst="line">
            <a:avLst/>
          </a:prstGeom>
          <a:noFill/>
          <a:ln w="9525">
            <a:solidFill>
              <a:srgbClr val="D6D6E4"/>
            </a:solidFill>
            <a:prstDash val="solid"/>
          </a:ln>
        </p:spPr>
      </p:sp>
      <p:sp>
        <p:nvSpPr>
          <p:cNvPr id="15" name="Shape 13"/>
          <p:cNvSpPr/>
          <p:nvPr/>
        </p:nvSpPr>
        <p:spPr>
          <a:xfrm flipV="1">
            <a:off x="5376672" y="1312411"/>
            <a:ext cx="100584" cy="174217"/>
          </a:xfrm>
          <a:prstGeom prst="line">
            <a:avLst/>
          </a:prstGeom>
          <a:noFill/>
          <a:ln w="19050">
            <a:solidFill>
              <a:srgbClr val="9A9AB8"/>
            </a:solidFill>
            <a:prstDash val="solid"/>
          </a:ln>
        </p:spPr>
      </p:sp>
      <p:sp>
        <p:nvSpPr>
          <p:cNvPr id="16" name="Text 14"/>
          <p:cNvSpPr/>
          <p:nvPr/>
        </p:nvSpPr>
        <p:spPr>
          <a:xfrm>
            <a:off x="5330952" y="953520"/>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60</a:t>
            </a:r>
            <a:endParaRPr lang="en-US" sz="900" dirty="0"/>
          </a:p>
        </p:txBody>
      </p:sp>
      <p:sp>
        <p:nvSpPr>
          <p:cNvPr id="17" name="Shape 15"/>
          <p:cNvSpPr/>
          <p:nvPr/>
        </p:nvSpPr>
        <p:spPr>
          <a:xfrm flipV="1">
            <a:off x="5150575" y="1179035"/>
            <a:ext cx="40657" cy="111703"/>
          </a:xfrm>
          <a:prstGeom prst="line">
            <a:avLst/>
          </a:prstGeom>
          <a:noFill/>
          <a:ln w="9525">
            <a:solidFill>
              <a:srgbClr val="D6D6E4"/>
            </a:solidFill>
            <a:prstDash val="solid"/>
          </a:ln>
        </p:spPr>
      </p:sp>
      <p:sp>
        <p:nvSpPr>
          <p:cNvPr id="18" name="Shape 16"/>
          <p:cNvSpPr/>
          <p:nvPr/>
        </p:nvSpPr>
        <p:spPr>
          <a:xfrm flipV="1">
            <a:off x="4865750" y="1097354"/>
            <a:ext cx="20642" cy="117066"/>
          </a:xfrm>
          <a:prstGeom prst="line">
            <a:avLst/>
          </a:prstGeom>
          <a:noFill/>
          <a:ln w="9525">
            <a:solidFill>
              <a:srgbClr val="D6D6E4"/>
            </a:solidFill>
            <a:prstDash val="solid"/>
          </a:ln>
        </p:spPr>
      </p:sp>
      <p:sp>
        <p:nvSpPr>
          <p:cNvPr id="19" name="Shape 17"/>
          <p:cNvSpPr/>
          <p:nvPr/>
        </p:nvSpPr>
        <p:spPr>
          <a:xfrm flipV="1">
            <a:off x="4572000" y="1069848"/>
            <a:ext cx="914" cy="201168"/>
          </a:xfrm>
          <a:prstGeom prst="line">
            <a:avLst/>
          </a:prstGeom>
          <a:noFill/>
          <a:ln w="19050">
            <a:solidFill>
              <a:srgbClr val="9A9AB8"/>
            </a:solidFill>
            <a:prstDash val="solid"/>
          </a:ln>
        </p:spPr>
      </p:sp>
      <p:sp>
        <p:nvSpPr>
          <p:cNvPr id="20" name="Text 18"/>
          <p:cNvSpPr/>
          <p:nvPr/>
        </p:nvSpPr>
        <p:spPr>
          <a:xfrm>
            <a:off x="4297680" y="676656"/>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90</a:t>
            </a:r>
            <a:endParaRPr lang="en-US" sz="900" dirty="0"/>
          </a:p>
        </p:txBody>
      </p:sp>
      <p:sp>
        <p:nvSpPr>
          <p:cNvPr id="21" name="Shape 19"/>
          <p:cNvSpPr/>
          <p:nvPr/>
        </p:nvSpPr>
        <p:spPr>
          <a:xfrm>
            <a:off x="4257608" y="1097354"/>
            <a:ext cx="20642" cy="117066"/>
          </a:xfrm>
          <a:prstGeom prst="line">
            <a:avLst/>
          </a:prstGeom>
          <a:noFill/>
          <a:ln w="9525">
            <a:solidFill>
              <a:srgbClr val="D6D6E4"/>
            </a:solidFill>
            <a:prstDash val="solid"/>
          </a:ln>
        </p:spPr>
      </p:sp>
      <p:sp>
        <p:nvSpPr>
          <p:cNvPr id="22" name="Shape 20"/>
          <p:cNvSpPr/>
          <p:nvPr/>
        </p:nvSpPr>
        <p:spPr>
          <a:xfrm>
            <a:off x="3952768" y="1179035"/>
            <a:ext cx="40657" cy="111703"/>
          </a:xfrm>
          <a:prstGeom prst="line">
            <a:avLst/>
          </a:prstGeom>
          <a:noFill/>
          <a:ln w="9525">
            <a:solidFill>
              <a:srgbClr val="D6D6E4"/>
            </a:solidFill>
            <a:prstDash val="solid"/>
          </a:ln>
        </p:spPr>
      </p:sp>
      <p:sp>
        <p:nvSpPr>
          <p:cNvPr id="23" name="Shape 21"/>
          <p:cNvSpPr/>
          <p:nvPr/>
        </p:nvSpPr>
        <p:spPr>
          <a:xfrm>
            <a:off x="3666744" y="1312411"/>
            <a:ext cx="100584" cy="174217"/>
          </a:xfrm>
          <a:prstGeom prst="line">
            <a:avLst/>
          </a:prstGeom>
          <a:noFill/>
          <a:ln w="19050">
            <a:solidFill>
              <a:srgbClr val="9A9AB8"/>
            </a:solidFill>
            <a:prstDash val="solid"/>
          </a:ln>
        </p:spPr>
      </p:sp>
      <p:sp>
        <p:nvSpPr>
          <p:cNvPr id="24" name="Text 22"/>
          <p:cNvSpPr/>
          <p:nvPr/>
        </p:nvSpPr>
        <p:spPr>
          <a:xfrm>
            <a:off x="3264408" y="953520"/>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120</a:t>
            </a:r>
            <a:endParaRPr lang="en-US" sz="900" dirty="0"/>
          </a:p>
        </p:txBody>
      </p:sp>
      <p:sp>
        <p:nvSpPr>
          <p:cNvPr id="25" name="Shape 23"/>
          <p:cNvSpPr/>
          <p:nvPr/>
        </p:nvSpPr>
        <p:spPr>
          <a:xfrm>
            <a:off x="3408225" y="1493427"/>
            <a:ext cx="76409" cy="91061"/>
          </a:xfrm>
          <a:prstGeom prst="line">
            <a:avLst/>
          </a:prstGeom>
          <a:noFill/>
          <a:ln w="9525">
            <a:solidFill>
              <a:srgbClr val="D6D6E4"/>
            </a:solidFill>
            <a:prstDash val="solid"/>
          </a:ln>
        </p:spPr>
      </p:sp>
      <p:sp>
        <p:nvSpPr>
          <p:cNvPr id="26" name="Shape 24"/>
          <p:cNvSpPr/>
          <p:nvPr/>
        </p:nvSpPr>
        <p:spPr>
          <a:xfrm>
            <a:off x="3185067" y="1716585"/>
            <a:ext cx="91061" cy="76409"/>
          </a:xfrm>
          <a:prstGeom prst="line">
            <a:avLst/>
          </a:prstGeom>
          <a:noFill/>
          <a:ln w="9525">
            <a:solidFill>
              <a:srgbClr val="D6D6E4"/>
            </a:solidFill>
            <a:prstDash val="solid"/>
          </a:ln>
        </p:spPr>
      </p:sp>
      <p:sp>
        <p:nvSpPr>
          <p:cNvPr id="27" name="Shape 25"/>
          <p:cNvSpPr/>
          <p:nvPr/>
        </p:nvSpPr>
        <p:spPr>
          <a:xfrm>
            <a:off x="3004051" y="1975104"/>
            <a:ext cx="174217" cy="100584"/>
          </a:xfrm>
          <a:prstGeom prst="line">
            <a:avLst/>
          </a:prstGeom>
          <a:noFill/>
          <a:ln w="19050">
            <a:solidFill>
              <a:srgbClr val="9A9AB8"/>
            </a:solidFill>
            <a:prstDash val="solid"/>
          </a:ln>
        </p:spPr>
      </p:sp>
      <p:sp>
        <p:nvSpPr>
          <p:cNvPr id="28" name="Text 26"/>
          <p:cNvSpPr/>
          <p:nvPr/>
        </p:nvSpPr>
        <p:spPr>
          <a:xfrm>
            <a:off x="2508000" y="1709928"/>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150</a:t>
            </a:r>
            <a:endParaRPr lang="en-US" sz="900" dirty="0"/>
          </a:p>
        </p:txBody>
      </p:sp>
      <p:sp>
        <p:nvSpPr>
          <p:cNvPr id="29" name="Shape 27"/>
          <p:cNvSpPr/>
          <p:nvPr/>
        </p:nvSpPr>
        <p:spPr>
          <a:xfrm>
            <a:off x="2870675" y="2261128"/>
            <a:ext cx="111703" cy="40657"/>
          </a:xfrm>
          <a:prstGeom prst="line">
            <a:avLst/>
          </a:prstGeom>
          <a:noFill/>
          <a:ln w="9525">
            <a:solidFill>
              <a:srgbClr val="D6D6E4"/>
            </a:solidFill>
            <a:prstDash val="solid"/>
          </a:ln>
        </p:spPr>
      </p:sp>
      <p:sp>
        <p:nvSpPr>
          <p:cNvPr id="30" name="Shape 28"/>
          <p:cNvSpPr/>
          <p:nvPr/>
        </p:nvSpPr>
        <p:spPr>
          <a:xfrm>
            <a:off x="2788994" y="2565968"/>
            <a:ext cx="117066" cy="20642"/>
          </a:xfrm>
          <a:prstGeom prst="line">
            <a:avLst/>
          </a:prstGeom>
          <a:noFill/>
          <a:ln w="9525">
            <a:solidFill>
              <a:srgbClr val="D6D6E4"/>
            </a:solidFill>
            <a:prstDash val="solid"/>
          </a:ln>
        </p:spPr>
      </p:sp>
      <p:sp>
        <p:nvSpPr>
          <p:cNvPr id="31" name="Shape 29"/>
          <p:cNvSpPr/>
          <p:nvPr/>
        </p:nvSpPr>
        <p:spPr>
          <a:xfrm>
            <a:off x="2761488" y="2880360"/>
            <a:ext cx="201168" cy="914"/>
          </a:xfrm>
          <a:prstGeom prst="line">
            <a:avLst/>
          </a:prstGeom>
          <a:noFill/>
          <a:ln w="19050">
            <a:solidFill>
              <a:srgbClr val="9A9AB8"/>
            </a:solidFill>
            <a:prstDash val="solid"/>
          </a:ln>
        </p:spPr>
      </p:sp>
      <p:sp>
        <p:nvSpPr>
          <p:cNvPr id="32" name="Text 30"/>
          <p:cNvSpPr/>
          <p:nvPr/>
        </p:nvSpPr>
        <p:spPr>
          <a:xfrm>
            <a:off x="2231136" y="2743200"/>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180</a:t>
            </a:r>
            <a:endParaRPr lang="en-US" sz="900" dirty="0"/>
          </a:p>
        </p:txBody>
      </p:sp>
      <p:sp>
        <p:nvSpPr>
          <p:cNvPr id="33" name="Shape 31"/>
          <p:cNvSpPr/>
          <p:nvPr/>
        </p:nvSpPr>
        <p:spPr>
          <a:xfrm>
            <a:off x="4572000" y="1281115"/>
            <a:ext cx="1643891" cy="1599245"/>
          </a:xfrm>
          <a:custGeom>
            <a:avLst/>
            <a:gdLst/>
            <a:ahLst/>
            <a:cxnLst/>
            <a:rect l="l" t="t" r="r" b="b"/>
            <a:pathLst>
              <a:path w="1643891" h="1599245">
                <a:moveTo>
                  <a:pt x="0" y="1599245"/>
                </a:moveTo>
                <a:lnTo>
                  <a:pt x="1643891" y="1158766"/>
                </a:lnTo>
                <a:lnTo>
                  <a:pt x="1620865" y="1080402"/>
                </a:lnTo>
                <a:lnTo>
                  <a:pt x="1594105" y="1003234"/>
                </a:lnTo>
                <a:lnTo>
                  <a:pt x="1563674" y="927438"/>
                </a:lnTo>
                <a:lnTo>
                  <a:pt x="1529641" y="853190"/>
                </a:lnTo>
                <a:lnTo>
                  <a:pt x="1492085" y="780659"/>
                </a:lnTo>
                <a:lnTo>
                  <a:pt x="1451092" y="710015"/>
                </a:lnTo>
                <a:lnTo>
                  <a:pt x="1406758" y="641418"/>
                </a:lnTo>
                <a:lnTo>
                  <a:pt x="1359183" y="575028"/>
                </a:lnTo>
                <a:lnTo>
                  <a:pt x="1308478" y="510996"/>
                </a:lnTo>
                <a:lnTo>
                  <a:pt x="1254758" y="449471"/>
                </a:lnTo>
                <a:lnTo>
                  <a:pt x="1198149" y="390594"/>
                </a:lnTo>
                <a:lnTo>
                  <a:pt x="1138781" y="334501"/>
                </a:lnTo>
                <a:lnTo>
                  <a:pt x="1076789" y="281321"/>
                </a:lnTo>
                <a:lnTo>
                  <a:pt x="1012318" y="231176"/>
                </a:lnTo>
                <a:lnTo>
                  <a:pt x="945515" y="184183"/>
                </a:lnTo>
                <a:lnTo>
                  <a:pt x="876534" y="140448"/>
                </a:lnTo>
                <a:lnTo>
                  <a:pt x="805534" y="100074"/>
                </a:lnTo>
                <a:lnTo>
                  <a:pt x="732679" y="63152"/>
                </a:lnTo>
                <a:lnTo>
                  <a:pt x="658136" y="29769"/>
                </a:lnTo>
                <a:lnTo>
                  <a:pt x="582078" y="0"/>
                </a:lnTo>
                <a:close/>
              </a:path>
            </a:pathLst>
          </a:custGeom>
          <a:solidFill>
            <a:srgbClr val="4A3D8F"/>
          </a:solidFill>
          <a:ln w="15875">
            <a:solidFill>
              <a:srgbClr val="FFFFFF"/>
            </a:solidFill>
            <a:prstDash val="solid"/>
          </a:ln>
        </p:spPr>
      </p:sp>
      <p:sp>
        <p:nvSpPr>
          <p:cNvPr id="34" name="Shape 32"/>
          <p:cNvSpPr/>
          <p:nvPr/>
        </p:nvSpPr>
        <p:spPr>
          <a:xfrm>
            <a:off x="4807308" y="2233857"/>
            <a:ext cx="429244" cy="468437"/>
          </a:xfrm>
          <a:custGeom>
            <a:avLst/>
            <a:gdLst/>
            <a:ahLst/>
            <a:cxnLst/>
            <a:rect l="l" t="t" r="r" b="b"/>
            <a:pathLst>
              <a:path w="429244" h="468437">
                <a:moveTo>
                  <a:pt x="429244" y="468437"/>
                </a:moveTo>
                <a:lnTo>
                  <a:pt x="421592" y="442007"/>
                </a:lnTo>
                <a:lnTo>
                  <a:pt x="412890" y="415903"/>
                </a:lnTo>
                <a:lnTo>
                  <a:pt x="403150" y="390168"/>
                </a:lnTo>
                <a:lnTo>
                  <a:pt x="392390" y="364844"/>
                </a:lnTo>
                <a:lnTo>
                  <a:pt x="380625" y="339970"/>
                </a:lnTo>
                <a:lnTo>
                  <a:pt x="367875" y="315586"/>
                </a:lnTo>
                <a:lnTo>
                  <a:pt x="354161" y="291731"/>
                </a:lnTo>
                <a:lnTo>
                  <a:pt x="339503" y="268444"/>
                </a:lnTo>
                <a:lnTo>
                  <a:pt x="323926" y="245762"/>
                </a:lnTo>
                <a:lnTo>
                  <a:pt x="307455" y="223721"/>
                </a:lnTo>
                <a:lnTo>
                  <a:pt x="290115" y="202356"/>
                </a:lnTo>
                <a:lnTo>
                  <a:pt x="271935" y="181701"/>
                </a:lnTo>
                <a:lnTo>
                  <a:pt x="252943" y="161790"/>
                </a:lnTo>
                <a:lnTo>
                  <a:pt x="233171" y="142654"/>
                </a:lnTo>
                <a:lnTo>
                  <a:pt x="212649" y="124324"/>
                </a:lnTo>
                <a:lnTo>
                  <a:pt x="191411" y="106830"/>
                </a:lnTo>
                <a:lnTo>
                  <a:pt x="169490" y="90198"/>
                </a:lnTo>
                <a:lnTo>
                  <a:pt x="146921" y="74457"/>
                </a:lnTo>
                <a:lnTo>
                  <a:pt x="123741" y="59630"/>
                </a:lnTo>
                <a:lnTo>
                  <a:pt x="99987" y="45743"/>
                </a:lnTo>
                <a:lnTo>
                  <a:pt x="75697" y="32816"/>
                </a:lnTo>
                <a:lnTo>
                  <a:pt x="50909" y="20871"/>
                </a:lnTo>
                <a:lnTo>
                  <a:pt x="25663" y="9926"/>
                </a:lnTo>
                <a:lnTo>
                  <a:pt x="0" y="0"/>
                </a:lnTo>
              </a:path>
            </a:pathLst>
          </a:custGeom>
          <a:solidFill>
            <a:srgbClr val="FFFFFF">
              <a:alpha val="0"/>
            </a:srgbClr>
          </a:solidFill>
          <a:ln w="38100">
            <a:solidFill>
              <a:srgbClr val="4A3D8F"/>
            </a:solidFill>
            <a:prstDash val="solid"/>
          </a:ln>
        </p:spPr>
      </p:sp>
      <p:sp>
        <p:nvSpPr>
          <p:cNvPr id="35" name="Shape 33"/>
          <p:cNvSpPr/>
          <p:nvPr/>
        </p:nvSpPr>
        <p:spPr>
          <a:xfrm flipV="1">
            <a:off x="4572000" y="2411765"/>
            <a:ext cx="1748820" cy="468595"/>
          </a:xfrm>
          <a:prstGeom prst="line">
            <a:avLst/>
          </a:prstGeom>
          <a:noFill/>
          <a:ln w="38100">
            <a:solidFill>
              <a:srgbClr val="1B2A4A"/>
            </a:solidFill>
            <a:prstDash val="solid"/>
          </a:ln>
        </p:spPr>
      </p:sp>
      <p:sp>
        <p:nvSpPr>
          <p:cNvPr id="36" name="Shape 34"/>
          <p:cNvSpPr/>
          <p:nvPr/>
        </p:nvSpPr>
        <p:spPr>
          <a:xfrm flipV="1">
            <a:off x="4572000" y="1179035"/>
            <a:ext cx="619232" cy="1701325"/>
          </a:xfrm>
          <a:prstGeom prst="line">
            <a:avLst/>
          </a:prstGeom>
          <a:noFill/>
          <a:ln w="38100">
            <a:solidFill>
              <a:srgbClr val="1B2A4A"/>
            </a:solidFill>
            <a:prstDash val="solid"/>
          </a:ln>
        </p:spPr>
      </p:sp>
      <p:sp>
        <p:nvSpPr>
          <p:cNvPr id="37" name="Shape 35"/>
          <p:cNvSpPr/>
          <p:nvPr/>
        </p:nvSpPr>
        <p:spPr>
          <a:xfrm>
            <a:off x="4517136" y="2825496"/>
            <a:ext cx="109728" cy="109728"/>
          </a:xfrm>
          <a:prstGeom prst="ellipse">
            <a:avLst/>
          </a:prstGeom>
          <a:solidFill>
            <a:srgbClr val="1B2A4A"/>
          </a:solidFill>
          <a:ln w="12700">
            <a:solidFill>
              <a:srgbClr val="FFFFFF"/>
            </a:solidFill>
            <a:prstDash val="solid"/>
          </a:ln>
        </p:spPr>
      </p:sp>
      <p:sp>
        <p:nvSpPr>
          <p:cNvPr id="38" name="Text 36"/>
          <p:cNvSpPr/>
          <p:nvPr/>
        </p:nvSpPr>
        <p:spPr>
          <a:xfrm>
            <a:off x="4114800" y="2953512"/>
            <a:ext cx="914400" cy="274320"/>
          </a:xfrm>
          <a:prstGeom prst="rect">
            <a:avLst/>
          </a:prstGeom>
          <a:noFill/>
          <a:ln/>
        </p:spPr>
        <p:txBody>
          <a:bodyPr wrap="square" lIns="0" tIns="0" rIns="0" bIns="0" rtlCol="0" anchor="ctr"/>
          <a:lstStyle/>
          <a:p>
            <a:pPr algn="ctr" indent="0" marL="0">
              <a:buNone/>
            </a:pPr>
            <a:r>
              <a:rPr lang="en-US" sz="1200" b="1" dirty="0">
                <a:solidFill>
                  <a:srgbClr val="1B2A4A"/>
                </a:solidFill>
              </a:rPr>
              <a:t>vertex</a:t>
            </a:r>
            <a:endParaRPr lang="en-US" sz="1200" dirty="0"/>
          </a:p>
        </p:txBody>
      </p:sp>
      <p:sp>
        <p:nvSpPr>
          <p:cNvPr id="39" name="Text 37"/>
          <p:cNvSpPr/>
          <p:nvPr/>
        </p:nvSpPr>
        <p:spPr>
          <a:xfrm>
            <a:off x="5907782" y="2079892"/>
            <a:ext cx="914400" cy="274320"/>
          </a:xfrm>
          <a:prstGeom prst="rect">
            <a:avLst/>
          </a:prstGeom>
          <a:noFill/>
          <a:ln/>
        </p:spPr>
        <p:txBody>
          <a:bodyPr wrap="square" lIns="0" tIns="0" rIns="0" bIns="0" rtlCol="0" anchor="ctr"/>
          <a:lstStyle/>
          <a:p>
            <a:pPr algn="ctr" indent="0" marL="0">
              <a:buNone/>
            </a:pPr>
            <a:r>
              <a:rPr lang="en-US" sz="1200" b="1" dirty="0">
                <a:solidFill>
                  <a:srgbClr val="1B2A4A"/>
                </a:solidFill>
              </a:rPr>
              <a:t>ray 1</a:t>
            </a:r>
            <a:endParaRPr lang="en-US" sz="1200" dirty="0"/>
          </a:p>
        </p:txBody>
      </p:sp>
      <p:sp>
        <p:nvSpPr>
          <p:cNvPr id="40" name="Text 38"/>
          <p:cNvSpPr/>
          <p:nvPr/>
        </p:nvSpPr>
        <p:spPr>
          <a:xfrm>
            <a:off x="4749669" y="843464"/>
            <a:ext cx="914400" cy="274320"/>
          </a:xfrm>
          <a:prstGeom prst="rect">
            <a:avLst/>
          </a:prstGeom>
          <a:noFill/>
          <a:ln/>
        </p:spPr>
        <p:txBody>
          <a:bodyPr wrap="square" lIns="0" tIns="0" rIns="0" bIns="0" rtlCol="0" anchor="ctr"/>
          <a:lstStyle/>
          <a:p>
            <a:pPr algn="ctr" indent="0" marL="0">
              <a:buNone/>
            </a:pPr>
            <a:r>
              <a:rPr lang="en-US" sz="1200" b="1" dirty="0">
                <a:solidFill>
                  <a:srgbClr val="1B2A4A"/>
                </a:solidFill>
              </a:rPr>
              <a:t>ray 2</a:t>
            </a:r>
            <a:endParaRPr lang="en-US" sz="1200" dirty="0"/>
          </a:p>
        </p:txBody>
      </p:sp>
      <p:sp>
        <p:nvSpPr>
          <p:cNvPr id="41" name="Shape 39"/>
          <p:cNvSpPr/>
          <p:nvPr/>
        </p:nvSpPr>
        <p:spPr>
          <a:xfrm>
            <a:off x="4937429" y="1985574"/>
            <a:ext cx="822960" cy="365760"/>
          </a:xfrm>
          <a:prstGeom prst="roundRect">
            <a:avLst>
              <a:gd name="adj" fmla="val 15000"/>
            </a:avLst>
          </a:prstGeom>
          <a:solidFill>
            <a:srgbClr val="4A3D8F"/>
          </a:solidFill>
          <a:ln w="12700">
            <a:solidFill>
              <a:srgbClr val="4A3D8F"/>
            </a:solidFill>
            <a:prstDash val="solid"/>
          </a:ln>
        </p:spPr>
      </p:sp>
      <p:sp>
        <p:nvSpPr>
          <p:cNvPr id="42" name="Text 40"/>
          <p:cNvSpPr/>
          <p:nvPr/>
        </p:nvSpPr>
        <p:spPr>
          <a:xfrm>
            <a:off x="4937429" y="1985574"/>
            <a:ext cx="822960" cy="365760"/>
          </a:xfrm>
          <a:prstGeom prst="rect">
            <a:avLst/>
          </a:prstGeom>
          <a:noFill/>
          <a:ln/>
        </p:spPr>
        <p:txBody>
          <a:bodyPr wrap="square" lIns="0" tIns="0" rIns="0" bIns="0" rtlCol="0" anchor="ctr"/>
          <a:lstStyle/>
          <a:p>
            <a:pPr algn="ctr" indent="0" marL="0">
              <a:buNone/>
            </a:pPr>
            <a:r>
              <a:rPr lang="en-US" sz="1500" b="1" dirty="0">
                <a:solidFill>
                  <a:srgbClr val="FFFFFF"/>
                </a:solidFill>
              </a:rPr>
              <a:t>55°</a:t>
            </a:r>
            <a:endParaRPr lang="en-US" sz="1500" dirty="0"/>
          </a:p>
        </p:txBody>
      </p:sp>
      <p:sp>
        <p:nvSpPr>
          <p:cNvPr id="43" name="Text 41"/>
          <p:cNvSpPr/>
          <p:nvPr/>
        </p:nvSpPr>
        <p:spPr>
          <a:xfrm>
            <a:off x="1097280" y="3364992"/>
            <a:ext cx="6949440" cy="274320"/>
          </a:xfrm>
          <a:prstGeom prst="rect">
            <a:avLst/>
          </a:prstGeom>
          <a:noFill/>
          <a:ln/>
        </p:spPr>
        <p:txBody>
          <a:bodyPr wrap="square" lIns="0" tIns="0" rIns="0" bIns="0" rtlCol="0" anchor="ctr"/>
          <a:lstStyle/>
          <a:p>
            <a:pPr algn="ctr" indent="0" marL="0">
              <a:buNone/>
            </a:pPr>
            <a:r>
              <a:rPr lang="en-US" sz="1100" i="1" dirty="0">
                <a:solidFill>
                  <a:srgbClr val="5A5A7A"/>
                </a:solidFill>
              </a:rPr>
              <a:t>Same two rays -- most protractors print two number rows on the scale.</a:t>
            </a:r>
            <a:endParaRPr lang="en-US" sz="1100" dirty="0"/>
          </a:p>
        </p:txBody>
      </p:sp>
      <p:sp>
        <p:nvSpPr>
          <p:cNvPr id="44" name="Shape 42"/>
          <p:cNvSpPr/>
          <p:nvPr/>
        </p:nvSpPr>
        <p:spPr>
          <a:xfrm>
            <a:off x="457200" y="3794760"/>
            <a:ext cx="4023360" cy="566928"/>
          </a:xfrm>
          <a:prstGeom prst="roundRect">
            <a:avLst>
              <a:gd name="adj" fmla="val 16129"/>
            </a:avLst>
          </a:prstGeom>
          <a:solidFill>
            <a:srgbClr val="E6F2EA"/>
          </a:solidFill>
          <a:ln w="6350">
            <a:solidFill>
              <a:srgbClr val="DDDDEE"/>
            </a:solidFill>
            <a:prstDash val="solid"/>
          </a:ln>
        </p:spPr>
      </p:sp>
      <p:sp>
        <p:nvSpPr>
          <p:cNvPr id="45" name="Text 43"/>
          <p:cNvSpPr/>
          <p:nvPr/>
        </p:nvSpPr>
        <p:spPr>
          <a:xfrm>
            <a:off x="594360" y="3794760"/>
            <a:ext cx="3749040" cy="566928"/>
          </a:xfrm>
          <a:prstGeom prst="rect">
            <a:avLst/>
          </a:prstGeom>
          <a:noFill/>
          <a:ln/>
        </p:spPr>
        <p:txBody>
          <a:bodyPr wrap="square" lIns="0" tIns="0" rIns="0" bIns="0" rtlCol="0" anchor="ctr"/>
          <a:lstStyle/>
          <a:p>
            <a:pPr indent="0" marL="0">
              <a:buNone/>
            </a:pPr>
            <a:r>
              <a:rPr lang="en-US" sz="1300" b="1" dirty="0">
                <a:solidFill>
                  <a:srgbClr val="2E6E44"/>
                </a:solidFill>
              </a:rPr>
              <a:t>Zero on ray 1 → read 55°</a:t>
            </a:r>
            <a:endParaRPr lang="en-US" sz="1300" dirty="0"/>
          </a:p>
        </p:txBody>
      </p:sp>
      <p:sp>
        <p:nvSpPr>
          <p:cNvPr id="46" name="Shape 44"/>
          <p:cNvSpPr/>
          <p:nvPr/>
        </p:nvSpPr>
        <p:spPr>
          <a:xfrm>
            <a:off x="4663440" y="3794760"/>
            <a:ext cx="4023360" cy="566928"/>
          </a:xfrm>
          <a:prstGeom prst="roundRect">
            <a:avLst>
              <a:gd name="adj" fmla="val 16129"/>
            </a:avLst>
          </a:prstGeom>
          <a:solidFill>
            <a:srgbClr val="FEF6E4"/>
          </a:solidFill>
          <a:ln w="6350">
            <a:solidFill>
              <a:srgbClr val="DDDDEE"/>
            </a:solidFill>
            <a:prstDash val="solid"/>
          </a:ln>
        </p:spPr>
      </p:sp>
      <p:sp>
        <p:nvSpPr>
          <p:cNvPr id="47" name="Text 45"/>
          <p:cNvSpPr/>
          <p:nvPr/>
        </p:nvSpPr>
        <p:spPr>
          <a:xfrm>
            <a:off x="4800600" y="3794760"/>
            <a:ext cx="3749040" cy="566928"/>
          </a:xfrm>
          <a:prstGeom prst="rect">
            <a:avLst/>
          </a:prstGeom>
          <a:noFill/>
          <a:ln/>
        </p:spPr>
        <p:txBody>
          <a:bodyPr wrap="square" lIns="0" tIns="0" rIns="0" bIns="0" rtlCol="0" anchor="ctr"/>
          <a:lstStyle/>
          <a:p>
            <a:pPr indent="0" marL="0">
              <a:buNone/>
            </a:pPr>
            <a:r>
              <a:rPr lang="en-US" sz="1300" b="1" dirty="0">
                <a:solidFill>
                  <a:srgbClr val="A66E10"/>
                </a:solidFill>
              </a:rPr>
              <a:t>Zero on ray 2 → read 125°</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Vocabulary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Today's Math Language</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3977640" cy="1600200"/>
          </a:xfrm>
          <a:prstGeom prst="roundRect">
            <a:avLst>
              <a:gd name="adj" fmla="val 5714"/>
            </a:avLst>
          </a:prstGeom>
          <a:solidFill>
            <a:srgbClr val="FFFFFF"/>
          </a:solidFill>
          <a:ln w="6350">
            <a:solidFill>
              <a:srgbClr val="DDDDEE"/>
            </a:solidFill>
            <a:prstDash val="solid"/>
          </a:ln>
        </p:spPr>
      </p:sp>
      <p:sp>
        <p:nvSpPr>
          <p:cNvPr id="7" name="Text 5"/>
          <p:cNvSpPr/>
          <p:nvPr/>
        </p:nvSpPr>
        <p:spPr>
          <a:xfrm>
            <a:off x="640080" y="1069848"/>
            <a:ext cx="3657600" cy="365760"/>
          </a:xfrm>
          <a:prstGeom prst="rect">
            <a:avLst/>
          </a:prstGeom>
          <a:noFill/>
          <a:ln/>
        </p:spPr>
        <p:txBody>
          <a:bodyPr wrap="square" lIns="0" tIns="0" rIns="0" bIns="0" rtlCol="0" anchor="ctr"/>
          <a:lstStyle/>
          <a:p>
            <a:pPr indent="0" marL="0">
              <a:buNone/>
            </a:pPr>
            <a:r>
              <a:rPr lang="en-US" sz="1700" b="1" dirty="0">
                <a:solidFill>
                  <a:srgbClr val="4A3D8F"/>
                </a:solidFill>
                <a:latin typeface="Cambria" pitchFamily="34" charset="0"/>
                <a:ea typeface="Cambria" pitchFamily="34" charset="-122"/>
                <a:cs typeface="Cambria" pitchFamily="34" charset="-120"/>
              </a:rPr>
              <a:t>angle</a:t>
            </a:r>
            <a:endParaRPr lang="en-US" sz="1700" dirty="0"/>
          </a:p>
        </p:txBody>
      </p:sp>
      <p:sp>
        <p:nvSpPr>
          <p:cNvPr id="8" name="Text 6"/>
          <p:cNvSpPr/>
          <p:nvPr/>
        </p:nvSpPr>
        <p:spPr>
          <a:xfrm>
            <a:off x="640080" y="1463040"/>
            <a:ext cx="3657600" cy="594360"/>
          </a:xfrm>
          <a:prstGeom prst="rect">
            <a:avLst/>
          </a:prstGeom>
          <a:noFill/>
          <a:ln/>
        </p:spPr>
        <p:txBody>
          <a:bodyPr wrap="square" lIns="0" tIns="0" rIns="0" bIns="0" rtlCol="0" anchor="ctr"/>
          <a:lstStyle/>
          <a:p>
            <a:pPr indent="0" marL="0">
              <a:buNone/>
            </a:pPr>
            <a:r>
              <a:rPr lang="en-US" sz="1200" dirty="0">
                <a:solidFill>
                  <a:srgbClr val="1A1A2E"/>
                </a:solidFill>
              </a:rPr>
              <a:t>The opening between two rays that meet at a point.</a:t>
            </a:r>
            <a:endParaRPr lang="en-US" sz="1200" dirty="0"/>
          </a:p>
        </p:txBody>
      </p:sp>
      <p:sp>
        <p:nvSpPr>
          <p:cNvPr id="9" name="Text 7"/>
          <p:cNvSpPr/>
          <p:nvPr/>
        </p:nvSpPr>
        <p:spPr>
          <a:xfrm>
            <a:off x="640080" y="2103120"/>
            <a:ext cx="3657600" cy="365760"/>
          </a:xfrm>
          <a:prstGeom prst="rect">
            <a:avLst/>
          </a:prstGeom>
          <a:noFill/>
          <a:ln/>
        </p:spPr>
        <p:txBody>
          <a:bodyPr wrap="square" lIns="0" tIns="0" rIns="0" bIns="0" rtlCol="0" anchor="ctr"/>
          <a:lstStyle/>
          <a:p>
            <a:pPr indent="0" marL="0">
              <a:buNone/>
            </a:pPr>
            <a:r>
              <a:rPr lang="en-US" sz="1100" i="1" dirty="0">
                <a:solidFill>
                  <a:srgbClr val="5A5A7A"/>
                </a:solidFill>
              </a:rPr>
              <a:t>Example: the corner of a book page.</a:t>
            </a:r>
            <a:endParaRPr lang="en-US" sz="1100" dirty="0"/>
          </a:p>
        </p:txBody>
      </p:sp>
      <p:sp>
        <p:nvSpPr>
          <p:cNvPr id="10" name="Shape 8"/>
          <p:cNvSpPr/>
          <p:nvPr/>
        </p:nvSpPr>
        <p:spPr>
          <a:xfrm>
            <a:off x="4709160" y="960120"/>
            <a:ext cx="3977640" cy="1600200"/>
          </a:xfrm>
          <a:prstGeom prst="roundRect">
            <a:avLst>
              <a:gd name="adj" fmla="val 5714"/>
            </a:avLst>
          </a:prstGeom>
          <a:solidFill>
            <a:srgbClr val="FFFFFF"/>
          </a:solidFill>
          <a:ln w="6350">
            <a:solidFill>
              <a:srgbClr val="DDDDEE"/>
            </a:solidFill>
            <a:prstDash val="solid"/>
          </a:ln>
        </p:spPr>
      </p:sp>
      <p:sp>
        <p:nvSpPr>
          <p:cNvPr id="11" name="Text 9"/>
          <p:cNvSpPr/>
          <p:nvPr/>
        </p:nvSpPr>
        <p:spPr>
          <a:xfrm>
            <a:off x="4892040" y="1069848"/>
            <a:ext cx="3657600" cy="365760"/>
          </a:xfrm>
          <a:prstGeom prst="rect">
            <a:avLst/>
          </a:prstGeom>
          <a:noFill/>
          <a:ln/>
        </p:spPr>
        <p:txBody>
          <a:bodyPr wrap="square" lIns="0" tIns="0" rIns="0" bIns="0" rtlCol="0" anchor="ctr"/>
          <a:lstStyle/>
          <a:p>
            <a:pPr indent="0" marL="0">
              <a:buNone/>
            </a:pPr>
            <a:r>
              <a:rPr lang="en-US" sz="1700" b="1" dirty="0">
                <a:solidFill>
                  <a:srgbClr val="4A3D8F"/>
                </a:solidFill>
                <a:latin typeface="Cambria" pitchFamily="34" charset="0"/>
                <a:ea typeface="Cambria" pitchFamily="34" charset="-122"/>
                <a:cs typeface="Cambria" pitchFamily="34" charset="-120"/>
              </a:rPr>
              <a:t>vertex</a:t>
            </a:r>
            <a:endParaRPr lang="en-US" sz="1700" dirty="0"/>
          </a:p>
        </p:txBody>
      </p:sp>
      <p:sp>
        <p:nvSpPr>
          <p:cNvPr id="12" name="Text 10"/>
          <p:cNvSpPr/>
          <p:nvPr/>
        </p:nvSpPr>
        <p:spPr>
          <a:xfrm>
            <a:off x="4892040" y="1463040"/>
            <a:ext cx="3657600" cy="594360"/>
          </a:xfrm>
          <a:prstGeom prst="rect">
            <a:avLst/>
          </a:prstGeom>
          <a:noFill/>
          <a:ln/>
        </p:spPr>
        <p:txBody>
          <a:bodyPr wrap="square" lIns="0" tIns="0" rIns="0" bIns="0" rtlCol="0" anchor="ctr"/>
          <a:lstStyle/>
          <a:p>
            <a:pPr indent="0" marL="0">
              <a:buNone/>
            </a:pPr>
            <a:r>
              <a:rPr lang="en-US" sz="1200" dirty="0">
                <a:solidFill>
                  <a:srgbClr val="1A1A2E"/>
                </a:solidFill>
              </a:rPr>
              <a:t>The point where the two rays meet.</a:t>
            </a:r>
            <a:endParaRPr lang="en-US" sz="1200" dirty="0"/>
          </a:p>
        </p:txBody>
      </p:sp>
      <p:sp>
        <p:nvSpPr>
          <p:cNvPr id="13" name="Text 11"/>
          <p:cNvSpPr/>
          <p:nvPr/>
        </p:nvSpPr>
        <p:spPr>
          <a:xfrm>
            <a:off x="4892040" y="2103120"/>
            <a:ext cx="3657600" cy="365760"/>
          </a:xfrm>
          <a:prstGeom prst="rect">
            <a:avLst/>
          </a:prstGeom>
          <a:noFill/>
          <a:ln/>
        </p:spPr>
        <p:txBody>
          <a:bodyPr wrap="square" lIns="0" tIns="0" rIns="0" bIns="0" rtlCol="0" anchor="ctr"/>
          <a:lstStyle/>
          <a:p>
            <a:pPr indent="0" marL="0">
              <a:buNone/>
            </a:pPr>
            <a:r>
              <a:rPr lang="en-US" sz="1100" i="1" dirty="0">
                <a:solidFill>
                  <a:srgbClr val="5A5A7A"/>
                </a:solidFill>
              </a:rPr>
              <a:t>Example: the hinge point of a door.</a:t>
            </a:r>
            <a:endParaRPr lang="en-US" sz="1100" dirty="0"/>
          </a:p>
        </p:txBody>
      </p:sp>
      <p:sp>
        <p:nvSpPr>
          <p:cNvPr id="14" name="Shape 12"/>
          <p:cNvSpPr/>
          <p:nvPr/>
        </p:nvSpPr>
        <p:spPr>
          <a:xfrm>
            <a:off x="457200" y="2743200"/>
            <a:ext cx="3977640" cy="1600200"/>
          </a:xfrm>
          <a:prstGeom prst="roundRect">
            <a:avLst>
              <a:gd name="adj" fmla="val 5714"/>
            </a:avLst>
          </a:prstGeom>
          <a:solidFill>
            <a:srgbClr val="FFFFFF"/>
          </a:solidFill>
          <a:ln w="6350">
            <a:solidFill>
              <a:srgbClr val="DDDDEE"/>
            </a:solidFill>
            <a:prstDash val="solid"/>
          </a:ln>
        </p:spPr>
      </p:sp>
      <p:sp>
        <p:nvSpPr>
          <p:cNvPr id="15" name="Text 13"/>
          <p:cNvSpPr/>
          <p:nvPr/>
        </p:nvSpPr>
        <p:spPr>
          <a:xfrm>
            <a:off x="640080" y="2852928"/>
            <a:ext cx="3657600" cy="365760"/>
          </a:xfrm>
          <a:prstGeom prst="rect">
            <a:avLst/>
          </a:prstGeom>
          <a:noFill/>
          <a:ln/>
        </p:spPr>
        <p:txBody>
          <a:bodyPr wrap="square" lIns="0" tIns="0" rIns="0" bIns="0" rtlCol="0" anchor="ctr"/>
          <a:lstStyle/>
          <a:p>
            <a:pPr indent="0" marL="0">
              <a:buNone/>
            </a:pPr>
            <a:r>
              <a:rPr lang="en-US" sz="1700" b="1" dirty="0">
                <a:solidFill>
                  <a:srgbClr val="4A3D8F"/>
                </a:solidFill>
                <a:latin typeface="Cambria" pitchFamily="34" charset="0"/>
                <a:ea typeface="Cambria" pitchFamily="34" charset="-122"/>
                <a:cs typeface="Cambria" pitchFamily="34" charset="-120"/>
              </a:rPr>
              <a:t>degree</a:t>
            </a:r>
            <a:endParaRPr lang="en-US" sz="1700" dirty="0"/>
          </a:p>
        </p:txBody>
      </p:sp>
      <p:sp>
        <p:nvSpPr>
          <p:cNvPr id="16" name="Text 14"/>
          <p:cNvSpPr/>
          <p:nvPr/>
        </p:nvSpPr>
        <p:spPr>
          <a:xfrm>
            <a:off x="640080" y="3246120"/>
            <a:ext cx="3657600" cy="594360"/>
          </a:xfrm>
          <a:prstGeom prst="rect">
            <a:avLst/>
          </a:prstGeom>
          <a:noFill/>
          <a:ln/>
        </p:spPr>
        <p:txBody>
          <a:bodyPr wrap="square" lIns="0" tIns="0" rIns="0" bIns="0" rtlCol="0" anchor="ctr"/>
          <a:lstStyle/>
          <a:p>
            <a:pPr indent="0" marL="0">
              <a:buNone/>
            </a:pPr>
            <a:r>
              <a:rPr lang="en-US" sz="1200" dirty="0">
                <a:solidFill>
                  <a:srgbClr val="1A1A2E"/>
                </a:solidFill>
              </a:rPr>
              <a:t>The unit used to measure an angle's opening.</a:t>
            </a:r>
            <a:endParaRPr lang="en-US" sz="1200" dirty="0"/>
          </a:p>
        </p:txBody>
      </p:sp>
      <p:sp>
        <p:nvSpPr>
          <p:cNvPr id="17" name="Text 15"/>
          <p:cNvSpPr/>
          <p:nvPr/>
        </p:nvSpPr>
        <p:spPr>
          <a:xfrm>
            <a:off x="640080" y="3886200"/>
            <a:ext cx="3657600" cy="365760"/>
          </a:xfrm>
          <a:prstGeom prst="rect">
            <a:avLst/>
          </a:prstGeom>
          <a:noFill/>
          <a:ln/>
        </p:spPr>
        <p:txBody>
          <a:bodyPr wrap="square" lIns="0" tIns="0" rIns="0" bIns="0" rtlCol="0" anchor="ctr"/>
          <a:lstStyle/>
          <a:p>
            <a:pPr indent="0" marL="0">
              <a:buNone/>
            </a:pPr>
            <a:r>
              <a:rPr lang="en-US" sz="1100" i="1" dirty="0">
                <a:solidFill>
                  <a:srgbClr val="5A5A7A"/>
                </a:solidFill>
              </a:rPr>
              <a:t>Example: a right angle measures 90 degrees.</a:t>
            </a:r>
            <a:endParaRPr lang="en-US" sz="1100" dirty="0"/>
          </a:p>
        </p:txBody>
      </p:sp>
      <p:sp>
        <p:nvSpPr>
          <p:cNvPr id="18" name="Shape 16"/>
          <p:cNvSpPr/>
          <p:nvPr/>
        </p:nvSpPr>
        <p:spPr>
          <a:xfrm>
            <a:off x="4709160" y="2743200"/>
            <a:ext cx="3977640" cy="1600200"/>
          </a:xfrm>
          <a:prstGeom prst="roundRect">
            <a:avLst>
              <a:gd name="adj" fmla="val 5714"/>
            </a:avLst>
          </a:prstGeom>
          <a:solidFill>
            <a:srgbClr val="FFFFFF"/>
          </a:solidFill>
          <a:ln w="6350">
            <a:solidFill>
              <a:srgbClr val="DDDDEE"/>
            </a:solidFill>
            <a:prstDash val="solid"/>
          </a:ln>
        </p:spPr>
      </p:sp>
      <p:sp>
        <p:nvSpPr>
          <p:cNvPr id="19" name="Text 17"/>
          <p:cNvSpPr/>
          <p:nvPr/>
        </p:nvSpPr>
        <p:spPr>
          <a:xfrm>
            <a:off x="4892040" y="2852928"/>
            <a:ext cx="3657600" cy="365760"/>
          </a:xfrm>
          <a:prstGeom prst="rect">
            <a:avLst/>
          </a:prstGeom>
          <a:noFill/>
          <a:ln/>
        </p:spPr>
        <p:txBody>
          <a:bodyPr wrap="square" lIns="0" tIns="0" rIns="0" bIns="0" rtlCol="0" anchor="ctr"/>
          <a:lstStyle/>
          <a:p>
            <a:pPr indent="0" marL="0">
              <a:buNone/>
            </a:pPr>
            <a:r>
              <a:rPr lang="en-US" sz="1700" b="1" dirty="0">
                <a:solidFill>
                  <a:srgbClr val="4A3D8F"/>
                </a:solidFill>
                <a:latin typeface="Cambria" pitchFamily="34" charset="0"/>
                <a:ea typeface="Cambria" pitchFamily="34" charset="-122"/>
                <a:cs typeface="Cambria" pitchFamily="34" charset="-120"/>
              </a:rPr>
              <a:t>protractor</a:t>
            </a:r>
            <a:endParaRPr lang="en-US" sz="1700" dirty="0"/>
          </a:p>
        </p:txBody>
      </p:sp>
      <p:sp>
        <p:nvSpPr>
          <p:cNvPr id="20" name="Text 18"/>
          <p:cNvSpPr/>
          <p:nvPr/>
        </p:nvSpPr>
        <p:spPr>
          <a:xfrm>
            <a:off x="4892040" y="3246120"/>
            <a:ext cx="3657600" cy="594360"/>
          </a:xfrm>
          <a:prstGeom prst="rect">
            <a:avLst/>
          </a:prstGeom>
          <a:noFill/>
          <a:ln/>
        </p:spPr>
        <p:txBody>
          <a:bodyPr wrap="square" lIns="0" tIns="0" rIns="0" bIns="0" rtlCol="0" anchor="ctr"/>
          <a:lstStyle/>
          <a:p>
            <a:pPr indent="0" marL="0">
              <a:buNone/>
            </a:pPr>
            <a:r>
              <a:rPr lang="en-US" sz="1200" dirty="0">
                <a:solidFill>
                  <a:srgbClr val="1A1A2E"/>
                </a:solidFill>
              </a:rPr>
              <a:t>A tool used to measure the degree measure of an angle.</a:t>
            </a:r>
            <a:endParaRPr lang="en-US" sz="1200" dirty="0"/>
          </a:p>
        </p:txBody>
      </p:sp>
      <p:sp>
        <p:nvSpPr>
          <p:cNvPr id="21" name="Text 19"/>
          <p:cNvSpPr/>
          <p:nvPr/>
        </p:nvSpPr>
        <p:spPr>
          <a:xfrm>
            <a:off x="4892040" y="3886200"/>
            <a:ext cx="3657600" cy="365760"/>
          </a:xfrm>
          <a:prstGeom prst="rect">
            <a:avLst/>
          </a:prstGeom>
          <a:noFill/>
          <a:ln/>
        </p:spPr>
        <p:txBody>
          <a:bodyPr wrap="square" lIns="0" tIns="0" rIns="0" bIns="0" rtlCol="0" anchor="ctr"/>
          <a:lstStyle/>
          <a:p>
            <a:pPr indent="0" marL="0">
              <a:buNone/>
            </a:pPr>
            <a:r>
              <a:rPr lang="en-US" sz="1100" i="1" dirty="0">
                <a:solidFill>
                  <a:srgbClr val="5A5A7A"/>
                </a:solidFill>
              </a:rPr>
              <a:t>Example: line up its center and zero line before reading the scale.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A: Read the Protractor</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Teacher-Led</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2465222" y="3749040"/>
            <a:ext cx="4213555" cy="0"/>
          </a:xfrm>
          <a:prstGeom prst="line">
            <a:avLst/>
          </a:prstGeom>
          <a:noFill/>
          <a:ln w="15875">
            <a:solidFill>
              <a:srgbClr val="C9C9D9"/>
            </a:solidFill>
            <a:prstDash val="solid"/>
          </a:ln>
        </p:spPr>
      </p:sp>
      <p:sp>
        <p:nvSpPr>
          <p:cNvPr id="9" name="Shape 7"/>
          <p:cNvSpPr/>
          <p:nvPr/>
        </p:nvSpPr>
        <p:spPr>
          <a:xfrm>
            <a:off x="6477610" y="3749040"/>
            <a:ext cx="201168" cy="914"/>
          </a:xfrm>
          <a:prstGeom prst="line">
            <a:avLst/>
          </a:prstGeom>
          <a:noFill/>
          <a:ln w="19050">
            <a:solidFill>
              <a:srgbClr val="9A9AB8"/>
            </a:solidFill>
            <a:prstDash val="solid"/>
          </a:ln>
        </p:spPr>
      </p:sp>
      <p:sp>
        <p:nvSpPr>
          <p:cNvPr id="10" name="Text 8"/>
          <p:cNvSpPr/>
          <p:nvPr/>
        </p:nvSpPr>
        <p:spPr>
          <a:xfrm>
            <a:off x="6660490" y="3611880"/>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0</a:t>
            </a:r>
            <a:endParaRPr lang="en-US" sz="900" dirty="0"/>
          </a:p>
        </p:txBody>
      </p:sp>
      <p:sp>
        <p:nvSpPr>
          <p:cNvPr id="11" name="Shape 9"/>
          <p:cNvSpPr/>
          <p:nvPr/>
        </p:nvSpPr>
        <p:spPr>
          <a:xfrm flipV="1">
            <a:off x="6529705" y="3383202"/>
            <a:ext cx="117066" cy="20642"/>
          </a:xfrm>
          <a:prstGeom prst="line">
            <a:avLst/>
          </a:prstGeom>
          <a:noFill/>
          <a:ln w="9525">
            <a:solidFill>
              <a:srgbClr val="D6D6E4"/>
            </a:solidFill>
            <a:prstDash val="solid"/>
          </a:ln>
        </p:spPr>
      </p:sp>
      <p:sp>
        <p:nvSpPr>
          <p:cNvPr id="12" name="Shape 10"/>
          <p:cNvSpPr/>
          <p:nvPr/>
        </p:nvSpPr>
        <p:spPr>
          <a:xfrm flipV="1">
            <a:off x="6440020" y="3028480"/>
            <a:ext cx="111703" cy="40657"/>
          </a:xfrm>
          <a:prstGeom prst="line">
            <a:avLst/>
          </a:prstGeom>
          <a:noFill/>
          <a:ln w="9525">
            <a:solidFill>
              <a:srgbClr val="D6D6E4"/>
            </a:solidFill>
            <a:prstDash val="solid"/>
          </a:ln>
        </p:spPr>
      </p:sp>
      <p:sp>
        <p:nvSpPr>
          <p:cNvPr id="13" name="Shape 11"/>
          <p:cNvSpPr/>
          <p:nvPr/>
        </p:nvSpPr>
        <p:spPr>
          <a:xfrm flipV="1">
            <a:off x="6222306" y="2695651"/>
            <a:ext cx="174217" cy="100584"/>
          </a:xfrm>
          <a:prstGeom prst="line">
            <a:avLst/>
          </a:prstGeom>
          <a:noFill/>
          <a:ln w="19050">
            <a:solidFill>
              <a:srgbClr val="9A9AB8"/>
            </a:solidFill>
            <a:prstDash val="solid"/>
          </a:ln>
        </p:spPr>
      </p:sp>
      <p:sp>
        <p:nvSpPr>
          <p:cNvPr id="14" name="Text 12"/>
          <p:cNvSpPr/>
          <p:nvPr/>
        </p:nvSpPr>
        <p:spPr>
          <a:xfrm>
            <a:off x="6343933" y="2430475"/>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30</a:t>
            </a:r>
            <a:endParaRPr lang="en-US" sz="900" dirty="0"/>
          </a:p>
        </p:txBody>
      </p:sp>
      <p:sp>
        <p:nvSpPr>
          <p:cNvPr id="15" name="Shape 13"/>
          <p:cNvSpPr/>
          <p:nvPr/>
        </p:nvSpPr>
        <p:spPr>
          <a:xfrm flipV="1">
            <a:off x="6094824" y="2394829"/>
            <a:ext cx="91061" cy="76409"/>
          </a:xfrm>
          <a:prstGeom prst="line">
            <a:avLst/>
          </a:prstGeom>
          <a:noFill/>
          <a:ln w="9525">
            <a:solidFill>
              <a:srgbClr val="D6D6E4"/>
            </a:solidFill>
            <a:prstDash val="solid"/>
          </a:ln>
        </p:spPr>
      </p:sp>
      <p:sp>
        <p:nvSpPr>
          <p:cNvPr id="16" name="Shape 14"/>
          <p:cNvSpPr/>
          <p:nvPr/>
        </p:nvSpPr>
        <p:spPr>
          <a:xfrm flipV="1">
            <a:off x="5849801" y="2135155"/>
            <a:ext cx="76409" cy="91061"/>
          </a:xfrm>
          <a:prstGeom prst="line">
            <a:avLst/>
          </a:prstGeom>
          <a:noFill/>
          <a:ln w="9525">
            <a:solidFill>
              <a:srgbClr val="D6D6E4"/>
            </a:solidFill>
            <a:prstDash val="solid"/>
          </a:ln>
        </p:spPr>
      </p:sp>
      <p:sp>
        <p:nvSpPr>
          <p:cNvPr id="17" name="Shape 15"/>
          <p:cNvSpPr/>
          <p:nvPr/>
        </p:nvSpPr>
        <p:spPr>
          <a:xfrm flipV="1">
            <a:off x="5524805" y="1924517"/>
            <a:ext cx="100584" cy="174217"/>
          </a:xfrm>
          <a:prstGeom prst="line">
            <a:avLst/>
          </a:prstGeom>
          <a:noFill/>
          <a:ln w="19050">
            <a:solidFill>
              <a:srgbClr val="9A9AB8"/>
            </a:solidFill>
            <a:prstDash val="solid"/>
          </a:ln>
        </p:spPr>
      </p:sp>
      <p:sp>
        <p:nvSpPr>
          <p:cNvPr id="18" name="Text 16"/>
          <p:cNvSpPr/>
          <p:nvPr/>
        </p:nvSpPr>
        <p:spPr>
          <a:xfrm>
            <a:off x="5479085" y="1565627"/>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60</a:t>
            </a:r>
            <a:endParaRPr lang="en-US" sz="900" dirty="0"/>
          </a:p>
        </p:txBody>
      </p:sp>
      <p:sp>
        <p:nvSpPr>
          <p:cNvPr id="19" name="Shape 17"/>
          <p:cNvSpPr/>
          <p:nvPr/>
        </p:nvSpPr>
        <p:spPr>
          <a:xfrm flipV="1">
            <a:off x="5251904" y="1769317"/>
            <a:ext cx="40657" cy="111703"/>
          </a:xfrm>
          <a:prstGeom prst="line">
            <a:avLst/>
          </a:prstGeom>
          <a:noFill/>
          <a:ln w="9525">
            <a:solidFill>
              <a:srgbClr val="D6D6E4"/>
            </a:solidFill>
            <a:prstDash val="solid"/>
          </a:ln>
        </p:spPr>
      </p:sp>
      <p:sp>
        <p:nvSpPr>
          <p:cNvPr id="20" name="Shape 18"/>
          <p:cNvSpPr/>
          <p:nvPr/>
        </p:nvSpPr>
        <p:spPr>
          <a:xfrm flipV="1">
            <a:off x="4917196" y="1674269"/>
            <a:ext cx="20642" cy="117066"/>
          </a:xfrm>
          <a:prstGeom prst="line">
            <a:avLst/>
          </a:prstGeom>
          <a:noFill/>
          <a:ln w="9525">
            <a:solidFill>
              <a:srgbClr val="D6D6E4"/>
            </a:solidFill>
            <a:prstDash val="solid"/>
          </a:ln>
        </p:spPr>
      </p:sp>
      <p:sp>
        <p:nvSpPr>
          <p:cNvPr id="21" name="Shape 19"/>
          <p:cNvSpPr/>
          <p:nvPr/>
        </p:nvSpPr>
        <p:spPr>
          <a:xfrm flipV="1">
            <a:off x="4572000" y="1642262"/>
            <a:ext cx="914" cy="201168"/>
          </a:xfrm>
          <a:prstGeom prst="line">
            <a:avLst/>
          </a:prstGeom>
          <a:noFill/>
          <a:ln w="19050">
            <a:solidFill>
              <a:srgbClr val="9A9AB8"/>
            </a:solidFill>
            <a:prstDash val="solid"/>
          </a:ln>
        </p:spPr>
      </p:sp>
      <p:sp>
        <p:nvSpPr>
          <p:cNvPr id="22" name="Text 20"/>
          <p:cNvSpPr/>
          <p:nvPr/>
        </p:nvSpPr>
        <p:spPr>
          <a:xfrm>
            <a:off x="4297680" y="1249070"/>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90</a:t>
            </a:r>
            <a:endParaRPr lang="en-US" sz="900" dirty="0"/>
          </a:p>
        </p:txBody>
      </p:sp>
      <p:sp>
        <p:nvSpPr>
          <p:cNvPr id="23" name="Shape 21"/>
          <p:cNvSpPr/>
          <p:nvPr/>
        </p:nvSpPr>
        <p:spPr>
          <a:xfrm>
            <a:off x="4206162" y="1674269"/>
            <a:ext cx="20642" cy="117066"/>
          </a:xfrm>
          <a:prstGeom prst="line">
            <a:avLst/>
          </a:prstGeom>
          <a:noFill/>
          <a:ln w="9525">
            <a:solidFill>
              <a:srgbClr val="D6D6E4"/>
            </a:solidFill>
            <a:prstDash val="solid"/>
          </a:ln>
        </p:spPr>
      </p:sp>
      <p:sp>
        <p:nvSpPr>
          <p:cNvPr id="24" name="Shape 22"/>
          <p:cNvSpPr/>
          <p:nvPr/>
        </p:nvSpPr>
        <p:spPr>
          <a:xfrm>
            <a:off x="3851440" y="1769317"/>
            <a:ext cx="40657" cy="111703"/>
          </a:xfrm>
          <a:prstGeom prst="line">
            <a:avLst/>
          </a:prstGeom>
          <a:noFill/>
          <a:ln w="9525">
            <a:solidFill>
              <a:srgbClr val="D6D6E4"/>
            </a:solidFill>
            <a:prstDash val="solid"/>
          </a:ln>
        </p:spPr>
      </p:sp>
      <p:sp>
        <p:nvSpPr>
          <p:cNvPr id="25" name="Shape 23"/>
          <p:cNvSpPr/>
          <p:nvPr/>
        </p:nvSpPr>
        <p:spPr>
          <a:xfrm>
            <a:off x="3518611" y="1924517"/>
            <a:ext cx="100584" cy="174217"/>
          </a:xfrm>
          <a:prstGeom prst="line">
            <a:avLst/>
          </a:prstGeom>
          <a:noFill/>
          <a:ln w="19050">
            <a:solidFill>
              <a:srgbClr val="9A9AB8"/>
            </a:solidFill>
            <a:prstDash val="solid"/>
          </a:ln>
        </p:spPr>
      </p:sp>
      <p:sp>
        <p:nvSpPr>
          <p:cNvPr id="26" name="Text 24"/>
          <p:cNvSpPr/>
          <p:nvPr/>
        </p:nvSpPr>
        <p:spPr>
          <a:xfrm>
            <a:off x="3116275" y="1565627"/>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120</a:t>
            </a:r>
            <a:endParaRPr lang="en-US" sz="900" dirty="0"/>
          </a:p>
        </p:txBody>
      </p:sp>
      <p:sp>
        <p:nvSpPr>
          <p:cNvPr id="27" name="Shape 25"/>
          <p:cNvSpPr/>
          <p:nvPr/>
        </p:nvSpPr>
        <p:spPr>
          <a:xfrm>
            <a:off x="3217789" y="2135155"/>
            <a:ext cx="76409" cy="91061"/>
          </a:xfrm>
          <a:prstGeom prst="line">
            <a:avLst/>
          </a:prstGeom>
          <a:noFill/>
          <a:ln w="9525">
            <a:solidFill>
              <a:srgbClr val="D6D6E4"/>
            </a:solidFill>
            <a:prstDash val="solid"/>
          </a:ln>
        </p:spPr>
      </p:sp>
      <p:sp>
        <p:nvSpPr>
          <p:cNvPr id="28" name="Shape 26"/>
          <p:cNvSpPr/>
          <p:nvPr/>
        </p:nvSpPr>
        <p:spPr>
          <a:xfrm>
            <a:off x="2958115" y="2394829"/>
            <a:ext cx="91061" cy="76409"/>
          </a:xfrm>
          <a:prstGeom prst="line">
            <a:avLst/>
          </a:prstGeom>
          <a:noFill/>
          <a:ln w="9525">
            <a:solidFill>
              <a:srgbClr val="D6D6E4"/>
            </a:solidFill>
            <a:prstDash val="solid"/>
          </a:ln>
        </p:spPr>
      </p:sp>
      <p:sp>
        <p:nvSpPr>
          <p:cNvPr id="29" name="Shape 27"/>
          <p:cNvSpPr/>
          <p:nvPr/>
        </p:nvSpPr>
        <p:spPr>
          <a:xfrm>
            <a:off x="2747477" y="2695651"/>
            <a:ext cx="174217" cy="100584"/>
          </a:xfrm>
          <a:prstGeom prst="line">
            <a:avLst/>
          </a:prstGeom>
          <a:noFill/>
          <a:ln w="19050">
            <a:solidFill>
              <a:srgbClr val="9A9AB8"/>
            </a:solidFill>
            <a:prstDash val="solid"/>
          </a:ln>
        </p:spPr>
      </p:sp>
      <p:sp>
        <p:nvSpPr>
          <p:cNvPr id="30" name="Text 28"/>
          <p:cNvSpPr/>
          <p:nvPr/>
        </p:nvSpPr>
        <p:spPr>
          <a:xfrm>
            <a:off x="2251427" y="2430475"/>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150</a:t>
            </a:r>
            <a:endParaRPr lang="en-US" sz="900" dirty="0"/>
          </a:p>
        </p:txBody>
      </p:sp>
      <p:sp>
        <p:nvSpPr>
          <p:cNvPr id="31" name="Shape 29"/>
          <p:cNvSpPr/>
          <p:nvPr/>
        </p:nvSpPr>
        <p:spPr>
          <a:xfrm>
            <a:off x="2592277" y="3028480"/>
            <a:ext cx="111703" cy="40657"/>
          </a:xfrm>
          <a:prstGeom prst="line">
            <a:avLst/>
          </a:prstGeom>
          <a:noFill/>
          <a:ln w="9525">
            <a:solidFill>
              <a:srgbClr val="D6D6E4"/>
            </a:solidFill>
            <a:prstDash val="solid"/>
          </a:ln>
        </p:spPr>
      </p:sp>
      <p:sp>
        <p:nvSpPr>
          <p:cNvPr id="32" name="Shape 30"/>
          <p:cNvSpPr/>
          <p:nvPr/>
        </p:nvSpPr>
        <p:spPr>
          <a:xfrm>
            <a:off x="2497229" y="3383202"/>
            <a:ext cx="117066" cy="20642"/>
          </a:xfrm>
          <a:prstGeom prst="line">
            <a:avLst/>
          </a:prstGeom>
          <a:noFill/>
          <a:ln w="9525">
            <a:solidFill>
              <a:srgbClr val="D6D6E4"/>
            </a:solidFill>
            <a:prstDash val="solid"/>
          </a:ln>
        </p:spPr>
      </p:sp>
      <p:sp>
        <p:nvSpPr>
          <p:cNvPr id="33" name="Shape 31"/>
          <p:cNvSpPr/>
          <p:nvPr/>
        </p:nvSpPr>
        <p:spPr>
          <a:xfrm>
            <a:off x="2465222" y="3749040"/>
            <a:ext cx="201168" cy="914"/>
          </a:xfrm>
          <a:prstGeom prst="line">
            <a:avLst/>
          </a:prstGeom>
          <a:noFill/>
          <a:ln w="19050">
            <a:solidFill>
              <a:srgbClr val="9A9AB8"/>
            </a:solidFill>
            <a:prstDash val="solid"/>
          </a:ln>
        </p:spPr>
      </p:sp>
      <p:sp>
        <p:nvSpPr>
          <p:cNvPr id="34" name="Text 32"/>
          <p:cNvSpPr/>
          <p:nvPr/>
        </p:nvSpPr>
        <p:spPr>
          <a:xfrm>
            <a:off x="1934870" y="3611880"/>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180</a:t>
            </a:r>
            <a:endParaRPr lang="en-US" sz="900" dirty="0"/>
          </a:p>
        </p:txBody>
      </p:sp>
      <p:sp>
        <p:nvSpPr>
          <p:cNvPr id="35" name="Shape 33"/>
          <p:cNvSpPr/>
          <p:nvPr/>
        </p:nvSpPr>
        <p:spPr>
          <a:xfrm>
            <a:off x="4572000" y="2476082"/>
            <a:ext cx="1980371" cy="1272958"/>
          </a:xfrm>
          <a:custGeom>
            <a:avLst/>
            <a:gdLst/>
            <a:ahLst/>
            <a:cxnLst/>
            <a:rect l="l" t="t" r="r" b="b"/>
            <a:pathLst>
              <a:path w="1980371" h="1272958">
                <a:moveTo>
                  <a:pt x="0" y="1272958"/>
                </a:moveTo>
                <a:lnTo>
                  <a:pt x="1980371" y="1272958"/>
                </a:lnTo>
                <a:lnTo>
                  <a:pt x="1979165" y="1203844"/>
                </a:lnTo>
                <a:lnTo>
                  <a:pt x="1975547" y="1134814"/>
                </a:lnTo>
                <a:lnTo>
                  <a:pt x="1969522" y="1065953"/>
                </a:lnTo>
                <a:lnTo>
                  <a:pt x="1961098" y="997344"/>
                </a:lnTo>
                <a:lnTo>
                  <a:pt x="1950285" y="929070"/>
                </a:lnTo>
                <a:lnTo>
                  <a:pt x="1937095" y="861216"/>
                </a:lnTo>
                <a:lnTo>
                  <a:pt x="1921545" y="793863"/>
                </a:lnTo>
                <a:lnTo>
                  <a:pt x="1903655" y="727094"/>
                </a:lnTo>
                <a:lnTo>
                  <a:pt x="1883445" y="660990"/>
                </a:lnTo>
                <a:lnTo>
                  <a:pt x="1860940" y="595631"/>
                </a:lnTo>
                <a:lnTo>
                  <a:pt x="1836168" y="531098"/>
                </a:lnTo>
                <a:lnTo>
                  <a:pt x="1809159" y="467468"/>
                </a:lnTo>
                <a:lnTo>
                  <a:pt x="1779946" y="404820"/>
                </a:lnTo>
                <a:lnTo>
                  <a:pt x="1748564" y="343230"/>
                </a:lnTo>
                <a:lnTo>
                  <a:pt x="1715052" y="282772"/>
                </a:lnTo>
                <a:lnTo>
                  <a:pt x="1679450" y="223521"/>
                </a:lnTo>
                <a:lnTo>
                  <a:pt x="1641802" y="165549"/>
                </a:lnTo>
                <a:lnTo>
                  <a:pt x="1602154" y="108925"/>
                </a:lnTo>
                <a:lnTo>
                  <a:pt x="1560554" y="53720"/>
                </a:lnTo>
                <a:lnTo>
                  <a:pt x="1517052" y="0"/>
                </a:lnTo>
                <a:close/>
              </a:path>
            </a:pathLst>
          </a:custGeom>
          <a:solidFill>
            <a:srgbClr val="4A3D8F"/>
          </a:solidFill>
          <a:ln w="15875">
            <a:solidFill>
              <a:srgbClr val="FFFFFF"/>
            </a:solidFill>
            <a:prstDash val="solid"/>
          </a:ln>
        </p:spPr>
      </p:sp>
      <p:sp>
        <p:nvSpPr>
          <p:cNvPr id="36" name="Shape 34"/>
          <p:cNvSpPr/>
          <p:nvPr/>
        </p:nvSpPr>
        <p:spPr>
          <a:xfrm>
            <a:off x="5185276" y="3234440"/>
            <a:ext cx="187299" cy="514600"/>
          </a:xfrm>
          <a:custGeom>
            <a:avLst/>
            <a:gdLst/>
            <a:ahLst/>
            <a:cxnLst/>
            <a:rect l="l" t="t" r="r" b="b"/>
            <a:pathLst>
              <a:path w="187299" h="514600">
                <a:moveTo>
                  <a:pt x="187299" y="514600"/>
                </a:moveTo>
                <a:lnTo>
                  <a:pt x="186960" y="491315"/>
                </a:lnTo>
                <a:lnTo>
                  <a:pt x="185945" y="468051"/>
                </a:lnTo>
                <a:lnTo>
                  <a:pt x="184253" y="444825"/>
                </a:lnTo>
                <a:lnTo>
                  <a:pt x="181886" y="421659"/>
                </a:lnTo>
                <a:lnTo>
                  <a:pt x="178846" y="398571"/>
                </a:lnTo>
                <a:lnTo>
                  <a:pt x="175137" y="375582"/>
                </a:lnTo>
                <a:lnTo>
                  <a:pt x="170760" y="352710"/>
                </a:lnTo>
                <a:lnTo>
                  <a:pt x="165719" y="329975"/>
                </a:lnTo>
                <a:lnTo>
                  <a:pt x="160020" y="307396"/>
                </a:lnTo>
                <a:lnTo>
                  <a:pt x="153667" y="284992"/>
                </a:lnTo>
                <a:lnTo>
                  <a:pt x="146664" y="262783"/>
                </a:lnTo>
                <a:lnTo>
                  <a:pt x="139018" y="240787"/>
                </a:lnTo>
                <a:lnTo>
                  <a:pt x="130736" y="219023"/>
                </a:lnTo>
                <a:lnTo>
                  <a:pt x="121825" y="197508"/>
                </a:lnTo>
                <a:lnTo>
                  <a:pt x="112291" y="176262"/>
                </a:lnTo>
                <a:lnTo>
                  <a:pt x="102144" y="155302"/>
                </a:lnTo>
                <a:lnTo>
                  <a:pt x="91391" y="134647"/>
                </a:lnTo>
                <a:lnTo>
                  <a:pt x="80042" y="114312"/>
                </a:lnTo>
                <a:lnTo>
                  <a:pt x="68107" y="94317"/>
                </a:lnTo>
                <a:lnTo>
                  <a:pt x="55595" y="74677"/>
                </a:lnTo>
                <a:lnTo>
                  <a:pt x="42517" y="55409"/>
                </a:lnTo>
                <a:lnTo>
                  <a:pt x="28884" y="36529"/>
                </a:lnTo>
                <a:lnTo>
                  <a:pt x="14708" y="18055"/>
                </a:lnTo>
                <a:lnTo>
                  <a:pt x="0" y="0"/>
                </a:lnTo>
              </a:path>
            </a:pathLst>
          </a:custGeom>
          <a:solidFill>
            <a:srgbClr val="FFFFFF">
              <a:alpha val="0"/>
            </a:srgbClr>
          </a:solidFill>
          <a:ln w="38100">
            <a:solidFill>
              <a:srgbClr val="4A3D8F"/>
            </a:solidFill>
            <a:prstDash val="solid"/>
          </a:ln>
        </p:spPr>
      </p:sp>
      <p:sp>
        <p:nvSpPr>
          <p:cNvPr id="37" name="Shape 35"/>
          <p:cNvSpPr/>
          <p:nvPr/>
        </p:nvSpPr>
        <p:spPr>
          <a:xfrm>
            <a:off x="4572000" y="3749040"/>
            <a:ext cx="2106778" cy="914"/>
          </a:xfrm>
          <a:prstGeom prst="line">
            <a:avLst/>
          </a:prstGeom>
          <a:noFill/>
          <a:ln w="38100">
            <a:solidFill>
              <a:srgbClr val="1B2A4A"/>
            </a:solidFill>
            <a:prstDash val="solid"/>
          </a:ln>
        </p:spPr>
      </p:sp>
      <p:sp>
        <p:nvSpPr>
          <p:cNvPr id="38" name="Shape 36"/>
          <p:cNvSpPr/>
          <p:nvPr/>
        </p:nvSpPr>
        <p:spPr>
          <a:xfrm flipV="1">
            <a:off x="4572000" y="2394829"/>
            <a:ext cx="1613885" cy="1354211"/>
          </a:xfrm>
          <a:prstGeom prst="line">
            <a:avLst/>
          </a:prstGeom>
          <a:noFill/>
          <a:ln w="38100">
            <a:solidFill>
              <a:srgbClr val="1B2A4A"/>
            </a:solidFill>
            <a:prstDash val="solid"/>
          </a:ln>
        </p:spPr>
      </p:sp>
      <p:sp>
        <p:nvSpPr>
          <p:cNvPr id="39" name="Shape 37"/>
          <p:cNvSpPr/>
          <p:nvPr/>
        </p:nvSpPr>
        <p:spPr>
          <a:xfrm>
            <a:off x="4517136" y="3694176"/>
            <a:ext cx="109728" cy="109728"/>
          </a:xfrm>
          <a:prstGeom prst="ellipse">
            <a:avLst/>
          </a:prstGeom>
          <a:solidFill>
            <a:srgbClr val="1B2A4A"/>
          </a:solidFill>
          <a:ln w="12700">
            <a:solidFill>
              <a:srgbClr val="FFFFFF"/>
            </a:solidFill>
            <a:prstDash val="solid"/>
          </a:ln>
        </p:spPr>
      </p:sp>
      <p:sp>
        <p:nvSpPr>
          <p:cNvPr id="40" name="Text 38"/>
          <p:cNvSpPr/>
          <p:nvPr/>
        </p:nvSpPr>
        <p:spPr>
          <a:xfrm>
            <a:off x="4114800" y="3822192"/>
            <a:ext cx="914400" cy="274320"/>
          </a:xfrm>
          <a:prstGeom prst="rect">
            <a:avLst/>
          </a:prstGeom>
          <a:noFill/>
          <a:ln/>
        </p:spPr>
        <p:txBody>
          <a:bodyPr wrap="square" lIns="0" tIns="0" rIns="0" bIns="0" rtlCol="0" anchor="ctr"/>
          <a:lstStyle/>
          <a:p>
            <a:pPr algn="ctr" indent="0" marL="0">
              <a:buNone/>
            </a:pPr>
            <a:r>
              <a:rPr lang="en-US" sz="1200" b="1" dirty="0">
                <a:solidFill>
                  <a:srgbClr val="1B2A4A"/>
                </a:solidFill>
              </a:rPr>
              <a:t>vertex</a:t>
            </a:r>
            <a:endParaRPr lang="en-US" sz="1200" dirty="0"/>
          </a:p>
        </p:txBody>
      </p:sp>
      <p:sp>
        <p:nvSpPr>
          <p:cNvPr id="41" name="Text 39"/>
          <p:cNvSpPr/>
          <p:nvPr/>
        </p:nvSpPr>
        <p:spPr>
          <a:xfrm>
            <a:off x="6267298" y="3429000"/>
            <a:ext cx="914400" cy="274320"/>
          </a:xfrm>
          <a:prstGeom prst="rect">
            <a:avLst/>
          </a:prstGeom>
          <a:noFill/>
          <a:ln/>
        </p:spPr>
        <p:txBody>
          <a:bodyPr wrap="square" lIns="0" tIns="0" rIns="0" bIns="0" rtlCol="0" anchor="ctr"/>
          <a:lstStyle/>
          <a:p>
            <a:pPr algn="ctr" indent="0" marL="0">
              <a:buNone/>
            </a:pPr>
            <a:r>
              <a:rPr lang="en-US" sz="1200" b="1" dirty="0">
                <a:solidFill>
                  <a:srgbClr val="1B2A4A"/>
                </a:solidFill>
              </a:rPr>
              <a:t>0° line</a:t>
            </a:r>
            <a:endParaRPr lang="en-US" sz="1200" dirty="0"/>
          </a:p>
        </p:txBody>
      </p:sp>
      <p:sp>
        <p:nvSpPr>
          <p:cNvPr id="42" name="Text 40"/>
          <p:cNvSpPr/>
          <p:nvPr/>
        </p:nvSpPr>
        <p:spPr>
          <a:xfrm>
            <a:off x="5763709" y="2072833"/>
            <a:ext cx="914400" cy="274320"/>
          </a:xfrm>
          <a:prstGeom prst="rect">
            <a:avLst/>
          </a:prstGeom>
          <a:noFill/>
          <a:ln/>
        </p:spPr>
        <p:txBody>
          <a:bodyPr wrap="square" lIns="0" tIns="0" rIns="0" bIns="0" rtlCol="0" anchor="ctr"/>
          <a:lstStyle/>
          <a:p>
            <a:pPr algn="ctr" indent="0" marL="0">
              <a:buNone/>
            </a:pPr>
            <a:r>
              <a:rPr lang="en-US" sz="1200" b="1" dirty="0">
                <a:solidFill>
                  <a:srgbClr val="1B2A4A"/>
                </a:solidFill>
              </a:rPr>
              <a:t>?</a:t>
            </a:r>
            <a:endParaRPr lang="en-US" sz="1200" dirty="0"/>
          </a:p>
        </p:txBody>
      </p:sp>
      <p:sp>
        <p:nvSpPr>
          <p:cNvPr id="43" name="Shape 41"/>
          <p:cNvSpPr/>
          <p:nvPr/>
        </p:nvSpPr>
        <p:spPr>
          <a:xfrm>
            <a:off x="5256517" y="3167250"/>
            <a:ext cx="822960" cy="365760"/>
          </a:xfrm>
          <a:prstGeom prst="roundRect">
            <a:avLst>
              <a:gd name="adj" fmla="val 15000"/>
            </a:avLst>
          </a:prstGeom>
          <a:solidFill>
            <a:srgbClr val="4A3D8F"/>
          </a:solidFill>
          <a:ln w="12700">
            <a:solidFill>
              <a:srgbClr val="4A3D8F"/>
            </a:solidFill>
            <a:prstDash val="solid"/>
          </a:ln>
        </p:spPr>
      </p:sp>
      <p:sp>
        <p:nvSpPr>
          <p:cNvPr id="44" name="Text 42"/>
          <p:cNvSpPr/>
          <p:nvPr/>
        </p:nvSpPr>
        <p:spPr>
          <a:xfrm>
            <a:off x="5256517" y="3167250"/>
            <a:ext cx="822960" cy="365760"/>
          </a:xfrm>
          <a:prstGeom prst="rect">
            <a:avLst/>
          </a:prstGeom>
          <a:noFill/>
          <a:ln/>
        </p:spPr>
        <p:txBody>
          <a:bodyPr wrap="square" lIns="0" tIns="0" rIns="0" bIns="0" rtlCol="0" anchor="ctr"/>
          <a:lstStyle/>
          <a:p>
            <a:pPr algn="ctr" indent="0" marL="0">
              <a:buNone/>
            </a:pPr>
            <a:r>
              <a:rPr lang="en-US" sz="1500" b="1" dirty="0">
                <a:solidFill>
                  <a:srgbClr val="FFFFFF"/>
                </a:solidFill>
              </a:rPr>
              <a:t>40°</a:t>
            </a:r>
            <a:endParaRPr lang="en-US" sz="1500" dirty="0"/>
          </a:p>
        </p:txBody>
      </p:sp>
      <p:sp>
        <p:nvSpPr>
          <p:cNvPr id="45" name="Text 43"/>
          <p:cNvSpPr/>
          <p:nvPr/>
        </p:nvSpPr>
        <p:spPr>
          <a:xfrm>
            <a:off x="914400" y="4233672"/>
            <a:ext cx="7315200" cy="274320"/>
          </a:xfrm>
          <a:prstGeom prst="rect">
            <a:avLst/>
          </a:prstGeom>
          <a:noFill/>
          <a:ln/>
        </p:spPr>
        <p:txBody>
          <a:bodyPr wrap="square" lIns="0" tIns="0" rIns="0" bIns="0" rtlCol="0" anchor="ctr"/>
          <a:lstStyle/>
          <a:p>
            <a:pPr algn="ctr" indent="0" marL="0">
              <a:buNone/>
            </a:pPr>
            <a:r>
              <a:rPr lang="en-US" sz="1100" i="1" dirty="0">
                <a:solidFill>
                  <a:srgbClr val="5A5A7A"/>
                </a:solidFill>
              </a:rPr>
              <a:t>One ray opens from 0°. Where does the second ray cross the scale?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B: Name the Angle Type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Teacher-Led</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2465222" y="3749040"/>
            <a:ext cx="4213555" cy="0"/>
          </a:xfrm>
          <a:prstGeom prst="line">
            <a:avLst/>
          </a:prstGeom>
          <a:noFill/>
          <a:ln w="15875">
            <a:solidFill>
              <a:srgbClr val="C9C9D9"/>
            </a:solidFill>
            <a:prstDash val="solid"/>
          </a:ln>
        </p:spPr>
      </p:sp>
      <p:sp>
        <p:nvSpPr>
          <p:cNvPr id="9" name="Shape 7"/>
          <p:cNvSpPr/>
          <p:nvPr/>
        </p:nvSpPr>
        <p:spPr>
          <a:xfrm>
            <a:off x="6477610" y="3749040"/>
            <a:ext cx="201168" cy="914"/>
          </a:xfrm>
          <a:prstGeom prst="line">
            <a:avLst/>
          </a:prstGeom>
          <a:noFill/>
          <a:ln w="19050">
            <a:solidFill>
              <a:srgbClr val="9A9AB8"/>
            </a:solidFill>
            <a:prstDash val="solid"/>
          </a:ln>
        </p:spPr>
      </p:sp>
      <p:sp>
        <p:nvSpPr>
          <p:cNvPr id="10" name="Text 8"/>
          <p:cNvSpPr/>
          <p:nvPr/>
        </p:nvSpPr>
        <p:spPr>
          <a:xfrm>
            <a:off x="6660490" y="3611880"/>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0</a:t>
            </a:r>
            <a:endParaRPr lang="en-US" sz="900" dirty="0"/>
          </a:p>
        </p:txBody>
      </p:sp>
      <p:sp>
        <p:nvSpPr>
          <p:cNvPr id="11" name="Shape 9"/>
          <p:cNvSpPr/>
          <p:nvPr/>
        </p:nvSpPr>
        <p:spPr>
          <a:xfrm flipV="1">
            <a:off x="6529705" y="3383202"/>
            <a:ext cx="117066" cy="20642"/>
          </a:xfrm>
          <a:prstGeom prst="line">
            <a:avLst/>
          </a:prstGeom>
          <a:noFill/>
          <a:ln w="9525">
            <a:solidFill>
              <a:srgbClr val="D6D6E4"/>
            </a:solidFill>
            <a:prstDash val="solid"/>
          </a:ln>
        </p:spPr>
      </p:sp>
      <p:sp>
        <p:nvSpPr>
          <p:cNvPr id="12" name="Shape 10"/>
          <p:cNvSpPr/>
          <p:nvPr/>
        </p:nvSpPr>
        <p:spPr>
          <a:xfrm flipV="1">
            <a:off x="6440020" y="3028480"/>
            <a:ext cx="111703" cy="40657"/>
          </a:xfrm>
          <a:prstGeom prst="line">
            <a:avLst/>
          </a:prstGeom>
          <a:noFill/>
          <a:ln w="9525">
            <a:solidFill>
              <a:srgbClr val="D6D6E4"/>
            </a:solidFill>
            <a:prstDash val="solid"/>
          </a:ln>
        </p:spPr>
      </p:sp>
      <p:sp>
        <p:nvSpPr>
          <p:cNvPr id="13" name="Shape 11"/>
          <p:cNvSpPr/>
          <p:nvPr/>
        </p:nvSpPr>
        <p:spPr>
          <a:xfrm flipV="1">
            <a:off x="6222306" y="2695651"/>
            <a:ext cx="174217" cy="100584"/>
          </a:xfrm>
          <a:prstGeom prst="line">
            <a:avLst/>
          </a:prstGeom>
          <a:noFill/>
          <a:ln w="19050">
            <a:solidFill>
              <a:srgbClr val="9A9AB8"/>
            </a:solidFill>
            <a:prstDash val="solid"/>
          </a:ln>
        </p:spPr>
      </p:sp>
      <p:sp>
        <p:nvSpPr>
          <p:cNvPr id="14" name="Text 12"/>
          <p:cNvSpPr/>
          <p:nvPr/>
        </p:nvSpPr>
        <p:spPr>
          <a:xfrm>
            <a:off x="6343933" y="2430475"/>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30</a:t>
            </a:r>
            <a:endParaRPr lang="en-US" sz="900" dirty="0"/>
          </a:p>
        </p:txBody>
      </p:sp>
      <p:sp>
        <p:nvSpPr>
          <p:cNvPr id="15" name="Shape 13"/>
          <p:cNvSpPr/>
          <p:nvPr/>
        </p:nvSpPr>
        <p:spPr>
          <a:xfrm flipV="1">
            <a:off x="6094824" y="2394829"/>
            <a:ext cx="91061" cy="76409"/>
          </a:xfrm>
          <a:prstGeom prst="line">
            <a:avLst/>
          </a:prstGeom>
          <a:noFill/>
          <a:ln w="9525">
            <a:solidFill>
              <a:srgbClr val="D6D6E4"/>
            </a:solidFill>
            <a:prstDash val="solid"/>
          </a:ln>
        </p:spPr>
      </p:sp>
      <p:sp>
        <p:nvSpPr>
          <p:cNvPr id="16" name="Shape 14"/>
          <p:cNvSpPr/>
          <p:nvPr/>
        </p:nvSpPr>
        <p:spPr>
          <a:xfrm flipV="1">
            <a:off x="5849801" y="2135155"/>
            <a:ext cx="76409" cy="91061"/>
          </a:xfrm>
          <a:prstGeom prst="line">
            <a:avLst/>
          </a:prstGeom>
          <a:noFill/>
          <a:ln w="9525">
            <a:solidFill>
              <a:srgbClr val="D6D6E4"/>
            </a:solidFill>
            <a:prstDash val="solid"/>
          </a:ln>
        </p:spPr>
      </p:sp>
      <p:sp>
        <p:nvSpPr>
          <p:cNvPr id="17" name="Shape 15"/>
          <p:cNvSpPr/>
          <p:nvPr/>
        </p:nvSpPr>
        <p:spPr>
          <a:xfrm flipV="1">
            <a:off x="5524805" y="1924517"/>
            <a:ext cx="100584" cy="174217"/>
          </a:xfrm>
          <a:prstGeom prst="line">
            <a:avLst/>
          </a:prstGeom>
          <a:noFill/>
          <a:ln w="19050">
            <a:solidFill>
              <a:srgbClr val="9A9AB8"/>
            </a:solidFill>
            <a:prstDash val="solid"/>
          </a:ln>
        </p:spPr>
      </p:sp>
      <p:sp>
        <p:nvSpPr>
          <p:cNvPr id="18" name="Text 16"/>
          <p:cNvSpPr/>
          <p:nvPr/>
        </p:nvSpPr>
        <p:spPr>
          <a:xfrm>
            <a:off x="5479085" y="1565627"/>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60</a:t>
            </a:r>
            <a:endParaRPr lang="en-US" sz="900" dirty="0"/>
          </a:p>
        </p:txBody>
      </p:sp>
      <p:sp>
        <p:nvSpPr>
          <p:cNvPr id="19" name="Shape 17"/>
          <p:cNvSpPr/>
          <p:nvPr/>
        </p:nvSpPr>
        <p:spPr>
          <a:xfrm flipV="1">
            <a:off x="5251904" y="1769317"/>
            <a:ext cx="40657" cy="111703"/>
          </a:xfrm>
          <a:prstGeom prst="line">
            <a:avLst/>
          </a:prstGeom>
          <a:noFill/>
          <a:ln w="9525">
            <a:solidFill>
              <a:srgbClr val="D6D6E4"/>
            </a:solidFill>
            <a:prstDash val="solid"/>
          </a:ln>
        </p:spPr>
      </p:sp>
      <p:sp>
        <p:nvSpPr>
          <p:cNvPr id="20" name="Shape 18"/>
          <p:cNvSpPr/>
          <p:nvPr/>
        </p:nvSpPr>
        <p:spPr>
          <a:xfrm flipV="1">
            <a:off x="4917196" y="1674269"/>
            <a:ext cx="20642" cy="117066"/>
          </a:xfrm>
          <a:prstGeom prst="line">
            <a:avLst/>
          </a:prstGeom>
          <a:noFill/>
          <a:ln w="9525">
            <a:solidFill>
              <a:srgbClr val="D6D6E4"/>
            </a:solidFill>
            <a:prstDash val="solid"/>
          </a:ln>
        </p:spPr>
      </p:sp>
      <p:sp>
        <p:nvSpPr>
          <p:cNvPr id="21" name="Shape 19"/>
          <p:cNvSpPr/>
          <p:nvPr/>
        </p:nvSpPr>
        <p:spPr>
          <a:xfrm flipV="1">
            <a:off x="4572000" y="1642262"/>
            <a:ext cx="914" cy="201168"/>
          </a:xfrm>
          <a:prstGeom prst="line">
            <a:avLst/>
          </a:prstGeom>
          <a:noFill/>
          <a:ln w="19050">
            <a:solidFill>
              <a:srgbClr val="9A9AB8"/>
            </a:solidFill>
            <a:prstDash val="solid"/>
          </a:ln>
        </p:spPr>
      </p:sp>
      <p:sp>
        <p:nvSpPr>
          <p:cNvPr id="22" name="Text 20"/>
          <p:cNvSpPr/>
          <p:nvPr/>
        </p:nvSpPr>
        <p:spPr>
          <a:xfrm>
            <a:off x="4297680" y="1249070"/>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90</a:t>
            </a:r>
            <a:endParaRPr lang="en-US" sz="900" dirty="0"/>
          </a:p>
        </p:txBody>
      </p:sp>
      <p:sp>
        <p:nvSpPr>
          <p:cNvPr id="23" name="Shape 21"/>
          <p:cNvSpPr/>
          <p:nvPr/>
        </p:nvSpPr>
        <p:spPr>
          <a:xfrm>
            <a:off x="4206162" y="1674269"/>
            <a:ext cx="20642" cy="117066"/>
          </a:xfrm>
          <a:prstGeom prst="line">
            <a:avLst/>
          </a:prstGeom>
          <a:noFill/>
          <a:ln w="9525">
            <a:solidFill>
              <a:srgbClr val="D6D6E4"/>
            </a:solidFill>
            <a:prstDash val="solid"/>
          </a:ln>
        </p:spPr>
      </p:sp>
      <p:sp>
        <p:nvSpPr>
          <p:cNvPr id="24" name="Shape 22"/>
          <p:cNvSpPr/>
          <p:nvPr/>
        </p:nvSpPr>
        <p:spPr>
          <a:xfrm>
            <a:off x="3851440" y="1769317"/>
            <a:ext cx="40657" cy="111703"/>
          </a:xfrm>
          <a:prstGeom prst="line">
            <a:avLst/>
          </a:prstGeom>
          <a:noFill/>
          <a:ln w="9525">
            <a:solidFill>
              <a:srgbClr val="D6D6E4"/>
            </a:solidFill>
            <a:prstDash val="solid"/>
          </a:ln>
        </p:spPr>
      </p:sp>
      <p:sp>
        <p:nvSpPr>
          <p:cNvPr id="25" name="Shape 23"/>
          <p:cNvSpPr/>
          <p:nvPr/>
        </p:nvSpPr>
        <p:spPr>
          <a:xfrm>
            <a:off x="3518611" y="1924517"/>
            <a:ext cx="100584" cy="174217"/>
          </a:xfrm>
          <a:prstGeom prst="line">
            <a:avLst/>
          </a:prstGeom>
          <a:noFill/>
          <a:ln w="19050">
            <a:solidFill>
              <a:srgbClr val="9A9AB8"/>
            </a:solidFill>
            <a:prstDash val="solid"/>
          </a:ln>
        </p:spPr>
      </p:sp>
      <p:sp>
        <p:nvSpPr>
          <p:cNvPr id="26" name="Text 24"/>
          <p:cNvSpPr/>
          <p:nvPr/>
        </p:nvSpPr>
        <p:spPr>
          <a:xfrm>
            <a:off x="3116275" y="1565627"/>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120</a:t>
            </a:r>
            <a:endParaRPr lang="en-US" sz="900" dirty="0"/>
          </a:p>
        </p:txBody>
      </p:sp>
      <p:sp>
        <p:nvSpPr>
          <p:cNvPr id="27" name="Shape 25"/>
          <p:cNvSpPr/>
          <p:nvPr/>
        </p:nvSpPr>
        <p:spPr>
          <a:xfrm>
            <a:off x="3217789" y="2135155"/>
            <a:ext cx="76409" cy="91061"/>
          </a:xfrm>
          <a:prstGeom prst="line">
            <a:avLst/>
          </a:prstGeom>
          <a:noFill/>
          <a:ln w="9525">
            <a:solidFill>
              <a:srgbClr val="D6D6E4"/>
            </a:solidFill>
            <a:prstDash val="solid"/>
          </a:ln>
        </p:spPr>
      </p:sp>
      <p:sp>
        <p:nvSpPr>
          <p:cNvPr id="28" name="Shape 26"/>
          <p:cNvSpPr/>
          <p:nvPr/>
        </p:nvSpPr>
        <p:spPr>
          <a:xfrm>
            <a:off x="2958115" y="2394829"/>
            <a:ext cx="91061" cy="76409"/>
          </a:xfrm>
          <a:prstGeom prst="line">
            <a:avLst/>
          </a:prstGeom>
          <a:noFill/>
          <a:ln w="9525">
            <a:solidFill>
              <a:srgbClr val="D6D6E4"/>
            </a:solidFill>
            <a:prstDash val="solid"/>
          </a:ln>
        </p:spPr>
      </p:sp>
      <p:sp>
        <p:nvSpPr>
          <p:cNvPr id="29" name="Shape 27"/>
          <p:cNvSpPr/>
          <p:nvPr/>
        </p:nvSpPr>
        <p:spPr>
          <a:xfrm>
            <a:off x="2747477" y="2695651"/>
            <a:ext cx="174217" cy="100584"/>
          </a:xfrm>
          <a:prstGeom prst="line">
            <a:avLst/>
          </a:prstGeom>
          <a:noFill/>
          <a:ln w="19050">
            <a:solidFill>
              <a:srgbClr val="9A9AB8"/>
            </a:solidFill>
            <a:prstDash val="solid"/>
          </a:ln>
        </p:spPr>
      </p:sp>
      <p:sp>
        <p:nvSpPr>
          <p:cNvPr id="30" name="Text 28"/>
          <p:cNvSpPr/>
          <p:nvPr/>
        </p:nvSpPr>
        <p:spPr>
          <a:xfrm>
            <a:off x="2251427" y="2430475"/>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150</a:t>
            </a:r>
            <a:endParaRPr lang="en-US" sz="900" dirty="0"/>
          </a:p>
        </p:txBody>
      </p:sp>
      <p:sp>
        <p:nvSpPr>
          <p:cNvPr id="31" name="Shape 29"/>
          <p:cNvSpPr/>
          <p:nvPr/>
        </p:nvSpPr>
        <p:spPr>
          <a:xfrm>
            <a:off x="2592277" y="3028480"/>
            <a:ext cx="111703" cy="40657"/>
          </a:xfrm>
          <a:prstGeom prst="line">
            <a:avLst/>
          </a:prstGeom>
          <a:noFill/>
          <a:ln w="9525">
            <a:solidFill>
              <a:srgbClr val="D6D6E4"/>
            </a:solidFill>
            <a:prstDash val="solid"/>
          </a:ln>
        </p:spPr>
      </p:sp>
      <p:sp>
        <p:nvSpPr>
          <p:cNvPr id="32" name="Shape 30"/>
          <p:cNvSpPr/>
          <p:nvPr/>
        </p:nvSpPr>
        <p:spPr>
          <a:xfrm>
            <a:off x="2497229" y="3383202"/>
            <a:ext cx="117066" cy="20642"/>
          </a:xfrm>
          <a:prstGeom prst="line">
            <a:avLst/>
          </a:prstGeom>
          <a:noFill/>
          <a:ln w="9525">
            <a:solidFill>
              <a:srgbClr val="D6D6E4"/>
            </a:solidFill>
            <a:prstDash val="solid"/>
          </a:ln>
        </p:spPr>
      </p:sp>
      <p:sp>
        <p:nvSpPr>
          <p:cNvPr id="33" name="Shape 31"/>
          <p:cNvSpPr/>
          <p:nvPr/>
        </p:nvSpPr>
        <p:spPr>
          <a:xfrm>
            <a:off x="2465222" y="3749040"/>
            <a:ext cx="201168" cy="914"/>
          </a:xfrm>
          <a:prstGeom prst="line">
            <a:avLst/>
          </a:prstGeom>
          <a:noFill/>
          <a:ln w="19050">
            <a:solidFill>
              <a:srgbClr val="9A9AB8"/>
            </a:solidFill>
            <a:prstDash val="solid"/>
          </a:ln>
        </p:spPr>
      </p:sp>
      <p:sp>
        <p:nvSpPr>
          <p:cNvPr id="34" name="Text 32"/>
          <p:cNvSpPr/>
          <p:nvPr/>
        </p:nvSpPr>
        <p:spPr>
          <a:xfrm>
            <a:off x="1934870" y="3611880"/>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180</a:t>
            </a:r>
            <a:endParaRPr lang="en-US" sz="900" dirty="0"/>
          </a:p>
        </p:txBody>
      </p:sp>
      <p:sp>
        <p:nvSpPr>
          <p:cNvPr id="35" name="Shape 33"/>
          <p:cNvSpPr/>
          <p:nvPr/>
        </p:nvSpPr>
        <p:spPr>
          <a:xfrm>
            <a:off x="3380183" y="1770129"/>
            <a:ext cx="3104708" cy="1978911"/>
          </a:xfrm>
          <a:custGeom>
            <a:avLst/>
            <a:gdLst/>
            <a:ahLst/>
            <a:cxnLst/>
            <a:rect l="l" t="t" r="r" b="b"/>
            <a:pathLst>
              <a:path w="3104708" h="1978911">
                <a:moveTo>
                  <a:pt x="1191817" y="1978911"/>
                </a:moveTo>
                <a:lnTo>
                  <a:pt x="3104708" y="1466354"/>
                </a:lnTo>
                <a:lnTo>
                  <a:pt x="3045562" y="1282134"/>
                </a:lnTo>
                <a:lnTo>
                  <a:pt x="2968721" y="1104566"/>
                </a:lnTo>
                <a:lnTo>
                  <a:pt x="2874920" y="935343"/>
                </a:lnTo>
                <a:lnTo>
                  <a:pt x="2765053" y="776082"/>
                </a:lnTo>
                <a:lnTo>
                  <a:pt x="2640169" y="628302"/>
                </a:lnTo>
                <a:lnTo>
                  <a:pt x="2501460" y="493413"/>
                </a:lnTo>
                <a:lnTo>
                  <a:pt x="2350250" y="372704"/>
                </a:lnTo>
                <a:lnTo>
                  <a:pt x="2187983" y="267327"/>
                </a:lnTo>
                <a:lnTo>
                  <a:pt x="2016207" y="178286"/>
                </a:lnTo>
                <a:lnTo>
                  <a:pt x="1836563" y="106434"/>
                </a:lnTo>
                <a:lnTo>
                  <a:pt x="1650764" y="52454"/>
                </a:lnTo>
                <a:lnTo>
                  <a:pt x="1460584" y="16863"/>
                </a:lnTo>
                <a:lnTo>
                  <a:pt x="1267839" y="0"/>
                </a:lnTo>
                <a:lnTo>
                  <a:pt x="1074368" y="2026"/>
                </a:lnTo>
                <a:lnTo>
                  <a:pt x="882019" y="22922"/>
                </a:lnTo>
                <a:lnTo>
                  <a:pt x="692626" y="62488"/>
                </a:lnTo>
                <a:lnTo>
                  <a:pt x="507998" y="120347"/>
                </a:lnTo>
                <a:lnTo>
                  <a:pt x="329898" y="195946"/>
                </a:lnTo>
                <a:lnTo>
                  <a:pt x="160025" y="288564"/>
                </a:lnTo>
                <a:lnTo>
                  <a:pt x="0" y="397317"/>
                </a:lnTo>
                <a:close/>
              </a:path>
            </a:pathLst>
          </a:custGeom>
          <a:solidFill>
            <a:srgbClr val="C05818"/>
          </a:solidFill>
          <a:ln w="15875">
            <a:solidFill>
              <a:srgbClr val="FFFFFF"/>
            </a:solidFill>
            <a:prstDash val="solid"/>
          </a:ln>
        </p:spPr>
      </p:sp>
      <p:sp>
        <p:nvSpPr>
          <p:cNvPr id="36" name="Shape 34"/>
          <p:cNvSpPr/>
          <p:nvPr/>
        </p:nvSpPr>
        <p:spPr>
          <a:xfrm>
            <a:off x="4090202" y="2948478"/>
            <a:ext cx="1255095" cy="593358"/>
          </a:xfrm>
          <a:custGeom>
            <a:avLst/>
            <a:gdLst/>
            <a:ahLst/>
            <a:cxnLst/>
            <a:rect l="l" t="t" r="r" b="b"/>
            <a:pathLst>
              <a:path w="1255095" h="593358">
                <a:moveTo>
                  <a:pt x="1255095" y="593358"/>
                </a:moveTo>
                <a:lnTo>
                  <a:pt x="1235673" y="531130"/>
                </a:lnTo>
                <a:lnTo>
                  <a:pt x="1211254" y="470689"/>
                </a:lnTo>
                <a:lnTo>
                  <a:pt x="1181997" y="412435"/>
                </a:lnTo>
                <a:lnTo>
                  <a:pt x="1148099" y="356755"/>
                </a:lnTo>
                <a:lnTo>
                  <a:pt x="1109782" y="304017"/>
                </a:lnTo>
                <a:lnTo>
                  <a:pt x="1067302" y="254571"/>
                </a:lnTo>
                <a:lnTo>
                  <a:pt x="1020940" y="208745"/>
                </a:lnTo>
                <a:lnTo>
                  <a:pt x="971003" y="166843"/>
                </a:lnTo>
                <a:lnTo>
                  <a:pt x="917823" y="129143"/>
                </a:lnTo>
                <a:lnTo>
                  <a:pt x="861752" y="95894"/>
                </a:lnTo>
                <a:lnTo>
                  <a:pt x="803161" y="67318"/>
                </a:lnTo>
                <a:lnTo>
                  <a:pt x="742440" y="43603"/>
                </a:lnTo>
                <a:lnTo>
                  <a:pt x="679991" y="24907"/>
                </a:lnTo>
                <a:lnTo>
                  <a:pt x="616228" y="11354"/>
                </a:lnTo>
                <a:lnTo>
                  <a:pt x="551573" y="3033"/>
                </a:lnTo>
                <a:lnTo>
                  <a:pt x="486456" y="0"/>
                </a:lnTo>
                <a:lnTo>
                  <a:pt x="421308" y="2275"/>
                </a:lnTo>
                <a:lnTo>
                  <a:pt x="356561" y="9843"/>
                </a:lnTo>
                <a:lnTo>
                  <a:pt x="292644" y="22653"/>
                </a:lnTo>
                <a:lnTo>
                  <a:pt x="229982" y="40622"/>
                </a:lnTo>
                <a:lnTo>
                  <a:pt x="168989" y="63628"/>
                </a:lnTo>
                <a:lnTo>
                  <a:pt x="110070" y="91521"/>
                </a:lnTo>
                <a:lnTo>
                  <a:pt x="53615" y="124115"/>
                </a:lnTo>
                <a:lnTo>
                  <a:pt x="0" y="161194"/>
                </a:lnTo>
              </a:path>
            </a:pathLst>
          </a:custGeom>
          <a:solidFill>
            <a:srgbClr val="FFFFFF">
              <a:alpha val="0"/>
            </a:srgbClr>
          </a:solidFill>
          <a:ln w="38100">
            <a:solidFill>
              <a:srgbClr val="C05818"/>
            </a:solidFill>
            <a:prstDash val="solid"/>
          </a:ln>
        </p:spPr>
      </p:sp>
      <p:sp>
        <p:nvSpPr>
          <p:cNvPr id="37" name="Shape 35"/>
          <p:cNvSpPr/>
          <p:nvPr/>
        </p:nvSpPr>
        <p:spPr>
          <a:xfrm flipV="1">
            <a:off x="4572000" y="3203766"/>
            <a:ext cx="2034991" cy="545274"/>
          </a:xfrm>
          <a:prstGeom prst="line">
            <a:avLst/>
          </a:prstGeom>
          <a:noFill/>
          <a:ln w="38100">
            <a:solidFill>
              <a:srgbClr val="1B2A4A"/>
            </a:solidFill>
            <a:prstDash val="solid"/>
          </a:ln>
        </p:spPr>
      </p:sp>
      <p:sp>
        <p:nvSpPr>
          <p:cNvPr id="38" name="Shape 36"/>
          <p:cNvSpPr/>
          <p:nvPr/>
        </p:nvSpPr>
        <p:spPr>
          <a:xfrm>
            <a:off x="3304110" y="2066493"/>
            <a:ext cx="1267890" cy="1682547"/>
          </a:xfrm>
          <a:prstGeom prst="line">
            <a:avLst/>
          </a:prstGeom>
          <a:noFill/>
          <a:ln w="38100">
            <a:solidFill>
              <a:srgbClr val="1B2A4A"/>
            </a:solidFill>
            <a:prstDash val="solid"/>
          </a:ln>
        </p:spPr>
      </p:sp>
      <p:sp>
        <p:nvSpPr>
          <p:cNvPr id="39" name="Shape 37"/>
          <p:cNvSpPr/>
          <p:nvPr/>
        </p:nvSpPr>
        <p:spPr>
          <a:xfrm>
            <a:off x="4517136" y="3694176"/>
            <a:ext cx="109728" cy="109728"/>
          </a:xfrm>
          <a:prstGeom prst="ellipse">
            <a:avLst/>
          </a:prstGeom>
          <a:solidFill>
            <a:srgbClr val="1B2A4A"/>
          </a:solidFill>
          <a:ln w="12700">
            <a:solidFill>
              <a:srgbClr val="FFFFFF"/>
            </a:solidFill>
            <a:prstDash val="solid"/>
          </a:ln>
        </p:spPr>
      </p:sp>
      <p:sp>
        <p:nvSpPr>
          <p:cNvPr id="40" name="Text 38"/>
          <p:cNvSpPr/>
          <p:nvPr/>
        </p:nvSpPr>
        <p:spPr>
          <a:xfrm>
            <a:off x="4114800" y="3822192"/>
            <a:ext cx="914400" cy="274320"/>
          </a:xfrm>
          <a:prstGeom prst="rect">
            <a:avLst/>
          </a:prstGeom>
          <a:noFill/>
          <a:ln/>
        </p:spPr>
        <p:txBody>
          <a:bodyPr wrap="square" lIns="0" tIns="0" rIns="0" bIns="0" rtlCol="0" anchor="ctr"/>
          <a:lstStyle/>
          <a:p>
            <a:pPr algn="ctr" indent="0" marL="0">
              <a:buNone/>
            </a:pPr>
            <a:r>
              <a:rPr lang="en-US" sz="1200" b="1" dirty="0">
                <a:solidFill>
                  <a:srgbClr val="1B2A4A"/>
                </a:solidFill>
              </a:rPr>
              <a:t>vertex</a:t>
            </a:r>
            <a:endParaRPr lang="en-US" sz="1200" dirty="0"/>
          </a:p>
        </p:txBody>
      </p:sp>
      <p:sp>
        <p:nvSpPr>
          <p:cNvPr id="41" name="Shape 39"/>
          <p:cNvSpPr/>
          <p:nvPr/>
        </p:nvSpPr>
        <p:spPr>
          <a:xfrm>
            <a:off x="4540242" y="2463368"/>
            <a:ext cx="822960" cy="365760"/>
          </a:xfrm>
          <a:prstGeom prst="roundRect">
            <a:avLst>
              <a:gd name="adj" fmla="val 15000"/>
            </a:avLst>
          </a:prstGeom>
          <a:solidFill>
            <a:srgbClr val="C05818"/>
          </a:solidFill>
          <a:ln w="12700">
            <a:solidFill>
              <a:srgbClr val="C05818"/>
            </a:solidFill>
            <a:prstDash val="solid"/>
          </a:ln>
        </p:spPr>
      </p:sp>
      <p:sp>
        <p:nvSpPr>
          <p:cNvPr id="42" name="Text 40"/>
          <p:cNvSpPr/>
          <p:nvPr/>
        </p:nvSpPr>
        <p:spPr>
          <a:xfrm>
            <a:off x="4540242" y="2463368"/>
            <a:ext cx="822960" cy="365760"/>
          </a:xfrm>
          <a:prstGeom prst="rect">
            <a:avLst/>
          </a:prstGeom>
          <a:noFill/>
          <a:ln/>
        </p:spPr>
        <p:txBody>
          <a:bodyPr wrap="square" lIns="0" tIns="0" rIns="0" bIns="0" rtlCol="0" anchor="ctr"/>
          <a:lstStyle/>
          <a:p>
            <a:pPr algn="ctr" indent="0" marL="0">
              <a:buNone/>
            </a:pPr>
            <a:r>
              <a:rPr lang="en-US" sz="1500" b="1" dirty="0">
                <a:solidFill>
                  <a:srgbClr val="FFFFFF"/>
                </a:solidFill>
              </a:rPr>
              <a:t>112°</a:t>
            </a:r>
            <a:endParaRPr lang="en-US" sz="1500" dirty="0"/>
          </a:p>
        </p:txBody>
      </p:sp>
      <p:sp>
        <p:nvSpPr>
          <p:cNvPr id="43" name="Text 41"/>
          <p:cNvSpPr/>
          <p:nvPr/>
        </p:nvSpPr>
        <p:spPr>
          <a:xfrm>
            <a:off x="914400" y="4233672"/>
            <a:ext cx="7315200" cy="274320"/>
          </a:xfrm>
          <a:prstGeom prst="rect">
            <a:avLst/>
          </a:prstGeom>
          <a:noFill/>
          <a:ln/>
        </p:spPr>
        <p:txBody>
          <a:bodyPr wrap="square" lIns="0" tIns="0" rIns="0" bIns="0" rtlCol="0" anchor="ctr"/>
          <a:lstStyle/>
          <a:p>
            <a:pPr algn="ctr" indent="0" marL="0">
              <a:buNone/>
            </a:pPr>
            <a:r>
              <a:rPr lang="en-US" sz="1100" i="1" dirty="0">
                <a:solidFill>
                  <a:srgbClr val="5A5A7A"/>
                </a:solidFill>
              </a:rPr>
              <a:t>112° -- is this angle acute, right, obtuse, or straight?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Guided Practice C: Draw an Exact Angle</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Teacher-Led</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14400"/>
            <a:ext cx="1920240" cy="292608"/>
          </a:xfrm>
          <a:prstGeom prst="roundRect">
            <a:avLst>
              <a:gd name="adj" fmla="val 18750"/>
            </a:avLst>
          </a:prstGeom>
          <a:solidFill>
            <a:srgbClr val="4A3D8F"/>
          </a:solidFill>
          <a:ln w="12700">
            <a:solidFill>
              <a:srgbClr val="4A3D8F"/>
            </a:solidFill>
            <a:prstDash val="solid"/>
          </a:ln>
        </p:spPr>
      </p:sp>
      <p:sp>
        <p:nvSpPr>
          <p:cNvPr id="7" name="Text 5"/>
          <p:cNvSpPr/>
          <p:nvPr/>
        </p:nvSpPr>
        <p:spPr>
          <a:xfrm>
            <a:off x="457200" y="914400"/>
            <a:ext cx="1920240" cy="292608"/>
          </a:xfrm>
          <a:prstGeom prst="rect">
            <a:avLst/>
          </a:prstGeom>
          <a:noFill/>
          <a:ln/>
        </p:spPr>
        <p:txBody>
          <a:bodyPr wrap="square" lIns="0" tIns="0" rIns="0" bIns="0" rtlCol="0" anchor="ctr"/>
          <a:lstStyle/>
          <a:p>
            <a:pPr algn="ctr" indent="0" marL="0">
              <a:buNone/>
            </a:pPr>
            <a:r>
              <a:rPr lang="en-US" sz="800" b="1" spc="150" kern="0" dirty="0">
                <a:solidFill>
                  <a:srgbClr val="FFFFFF"/>
                </a:solidFill>
              </a:rPr>
              <a:t>WATCH &amp; FOLLOW</a:t>
            </a:r>
            <a:endParaRPr lang="en-US" sz="800" dirty="0"/>
          </a:p>
        </p:txBody>
      </p:sp>
      <p:sp>
        <p:nvSpPr>
          <p:cNvPr id="8" name="Shape 6"/>
          <p:cNvSpPr/>
          <p:nvPr/>
        </p:nvSpPr>
        <p:spPr>
          <a:xfrm>
            <a:off x="457200" y="1325880"/>
            <a:ext cx="4608576" cy="2880360"/>
          </a:xfrm>
          <a:prstGeom prst="roundRect">
            <a:avLst>
              <a:gd name="adj" fmla="val 3175"/>
            </a:avLst>
          </a:prstGeom>
          <a:solidFill>
            <a:srgbClr val="FFFFFF"/>
          </a:solidFill>
          <a:ln w="6350">
            <a:solidFill>
              <a:srgbClr val="DDDDEE"/>
            </a:solidFill>
            <a:prstDash val="solid"/>
          </a:ln>
        </p:spPr>
      </p:sp>
      <p:sp>
        <p:nvSpPr>
          <p:cNvPr id="9" name="Shape 7"/>
          <p:cNvSpPr/>
          <p:nvPr/>
        </p:nvSpPr>
        <p:spPr>
          <a:xfrm>
            <a:off x="777240" y="1325880"/>
            <a:ext cx="0" cy="2880360"/>
          </a:xfrm>
          <a:prstGeom prst="line">
            <a:avLst/>
          </a:prstGeom>
          <a:noFill/>
          <a:ln w="6350">
            <a:solidFill>
              <a:srgbClr val="E6E6F0"/>
            </a:solidFill>
            <a:prstDash val="solid"/>
          </a:ln>
        </p:spPr>
      </p:sp>
      <p:sp>
        <p:nvSpPr>
          <p:cNvPr id="10" name="Shape 8"/>
          <p:cNvSpPr/>
          <p:nvPr/>
        </p:nvSpPr>
        <p:spPr>
          <a:xfrm>
            <a:off x="1097280" y="1325880"/>
            <a:ext cx="0" cy="2880360"/>
          </a:xfrm>
          <a:prstGeom prst="line">
            <a:avLst/>
          </a:prstGeom>
          <a:noFill/>
          <a:ln w="6350">
            <a:solidFill>
              <a:srgbClr val="E6E6F0"/>
            </a:solidFill>
            <a:prstDash val="solid"/>
          </a:ln>
        </p:spPr>
      </p:sp>
      <p:sp>
        <p:nvSpPr>
          <p:cNvPr id="11" name="Shape 9"/>
          <p:cNvSpPr/>
          <p:nvPr/>
        </p:nvSpPr>
        <p:spPr>
          <a:xfrm>
            <a:off x="1417320" y="1325880"/>
            <a:ext cx="0" cy="2880360"/>
          </a:xfrm>
          <a:prstGeom prst="line">
            <a:avLst/>
          </a:prstGeom>
          <a:noFill/>
          <a:ln w="6350">
            <a:solidFill>
              <a:srgbClr val="E6E6F0"/>
            </a:solidFill>
            <a:prstDash val="solid"/>
          </a:ln>
        </p:spPr>
      </p:sp>
      <p:sp>
        <p:nvSpPr>
          <p:cNvPr id="12" name="Shape 10"/>
          <p:cNvSpPr/>
          <p:nvPr/>
        </p:nvSpPr>
        <p:spPr>
          <a:xfrm>
            <a:off x="1737360" y="1325880"/>
            <a:ext cx="0" cy="2880360"/>
          </a:xfrm>
          <a:prstGeom prst="line">
            <a:avLst/>
          </a:prstGeom>
          <a:noFill/>
          <a:ln w="6350">
            <a:solidFill>
              <a:srgbClr val="E6E6F0"/>
            </a:solidFill>
            <a:prstDash val="solid"/>
          </a:ln>
        </p:spPr>
      </p:sp>
      <p:sp>
        <p:nvSpPr>
          <p:cNvPr id="13" name="Shape 11"/>
          <p:cNvSpPr/>
          <p:nvPr/>
        </p:nvSpPr>
        <p:spPr>
          <a:xfrm>
            <a:off x="2057400" y="1325880"/>
            <a:ext cx="0" cy="2880360"/>
          </a:xfrm>
          <a:prstGeom prst="line">
            <a:avLst/>
          </a:prstGeom>
          <a:noFill/>
          <a:ln w="6350">
            <a:solidFill>
              <a:srgbClr val="E6E6F0"/>
            </a:solidFill>
            <a:prstDash val="solid"/>
          </a:ln>
        </p:spPr>
      </p:sp>
      <p:sp>
        <p:nvSpPr>
          <p:cNvPr id="14" name="Shape 12"/>
          <p:cNvSpPr/>
          <p:nvPr/>
        </p:nvSpPr>
        <p:spPr>
          <a:xfrm>
            <a:off x="2377440" y="1325880"/>
            <a:ext cx="0" cy="2880360"/>
          </a:xfrm>
          <a:prstGeom prst="line">
            <a:avLst/>
          </a:prstGeom>
          <a:noFill/>
          <a:ln w="6350">
            <a:solidFill>
              <a:srgbClr val="E6E6F0"/>
            </a:solidFill>
            <a:prstDash val="solid"/>
          </a:ln>
        </p:spPr>
      </p:sp>
      <p:sp>
        <p:nvSpPr>
          <p:cNvPr id="15" name="Shape 13"/>
          <p:cNvSpPr/>
          <p:nvPr/>
        </p:nvSpPr>
        <p:spPr>
          <a:xfrm>
            <a:off x="2697480" y="1325880"/>
            <a:ext cx="0" cy="2880360"/>
          </a:xfrm>
          <a:prstGeom prst="line">
            <a:avLst/>
          </a:prstGeom>
          <a:noFill/>
          <a:ln w="6350">
            <a:solidFill>
              <a:srgbClr val="E6E6F0"/>
            </a:solidFill>
            <a:prstDash val="solid"/>
          </a:ln>
        </p:spPr>
      </p:sp>
      <p:sp>
        <p:nvSpPr>
          <p:cNvPr id="16" name="Shape 14"/>
          <p:cNvSpPr/>
          <p:nvPr/>
        </p:nvSpPr>
        <p:spPr>
          <a:xfrm>
            <a:off x="3017520" y="1325880"/>
            <a:ext cx="0" cy="2880360"/>
          </a:xfrm>
          <a:prstGeom prst="line">
            <a:avLst/>
          </a:prstGeom>
          <a:noFill/>
          <a:ln w="6350">
            <a:solidFill>
              <a:srgbClr val="E6E6F0"/>
            </a:solidFill>
            <a:prstDash val="solid"/>
          </a:ln>
        </p:spPr>
      </p:sp>
      <p:sp>
        <p:nvSpPr>
          <p:cNvPr id="17" name="Shape 15"/>
          <p:cNvSpPr/>
          <p:nvPr/>
        </p:nvSpPr>
        <p:spPr>
          <a:xfrm>
            <a:off x="3337560" y="1325880"/>
            <a:ext cx="0" cy="2880360"/>
          </a:xfrm>
          <a:prstGeom prst="line">
            <a:avLst/>
          </a:prstGeom>
          <a:noFill/>
          <a:ln w="6350">
            <a:solidFill>
              <a:srgbClr val="E6E6F0"/>
            </a:solidFill>
            <a:prstDash val="solid"/>
          </a:ln>
        </p:spPr>
      </p:sp>
      <p:sp>
        <p:nvSpPr>
          <p:cNvPr id="18" name="Shape 16"/>
          <p:cNvSpPr/>
          <p:nvPr/>
        </p:nvSpPr>
        <p:spPr>
          <a:xfrm>
            <a:off x="3657600" y="1325880"/>
            <a:ext cx="0" cy="2880360"/>
          </a:xfrm>
          <a:prstGeom prst="line">
            <a:avLst/>
          </a:prstGeom>
          <a:noFill/>
          <a:ln w="6350">
            <a:solidFill>
              <a:srgbClr val="E6E6F0"/>
            </a:solidFill>
            <a:prstDash val="solid"/>
          </a:ln>
        </p:spPr>
      </p:sp>
      <p:sp>
        <p:nvSpPr>
          <p:cNvPr id="19" name="Shape 17"/>
          <p:cNvSpPr/>
          <p:nvPr/>
        </p:nvSpPr>
        <p:spPr>
          <a:xfrm>
            <a:off x="3977640" y="1325880"/>
            <a:ext cx="0" cy="2880360"/>
          </a:xfrm>
          <a:prstGeom prst="line">
            <a:avLst/>
          </a:prstGeom>
          <a:noFill/>
          <a:ln w="6350">
            <a:solidFill>
              <a:srgbClr val="E6E6F0"/>
            </a:solidFill>
            <a:prstDash val="solid"/>
          </a:ln>
        </p:spPr>
      </p:sp>
      <p:sp>
        <p:nvSpPr>
          <p:cNvPr id="20" name="Shape 18"/>
          <p:cNvSpPr/>
          <p:nvPr/>
        </p:nvSpPr>
        <p:spPr>
          <a:xfrm>
            <a:off x="4297680" y="1325880"/>
            <a:ext cx="0" cy="2880360"/>
          </a:xfrm>
          <a:prstGeom prst="line">
            <a:avLst/>
          </a:prstGeom>
          <a:noFill/>
          <a:ln w="6350">
            <a:solidFill>
              <a:srgbClr val="E6E6F0"/>
            </a:solidFill>
            <a:prstDash val="solid"/>
          </a:ln>
        </p:spPr>
      </p:sp>
      <p:sp>
        <p:nvSpPr>
          <p:cNvPr id="21" name="Shape 19"/>
          <p:cNvSpPr/>
          <p:nvPr/>
        </p:nvSpPr>
        <p:spPr>
          <a:xfrm>
            <a:off x="4617720" y="1325880"/>
            <a:ext cx="0" cy="2880360"/>
          </a:xfrm>
          <a:prstGeom prst="line">
            <a:avLst/>
          </a:prstGeom>
          <a:noFill/>
          <a:ln w="6350">
            <a:solidFill>
              <a:srgbClr val="E6E6F0"/>
            </a:solidFill>
            <a:prstDash val="solid"/>
          </a:ln>
        </p:spPr>
      </p:sp>
      <p:sp>
        <p:nvSpPr>
          <p:cNvPr id="22" name="Shape 20"/>
          <p:cNvSpPr/>
          <p:nvPr/>
        </p:nvSpPr>
        <p:spPr>
          <a:xfrm>
            <a:off x="4937760" y="1325880"/>
            <a:ext cx="0" cy="2880360"/>
          </a:xfrm>
          <a:prstGeom prst="line">
            <a:avLst/>
          </a:prstGeom>
          <a:noFill/>
          <a:ln w="6350">
            <a:solidFill>
              <a:srgbClr val="E6E6F0"/>
            </a:solidFill>
            <a:prstDash val="solid"/>
          </a:ln>
        </p:spPr>
      </p:sp>
      <p:sp>
        <p:nvSpPr>
          <p:cNvPr id="23" name="Shape 21"/>
          <p:cNvSpPr/>
          <p:nvPr/>
        </p:nvSpPr>
        <p:spPr>
          <a:xfrm>
            <a:off x="457200" y="1645920"/>
            <a:ext cx="4608576" cy="0"/>
          </a:xfrm>
          <a:prstGeom prst="line">
            <a:avLst/>
          </a:prstGeom>
          <a:noFill/>
          <a:ln w="6350">
            <a:solidFill>
              <a:srgbClr val="E6E6F0"/>
            </a:solidFill>
            <a:prstDash val="solid"/>
          </a:ln>
        </p:spPr>
      </p:sp>
      <p:sp>
        <p:nvSpPr>
          <p:cNvPr id="24" name="Shape 22"/>
          <p:cNvSpPr/>
          <p:nvPr/>
        </p:nvSpPr>
        <p:spPr>
          <a:xfrm>
            <a:off x="457200" y="1965960"/>
            <a:ext cx="4608576" cy="0"/>
          </a:xfrm>
          <a:prstGeom prst="line">
            <a:avLst/>
          </a:prstGeom>
          <a:noFill/>
          <a:ln w="6350">
            <a:solidFill>
              <a:srgbClr val="E6E6F0"/>
            </a:solidFill>
            <a:prstDash val="solid"/>
          </a:ln>
        </p:spPr>
      </p:sp>
      <p:sp>
        <p:nvSpPr>
          <p:cNvPr id="25" name="Shape 23"/>
          <p:cNvSpPr/>
          <p:nvPr/>
        </p:nvSpPr>
        <p:spPr>
          <a:xfrm>
            <a:off x="457200" y="2286000"/>
            <a:ext cx="4608576" cy="0"/>
          </a:xfrm>
          <a:prstGeom prst="line">
            <a:avLst/>
          </a:prstGeom>
          <a:noFill/>
          <a:ln w="6350">
            <a:solidFill>
              <a:srgbClr val="E6E6F0"/>
            </a:solidFill>
            <a:prstDash val="solid"/>
          </a:ln>
        </p:spPr>
      </p:sp>
      <p:sp>
        <p:nvSpPr>
          <p:cNvPr id="26" name="Shape 24"/>
          <p:cNvSpPr/>
          <p:nvPr/>
        </p:nvSpPr>
        <p:spPr>
          <a:xfrm>
            <a:off x="457200" y="2606040"/>
            <a:ext cx="4608576" cy="0"/>
          </a:xfrm>
          <a:prstGeom prst="line">
            <a:avLst/>
          </a:prstGeom>
          <a:noFill/>
          <a:ln w="6350">
            <a:solidFill>
              <a:srgbClr val="E6E6F0"/>
            </a:solidFill>
            <a:prstDash val="solid"/>
          </a:ln>
        </p:spPr>
      </p:sp>
      <p:sp>
        <p:nvSpPr>
          <p:cNvPr id="27" name="Shape 25"/>
          <p:cNvSpPr/>
          <p:nvPr/>
        </p:nvSpPr>
        <p:spPr>
          <a:xfrm>
            <a:off x="457200" y="2926080"/>
            <a:ext cx="4608576" cy="0"/>
          </a:xfrm>
          <a:prstGeom prst="line">
            <a:avLst/>
          </a:prstGeom>
          <a:noFill/>
          <a:ln w="6350">
            <a:solidFill>
              <a:srgbClr val="E6E6F0"/>
            </a:solidFill>
            <a:prstDash val="solid"/>
          </a:ln>
        </p:spPr>
      </p:sp>
      <p:sp>
        <p:nvSpPr>
          <p:cNvPr id="28" name="Shape 26"/>
          <p:cNvSpPr/>
          <p:nvPr/>
        </p:nvSpPr>
        <p:spPr>
          <a:xfrm>
            <a:off x="457200" y="3246120"/>
            <a:ext cx="4608576" cy="0"/>
          </a:xfrm>
          <a:prstGeom prst="line">
            <a:avLst/>
          </a:prstGeom>
          <a:noFill/>
          <a:ln w="6350">
            <a:solidFill>
              <a:srgbClr val="E6E6F0"/>
            </a:solidFill>
            <a:prstDash val="solid"/>
          </a:ln>
        </p:spPr>
      </p:sp>
      <p:sp>
        <p:nvSpPr>
          <p:cNvPr id="29" name="Shape 27"/>
          <p:cNvSpPr/>
          <p:nvPr/>
        </p:nvSpPr>
        <p:spPr>
          <a:xfrm>
            <a:off x="457200" y="3566160"/>
            <a:ext cx="4608576" cy="0"/>
          </a:xfrm>
          <a:prstGeom prst="line">
            <a:avLst/>
          </a:prstGeom>
          <a:noFill/>
          <a:ln w="6350">
            <a:solidFill>
              <a:srgbClr val="E6E6F0"/>
            </a:solidFill>
            <a:prstDash val="solid"/>
          </a:ln>
        </p:spPr>
      </p:sp>
      <p:sp>
        <p:nvSpPr>
          <p:cNvPr id="30" name="Shape 28"/>
          <p:cNvSpPr/>
          <p:nvPr/>
        </p:nvSpPr>
        <p:spPr>
          <a:xfrm>
            <a:off x="457200" y="3886200"/>
            <a:ext cx="4608576" cy="0"/>
          </a:xfrm>
          <a:prstGeom prst="line">
            <a:avLst/>
          </a:prstGeom>
          <a:noFill/>
          <a:ln w="6350">
            <a:solidFill>
              <a:srgbClr val="E6E6F0"/>
            </a:solidFill>
            <a:prstDash val="solid"/>
          </a:ln>
        </p:spPr>
      </p:sp>
      <p:sp>
        <p:nvSpPr>
          <p:cNvPr id="31" name="Shape 29"/>
          <p:cNvSpPr/>
          <p:nvPr/>
        </p:nvSpPr>
        <p:spPr>
          <a:xfrm>
            <a:off x="594360" y="3913632"/>
            <a:ext cx="4334256" cy="0"/>
          </a:xfrm>
          <a:prstGeom prst="line">
            <a:avLst/>
          </a:prstGeom>
          <a:noFill/>
          <a:ln w="19050">
            <a:solidFill>
              <a:srgbClr val="1B2A4A"/>
            </a:solidFill>
            <a:prstDash val="solid"/>
          </a:ln>
        </p:spPr>
      </p:sp>
      <p:sp>
        <p:nvSpPr>
          <p:cNvPr id="32" name="Shape 30"/>
          <p:cNvSpPr/>
          <p:nvPr/>
        </p:nvSpPr>
        <p:spPr>
          <a:xfrm>
            <a:off x="594360" y="3840480"/>
            <a:ext cx="0" cy="146304"/>
          </a:xfrm>
          <a:prstGeom prst="line">
            <a:avLst/>
          </a:prstGeom>
          <a:noFill/>
          <a:ln w="12700">
            <a:solidFill>
              <a:srgbClr val="1B2A4A"/>
            </a:solidFill>
            <a:prstDash val="solid"/>
          </a:ln>
        </p:spPr>
      </p:sp>
      <p:sp>
        <p:nvSpPr>
          <p:cNvPr id="33" name="Shape 31"/>
          <p:cNvSpPr/>
          <p:nvPr/>
        </p:nvSpPr>
        <p:spPr>
          <a:xfrm>
            <a:off x="914400" y="3840480"/>
            <a:ext cx="0" cy="146304"/>
          </a:xfrm>
          <a:prstGeom prst="line">
            <a:avLst/>
          </a:prstGeom>
          <a:noFill/>
          <a:ln w="12700">
            <a:solidFill>
              <a:srgbClr val="1B2A4A"/>
            </a:solidFill>
            <a:prstDash val="solid"/>
          </a:ln>
        </p:spPr>
      </p:sp>
      <p:sp>
        <p:nvSpPr>
          <p:cNvPr id="34" name="Shape 32"/>
          <p:cNvSpPr/>
          <p:nvPr/>
        </p:nvSpPr>
        <p:spPr>
          <a:xfrm>
            <a:off x="1234440" y="3840480"/>
            <a:ext cx="0" cy="146304"/>
          </a:xfrm>
          <a:prstGeom prst="line">
            <a:avLst/>
          </a:prstGeom>
          <a:noFill/>
          <a:ln w="12700">
            <a:solidFill>
              <a:srgbClr val="1B2A4A"/>
            </a:solidFill>
            <a:prstDash val="solid"/>
          </a:ln>
        </p:spPr>
      </p:sp>
      <p:sp>
        <p:nvSpPr>
          <p:cNvPr id="35" name="Shape 33"/>
          <p:cNvSpPr/>
          <p:nvPr/>
        </p:nvSpPr>
        <p:spPr>
          <a:xfrm>
            <a:off x="1554480" y="3840480"/>
            <a:ext cx="0" cy="146304"/>
          </a:xfrm>
          <a:prstGeom prst="line">
            <a:avLst/>
          </a:prstGeom>
          <a:noFill/>
          <a:ln w="12700">
            <a:solidFill>
              <a:srgbClr val="1B2A4A"/>
            </a:solidFill>
            <a:prstDash val="solid"/>
          </a:ln>
        </p:spPr>
      </p:sp>
      <p:sp>
        <p:nvSpPr>
          <p:cNvPr id="36" name="Shape 34"/>
          <p:cNvSpPr/>
          <p:nvPr/>
        </p:nvSpPr>
        <p:spPr>
          <a:xfrm>
            <a:off x="1874520" y="3840480"/>
            <a:ext cx="0" cy="146304"/>
          </a:xfrm>
          <a:prstGeom prst="line">
            <a:avLst/>
          </a:prstGeom>
          <a:noFill/>
          <a:ln w="12700">
            <a:solidFill>
              <a:srgbClr val="1B2A4A"/>
            </a:solidFill>
            <a:prstDash val="solid"/>
          </a:ln>
        </p:spPr>
      </p:sp>
      <p:sp>
        <p:nvSpPr>
          <p:cNvPr id="37" name="Shape 35"/>
          <p:cNvSpPr/>
          <p:nvPr/>
        </p:nvSpPr>
        <p:spPr>
          <a:xfrm>
            <a:off x="2194560" y="3840480"/>
            <a:ext cx="0" cy="146304"/>
          </a:xfrm>
          <a:prstGeom prst="line">
            <a:avLst/>
          </a:prstGeom>
          <a:noFill/>
          <a:ln w="12700">
            <a:solidFill>
              <a:srgbClr val="1B2A4A"/>
            </a:solidFill>
            <a:prstDash val="solid"/>
          </a:ln>
        </p:spPr>
      </p:sp>
      <p:sp>
        <p:nvSpPr>
          <p:cNvPr id="38" name="Shape 36"/>
          <p:cNvSpPr/>
          <p:nvPr/>
        </p:nvSpPr>
        <p:spPr>
          <a:xfrm>
            <a:off x="2514600" y="3840480"/>
            <a:ext cx="0" cy="146304"/>
          </a:xfrm>
          <a:prstGeom prst="line">
            <a:avLst/>
          </a:prstGeom>
          <a:noFill/>
          <a:ln w="12700">
            <a:solidFill>
              <a:srgbClr val="1B2A4A"/>
            </a:solidFill>
            <a:prstDash val="solid"/>
          </a:ln>
        </p:spPr>
      </p:sp>
      <p:sp>
        <p:nvSpPr>
          <p:cNvPr id="39" name="Shape 37"/>
          <p:cNvSpPr/>
          <p:nvPr/>
        </p:nvSpPr>
        <p:spPr>
          <a:xfrm>
            <a:off x="2834640" y="3840480"/>
            <a:ext cx="0" cy="146304"/>
          </a:xfrm>
          <a:prstGeom prst="line">
            <a:avLst/>
          </a:prstGeom>
          <a:noFill/>
          <a:ln w="12700">
            <a:solidFill>
              <a:srgbClr val="1B2A4A"/>
            </a:solidFill>
            <a:prstDash val="solid"/>
          </a:ln>
        </p:spPr>
      </p:sp>
      <p:sp>
        <p:nvSpPr>
          <p:cNvPr id="40" name="Shape 38"/>
          <p:cNvSpPr/>
          <p:nvPr/>
        </p:nvSpPr>
        <p:spPr>
          <a:xfrm>
            <a:off x="3154680" y="3840480"/>
            <a:ext cx="0" cy="146304"/>
          </a:xfrm>
          <a:prstGeom prst="line">
            <a:avLst/>
          </a:prstGeom>
          <a:noFill/>
          <a:ln w="12700">
            <a:solidFill>
              <a:srgbClr val="1B2A4A"/>
            </a:solidFill>
            <a:prstDash val="solid"/>
          </a:ln>
        </p:spPr>
      </p:sp>
      <p:sp>
        <p:nvSpPr>
          <p:cNvPr id="41" name="Shape 39"/>
          <p:cNvSpPr/>
          <p:nvPr/>
        </p:nvSpPr>
        <p:spPr>
          <a:xfrm>
            <a:off x="3474720" y="3840480"/>
            <a:ext cx="0" cy="146304"/>
          </a:xfrm>
          <a:prstGeom prst="line">
            <a:avLst/>
          </a:prstGeom>
          <a:noFill/>
          <a:ln w="12700">
            <a:solidFill>
              <a:srgbClr val="1B2A4A"/>
            </a:solidFill>
            <a:prstDash val="solid"/>
          </a:ln>
        </p:spPr>
      </p:sp>
      <p:sp>
        <p:nvSpPr>
          <p:cNvPr id="42" name="Shape 40"/>
          <p:cNvSpPr/>
          <p:nvPr/>
        </p:nvSpPr>
        <p:spPr>
          <a:xfrm>
            <a:off x="3794760" y="3840480"/>
            <a:ext cx="0" cy="146304"/>
          </a:xfrm>
          <a:prstGeom prst="line">
            <a:avLst/>
          </a:prstGeom>
          <a:noFill/>
          <a:ln w="12700">
            <a:solidFill>
              <a:srgbClr val="1B2A4A"/>
            </a:solidFill>
            <a:prstDash val="solid"/>
          </a:ln>
        </p:spPr>
      </p:sp>
      <p:sp>
        <p:nvSpPr>
          <p:cNvPr id="43" name="Shape 41"/>
          <p:cNvSpPr/>
          <p:nvPr/>
        </p:nvSpPr>
        <p:spPr>
          <a:xfrm>
            <a:off x="4114800" y="3840480"/>
            <a:ext cx="0" cy="146304"/>
          </a:xfrm>
          <a:prstGeom prst="line">
            <a:avLst/>
          </a:prstGeom>
          <a:noFill/>
          <a:ln w="12700">
            <a:solidFill>
              <a:srgbClr val="1B2A4A"/>
            </a:solidFill>
            <a:prstDash val="solid"/>
          </a:ln>
        </p:spPr>
      </p:sp>
      <p:sp>
        <p:nvSpPr>
          <p:cNvPr id="44" name="Shape 42"/>
          <p:cNvSpPr/>
          <p:nvPr/>
        </p:nvSpPr>
        <p:spPr>
          <a:xfrm>
            <a:off x="4434840" y="3840480"/>
            <a:ext cx="0" cy="146304"/>
          </a:xfrm>
          <a:prstGeom prst="line">
            <a:avLst/>
          </a:prstGeom>
          <a:noFill/>
          <a:ln w="12700">
            <a:solidFill>
              <a:srgbClr val="1B2A4A"/>
            </a:solidFill>
            <a:prstDash val="solid"/>
          </a:ln>
        </p:spPr>
      </p:sp>
      <p:sp>
        <p:nvSpPr>
          <p:cNvPr id="45" name="Shape 43"/>
          <p:cNvSpPr/>
          <p:nvPr/>
        </p:nvSpPr>
        <p:spPr>
          <a:xfrm>
            <a:off x="4754880" y="3840480"/>
            <a:ext cx="0" cy="146304"/>
          </a:xfrm>
          <a:prstGeom prst="line">
            <a:avLst/>
          </a:prstGeom>
          <a:noFill/>
          <a:ln w="12700">
            <a:solidFill>
              <a:srgbClr val="1B2A4A"/>
            </a:solidFill>
            <a:prstDash val="solid"/>
          </a:ln>
        </p:spPr>
      </p:sp>
      <p:sp>
        <p:nvSpPr>
          <p:cNvPr id="46" name="Text 44"/>
          <p:cNvSpPr/>
          <p:nvPr/>
        </p:nvSpPr>
        <p:spPr>
          <a:xfrm>
            <a:off x="594360" y="3968496"/>
            <a:ext cx="2011680" cy="201168"/>
          </a:xfrm>
          <a:prstGeom prst="rect">
            <a:avLst/>
          </a:prstGeom>
          <a:noFill/>
          <a:ln/>
        </p:spPr>
        <p:txBody>
          <a:bodyPr wrap="square" lIns="0" tIns="0" rIns="0" bIns="0" rtlCol="0" anchor="ctr"/>
          <a:lstStyle/>
          <a:p>
            <a:pPr indent="0" marL="0">
              <a:buNone/>
            </a:pPr>
            <a:r>
              <a:rPr lang="en-US" sz="900" i="1" dirty="0">
                <a:solidFill>
                  <a:srgbClr val="5A5A7A"/>
                </a:solidFill>
              </a:rPr>
              <a:t>ruler (cm)</a:t>
            </a:r>
            <a:endParaRPr lang="en-US" sz="900" dirty="0"/>
          </a:p>
        </p:txBody>
      </p:sp>
      <p:sp>
        <p:nvSpPr>
          <p:cNvPr id="47" name="Shape 45"/>
          <p:cNvSpPr/>
          <p:nvPr/>
        </p:nvSpPr>
        <p:spPr>
          <a:xfrm>
            <a:off x="1691640" y="2011680"/>
            <a:ext cx="91440" cy="914"/>
          </a:xfrm>
          <a:prstGeom prst="line">
            <a:avLst/>
          </a:prstGeom>
          <a:noFill/>
          <a:ln w="15875">
            <a:solidFill>
              <a:srgbClr val="4A3D8F"/>
            </a:solidFill>
            <a:prstDash val="solid"/>
          </a:ln>
        </p:spPr>
      </p:sp>
      <p:sp>
        <p:nvSpPr>
          <p:cNvPr id="48" name="Shape 46"/>
          <p:cNvSpPr/>
          <p:nvPr/>
        </p:nvSpPr>
        <p:spPr>
          <a:xfrm flipV="1">
            <a:off x="1630387" y="1737360"/>
            <a:ext cx="79189" cy="45720"/>
          </a:xfrm>
          <a:prstGeom prst="line">
            <a:avLst/>
          </a:prstGeom>
          <a:noFill/>
          <a:ln w="15875">
            <a:solidFill>
              <a:srgbClr val="4A3D8F"/>
            </a:solidFill>
            <a:prstDash val="solid"/>
          </a:ln>
        </p:spPr>
      </p:sp>
      <p:sp>
        <p:nvSpPr>
          <p:cNvPr id="49" name="Shape 47"/>
          <p:cNvSpPr/>
          <p:nvPr/>
        </p:nvSpPr>
        <p:spPr>
          <a:xfrm flipV="1">
            <a:off x="1463040" y="1536544"/>
            <a:ext cx="45720" cy="79189"/>
          </a:xfrm>
          <a:prstGeom prst="line">
            <a:avLst/>
          </a:prstGeom>
          <a:noFill/>
          <a:ln w="15875">
            <a:solidFill>
              <a:srgbClr val="4A3D8F"/>
            </a:solidFill>
            <a:prstDash val="solid"/>
          </a:ln>
        </p:spPr>
      </p:sp>
      <p:sp>
        <p:nvSpPr>
          <p:cNvPr id="50" name="Shape 48"/>
          <p:cNvSpPr/>
          <p:nvPr/>
        </p:nvSpPr>
        <p:spPr>
          <a:xfrm flipV="1">
            <a:off x="1234440" y="1463040"/>
            <a:ext cx="914" cy="91440"/>
          </a:xfrm>
          <a:prstGeom prst="line">
            <a:avLst/>
          </a:prstGeom>
          <a:noFill/>
          <a:ln w="15875">
            <a:solidFill>
              <a:srgbClr val="4A3D8F"/>
            </a:solidFill>
            <a:prstDash val="solid"/>
          </a:ln>
        </p:spPr>
      </p:sp>
      <p:sp>
        <p:nvSpPr>
          <p:cNvPr id="51" name="Shape 49"/>
          <p:cNvSpPr/>
          <p:nvPr/>
        </p:nvSpPr>
        <p:spPr>
          <a:xfrm>
            <a:off x="960120" y="1536544"/>
            <a:ext cx="45720" cy="79189"/>
          </a:xfrm>
          <a:prstGeom prst="line">
            <a:avLst/>
          </a:prstGeom>
          <a:noFill/>
          <a:ln w="15875">
            <a:solidFill>
              <a:srgbClr val="4A3D8F"/>
            </a:solidFill>
            <a:prstDash val="solid"/>
          </a:ln>
        </p:spPr>
      </p:sp>
      <p:sp>
        <p:nvSpPr>
          <p:cNvPr id="52" name="Shape 50"/>
          <p:cNvSpPr/>
          <p:nvPr/>
        </p:nvSpPr>
        <p:spPr>
          <a:xfrm>
            <a:off x="759304" y="1737360"/>
            <a:ext cx="79189" cy="45720"/>
          </a:xfrm>
          <a:prstGeom prst="line">
            <a:avLst/>
          </a:prstGeom>
          <a:noFill/>
          <a:ln w="15875">
            <a:solidFill>
              <a:srgbClr val="4A3D8F"/>
            </a:solidFill>
            <a:prstDash val="solid"/>
          </a:ln>
        </p:spPr>
      </p:sp>
      <p:sp>
        <p:nvSpPr>
          <p:cNvPr id="53" name="Shape 51"/>
          <p:cNvSpPr/>
          <p:nvPr/>
        </p:nvSpPr>
        <p:spPr>
          <a:xfrm>
            <a:off x="685800" y="2011680"/>
            <a:ext cx="91440" cy="914"/>
          </a:xfrm>
          <a:prstGeom prst="line">
            <a:avLst/>
          </a:prstGeom>
          <a:noFill/>
          <a:ln w="15875">
            <a:solidFill>
              <a:srgbClr val="4A3D8F"/>
            </a:solidFill>
            <a:prstDash val="solid"/>
          </a:ln>
        </p:spPr>
      </p:sp>
      <p:sp>
        <p:nvSpPr>
          <p:cNvPr id="54" name="Shape 52"/>
          <p:cNvSpPr/>
          <p:nvPr/>
        </p:nvSpPr>
        <p:spPr>
          <a:xfrm>
            <a:off x="685800" y="1463040"/>
            <a:ext cx="1097280" cy="548640"/>
          </a:xfrm>
          <a:custGeom>
            <a:avLst/>
            <a:gdLst/>
            <a:ahLst/>
            <a:cxnLst/>
            <a:rect l="l" t="t" r="r" b="b"/>
            <a:pathLst>
              <a:path w="1097280" h="548640">
                <a:moveTo>
                  <a:pt x="1097280" y="548640"/>
                </a:moveTo>
                <a:lnTo>
                  <a:pt x="1092586" y="477028"/>
                </a:lnTo>
                <a:lnTo>
                  <a:pt x="1078586" y="406642"/>
                </a:lnTo>
                <a:lnTo>
                  <a:pt x="1055517" y="338685"/>
                </a:lnTo>
                <a:lnTo>
                  <a:pt x="1023776" y="274320"/>
                </a:lnTo>
                <a:lnTo>
                  <a:pt x="983905" y="214649"/>
                </a:lnTo>
                <a:lnTo>
                  <a:pt x="936587" y="160693"/>
                </a:lnTo>
                <a:lnTo>
                  <a:pt x="882631" y="113375"/>
                </a:lnTo>
                <a:lnTo>
                  <a:pt x="822960" y="73504"/>
                </a:lnTo>
                <a:lnTo>
                  <a:pt x="758595" y="41763"/>
                </a:lnTo>
                <a:lnTo>
                  <a:pt x="690638" y="18694"/>
                </a:lnTo>
                <a:lnTo>
                  <a:pt x="620252" y="4694"/>
                </a:lnTo>
                <a:lnTo>
                  <a:pt x="548640" y="0"/>
                </a:lnTo>
                <a:lnTo>
                  <a:pt x="477028" y="4694"/>
                </a:lnTo>
                <a:lnTo>
                  <a:pt x="406642" y="18694"/>
                </a:lnTo>
                <a:lnTo>
                  <a:pt x="338685" y="41763"/>
                </a:lnTo>
                <a:lnTo>
                  <a:pt x="274320" y="73504"/>
                </a:lnTo>
                <a:lnTo>
                  <a:pt x="214649" y="113375"/>
                </a:lnTo>
                <a:lnTo>
                  <a:pt x="160693" y="160693"/>
                </a:lnTo>
                <a:lnTo>
                  <a:pt x="113375" y="214649"/>
                </a:lnTo>
                <a:lnTo>
                  <a:pt x="73504" y="274320"/>
                </a:lnTo>
                <a:lnTo>
                  <a:pt x="41763" y="338685"/>
                </a:lnTo>
                <a:lnTo>
                  <a:pt x="18694" y="406642"/>
                </a:lnTo>
                <a:lnTo>
                  <a:pt x="4694" y="477028"/>
                </a:lnTo>
                <a:lnTo>
                  <a:pt x="0" y="548640"/>
                </a:lnTo>
              </a:path>
            </a:pathLst>
          </a:custGeom>
          <a:solidFill>
            <a:srgbClr val="FFFFFF">
              <a:alpha val="0"/>
            </a:srgbClr>
          </a:solidFill>
          <a:ln w="19050">
            <a:solidFill>
              <a:srgbClr val="4A3D8F"/>
            </a:solidFill>
            <a:prstDash val="solid"/>
          </a:ln>
        </p:spPr>
      </p:sp>
      <p:sp>
        <p:nvSpPr>
          <p:cNvPr id="55" name="Shape 53"/>
          <p:cNvSpPr/>
          <p:nvPr/>
        </p:nvSpPr>
        <p:spPr>
          <a:xfrm>
            <a:off x="685800" y="2011680"/>
            <a:ext cx="1097280" cy="0"/>
          </a:xfrm>
          <a:prstGeom prst="line">
            <a:avLst/>
          </a:prstGeom>
          <a:noFill/>
          <a:ln w="15875">
            <a:solidFill>
              <a:srgbClr val="4A3D8F"/>
            </a:solidFill>
            <a:prstDash val="solid"/>
          </a:ln>
        </p:spPr>
      </p:sp>
      <p:sp>
        <p:nvSpPr>
          <p:cNvPr id="56" name="Text 54"/>
          <p:cNvSpPr/>
          <p:nvPr/>
        </p:nvSpPr>
        <p:spPr>
          <a:xfrm>
            <a:off x="685800" y="2121408"/>
            <a:ext cx="1097280" cy="201168"/>
          </a:xfrm>
          <a:prstGeom prst="rect">
            <a:avLst/>
          </a:prstGeom>
          <a:noFill/>
          <a:ln/>
        </p:spPr>
        <p:txBody>
          <a:bodyPr wrap="square" lIns="0" tIns="0" rIns="0" bIns="0" rtlCol="0" anchor="ctr"/>
          <a:lstStyle/>
          <a:p>
            <a:pPr algn="ctr" indent="0" marL="0">
              <a:buNone/>
            </a:pPr>
            <a:r>
              <a:rPr lang="en-US" sz="900" i="1" dirty="0">
                <a:solidFill>
                  <a:srgbClr val="5A5A7A"/>
                </a:solidFill>
              </a:rPr>
              <a:t>protractor</a:t>
            </a:r>
            <a:endParaRPr lang="en-US" sz="900" dirty="0"/>
          </a:p>
        </p:txBody>
      </p:sp>
      <p:sp>
        <p:nvSpPr>
          <p:cNvPr id="57" name="Shape 55"/>
          <p:cNvSpPr/>
          <p:nvPr/>
        </p:nvSpPr>
        <p:spPr>
          <a:xfrm>
            <a:off x="5340096" y="1325880"/>
            <a:ext cx="310896" cy="310896"/>
          </a:xfrm>
          <a:prstGeom prst="ellipse">
            <a:avLst/>
          </a:prstGeom>
          <a:solidFill>
            <a:srgbClr val="4A3D8F"/>
          </a:solidFill>
          <a:ln w="12700">
            <a:solidFill>
              <a:srgbClr val="4A3D8F"/>
            </a:solidFill>
            <a:prstDash val="solid"/>
          </a:ln>
        </p:spPr>
      </p:sp>
      <p:sp>
        <p:nvSpPr>
          <p:cNvPr id="58" name="Text 56"/>
          <p:cNvSpPr/>
          <p:nvPr/>
        </p:nvSpPr>
        <p:spPr>
          <a:xfrm>
            <a:off x="5340096" y="13258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9" name="Text 57"/>
          <p:cNvSpPr/>
          <p:nvPr/>
        </p:nvSpPr>
        <p:spPr>
          <a:xfrm>
            <a:off x="5742432" y="1280160"/>
            <a:ext cx="2889504" cy="685800"/>
          </a:xfrm>
          <a:prstGeom prst="rect">
            <a:avLst/>
          </a:prstGeom>
          <a:noFill/>
          <a:ln/>
        </p:spPr>
        <p:txBody>
          <a:bodyPr wrap="square" lIns="0" tIns="0" rIns="0" bIns="0" rtlCol="0" anchor="ctr"/>
          <a:lstStyle/>
          <a:p>
            <a:pPr indent="0" marL="0">
              <a:buNone/>
            </a:pPr>
            <a:r>
              <a:rPr lang="en-US" sz="1150" dirty="0">
                <a:solidFill>
                  <a:srgbClr val="1A1A2E"/>
                </a:solidFill>
                <a:latin typeface="Cambria" pitchFamily="34" charset="0"/>
                <a:ea typeface="Cambria" pitchFamily="34" charset="-122"/>
                <a:cs typeface="Cambria" pitchFamily="34" charset="-120"/>
              </a:rPr>
              <a:t>Draw one ray. Place the protractor's center dot on its endpoint (the vertex).</a:t>
            </a:r>
            <a:endParaRPr lang="en-US" sz="1150" dirty="0"/>
          </a:p>
        </p:txBody>
      </p:sp>
      <p:sp>
        <p:nvSpPr>
          <p:cNvPr id="60" name="Shape 58"/>
          <p:cNvSpPr/>
          <p:nvPr/>
        </p:nvSpPr>
        <p:spPr>
          <a:xfrm>
            <a:off x="5340096" y="2148840"/>
            <a:ext cx="310896" cy="310896"/>
          </a:xfrm>
          <a:prstGeom prst="ellipse">
            <a:avLst/>
          </a:prstGeom>
          <a:solidFill>
            <a:srgbClr val="4A3D8F"/>
          </a:solidFill>
          <a:ln w="12700">
            <a:solidFill>
              <a:srgbClr val="4A3D8F"/>
            </a:solidFill>
            <a:prstDash val="solid"/>
          </a:ln>
        </p:spPr>
      </p:sp>
      <p:sp>
        <p:nvSpPr>
          <p:cNvPr id="61" name="Text 59"/>
          <p:cNvSpPr/>
          <p:nvPr/>
        </p:nvSpPr>
        <p:spPr>
          <a:xfrm>
            <a:off x="5340096" y="21488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62" name="Text 60"/>
          <p:cNvSpPr/>
          <p:nvPr/>
        </p:nvSpPr>
        <p:spPr>
          <a:xfrm>
            <a:off x="5742432" y="2103120"/>
            <a:ext cx="2889504" cy="685800"/>
          </a:xfrm>
          <a:prstGeom prst="rect">
            <a:avLst/>
          </a:prstGeom>
          <a:noFill/>
          <a:ln/>
        </p:spPr>
        <p:txBody>
          <a:bodyPr wrap="square" lIns="0" tIns="0" rIns="0" bIns="0" rtlCol="0" anchor="ctr"/>
          <a:lstStyle/>
          <a:p>
            <a:pPr indent="0" marL="0">
              <a:buNone/>
            </a:pPr>
            <a:r>
              <a:rPr lang="en-US" sz="1150" dirty="0">
                <a:solidFill>
                  <a:srgbClr val="1A1A2E"/>
                </a:solidFill>
                <a:latin typeface="Cambria" pitchFamily="34" charset="0"/>
                <a:ea typeface="Cambria" pitchFamily="34" charset="-122"/>
                <a:cs typeface="Cambria" pitchFamily="34" charset="-120"/>
              </a:rPr>
              <a:t>Line up the protractor's zero line with the ray you drew.</a:t>
            </a:r>
            <a:endParaRPr lang="en-US" sz="1150" dirty="0"/>
          </a:p>
        </p:txBody>
      </p:sp>
      <p:sp>
        <p:nvSpPr>
          <p:cNvPr id="63" name="Shape 61"/>
          <p:cNvSpPr/>
          <p:nvPr/>
        </p:nvSpPr>
        <p:spPr>
          <a:xfrm>
            <a:off x="5340096" y="2971800"/>
            <a:ext cx="310896" cy="310896"/>
          </a:xfrm>
          <a:prstGeom prst="ellipse">
            <a:avLst/>
          </a:prstGeom>
          <a:solidFill>
            <a:srgbClr val="4A3D8F"/>
          </a:solidFill>
          <a:ln w="12700">
            <a:solidFill>
              <a:srgbClr val="4A3D8F"/>
            </a:solidFill>
            <a:prstDash val="solid"/>
          </a:ln>
        </p:spPr>
      </p:sp>
      <p:sp>
        <p:nvSpPr>
          <p:cNvPr id="64" name="Text 62"/>
          <p:cNvSpPr/>
          <p:nvPr/>
        </p:nvSpPr>
        <p:spPr>
          <a:xfrm>
            <a:off x="5340096" y="297180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65" name="Text 63"/>
          <p:cNvSpPr/>
          <p:nvPr/>
        </p:nvSpPr>
        <p:spPr>
          <a:xfrm>
            <a:off x="5742432" y="2926080"/>
            <a:ext cx="2889504" cy="685800"/>
          </a:xfrm>
          <a:prstGeom prst="rect">
            <a:avLst/>
          </a:prstGeom>
          <a:noFill/>
          <a:ln/>
        </p:spPr>
        <p:txBody>
          <a:bodyPr wrap="square" lIns="0" tIns="0" rIns="0" bIns="0" rtlCol="0" anchor="ctr"/>
          <a:lstStyle/>
          <a:p>
            <a:pPr indent="0" marL="0">
              <a:buNone/>
            </a:pPr>
            <a:r>
              <a:rPr lang="en-US" sz="1150" dirty="0">
                <a:solidFill>
                  <a:srgbClr val="1A1A2E"/>
                </a:solidFill>
                <a:latin typeface="Cambria" pitchFamily="34" charset="0"/>
                <a:ea typeface="Cambria" pitchFamily="34" charset="-122"/>
                <a:cs typeface="Cambria" pitchFamily="34" charset="-120"/>
              </a:rPr>
              <a:t>Find 135° on the scale and mark a point there.</a:t>
            </a:r>
            <a:endParaRPr lang="en-US" sz="1150" dirty="0"/>
          </a:p>
        </p:txBody>
      </p:sp>
      <p:sp>
        <p:nvSpPr>
          <p:cNvPr id="66" name="Shape 64"/>
          <p:cNvSpPr/>
          <p:nvPr/>
        </p:nvSpPr>
        <p:spPr>
          <a:xfrm>
            <a:off x="5340096" y="3794760"/>
            <a:ext cx="310896" cy="310896"/>
          </a:xfrm>
          <a:prstGeom prst="ellipse">
            <a:avLst/>
          </a:prstGeom>
          <a:solidFill>
            <a:srgbClr val="4A3D8F"/>
          </a:solidFill>
          <a:ln w="12700">
            <a:solidFill>
              <a:srgbClr val="4A3D8F"/>
            </a:solidFill>
            <a:prstDash val="solid"/>
          </a:ln>
        </p:spPr>
      </p:sp>
      <p:sp>
        <p:nvSpPr>
          <p:cNvPr id="67" name="Text 65"/>
          <p:cNvSpPr/>
          <p:nvPr/>
        </p:nvSpPr>
        <p:spPr>
          <a:xfrm>
            <a:off x="5340096" y="379476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68" name="Text 66"/>
          <p:cNvSpPr/>
          <p:nvPr/>
        </p:nvSpPr>
        <p:spPr>
          <a:xfrm>
            <a:off x="5742432" y="3749040"/>
            <a:ext cx="2889504" cy="685800"/>
          </a:xfrm>
          <a:prstGeom prst="rect">
            <a:avLst/>
          </a:prstGeom>
          <a:noFill/>
          <a:ln/>
        </p:spPr>
        <p:txBody>
          <a:bodyPr wrap="square" lIns="0" tIns="0" rIns="0" bIns="0" rtlCol="0" anchor="ctr"/>
          <a:lstStyle/>
          <a:p>
            <a:pPr indent="0" marL="0">
              <a:buNone/>
            </a:pPr>
            <a:r>
              <a:rPr lang="en-US" sz="1150" dirty="0">
                <a:solidFill>
                  <a:srgbClr val="1A1A2E"/>
                </a:solidFill>
                <a:latin typeface="Cambria" pitchFamily="34" charset="0"/>
                <a:ea typeface="Cambria" pitchFamily="34" charset="-122"/>
                <a:cs typeface="Cambria" pitchFamily="34" charset="-120"/>
              </a:rPr>
              <a:t>Draw the second ray from the vertex through that mark.</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Students Try</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Student-Led</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629814" y="3108960"/>
            <a:ext cx="3884371" cy="0"/>
          </a:xfrm>
          <a:prstGeom prst="line">
            <a:avLst/>
          </a:prstGeom>
          <a:noFill/>
          <a:ln w="15875">
            <a:solidFill>
              <a:srgbClr val="C9C9D9"/>
            </a:solidFill>
            <a:prstDash val="solid"/>
          </a:ln>
        </p:spPr>
      </p:sp>
      <p:sp>
        <p:nvSpPr>
          <p:cNvPr id="7" name="Shape 5"/>
          <p:cNvSpPr/>
          <p:nvPr/>
        </p:nvSpPr>
        <p:spPr>
          <a:xfrm>
            <a:off x="6313018" y="3108960"/>
            <a:ext cx="201168" cy="914"/>
          </a:xfrm>
          <a:prstGeom prst="line">
            <a:avLst/>
          </a:prstGeom>
          <a:noFill/>
          <a:ln w="19050">
            <a:solidFill>
              <a:srgbClr val="9A9AB8"/>
            </a:solidFill>
            <a:prstDash val="solid"/>
          </a:ln>
        </p:spPr>
      </p:sp>
      <p:sp>
        <p:nvSpPr>
          <p:cNvPr id="8" name="Text 6"/>
          <p:cNvSpPr/>
          <p:nvPr/>
        </p:nvSpPr>
        <p:spPr>
          <a:xfrm>
            <a:off x="6495898" y="2971800"/>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0</a:t>
            </a:r>
            <a:endParaRPr lang="en-US" sz="900" dirty="0"/>
          </a:p>
        </p:txBody>
      </p:sp>
      <p:sp>
        <p:nvSpPr>
          <p:cNvPr id="9" name="Shape 7"/>
          <p:cNvSpPr/>
          <p:nvPr/>
        </p:nvSpPr>
        <p:spPr>
          <a:xfrm flipV="1">
            <a:off x="6367613" y="2771703"/>
            <a:ext cx="117066" cy="20642"/>
          </a:xfrm>
          <a:prstGeom prst="line">
            <a:avLst/>
          </a:prstGeom>
          <a:noFill/>
          <a:ln w="9525">
            <a:solidFill>
              <a:srgbClr val="D6D6E4"/>
            </a:solidFill>
            <a:prstDash val="solid"/>
          </a:ln>
        </p:spPr>
      </p:sp>
      <p:sp>
        <p:nvSpPr>
          <p:cNvPr id="10" name="Shape 8"/>
          <p:cNvSpPr/>
          <p:nvPr/>
        </p:nvSpPr>
        <p:spPr>
          <a:xfrm flipV="1">
            <a:off x="6285354" y="2444693"/>
            <a:ext cx="111703" cy="40657"/>
          </a:xfrm>
          <a:prstGeom prst="line">
            <a:avLst/>
          </a:prstGeom>
          <a:noFill/>
          <a:ln w="9525">
            <a:solidFill>
              <a:srgbClr val="D6D6E4"/>
            </a:solidFill>
            <a:prstDash val="solid"/>
          </a:ln>
        </p:spPr>
      </p:sp>
      <p:sp>
        <p:nvSpPr>
          <p:cNvPr id="11" name="Shape 9"/>
          <p:cNvSpPr/>
          <p:nvPr/>
        </p:nvSpPr>
        <p:spPr>
          <a:xfrm flipV="1">
            <a:off x="6079765" y="2137867"/>
            <a:ext cx="174217" cy="100584"/>
          </a:xfrm>
          <a:prstGeom prst="line">
            <a:avLst/>
          </a:prstGeom>
          <a:noFill/>
          <a:ln w="19050">
            <a:solidFill>
              <a:srgbClr val="9A9AB8"/>
            </a:solidFill>
            <a:prstDash val="solid"/>
          </a:ln>
        </p:spPr>
      </p:sp>
      <p:sp>
        <p:nvSpPr>
          <p:cNvPr id="12" name="Text 10"/>
          <p:cNvSpPr/>
          <p:nvPr/>
        </p:nvSpPr>
        <p:spPr>
          <a:xfrm>
            <a:off x="6201392" y="1872691"/>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30</a:t>
            </a:r>
            <a:endParaRPr lang="en-US" sz="900" dirty="0"/>
          </a:p>
        </p:txBody>
      </p:sp>
      <p:sp>
        <p:nvSpPr>
          <p:cNvPr id="13" name="Shape 11"/>
          <p:cNvSpPr/>
          <p:nvPr/>
        </p:nvSpPr>
        <p:spPr>
          <a:xfrm flipV="1">
            <a:off x="5968739" y="1860547"/>
            <a:ext cx="91061" cy="76409"/>
          </a:xfrm>
          <a:prstGeom prst="line">
            <a:avLst/>
          </a:prstGeom>
          <a:noFill/>
          <a:ln w="9525">
            <a:solidFill>
              <a:srgbClr val="D6D6E4"/>
            </a:solidFill>
            <a:prstDash val="solid"/>
          </a:ln>
        </p:spPr>
      </p:sp>
      <p:sp>
        <p:nvSpPr>
          <p:cNvPr id="14" name="Shape 12"/>
          <p:cNvSpPr/>
          <p:nvPr/>
        </p:nvSpPr>
        <p:spPr>
          <a:xfrm flipV="1">
            <a:off x="5744003" y="1621160"/>
            <a:ext cx="76409" cy="91061"/>
          </a:xfrm>
          <a:prstGeom prst="line">
            <a:avLst/>
          </a:prstGeom>
          <a:noFill/>
          <a:ln w="9525">
            <a:solidFill>
              <a:srgbClr val="D6D6E4"/>
            </a:solidFill>
            <a:prstDash val="solid"/>
          </a:ln>
        </p:spPr>
      </p:sp>
      <p:sp>
        <p:nvSpPr>
          <p:cNvPr id="15" name="Shape 13"/>
          <p:cNvSpPr/>
          <p:nvPr/>
        </p:nvSpPr>
        <p:spPr>
          <a:xfrm flipV="1">
            <a:off x="5442509" y="1426978"/>
            <a:ext cx="100584" cy="174217"/>
          </a:xfrm>
          <a:prstGeom prst="line">
            <a:avLst/>
          </a:prstGeom>
          <a:noFill/>
          <a:ln w="19050">
            <a:solidFill>
              <a:srgbClr val="9A9AB8"/>
            </a:solidFill>
            <a:prstDash val="solid"/>
          </a:ln>
        </p:spPr>
      </p:sp>
      <p:sp>
        <p:nvSpPr>
          <p:cNvPr id="16" name="Text 14"/>
          <p:cNvSpPr/>
          <p:nvPr/>
        </p:nvSpPr>
        <p:spPr>
          <a:xfrm>
            <a:off x="5396789" y="1068088"/>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60</a:t>
            </a:r>
            <a:endParaRPr lang="en-US" sz="900" dirty="0"/>
          </a:p>
        </p:txBody>
      </p:sp>
      <p:sp>
        <p:nvSpPr>
          <p:cNvPr id="17" name="Shape 15"/>
          <p:cNvSpPr/>
          <p:nvPr/>
        </p:nvSpPr>
        <p:spPr>
          <a:xfrm flipV="1">
            <a:off x="5195610" y="1283903"/>
            <a:ext cx="40657" cy="111703"/>
          </a:xfrm>
          <a:prstGeom prst="line">
            <a:avLst/>
          </a:prstGeom>
          <a:noFill/>
          <a:ln w="9525">
            <a:solidFill>
              <a:srgbClr val="D6D6E4"/>
            </a:solidFill>
            <a:prstDash val="solid"/>
          </a:ln>
        </p:spPr>
      </p:sp>
      <p:sp>
        <p:nvSpPr>
          <p:cNvPr id="18" name="Shape 16"/>
          <p:cNvSpPr/>
          <p:nvPr/>
        </p:nvSpPr>
        <p:spPr>
          <a:xfrm flipV="1">
            <a:off x="4888615" y="1196281"/>
            <a:ext cx="20642" cy="117066"/>
          </a:xfrm>
          <a:prstGeom prst="line">
            <a:avLst/>
          </a:prstGeom>
          <a:noFill/>
          <a:ln w="9525">
            <a:solidFill>
              <a:srgbClr val="D6D6E4"/>
            </a:solidFill>
            <a:prstDash val="solid"/>
          </a:ln>
        </p:spPr>
      </p:sp>
      <p:sp>
        <p:nvSpPr>
          <p:cNvPr id="19" name="Shape 17"/>
          <p:cNvSpPr/>
          <p:nvPr/>
        </p:nvSpPr>
        <p:spPr>
          <a:xfrm flipV="1">
            <a:off x="4572000" y="1166774"/>
            <a:ext cx="914" cy="201168"/>
          </a:xfrm>
          <a:prstGeom prst="line">
            <a:avLst/>
          </a:prstGeom>
          <a:noFill/>
          <a:ln w="19050">
            <a:solidFill>
              <a:srgbClr val="9A9AB8"/>
            </a:solidFill>
            <a:prstDash val="solid"/>
          </a:ln>
        </p:spPr>
      </p:sp>
      <p:sp>
        <p:nvSpPr>
          <p:cNvPr id="20" name="Text 18"/>
          <p:cNvSpPr/>
          <p:nvPr/>
        </p:nvSpPr>
        <p:spPr>
          <a:xfrm>
            <a:off x="4297680" y="773582"/>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90</a:t>
            </a:r>
            <a:endParaRPr lang="en-US" sz="900" dirty="0"/>
          </a:p>
        </p:txBody>
      </p:sp>
      <p:sp>
        <p:nvSpPr>
          <p:cNvPr id="21" name="Shape 19"/>
          <p:cNvSpPr/>
          <p:nvPr/>
        </p:nvSpPr>
        <p:spPr>
          <a:xfrm>
            <a:off x="4234743" y="1196281"/>
            <a:ext cx="20642" cy="117066"/>
          </a:xfrm>
          <a:prstGeom prst="line">
            <a:avLst/>
          </a:prstGeom>
          <a:noFill/>
          <a:ln w="9525">
            <a:solidFill>
              <a:srgbClr val="D6D6E4"/>
            </a:solidFill>
            <a:prstDash val="solid"/>
          </a:ln>
        </p:spPr>
      </p:sp>
      <p:sp>
        <p:nvSpPr>
          <p:cNvPr id="22" name="Shape 20"/>
          <p:cNvSpPr/>
          <p:nvPr/>
        </p:nvSpPr>
        <p:spPr>
          <a:xfrm>
            <a:off x="3907733" y="1283903"/>
            <a:ext cx="40657" cy="111703"/>
          </a:xfrm>
          <a:prstGeom prst="line">
            <a:avLst/>
          </a:prstGeom>
          <a:noFill/>
          <a:ln w="9525">
            <a:solidFill>
              <a:srgbClr val="D6D6E4"/>
            </a:solidFill>
            <a:prstDash val="solid"/>
          </a:ln>
        </p:spPr>
      </p:sp>
      <p:sp>
        <p:nvSpPr>
          <p:cNvPr id="23" name="Shape 21"/>
          <p:cNvSpPr/>
          <p:nvPr/>
        </p:nvSpPr>
        <p:spPr>
          <a:xfrm>
            <a:off x="3600907" y="1426978"/>
            <a:ext cx="100584" cy="174217"/>
          </a:xfrm>
          <a:prstGeom prst="line">
            <a:avLst/>
          </a:prstGeom>
          <a:noFill/>
          <a:ln w="19050">
            <a:solidFill>
              <a:srgbClr val="9A9AB8"/>
            </a:solidFill>
            <a:prstDash val="solid"/>
          </a:ln>
        </p:spPr>
      </p:sp>
      <p:sp>
        <p:nvSpPr>
          <p:cNvPr id="24" name="Text 22"/>
          <p:cNvSpPr/>
          <p:nvPr/>
        </p:nvSpPr>
        <p:spPr>
          <a:xfrm>
            <a:off x="3198571" y="1068088"/>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120</a:t>
            </a:r>
            <a:endParaRPr lang="en-US" sz="900" dirty="0"/>
          </a:p>
        </p:txBody>
      </p:sp>
      <p:sp>
        <p:nvSpPr>
          <p:cNvPr id="25" name="Shape 23"/>
          <p:cNvSpPr/>
          <p:nvPr/>
        </p:nvSpPr>
        <p:spPr>
          <a:xfrm>
            <a:off x="3323587" y="1621160"/>
            <a:ext cx="76409" cy="91061"/>
          </a:xfrm>
          <a:prstGeom prst="line">
            <a:avLst/>
          </a:prstGeom>
          <a:noFill/>
          <a:ln w="9525">
            <a:solidFill>
              <a:srgbClr val="D6D6E4"/>
            </a:solidFill>
            <a:prstDash val="solid"/>
          </a:ln>
        </p:spPr>
      </p:sp>
      <p:sp>
        <p:nvSpPr>
          <p:cNvPr id="26" name="Shape 24"/>
          <p:cNvSpPr/>
          <p:nvPr/>
        </p:nvSpPr>
        <p:spPr>
          <a:xfrm>
            <a:off x="3084200" y="1860547"/>
            <a:ext cx="91061" cy="76409"/>
          </a:xfrm>
          <a:prstGeom prst="line">
            <a:avLst/>
          </a:prstGeom>
          <a:noFill/>
          <a:ln w="9525">
            <a:solidFill>
              <a:srgbClr val="D6D6E4"/>
            </a:solidFill>
            <a:prstDash val="solid"/>
          </a:ln>
        </p:spPr>
      </p:sp>
      <p:sp>
        <p:nvSpPr>
          <p:cNvPr id="27" name="Shape 25"/>
          <p:cNvSpPr/>
          <p:nvPr/>
        </p:nvSpPr>
        <p:spPr>
          <a:xfrm>
            <a:off x="2890018" y="2137867"/>
            <a:ext cx="174217" cy="100584"/>
          </a:xfrm>
          <a:prstGeom prst="line">
            <a:avLst/>
          </a:prstGeom>
          <a:noFill/>
          <a:ln w="19050">
            <a:solidFill>
              <a:srgbClr val="9A9AB8"/>
            </a:solidFill>
            <a:prstDash val="solid"/>
          </a:ln>
        </p:spPr>
      </p:sp>
      <p:sp>
        <p:nvSpPr>
          <p:cNvPr id="28" name="Text 26"/>
          <p:cNvSpPr/>
          <p:nvPr/>
        </p:nvSpPr>
        <p:spPr>
          <a:xfrm>
            <a:off x="2393968" y="1872691"/>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150</a:t>
            </a:r>
            <a:endParaRPr lang="en-US" sz="900" dirty="0"/>
          </a:p>
        </p:txBody>
      </p:sp>
      <p:sp>
        <p:nvSpPr>
          <p:cNvPr id="29" name="Shape 27"/>
          <p:cNvSpPr/>
          <p:nvPr/>
        </p:nvSpPr>
        <p:spPr>
          <a:xfrm>
            <a:off x="2746943" y="2444693"/>
            <a:ext cx="111703" cy="40657"/>
          </a:xfrm>
          <a:prstGeom prst="line">
            <a:avLst/>
          </a:prstGeom>
          <a:noFill/>
          <a:ln w="9525">
            <a:solidFill>
              <a:srgbClr val="D6D6E4"/>
            </a:solidFill>
            <a:prstDash val="solid"/>
          </a:ln>
        </p:spPr>
      </p:sp>
      <p:sp>
        <p:nvSpPr>
          <p:cNvPr id="30" name="Shape 28"/>
          <p:cNvSpPr/>
          <p:nvPr/>
        </p:nvSpPr>
        <p:spPr>
          <a:xfrm>
            <a:off x="2659321" y="2771703"/>
            <a:ext cx="117066" cy="20642"/>
          </a:xfrm>
          <a:prstGeom prst="line">
            <a:avLst/>
          </a:prstGeom>
          <a:noFill/>
          <a:ln w="9525">
            <a:solidFill>
              <a:srgbClr val="D6D6E4"/>
            </a:solidFill>
            <a:prstDash val="solid"/>
          </a:ln>
        </p:spPr>
      </p:sp>
      <p:sp>
        <p:nvSpPr>
          <p:cNvPr id="31" name="Shape 29"/>
          <p:cNvSpPr/>
          <p:nvPr/>
        </p:nvSpPr>
        <p:spPr>
          <a:xfrm>
            <a:off x="2629814" y="3108960"/>
            <a:ext cx="201168" cy="914"/>
          </a:xfrm>
          <a:prstGeom prst="line">
            <a:avLst/>
          </a:prstGeom>
          <a:noFill/>
          <a:ln w="19050">
            <a:solidFill>
              <a:srgbClr val="9A9AB8"/>
            </a:solidFill>
            <a:prstDash val="solid"/>
          </a:ln>
        </p:spPr>
      </p:sp>
      <p:sp>
        <p:nvSpPr>
          <p:cNvPr id="32" name="Text 30"/>
          <p:cNvSpPr/>
          <p:nvPr/>
        </p:nvSpPr>
        <p:spPr>
          <a:xfrm>
            <a:off x="2099462" y="2971800"/>
            <a:ext cx="548640" cy="274320"/>
          </a:xfrm>
          <a:prstGeom prst="rect">
            <a:avLst/>
          </a:prstGeom>
          <a:noFill/>
          <a:ln/>
        </p:spPr>
        <p:txBody>
          <a:bodyPr wrap="square" lIns="0" tIns="0" rIns="0" bIns="0" rtlCol="0" anchor="ctr"/>
          <a:lstStyle/>
          <a:p>
            <a:pPr algn="ctr" indent="0" marL="0">
              <a:buNone/>
            </a:pPr>
            <a:r>
              <a:rPr lang="en-US" sz="900" dirty="0">
                <a:solidFill>
                  <a:srgbClr val="8A8AA8"/>
                </a:solidFill>
              </a:rPr>
              <a:t>180</a:t>
            </a:r>
            <a:endParaRPr lang="en-US" sz="900" dirty="0"/>
          </a:p>
        </p:txBody>
      </p:sp>
      <p:sp>
        <p:nvSpPr>
          <p:cNvPr id="33" name="Shape 31"/>
          <p:cNvSpPr/>
          <p:nvPr/>
        </p:nvSpPr>
        <p:spPr>
          <a:xfrm>
            <a:off x="4099486" y="1283462"/>
            <a:ext cx="2270433" cy="1825498"/>
          </a:xfrm>
          <a:custGeom>
            <a:avLst/>
            <a:gdLst/>
            <a:ahLst/>
            <a:cxnLst/>
            <a:rect l="l" t="t" r="r" b="b"/>
            <a:pathLst>
              <a:path w="2270433" h="1825498">
                <a:moveTo>
                  <a:pt x="472514" y="1825498"/>
                </a:moveTo>
                <a:lnTo>
                  <a:pt x="2270433" y="1508476"/>
                </a:lnTo>
                <a:lnTo>
                  <a:pt x="2238006" y="1360683"/>
                </a:lnTo>
                <a:lnTo>
                  <a:pt x="2193452" y="1216082"/>
                </a:lnTo>
                <a:lnTo>
                  <a:pt x="2137077" y="1075667"/>
                </a:lnTo>
                <a:lnTo>
                  <a:pt x="2069268" y="940403"/>
                </a:lnTo>
                <a:lnTo>
                  <a:pt x="1990490" y="811219"/>
                </a:lnTo>
                <a:lnTo>
                  <a:pt x="1901286" y="689001"/>
                </a:lnTo>
                <a:lnTo>
                  <a:pt x="1802268" y="574591"/>
                </a:lnTo>
                <a:lnTo>
                  <a:pt x="1694115" y="468772"/>
                </a:lnTo>
                <a:lnTo>
                  <a:pt x="1577572" y="372273"/>
                </a:lnTo>
                <a:lnTo>
                  <a:pt x="1453438" y="285757"/>
                </a:lnTo>
                <a:lnTo>
                  <a:pt x="1322565" y="209816"/>
                </a:lnTo>
                <a:lnTo>
                  <a:pt x="1185854" y="144974"/>
                </a:lnTo>
                <a:lnTo>
                  <a:pt x="1044243" y="91676"/>
                </a:lnTo>
                <a:lnTo>
                  <a:pt x="898705" y="50287"/>
                </a:lnTo>
                <a:lnTo>
                  <a:pt x="750239" y="21091"/>
                </a:lnTo>
                <a:lnTo>
                  <a:pt x="599865" y="4291"/>
                </a:lnTo>
                <a:lnTo>
                  <a:pt x="448617" y="0"/>
                </a:lnTo>
                <a:lnTo>
                  <a:pt x="297533" y="8249"/>
                </a:lnTo>
                <a:lnTo>
                  <a:pt x="147651" y="28980"/>
                </a:lnTo>
                <a:lnTo>
                  <a:pt x="0" y="62051"/>
                </a:lnTo>
                <a:close/>
              </a:path>
            </a:pathLst>
          </a:custGeom>
          <a:solidFill>
            <a:srgbClr val="1B2A4A"/>
          </a:solidFill>
          <a:ln w="15875">
            <a:solidFill>
              <a:srgbClr val="FFFFFF"/>
            </a:solidFill>
            <a:prstDash val="solid"/>
          </a:ln>
        </p:spPr>
      </p:sp>
      <p:sp>
        <p:nvSpPr>
          <p:cNvPr id="34" name="Shape 32"/>
          <p:cNvSpPr/>
          <p:nvPr/>
        </p:nvSpPr>
        <p:spPr>
          <a:xfrm>
            <a:off x="4380984" y="2371008"/>
            <a:ext cx="917835" cy="609795"/>
          </a:xfrm>
          <a:custGeom>
            <a:avLst/>
            <a:gdLst/>
            <a:ahLst/>
            <a:cxnLst/>
            <a:rect l="l" t="t" r="r" b="b"/>
            <a:pathLst>
              <a:path w="917835" h="609795">
                <a:moveTo>
                  <a:pt x="917835" y="609795"/>
                </a:moveTo>
                <a:lnTo>
                  <a:pt x="907254" y="559928"/>
                </a:lnTo>
                <a:lnTo>
                  <a:pt x="893256" y="510910"/>
                </a:lnTo>
                <a:lnTo>
                  <a:pt x="875908" y="462975"/>
                </a:lnTo>
                <a:lnTo>
                  <a:pt x="855292" y="416352"/>
                </a:lnTo>
                <a:lnTo>
                  <a:pt x="831507" y="371264"/>
                </a:lnTo>
                <a:lnTo>
                  <a:pt x="804666" y="327925"/>
                </a:lnTo>
                <a:lnTo>
                  <a:pt x="774898" y="286542"/>
                </a:lnTo>
                <a:lnTo>
                  <a:pt x="742344" y="247313"/>
                </a:lnTo>
                <a:lnTo>
                  <a:pt x="707159" y="210425"/>
                </a:lnTo>
                <a:lnTo>
                  <a:pt x="669512" y="176053"/>
                </a:lnTo>
                <a:lnTo>
                  <a:pt x="629582" y="144362"/>
                </a:lnTo>
                <a:lnTo>
                  <a:pt x="587560" y="115504"/>
                </a:lnTo>
                <a:lnTo>
                  <a:pt x="543646" y="89615"/>
                </a:lnTo>
                <a:lnTo>
                  <a:pt x="498049" y="66819"/>
                </a:lnTo>
                <a:lnTo>
                  <a:pt x="450988" y="47225"/>
                </a:lnTo>
                <a:lnTo>
                  <a:pt x="402686" y="30927"/>
                </a:lnTo>
                <a:lnTo>
                  <a:pt x="353374" y="18002"/>
                </a:lnTo>
                <a:lnTo>
                  <a:pt x="303288" y="8512"/>
                </a:lnTo>
                <a:lnTo>
                  <a:pt x="252666" y="2501"/>
                </a:lnTo>
                <a:lnTo>
                  <a:pt x="201750" y="0"/>
                </a:lnTo>
                <a:lnTo>
                  <a:pt x="150783" y="1019"/>
                </a:lnTo>
                <a:lnTo>
                  <a:pt x="100008" y="5555"/>
                </a:lnTo>
                <a:lnTo>
                  <a:pt x="49667" y="13584"/>
                </a:lnTo>
                <a:lnTo>
                  <a:pt x="0" y="25070"/>
                </a:lnTo>
              </a:path>
            </a:pathLst>
          </a:custGeom>
          <a:solidFill>
            <a:srgbClr val="FFFFFF">
              <a:alpha val="0"/>
            </a:srgbClr>
          </a:solidFill>
          <a:ln w="38100">
            <a:solidFill>
              <a:srgbClr val="1B2A4A"/>
            </a:solidFill>
            <a:prstDash val="solid"/>
          </a:ln>
        </p:spPr>
      </p:sp>
      <p:sp>
        <p:nvSpPr>
          <p:cNvPr id="35" name="Shape 33"/>
          <p:cNvSpPr/>
          <p:nvPr/>
        </p:nvSpPr>
        <p:spPr>
          <a:xfrm flipV="1">
            <a:off x="4572000" y="2771703"/>
            <a:ext cx="1912679" cy="337257"/>
          </a:xfrm>
          <a:prstGeom prst="line">
            <a:avLst/>
          </a:prstGeom>
          <a:noFill/>
          <a:ln w="38100">
            <a:solidFill>
              <a:srgbClr val="1B2A4A"/>
            </a:solidFill>
            <a:prstDash val="solid"/>
          </a:ln>
        </p:spPr>
      </p:sp>
      <p:sp>
        <p:nvSpPr>
          <p:cNvPr id="36" name="Shape 34"/>
          <p:cNvSpPr/>
          <p:nvPr/>
        </p:nvSpPr>
        <p:spPr>
          <a:xfrm>
            <a:off x="4069325" y="1232953"/>
            <a:ext cx="502675" cy="1876007"/>
          </a:xfrm>
          <a:prstGeom prst="line">
            <a:avLst/>
          </a:prstGeom>
          <a:noFill/>
          <a:ln w="38100">
            <a:solidFill>
              <a:srgbClr val="1B2A4A"/>
            </a:solidFill>
            <a:prstDash val="solid"/>
          </a:ln>
        </p:spPr>
      </p:sp>
      <p:sp>
        <p:nvSpPr>
          <p:cNvPr id="37" name="Shape 35"/>
          <p:cNvSpPr/>
          <p:nvPr/>
        </p:nvSpPr>
        <p:spPr>
          <a:xfrm>
            <a:off x="4517136" y="3054096"/>
            <a:ext cx="109728" cy="109728"/>
          </a:xfrm>
          <a:prstGeom prst="ellipse">
            <a:avLst/>
          </a:prstGeom>
          <a:solidFill>
            <a:srgbClr val="1B2A4A"/>
          </a:solidFill>
          <a:ln w="12700">
            <a:solidFill>
              <a:srgbClr val="FFFFFF"/>
            </a:solidFill>
            <a:prstDash val="solid"/>
          </a:ln>
        </p:spPr>
      </p:sp>
      <p:sp>
        <p:nvSpPr>
          <p:cNvPr id="38" name="Text 36"/>
          <p:cNvSpPr/>
          <p:nvPr/>
        </p:nvSpPr>
        <p:spPr>
          <a:xfrm>
            <a:off x="4114800" y="3182112"/>
            <a:ext cx="914400" cy="274320"/>
          </a:xfrm>
          <a:prstGeom prst="rect">
            <a:avLst/>
          </a:prstGeom>
          <a:noFill/>
          <a:ln/>
        </p:spPr>
        <p:txBody>
          <a:bodyPr wrap="square" lIns="0" tIns="0" rIns="0" bIns="0" rtlCol="0" anchor="ctr"/>
          <a:lstStyle/>
          <a:p>
            <a:pPr algn="ctr" indent="0" marL="0">
              <a:buNone/>
            </a:pPr>
            <a:r>
              <a:rPr lang="en-US" sz="1200" b="1" dirty="0">
                <a:solidFill>
                  <a:srgbClr val="1B2A4A"/>
                </a:solidFill>
              </a:rPr>
              <a:t>vertex</a:t>
            </a:r>
            <a:endParaRPr lang="en-US" sz="1200" dirty="0"/>
          </a:p>
        </p:txBody>
      </p:sp>
      <p:sp>
        <p:nvSpPr>
          <p:cNvPr id="39" name="Shape 37"/>
          <p:cNvSpPr/>
          <p:nvPr/>
        </p:nvSpPr>
        <p:spPr>
          <a:xfrm>
            <a:off x="4753586" y="1995153"/>
            <a:ext cx="822960" cy="365760"/>
          </a:xfrm>
          <a:prstGeom prst="roundRect">
            <a:avLst>
              <a:gd name="adj" fmla="val 15000"/>
            </a:avLst>
          </a:prstGeom>
          <a:solidFill>
            <a:srgbClr val="1B2A4A"/>
          </a:solidFill>
          <a:ln w="12700">
            <a:solidFill>
              <a:srgbClr val="1B2A4A"/>
            </a:solidFill>
            <a:prstDash val="solid"/>
          </a:ln>
        </p:spPr>
      </p:sp>
      <p:sp>
        <p:nvSpPr>
          <p:cNvPr id="40" name="Text 38"/>
          <p:cNvSpPr/>
          <p:nvPr/>
        </p:nvSpPr>
        <p:spPr>
          <a:xfrm>
            <a:off x="4753586" y="1995153"/>
            <a:ext cx="822960" cy="365760"/>
          </a:xfrm>
          <a:prstGeom prst="rect">
            <a:avLst/>
          </a:prstGeom>
          <a:noFill/>
          <a:ln/>
        </p:spPr>
        <p:txBody>
          <a:bodyPr wrap="square" lIns="0" tIns="0" rIns="0" bIns="0" rtlCol="0" anchor="ctr"/>
          <a:lstStyle/>
          <a:p>
            <a:pPr algn="ctr" indent="0" marL="0">
              <a:buNone/>
            </a:pPr>
            <a:r>
              <a:rPr lang="en-US" sz="1500" b="1" dirty="0">
                <a:solidFill>
                  <a:srgbClr val="FFFFFF"/>
                </a:solidFill>
              </a:rPr>
              <a:t>95°</a:t>
            </a:r>
            <a:endParaRPr lang="en-US" sz="1500" dirty="0"/>
          </a:p>
        </p:txBody>
      </p:sp>
      <p:sp>
        <p:nvSpPr>
          <p:cNvPr id="41" name="Text 39"/>
          <p:cNvSpPr/>
          <p:nvPr/>
        </p:nvSpPr>
        <p:spPr>
          <a:xfrm>
            <a:off x="914400" y="3593592"/>
            <a:ext cx="7315200" cy="274320"/>
          </a:xfrm>
          <a:prstGeom prst="rect">
            <a:avLst/>
          </a:prstGeom>
          <a:noFill/>
          <a:ln/>
        </p:spPr>
        <p:txBody>
          <a:bodyPr wrap="square" lIns="0" tIns="0" rIns="0" bIns="0" rtlCol="0" anchor="ctr"/>
          <a:lstStyle/>
          <a:p>
            <a:pPr algn="ctr" indent="0" marL="0">
              <a:buNone/>
            </a:pPr>
            <a:r>
              <a:rPr lang="en-US" sz="1100" i="1" dirty="0">
                <a:solidFill>
                  <a:srgbClr val="5A5A7A"/>
                </a:solidFill>
              </a:rPr>
              <a:t>Measure this angle and decide what kind it is.</a:t>
            </a:r>
            <a:endParaRPr lang="en-US" sz="1100" dirty="0"/>
          </a:p>
        </p:txBody>
      </p:sp>
      <p:sp>
        <p:nvSpPr>
          <p:cNvPr id="42" name="Shape 40"/>
          <p:cNvSpPr/>
          <p:nvPr/>
        </p:nvSpPr>
        <p:spPr>
          <a:xfrm>
            <a:off x="914400" y="4069080"/>
            <a:ext cx="7315200" cy="438912"/>
          </a:xfrm>
          <a:prstGeom prst="roundRect">
            <a:avLst>
              <a:gd name="adj" fmla="val 12500"/>
            </a:avLst>
          </a:prstGeom>
          <a:solidFill>
            <a:srgbClr val="464EB8"/>
          </a:solidFill>
          <a:ln w="12700">
            <a:solidFill>
              <a:srgbClr val="464EB8"/>
            </a:solidFill>
            <a:prstDash val="solid"/>
          </a:ln>
        </p:spPr>
      </p:sp>
      <p:sp>
        <p:nvSpPr>
          <p:cNvPr id="43" name="Text 41"/>
          <p:cNvSpPr/>
          <p:nvPr/>
        </p:nvSpPr>
        <p:spPr>
          <a:xfrm>
            <a:off x="914400" y="4069080"/>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the angle's measure AND whether it's acute, right, or obtuse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Connection Forward</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What Comes Next</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1188720"/>
            <a:ext cx="8229600" cy="2011680"/>
          </a:xfrm>
          <a:prstGeom prst="roundRect">
            <a:avLst>
              <a:gd name="adj" fmla="val 4545"/>
            </a:avLst>
          </a:prstGeom>
          <a:solidFill>
            <a:srgbClr val="EAE8F5"/>
          </a:solidFill>
          <a:ln w="6350">
            <a:solidFill>
              <a:srgbClr val="DDDDEE"/>
            </a:solidFill>
            <a:prstDash val="solid"/>
          </a:ln>
        </p:spPr>
      </p:sp>
      <p:sp>
        <p:nvSpPr>
          <p:cNvPr id="7" name="Text 5"/>
          <p:cNvSpPr/>
          <p:nvPr/>
        </p:nvSpPr>
        <p:spPr>
          <a:xfrm>
            <a:off x="685800" y="1371600"/>
            <a:ext cx="7772400" cy="1645920"/>
          </a:xfrm>
          <a:prstGeom prst="rect">
            <a:avLst/>
          </a:prstGeom>
          <a:noFill/>
          <a:ln/>
        </p:spPr>
        <p:txBody>
          <a:bodyPr wrap="square" lIns="0" tIns="0" rIns="0" bIns="0" rtlCol="0" anchor="ctr"/>
          <a:lstStyle/>
          <a:p>
            <a:pPr indent="0" marL="0">
              <a:buNone/>
            </a:pPr>
            <a:r>
              <a:rPr lang="en-US" sz="1800" dirty="0">
                <a:solidFill>
                  <a:srgbClr val="1A1A2E"/>
                </a:solidFill>
                <a:latin typeface="Cambria" pitchFamily="34" charset="0"/>
                <a:ea typeface="Cambria" pitchFamily="34" charset="-122"/>
                <a:cs typeface="Cambria" pitchFamily="34" charset="-120"/>
              </a:rPr>
              <a:t>Keep the protractor model in your toolkit. Next lesson, you'll use angle measures to discover the relationships two crossing lines create.</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An angle measures 100°. Is it acute, right, obtuse, or straight?</a:t>
            </a:r>
            <a:endParaRPr lang="en-US" sz="2000" dirty="0"/>
          </a:p>
        </p:txBody>
      </p:sp>
      <p:sp>
        <p:nvSpPr>
          <p:cNvPr id="8" name="Shape 6"/>
          <p:cNvSpPr/>
          <p:nvPr/>
        </p:nvSpPr>
        <p:spPr>
          <a:xfrm>
            <a:off x="822960" y="2103120"/>
            <a:ext cx="182880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82296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Acute</a:t>
            </a:r>
            <a:endParaRPr lang="en-US" sz="2000" dirty="0"/>
          </a:p>
        </p:txBody>
      </p:sp>
      <p:sp>
        <p:nvSpPr>
          <p:cNvPr id="10" name="Shape 8"/>
          <p:cNvSpPr/>
          <p:nvPr/>
        </p:nvSpPr>
        <p:spPr>
          <a:xfrm>
            <a:off x="2834640" y="2103120"/>
            <a:ext cx="182880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83464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Right</a:t>
            </a:r>
            <a:endParaRPr lang="en-US" sz="2000" dirty="0"/>
          </a:p>
        </p:txBody>
      </p:sp>
      <p:sp>
        <p:nvSpPr>
          <p:cNvPr id="12" name="Shape 10"/>
          <p:cNvSpPr/>
          <p:nvPr/>
        </p:nvSpPr>
        <p:spPr>
          <a:xfrm>
            <a:off x="4846320" y="2103120"/>
            <a:ext cx="1828800" cy="822960"/>
          </a:xfrm>
          <a:prstGeom prst="roundRect">
            <a:avLst>
              <a:gd name="adj" fmla="val 8889"/>
            </a:avLst>
          </a:prstGeom>
          <a:solidFill>
            <a:srgbClr val="F5F5F8"/>
          </a:solidFill>
          <a:ln w="12700">
            <a:solidFill>
              <a:srgbClr val="F5F5F8"/>
            </a:solidFill>
            <a:prstDash val="solid"/>
          </a:ln>
        </p:spPr>
      </p:sp>
      <p:sp>
        <p:nvSpPr>
          <p:cNvPr id="13" name="Text 11"/>
          <p:cNvSpPr/>
          <p:nvPr/>
        </p:nvSpPr>
        <p:spPr>
          <a:xfrm>
            <a:off x="484632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Obtuse</a:t>
            </a:r>
            <a:endParaRPr lang="en-US" sz="2000" dirty="0"/>
          </a:p>
        </p:txBody>
      </p:sp>
      <p:sp>
        <p:nvSpPr>
          <p:cNvPr id="14" name="Shape 12"/>
          <p:cNvSpPr/>
          <p:nvPr/>
        </p:nvSpPr>
        <p:spPr>
          <a:xfrm>
            <a:off x="6858000" y="2103120"/>
            <a:ext cx="182880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85800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Straight</a:t>
            </a:r>
            <a:endParaRPr lang="en-US" sz="2000" dirty="0"/>
          </a:p>
        </p:txBody>
      </p:sp>
      <p:sp>
        <p:nvSpPr>
          <p:cNvPr id="16" name="Shape 14"/>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7" name="Text 15"/>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Exit Check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Mastery · 3 min</a:t>
            </a:r>
            <a:endParaRPr lang="en-US" sz="1100" dirty="0"/>
          </a:p>
        </p:txBody>
      </p:sp>
      <p:sp>
        <p:nvSpPr>
          <p:cNvPr id="5" name="Shape 3"/>
          <p:cNvSpPr/>
          <p:nvPr/>
        </p:nvSpPr>
        <p:spPr>
          <a:xfrm>
            <a:off x="0" y="777240"/>
            <a:ext cx="9144000" cy="4366260"/>
          </a:xfrm>
          <a:prstGeom prst="rect">
            <a:avLst/>
          </a:prstGeom>
          <a:solidFill>
            <a:srgbClr val="1B2A4A"/>
          </a:solidFill>
          <a:ln w="12700">
            <a:solidFill>
              <a:srgbClr val="1B2A4A"/>
            </a:solidFill>
            <a:prstDash val="solid"/>
          </a:ln>
        </p:spPr>
      </p:sp>
      <p:sp>
        <p:nvSpPr>
          <p:cNvPr id="6" name="Shape 4"/>
          <p:cNvSpPr/>
          <p:nvPr/>
        </p:nvSpPr>
        <p:spPr>
          <a:xfrm>
            <a:off x="731520" y="960120"/>
            <a:ext cx="7680960" cy="1097280"/>
          </a:xfrm>
          <a:prstGeom prst="roundRect">
            <a:avLst>
              <a:gd name="adj" fmla="val 8333"/>
            </a:avLst>
          </a:prstGeom>
          <a:solidFill>
            <a:srgbClr val="FFFFFF"/>
          </a:solidFill>
          <a:ln w="6350">
            <a:solidFill>
              <a:srgbClr val="DDDDEE"/>
            </a:solidFill>
            <a:prstDash val="solid"/>
          </a:ln>
        </p:spPr>
      </p:sp>
      <p:sp>
        <p:nvSpPr>
          <p:cNvPr id="7" name="Text 5"/>
          <p:cNvSpPr/>
          <p:nvPr/>
        </p:nvSpPr>
        <p:spPr>
          <a:xfrm>
            <a:off x="914400" y="1051560"/>
            <a:ext cx="7315200" cy="914400"/>
          </a:xfrm>
          <a:prstGeom prst="rect">
            <a:avLst/>
          </a:prstGeom>
          <a:noFill/>
          <a:ln/>
        </p:spPr>
        <p:txBody>
          <a:bodyPr wrap="square" lIns="0" tIns="0" rIns="0" bIns="0" rtlCol="0" anchor="ctr"/>
          <a:lstStyle/>
          <a:p>
            <a:pPr indent="0" marL="0">
              <a:buNone/>
            </a:pPr>
            <a:r>
              <a:rPr lang="en-US" sz="2000" b="1" dirty="0">
                <a:solidFill>
                  <a:srgbClr val="1A1A2E"/>
                </a:solidFill>
                <a:latin typeface="Cambria" pitchFamily="34" charset="0"/>
                <a:ea typeface="Cambria" pitchFamily="34" charset="-122"/>
                <a:cs typeface="Cambria" pitchFamily="34" charset="-120"/>
              </a:rPr>
              <a:t>An angle measures 100°. Is it acute, right, obtuse, or straight?</a:t>
            </a:r>
            <a:endParaRPr lang="en-US" sz="2000" dirty="0"/>
          </a:p>
        </p:txBody>
      </p:sp>
      <p:sp>
        <p:nvSpPr>
          <p:cNvPr id="8" name="Shape 6"/>
          <p:cNvSpPr/>
          <p:nvPr/>
        </p:nvSpPr>
        <p:spPr>
          <a:xfrm>
            <a:off x="822960" y="2103120"/>
            <a:ext cx="1828800" cy="822960"/>
          </a:xfrm>
          <a:prstGeom prst="roundRect">
            <a:avLst>
              <a:gd name="adj" fmla="val 8889"/>
            </a:avLst>
          </a:prstGeom>
          <a:solidFill>
            <a:srgbClr val="F5F5F8"/>
          </a:solidFill>
          <a:ln w="12700">
            <a:solidFill>
              <a:srgbClr val="F5F5F8"/>
            </a:solidFill>
            <a:prstDash val="solid"/>
          </a:ln>
        </p:spPr>
      </p:sp>
      <p:sp>
        <p:nvSpPr>
          <p:cNvPr id="9" name="Text 7"/>
          <p:cNvSpPr/>
          <p:nvPr/>
        </p:nvSpPr>
        <p:spPr>
          <a:xfrm>
            <a:off x="82296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Acute</a:t>
            </a:r>
            <a:endParaRPr lang="en-US" sz="2000" dirty="0"/>
          </a:p>
        </p:txBody>
      </p:sp>
      <p:sp>
        <p:nvSpPr>
          <p:cNvPr id="10" name="Shape 8"/>
          <p:cNvSpPr/>
          <p:nvPr/>
        </p:nvSpPr>
        <p:spPr>
          <a:xfrm>
            <a:off x="2834640" y="2103120"/>
            <a:ext cx="1828800" cy="822960"/>
          </a:xfrm>
          <a:prstGeom prst="roundRect">
            <a:avLst>
              <a:gd name="adj" fmla="val 8889"/>
            </a:avLst>
          </a:prstGeom>
          <a:solidFill>
            <a:srgbClr val="F5F5F8"/>
          </a:solidFill>
          <a:ln w="12700">
            <a:solidFill>
              <a:srgbClr val="F5F5F8"/>
            </a:solidFill>
            <a:prstDash val="solid"/>
          </a:ln>
        </p:spPr>
      </p:sp>
      <p:sp>
        <p:nvSpPr>
          <p:cNvPr id="11" name="Text 9"/>
          <p:cNvSpPr/>
          <p:nvPr/>
        </p:nvSpPr>
        <p:spPr>
          <a:xfrm>
            <a:off x="283464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Right</a:t>
            </a:r>
            <a:endParaRPr lang="en-US" sz="2000" dirty="0"/>
          </a:p>
        </p:txBody>
      </p:sp>
      <p:sp>
        <p:nvSpPr>
          <p:cNvPr id="12" name="Shape 10"/>
          <p:cNvSpPr/>
          <p:nvPr/>
        </p:nvSpPr>
        <p:spPr>
          <a:xfrm>
            <a:off x="4846320" y="2103120"/>
            <a:ext cx="1828800" cy="822960"/>
          </a:xfrm>
          <a:prstGeom prst="roundRect">
            <a:avLst>
              <a:gd name="adj" fmla="val 8889"/>
            </a:avLst>
          </a:prstGeom>
          <a:solidFill>
            <a:srgbClr val="2E6E44"/>
          </a:solidFill>
          <a:ln w="12700">
            <a:solidFill>
              <a:srgbClr val="2E6E44"/>
            </a:solidFill>
            <a:prstDash val="solid"/>
          </a:ln>
        </p:spPr>
      </p:sp>
      <p:sp>
        <p:nvSpPr>
          <p:cNvPr id="13" name="Text 11"/>
          <p:cNvSpPr/>
          <p:nvPr/>
        </p:nvSpPr>
        <p:spPr>
          <a:xfrm>
            <a:off x="4846320" y="2103120"/>
            <a:ext cx="1828800" cy="822960"/>
          </a:xfrm>
          <a:prstGeom prst="rect">
            <a:avLst/>
          </a:prstGeom>
          <a:noFill/>
          <a:ln/>
        </p:spPr>
        <p:txBody>
          <a:bodyPr wrap="square" lIns="0" tIns="0" rIns="0" bIns="0" rtlCol="0" anchor="ctr"/>
          <a:lstStyle/>
          <a:p>
            <a:pPr algn="ctr" indent="0" marL="0">
              <a:buNone/>
            </a:pPr>
            <a:r>
              <a:rPr lang="en-US" sz="2000" b="1" dirty="0">
                <a:solidFill>
                  <a:srgbClr val="FFFFFF"/>
                </a:solidFill>
              </a:rPr>
              <a:t>Obtuse</a:t>
            </a:r>
            <a:endParaRPr lang="en-US" sz="2000" dirty="0"/>
          </a:p>
        </p:txBody>
      </p:sp>
      <p:sp>
        <p:nvSpPr>
          <p:cNvPr id="14" name="Shape 12"/>
          <p:cNvSpPr/>
          <p:nvPr/>
        </p:nvSpPr>
        <p:spPr>
          <a:xfrm>
            <a:off x="6858000" y="2103120"/>
            <a:ext cx="1828800" cy="822960"/>
          </a:xfrm>
          <a:prstGeom prst="roundRect">
            <a:avLst>
              <a:gd name="adj" fmla="val 8889"/>
            </a:avLst>
          </a:prstGeom>
          <a:solidFill>
            <a:srgbClr val="F5F5F8"/>
          </a:solidFill>
          <a:ln w="12700">
            <a:solidFill>
              <a:srgbClr val="F5F5F8"/>
            </a:solidFill>
            <a:prstDash val="solid"/>
          </a:ln>
        </p:spPr>
      </p:sp>
      <p:sp>
        <p:nvSpPr>
          <p:cNvPr id="15" name="Text 13"/>
          <p:cNvSpPr/>
          <p:nvPr/>
        </p:nvSpPr>
        <p:spPr>
          <a:xfrm>
            <a:off x="6858000" y="2103120"/>
            <a:ext cx="1828800" cy="822960"/>
          </a:xfrm>
          <a:prstGeom prst="rect">
            <a:avLst/>
          </a:prstGeom>
          <a:noFill/>
          <a:ln/>
        </p:spPr>
        <p:txBody>
          <a:bodyPr wrap="square" lIns="0" tIns="0" rIns="0" bIns="0" rtlCol="0" anchor="ctr"/>
          <a:lstStyle/>
          <a:p>
            <a:pPr algn="ctr" indent="0" marL="0">
              <a:buNone/>
            </a:pPr>
            <a:r>
              <a:rPr lang="en-US" sz="2000" b="1" dirty="0">
                <a:solidFill>
                  <a:srgbClr val="1A1A2E"/>
                </a:solidFill>
              </a:rPr>
              <a:t>Straight</a:t>
            </a:r>
            <a:endParaRPr lang="en-US" sz="2000" dirty="0"/>
          </a:p>
        </p:txBody>
      </p:sp>
      <p:sp>
        <p:nvSpPr>
          <p:cNvPr id="16" name="Text 14"/>
          <p:cNvSpPr/>
          <p:nvPr/>
        </p:nvSpPr>
        <p:spPr>
          <a:xfrm>
            <a:off x="914400" y="4773168"/>
            <a:ext cx="7315200" cy="365760"/>
          </a:xfrm>
          <a:prstGeom prst="rect">
            <a:avLst/>
          </a:prstGeom>
          <a:noFill/>
          <a:ln/>
        </p:spPr>
        <p:txBody>
          <a:bodyPr wrap="square" lIns="0" tIns="0" rIns="0" bIns="0" rtlCol="0" anchor="ctr"/>
          <a:lstStyle/>
          <a:p>
            <a:pPr algn="ctr" indent="0" marL="0">
              <a:buNone/>
            </a:pPr>
            <a:r>
              <a:rPr lang="en-US" sz="1200" dirty="0">
                <a:solidFill>
                  <a:srgbClr val="5A5A7A"/>
                </a:solidFill>
              </a:rPr>
              <a:t>100° is greater than 90° and less than 180°, so it's obtuse.</a:t>
            </a:r>
            <a:endParaRPr lang="en-US" sz="1200" dirty="0"/>
          </a:p>
        </p:txBody>
      </p:sp>
      <p:sp>
        <p:nvSpPr>
          <p:cNvPr id="17" name="Shape 15"/>
          <p:cNvSpPr/>
          <p:nvPr/>
        </p:nvSpPr>
        <p:spPr>
          <a:xfrm>
            <a:off x="1371600" y="4206240"/>
            <a:ext cx="6400800" cy="438912"/>
          </a:xfrm>
          <a:prstGeom prst="roundRect">
            <a:avLst>
              <a:gd name="adj" fmla="val 12500"/>
            </a:avLst>
          </a:prstGeom>
          <a:solidFill>
            <a:srgbClr val="464EB8"/>
          </a:solidFill>
          <a:ln w="12700">
            <a:solidFill>
              <a:srgbClr val="464EB8"/>
            </a:solidFill>
            <a:prstDash val="solid"/>
          </a:ln>
        </p:spPr>
      </p:sp>
      <p:sp>
        <p:nvSpPr>
          <p:cNvPr id="18" name="Text 16"/>
          <p:cNvSpPr/>
          <p:nvPr/>
        </p:nvSpPr>
        <p:spPr>
          <a:xfrm>
            <a:off x="1371600" y="420624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your answer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Math Crew — What Do They Think?</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Student Perspectives</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228600" y="914400"/>
            <a:ext cx="4160520" cy="1554480"/>
          </a:xfrm>
          <a:prstGeom prst="roundRect">
            <a:avLst>
              <a:gd name="adj" fmla="val 5882"/>
            </a:avLst>
          </a:prstGeom>
          <a:solidFill>
            <a:srgbClr val="EAE8F5"/>
          </a:solidFill>
          <a:ln w="6350">
            <a:solidFill>
              <a:srgbClr val="DDDDEE"/>
            </a:solidFill>
            <a:prstDash val="solid"/>
          </a:ln>
        </p:spPr>
      </p:sp>
      <p:sp>
        <p:nvSpPr>
          <p:cNvPr id="7" name="Text 5"/>
          <p:cNvSpPr/>
          <p:nvPr/>
        </p:nvSpPr>
        <p:spPr>
          <a:xfrm>
            <a:off x="365760" y="1005840"/>
            <a:ext cx="3886200" cy="320040"/>
          </a:xfrm>
          <a:prstGeom prst="rect">
            <a:avLst/>
          </a:prstGeom>
          <a:noFill/>
          <a:ln/>
        </p:spPr>
        <p:txBody>
          <a:bodyPr wrap="square" lIns="0" tIns="0" rIns="0" bIns="0" rtlCol="0" anchor="ctr"/>
          <a:lstStyle/>
          <a:p>
            <a:pPr indent="0" marL="0">
              <a:buNone/>
            </a:pPr>
            <a:r>
              <a:rPr lang="en-US" sz="1400" b="1" dirty="0">
                <a:solidFill>
                  <a:srgbClr val="4A3D8F"/>
                </a:solidFill>
              </a:rPr>
              <a:t>Atlas</a:t>
            </a:r>
            <a:endParaRPr lang="en-US" sz="1400" dirty="0"/>
          </a:p>
        </p:txBody>
      </p:sp>
      <p:sp>
        <p:nvSpPr>
          <p:cNvPr id="8" name="Text 6"/>
          <p:cNvSpPr/>
          <p:nvPr/>
        </p:nvSpPr>
        <p:spPr>
          <a:xfrm>
            <a:off x="36576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pattern-spotter</a:t>
            </a:r>
            <a:endParaRPr lang="en-US" sz="900" dirty="0"/>
          </a:p>
        </p:txBody>
      </p:sp>
      <p:sp>
        <p:nvSpPr>
          <p:cNvPr id="9" name="Shape 7"/>
          <p:cNvSpPr/>
          <p:nvPr/>
        </p:nvSpPr>
        <p:spPr>
          <a:xfrm>
            <a:off x="365760" y="1572768"/>
            <a:ext cx="3886200" cy="0"/>
          </a:xfrm>
          <a:prstGeom prst="line">
            <a:avLst/>
          </a:prstGeom>
          <a:noFill/>
          <a:ln w="6350">
            <a:solidFill>
              <a:srgbClr val="CCCCCC"/>
            </a:solidFill>
            <a:prstDash val="solid"/>
          </a:ln>
        </p:spPr>
      </p:sp>
      <p:sp>
        <p:nvSpPr>
          <p:cNvPr id="10" name="Text 8"/>
          <p:cNvSpPr/>
          <p:nvPr/>
        </p:nvSpPr>
        <p:spPr>
          <a:xfrm>
            <a:off x="36576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noticed that the center dot and the zero line both have to sit exactly on the angle before any number on the scale means anything. If either one slides, the reading is wrong even though the angle itself hasn't changed.</a:t>
            </a:r>
            <a:endParaRPr lang="en-US" sz="1000" dirty="0"/>
          </a:p>
        </p:txBody>
      </p:sp>
      <p:sp>
        <p:nvSpPr>
          <p:cNvPr id="11" name="Shape 9"/>
          <p:cNvSpPr/>
          <p:nvPr/>
        </p:nvSpPr>
        <p:spPr>
          <a:xfrm>
            <a:off x="4709160" y="914400"/>
            <a:ext cx="4160520" cy="1554480"/>
          </a:xfrm>
          <a:prstGeom prst="roundRect">
            <a:avLst>
              <a:gd name="adj" fmla="val 5882"/>
            </a:avLst>
          </a:prstGeom>
          <a:solidFill>
            <a:srgbClr val="E6F2EA"/>
          </a:solidFill>
          <a:ln w="6350">
            <a:solidFill>
              <a:srgbClr val="DDDDEE"/>
            </a:solidFill>
            <a:prstDash val="solid"/>
          </a:ln>
        </p:spPr>
      </p:sp>
      <p:sp>
        <p:nvSpPr>
          <p:cNvPr id="12" name="Text 10"/>
          <p:cNvSpPr/>
          <p:nvPr/>
        </p:nvSpPr>
        <p:spPr>
          <a:xfrm>
            <a:off x="4846320" y="1005840"/>
            <a:ext cx="3886200" cy="320040"/>
          </a:xfrm>
          <a:prstGeom prst="rect">
            <a:avLst/>
          </a:prstGeom>
          <a:noFill/>
          <a:ln/>
        </p:spPr>
        <p:txBody>
          <a:bodyPr wrap="square" lIns="0" tIns="0" rIns="0" bIns="0" rtlCol="0" anchor="ctr"/>
          <a:lstStyle/>
          <a:p>
            <a:pPr indent="0" marL="0">
              <a:buNone/>
            </a:pPr>
            <a:r>
              <a:rPr lang="en-US" sz="1400" b="1" dirty="0">
                <a:solidFill>
                  <a:srgbClr val="2E6E44"/>
                </a:solidFill>
              </a:rPr>
              <a:t>Felix</a:t>
            </a:r>
            <a:endParaRPr lang="en-US" sz="1400" dirty="0"/>
          </a:p>
        </p:txBody>
      </p:sp>
      <p:sp>
        <p:nvSpPr>
          <p:cNvPr id="13" name="Text 11"/>
          <p:cNvSpPr/>
          <p:nvPr/>
        </p:nvSpPr>
        <p:spPr>
          <a:xfrm>
            <a:off x="4846320" y="1325880"/>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method-tester</a:t>
            </a:r>
            <a:endParaRPr lang="en-US" sz="900" dirty="0"/>
          </a:p>
        </p:txBody>
      </p:sp>
      <p:sp>
        <p:nvSpPr>
          <p:cNvPr id="14" name="Shape 12"/>
          <p:cNvSpPr/>
          <p:nvPr/>
        </p:nvSpPr>
        <p:spPr>
          <a:xfrm>
            <a:off x="4846320" y="1572768"/>
            <a:ext cx="3886200" cy="0"/>
          </a:xfrm>
          <a:prstGeom prst="line">
            <a:avLst/>
          </a:prstGeom>
          <a:noFill/>
          <a:ln w="6350">
            <a:solidFill>
              <a:srgbClr val="CCCCCC"/>
            </a:solidFill>
            <a:prstDash val="solid"/>
          </a:ln>
        </p:spPr>
      </p:sp>
      <p:sp>
        <p:nvSpPr>
          <p:cNvPr id="15" name="Text 13"/>
          <p:cNvSpPr/>
          <p:nvPr/>
        </p:nvSpPr>
        <p:spPr>
          <a:xfrm>
            <a:off x="4846320" y="1645920"/>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check my reading by asking whether the angle looks acute or obtuse first, then confirming the number matches -- if I read 40° but the opening clearly looks past a right angle, I know I used the wrong scale row.</a:t>
            </a:r>
            <a:endParaRPr lang="en-US" sz="1000" dirty="0"/>
          </a:p>
        </p:txBody>
      </p:sp>
      <p:sp>
        <p:nvSpPr>
          <p:cNvPr id="16" name="Shape 14"/>
          <p:cNvSpPr/>
          <p:nvPr/>
        </p:nvSpPr>
        <p:spPr>
          <a:xfrm>
            <a:off x="228600" y="2578608"/>
            <a:ext cx="4160520" cy="1554480"/>
          </a:xfrm>
          <a:prstGeom prst="roundRect">
            <a:avLst>
              <a:gd name="adj" fmla="val 5882"/>
            </a:avLst>
          </a:prstGeom>
          <a:solidFill>
            <a:srgbClr val="FEF6E4"/>
          </a:solidFill>
          <a:ln w="6350">
            <a:solidFill>
              <a:srgbClr val="DDDDEE"/>
            </a:solidFill>
            <a:prstDash val="solid"/>
          </a:ln>
        </p:spPr>
      </p:sp>
      <p:sp>
        <p:nvSpPr>
          <p:cNvPr id="17" name="Text 15"/>
          <p:cNvSpPr/>
          <p:nvPr/>
        </p:nvSpPr>
        <p:spPr>
          <a:xfrm>
            <a:off x="365760" y="2670048"/>
            <a:ext cx="3886200" cy="320040"/>
          </a:xfrm>
          <a:prstGeom prst="rect">
            <a:avLst/>
          </a:prstGeom>
          <a:noFill/>
          <a:ln/>
        </p:spPr>
        <p:txBody>
          <a:bodyPr wrap="square" lIns="0" tIns="0" rIns="0" bIns="0" rtlCol="0" anchor="ctr"/>
          <a:lstStyle/>
          <a:p>
            <a:pPr indent="0" marL="0">
              <a:buNone/>
            </a:pPr>
            <a:r>
              <a:rPr lang="en-US" sz="1400" b="1" dirty="0">
                <a:solidFill>
                  <a:srgbClr val="D9941A"/>
                </a:solidFill>
              </a:rPr>
              <a:t>Hazel</a:t>
            </a:r>
            <a:endParaRPr lang="en-US" sz="1400" dirty="0"/>
          </a:p>
        </p:txBody>
      </p:sp>
      <p:sp>
        <p:nvSpPr>
          <p:cNvPr id="18" name="Text 16"/>
          <p:cNvSpPr/>
          <p:nvPr/>
        </p:nvSpPr>
        <p:spPr>
          <a:xfrm>
            <a:off x="36576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visual thinker</a:t>
            </a:r>
            <a:endParaRPr lang="en-US" sz="900" dirty="0"/>
          </a:p>
        </p:txBody>
      </p:sp>
      <p:sp>
        <p:nvSpPr>
          <p:cNvPr id="19" name="Shape 17"/>
          <p:cNvSpPr/>
          <p:nvPr/>
        </p:nvSpPr>
        <p:spPr>
          <a:xfrm>
            <a:off x="365760" y="3236976"/>
            <a:ext cx="3886200" cy="0"/>
          </a:xfrm>
          <a:prstGeom prst="line">
            <a:avLst/>
          </a:prstGeom>
          <a:noFill/>
          <a:ln w="6350">
            <a:solidFill>
              <a:srgbClr val="CCCCCC"/>
            </a:solidFill>
            <a:prstDash val="solid"/>
          </a:ln>
        </p:spPr>
      </p:sp>
      <p:sp>
        <p:nvSpPr>
          <p:cNvPr id="20" name="Text 18"/>
          <p:cNvSpPr/>
          <p:nvPr/>
        </p:nvSpPr>
        <p:spPr>
          <a:xfrm>
            <a:off x="36576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I picture the angle as a door swinging open on its hinge. The wider the door swings, the bigger the wedge-shaped opening, and the bigger the degree number on the scale.</a:t>
            </a:r>
            <a:endParaRPr lang="en-US" sz="1000" dirty="0"/>
          </a:p>
        </p:txBody>
      </p:sp>
      <p:sp>
        <p:nvSpPr>
          <p:cNvPr id="21" name="Shape 19"/>
          <p:cNvSpPr/>
          <p:nvPr/>
        </p:nvSpPr>
        <p:spPr>
          <a:xfrm>
            <a:off x="4709160" y="2578608"/>
            <a:ext cx="4160520" cy="1554480"/>
          </a:xfrm>
          <a:prstGeom prst="roundRect">
            <a:avLst>
              <a:gd name="adj" fmla="val 5882"/>
            </a:avLst>
          </a:prstGeom>
          <a:solidFill>
            <a:srgbClr val="FEF0E6"/>
          </a:solidFill>
          <a:ln w="6350">
            <a:solidFill>
              <a:srgbClr val="DDDDEE"/>
            </a:solidFill>
            <a:prstDash val="solid"/>
          </a:ln>
        </p:spPr>
      </p:sp>
      <p:sp>
        <p:nvSpPr>
          <p:cNvPr id="22" name="Text 20"/>
          <p:cNvSpPr/>
          <p:nvPr/>
        </p:nvSpPr>
        <p:spPr>
          <a:xfrm>
            <a:off x="4846320" y="2670048"/>
            <a:ext cx="3886200" cy="320040"/>
          </a:xfrm>
          <a:prstGeom prst="rect">
            <a:avLst/>
          </a:prstGeom>
          <a:noFill/>
          <a:ln/>
        </p:spPr>
        <p:txBody>
          <a:bodyPr wrap="square" lIns="0" tIns="0" rIns="0" bIns="0" rtlCol="0" anchor="ctr"/>
          <a:lstStyle/>
          <a:p>
            <a:pPr indent="0" marL="0">
              <a:buNone/>
            </a:pPr>
            <a:r>
              <a:rPr lang="en-US" sz="1400" b="1" dirty="0">
                <a:solidFill>
                  <a:srgbClr val="C05818"/>
                </a:solidFill>
              </a:rPr>
              <a:t>Cora</a:t>
            </a:r>
            <a:endParaRPr lang="en-US" sz="1400" dirty="0"/>
          </a:p>
        </p:txBody>
      </p:sp>
      <p:sp>
        <p:nvSpPr>
          <p:cNvPr id="23" name="Text 21"/>
          <p:cNvSpPr/>
          <p:nvPr/>
        </p:nvSpPr>
        <p:spPr>
          <a:xfrm>
            <a:off x="4846320" y="2990088"/>
            <a:ext cx="3886200" cy="228600"/>
          </a:xfrm>
          <a:prstGeom prst="rect">
            <a:avLst/>
          </a:prstGeom>
          <a:noFill/>
          <a:ln/>
        </p:spPr>
        <p:txBody>
          <a:bodyPr wrap="square" lIns="0" tIns="0" rIns="0" bIns="0" rtlCol="0" anchor="ctr"/>
          <a:lstStyle/>
          <a:p>
            <a:pPr indent="0" marL="0">
              <a:buNone/>
            </a:pPr>
            <a:r>
              <a:rPr lang="en-US" sz="900" i="1" dirty="0">
                <a:solidFill>
                  <a:srgbClr val="5A5A7A"/>
                </a:solidFill>
              </a:rPr>
              <a:t>precise explainer</a:t>
            </a:r>
            <a:endParaRPr lang="en-US" sz="900" dirty="0"/>
          </a:p>
        </p:txBody>
      </p:sp>
      <p:sp>
        <p:nvSpPr>
          <p:cNvPr id="24" name="Shape 22"/>
          <p:cNvSpPr/>
          <p:nvPr/>
        </p:nvSpPr>
        <p:spPr>
          <a:xfrm>
            <a:off x="4846320" y="3236976"/>
            <a:ext cx="3886200" cy="0"/>
          </a:xfrm>
          <a:prstGeom prst="line">
            <a:avLst/>
          </a:prstGeom>
          <a:noFill/>
          <a:ln w="6350">
            <a:solidFill>
              <a:srgbClr val="CCCCCC"/>
            </a:solidFill>
            <a:prstDash val="solid"/>
          </a:ln>
        </p:spPr>
      </p:sp>
      <p:sp>
        <p:nvSpPr>
          <p:cNvPr id="25" name="Text 23"/>
          <p:cNvSpPr/>
          <p:nvPr/>
        </p:nvSpPr>
        <p:spPr>
          <a:xfrm>
            <a:off x="4846320" y="3310128"/>
            <a:ext cx="3886200" cy="731520"/>
          </a:xfrm>
          <a:prstGeom prst="rect">
            <a:avLst/>
          </a:prstGeom>
          <a:noFill/>
          <a:ln/>
        </p:spPr>
        <p:txBody>
          <a:bodyPr wrap="square" lIns="0" tIns="0" rIns="0" bIns="0" rtlCol="0" anchor="ctr"/>
          <a:lstStyle/>
          <a:p>
            <a:pPr indent="0" marL="0">
              <a:buNone/>
            </a:pPr>
            <a:r>
              <a:rPr lang="en-US" sz="1000" dirty="0">
                <a:solidFill>
                  <a:srgbClr val="1A1A2E"/>
                </a:solidFill>
              </a:rPr>
              <a:t>The precise way to say it: a degree measures the size of the turn from one ray to the other around their shared vertex, and a protractor lets us read that turn exactly instead of guessing.</a:t>
            </a:r>
            <a:endParaRPr lang="en-US" sz="1000" dirty="0"/>
          </a:p>
        </p:txBody>
      </p:sp>
      <p:sp>
        <p:nvSpPr>
          <p:cNvPr id="26" name="Shape 24"/>
          <p:cNvSpPr/>
          <p:nvPr/>
        </p:nvSpPr>
        <p:spPr>
          <a:xfrm>
            <a:off x="914400" y="4315968"/>
            <a:ext cx="7315200" cy="438912"/>
          </a:xfrm>
          <a:prstGeom prst="roundRect">
            <a:avLst>
              <a:gd name="adj" fmla="val 12500"/>
            </a:avLst>
          </a:prstGeom>
          <a:solidFill>
            <a:srgbClr val="464EB8"/>
          </a:solidFill>
          <a:ln w="12700">
            <a:solidFill>
              <a:srgbClr val="464EB8"/>
            </a:solidFill>
            <a:prstDash val="solid"/>
          </a:ln>
        </p:spPr>
      </p:sp>
      <p:sp>
        <p:nvSpPr>
          <p:cNvPr id="27" name="Text 25"/>
          <p:cNvSpPr/>
          <p:nvPr/>
        </p:nvSpPr>
        <p:spPr>
          <a:xfrm>
            <a:off x="914400" y="4315968"/>
            <a:ext cx="7315200" cy="438912"/>
          </a:xfrm>
          <a:prstGeom prst="rect">
            <a:avLst/>
          </a:prstGeom>
          <a:noFill/>
          <a:ln/>
        </p:spPr>
        <p:txBody>
          <a:bodyPr wrap="square" lIns="0" tIns="0" rIns="0" bIns="0" rtlCol="0" anchor="ctr"/>
          <a:lstStyle/>
          <a:p>
            <a:pPr algn="ctr" indent="0" marL="0">
              <a:buNone/>
            </a:pPr>
            <a:r>
              <a:rPr lang="en-US" sz="1200" b="1" dirty="0">
                <a:solidFill>
                  <a:srgbClr val="FFFFFF"/>
                </a:solidFill>
              </a:rPr>
              <a:t>Chat: which crew member thinks most like you today?</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sp>
      <p:sp>
        <p:nvSpPr>
          <p:cNvPr id="3" name="Text 1"/>
          <p:cNvSpPr/>
          <p:nvPr/>
        </p:nvSpPr>
        <p:spPr>
          <a:xfrm>
            <a:off x="274320" y="0"/>
            <a:ext cx="6858000" cy="777240"/>
          </a:xfrm>
          <a:prstGeom prst="rect">
            <a:avLst/>
          </a:prstGeom>
          <a:noFill/>
          <a:ln/>
        </p:spPr>
        <p:txBody>
          <a:bodyPr wrap="square" lIns="0" tIns="0" rIns="0" bIns="0" rtlCol="0" anchor="ctr"/>
          <a:lstStyle/>
          <a:p>
            <a:pPr indent="0" marL="0">
              <a:buNone/>
            </a:pPr>
            <a:r>
              <a:rPr lang="en-US" sz="2000" b="1" dirty="0">
                <a:solidFill>
                  <a:srgbClr val="FFFFFF"/>
                </a:solidFill>
              </a:rPr>
              <a:t>Before Next Class</a:t>
            </a:r>
            <a:endParaRPr lang="en-US" sz="2000" dirty="0"/>
          </a:p>
        </p:txBody>
      </p:sp>
      <p:sp>
        <p:nvSpPr>
          <p:cNvPr id="4" name="Text 2"/>
          <p:cNvSpPr/>
          <p:nvPr/>
        </p:nvSpPr>
        <p:spPr>
          <a:xfrm>
            <a:off x="7132320" y="0"/>
            <a:ext cx="1920240" cy="777240"/>
          </a:xfrm>
          <a:prstGeom prst="rect">
            <a:avLst/>
          </a:prstGeom>
          <a:noFill/>
          <a:ln/>
        </p:spPr>
        <p:txBody>
          <a:bodyPr wrap="square" lIns="0" tIns="0" rIns="0" bIns="0" rtlCol="0" anchor="ctr"/>
          <a:lstStyle/>
          <a:p>
            <a:pPr algn="r" indent="0" marL="0">
              <a:buNone/>
            </a:pPr>
            <a:r>
              <a:rPr lang="en-US" sz="1100" dirty="0">
                <a:solidFill>
                  <a:srgbClr val="FFFFFF"/>
                </a:solidFill>
              </a:rPr>
              <a:t>Dismissal</a:t>
            </a:r>
            <a:endParaRPr lang="en-US" sz="1100" dirty="0"/>
          </a:p>
        </p:txBody>
      </p:sp>
      <p:sp>
        <p:nvSpPr>
          <p:cNvPr id="5" name="Shape 3"/>
          <p:cNvSpPr/>
          <p:nvPr/>
        </p:nvSpPr>
        <p:spPr>
          <a:xfrm>
            <a:off x="0" y="777240"/>
            <a:ext cx="9144000" cy="4366260"/>
          </a:xfrm>
          <a:prstGeom prst="rect">
            <a:avLst/>
          </a:prstGeom>
          <a:solidFill>
            <a:srgbClr val="F5F5F8"/>
          </a:solidFill>
          <a:ln w="12700">
            <a:solidFill>
              <a:srgbClr val="F5F5F8"/>
            </a:solidFill>
            <a:prstDash val="solid"/>
          </a:ln>
        </p:spPr>
      </p:sp>
      <p:sp>
        <p:nvSpPr>
          <p:cNvPr id="6" name="Shape 4"/>
          <p:cNvSpPr/>
          <p:nvPr/>
        </p:nvSpPr>
        <p:spPr>
          <a:xfrm>
            <a:off x="457200" y="960120"/>
            <a:ext cx="8229600" cy="960120"/>
          </a:xfrm>
          <a:prstGeom prst="roundRect">
            <a:avLst>
              <a:gd name="adj" fmla="val 9524"/>
            </a:avLst>
          </a:prstGeom>
          <a:solidFill>
            <a:srgbClr val="EAE8F5"/>
          </a:solidFill>
          <a:ln w="6350">
            <a:solidFill>
              <a:srgbClr val="DDDDEE"/>
            </a:solidFill>
            <a:prstDash val="solid"/>
          </a:ln>
        </p:spPr>
      </p:sp>
      <p:sp>
        <p:nvSpPr>
          <p:cNvPr id="7" name="Text 5"/>
          <p:cNvSpPr/>
          <p:nvPr/>
        </p:nvSpPr>
        <p:spPr>
          <a:xfrm>
            <a:off x="685800" y="1024128"/>
            <a:ext cx="7772400" cy="804672"/>
          </a:xfrm>
          <a:prstGeom prst="rect">
            <a:avLst/>
          </a:prstGeom>
          <a:noFill/>
          <a:ln/>
        </p:spPr>
        <p:txBody>
          <a:bodyPr wrap="square" lIns="0" tIns="0" rIns="0" bIns="0" rtlCol="0" anchor="ctr"/>
          <a:lstStyle/>
          <a:p>
            <a:pPr indent="0" marL="0">
              <a:buNone/>
            </a:pPr>
            <a:r>
              <a:rPr lang="en-US" sz="1700" b="1" dirty="0">
                <a:solidFill>
                  <a:srgbClr val="4A3D8F"/>
                </a:solidFill>
              </a:rPr>
              <a:t>Complete before your next class:</a:t>
            </a:r>
            <a:endParaRPr lang="en-US" sz="1700" dirty="0"/>
          </a:p>
        </p:txBody>
      </p:sp>
      <p:sp>
        <p:nvSpPr>
          <p:cNvPr id="8" name="Shape 6"/>
          <p:cNvSpPr/>
          <p:nvPr/>
        </p:nvSpPr>
        <p:spPr>
          <a:xfrm>
            <a:off x="457200" y="2057400"/>
            <a:ext cx="8229600" cy="731520"/>
          </a:xfrm>
          <a:prstGeom prst="roundRect">
            <a:avLst>
              <a:gd name="adj" fmla="val 12500"/>
            </a:avLst>
          </a:prstGeom>
          <a:solidFill>
            <a:srgbClr val="FFFFFF"/>
          </a:solidFill>
          <a:ln w="6350">
            <a:solidFill>
              <a:srgbClr val="DDDDEE"/>
            </a:solidFill>
            <a:prstDash val="solid"/>
          </a:ln>
        </p:spPr>
      </p:sp>
      <p:sp>
        <p:nvSpPr>
          <p:cNvPr id="9" name="Text 7"/>
          <p:cNvSpPr/>
          <p:nvPr/>
        </p:nvSpPr>
        <p:spPr>
          <a:xfrm>
            <a:off x="685800" y="2103120"/>
            <a:ext cx="7772400" cy="640080"/>
          </a:xfrm>
          <a:prstGeom prst="rect">
            <a:avLst/>
          </a:prstGeom>
          <a:noFill/>
          <a:ln/>
        </p:spPr>
        <p:txBody>
          <a:bodyPr wrap="square" lIns="0" tIns="0" rIns="0" bIns="0" rtlCol="0" anchor="ctr"/>
          <a:lstStyle/>
          <a:p>
            <a:pPr indent="0" marL="0">
              <a:buNone/>
            </a:pPr>
            <a:r>
              <a:rPr lang="en-US" sz="1500" dirty="0">
                <a:solidFill>
                  <a:srgbClr val="1A1A2E"/>
                </a:solidFill>
              </a:rPr>
              <a:t>1.  Finish the Show What You Know checks in today's lesson.</a:t>
            </a:r>
            <a:endParaRPr lang="en-US" sz="1500" dirty="0"/>
          </a:p>
        </p:txBody>
      </p:sp>
      <p:sp>
        <p:nvSpPr>
          <p:cNvPr id="10" name="Shape 8"/>
          <p:cNvSpPr/>
          <p:nvPr/>
        </p:nvSpPr>
        <p:spPr>
          <a:xfrm>
            <a:off x="457200" y="2926080"/>
            <a:ext cx="8229600" cy="731520"/>
          </a:xfrm>
          <a:prstGeom prst="roundRect">
            <a:avLst>
              <a:gd name="adj" fmla="val 12500"/>
            </a:avLst>
          </a:prstGeom>
          <a:solidFill>
            <a:srgbClr val="FFFFFF"/>
          </a:solidFill>
          <a:ln w="6350">
            <a:solidFill>
              <a:srgbClr val="DDDDEE"/>
            </a:solidFill>
            <a:prstDash val="solid"/>
          </a:ln>
        </p:spPr>
      </p:sp>
      <p:sp>
        <p:nvSpPr>
          <p:cNvPr id="11" name="Text 9"/>
          <p:cNvSpPr/>
          <p:nvPr/>
        </p:nvSpPr>
        <p:spPr>
          <a:xfrm>
            <a:off x="685800" y="2971800"/>
            <a:ext cx="7772400" cy="640080"/>
          </a:xfrm>
          <a:prstGeom prst="rect">
            <a:avLst/>
          </a:prstGeom>
          <a:noFill/>
          <a:ln/>
        </p:spPr>
        <p:txBody>
          <a:bodyPr wrap="square" lIns="0" tIns="0" rIns="0" bIns="0" rtlCol="0" anchor="ctr"/>
          <a:lstStyle/>
          <a:p>
            <a:pPr indent="0" marL="0">
              <a:buNone/>
            </a:pPr>
            <a:r>
              <a:rPr lang="en-US" sz="1500" dirty="0">
                <a:solidFill>
                  <a:srgbClr val="1A1A2E"/>
                </a:solidFill>
              </a:rPr>
              <a:t>2.  Complete the Independent Practice: measuring, classifying, and drawing angles.</a:t>
            </a:r>
            <a:endParaRPr lang="en-US" sz="1500" dirty="0"/>
          </a:p>
        </p:txBody>
      </p:sp>
      <p:sp>
        <p:nvSpPr>
          <p:cNvPr id="12" name="Shape 10"/>
          <p:cNvSpPr/>
          <p:nvPr/>
        </p:nvSpPr>
        <p:spPr>
          <a:xfrm>
            <a:off x="457200" y="3794760"/>
            <a:ext cx="8229600" cy="731520"/>
          </a:xfrm>
          <a:prstGeom prst="roundRect">
            <a:avLst>
              <a:gd name="adj" fmla="val 12500"/>
            </a:avLst>
          </a:prstGeom>
          <a:solidFill>
            <a:srgbClr val="FFFFFF"/>
          </a:solidFill>
          <a:ln w="6350">
            <a:solidFill>
              <a:srgbClr val="DDDDEE"/>
            </a:solidFill>
            <a:prstDash val="solid"/>
          </a:ln>
        </p:spPr>
      </p:sp>
      <p:sp>
        <p:nvSpPr>
          <p:cNvPr id="13" name="Text 11"/>
          <p:cNvSpPr/>
          <p:nvPr/>
        </p:nvSpPr>
        <p:spPr>
          <a:xfrm>
            <a:off x="685800" y="3840480"/>
            <a:ext cx="7772400" cy="640080"/>
          </a:xfrm>
          <a:prstGeom prst="rect">
            <a:avLst/>
          </a:prstGeom>
          <a:noFill/>
          <a:ln/>
        </p:spPr>
        <p:txBody>
          <a:bodyPr wrap="square" lIns="0" tIns="0" rIns="0" bIns="0" rtlCol="0" anchor="ctr"/>
          <a:lstStyle/>
          <a:p>
            <a:pPr indent="0" marL="0">
              <a:buNone/>
            </a:pPr>
            <a:r>
              <a:rPr lang="en-US" sz="1500" dirty="0">
                <a:solidFill>
                  <a:srgbClr val="1A1A2E"/>
                </a:solidFill>
              </a:rPr>
              <a:t>3.  Keep your protractor handy -- next lesson builds directly on today's skill.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5.11.01 Measuring Angles — Teacher Slides</dc:title>
  <dc:subject>PptxGenJS Presentation</dc:subject>
  <dc:creator>PptxGenJS</dc:creator>
  <cp:lastModifiedBy>PptxGenJS</cp:lastModifiedBy>
  <cp:revision>1</cp:revision>
  <dcterms:created xsi:type="dcterms:W3CDTF">2026-09-24T19:09:28Z</dcterms:created>
  <dcterms:modified xsi:type="dcterms:W3CDTF">2026-09-24T19:09:28Z</dcterms:modified>
</cp:coreProperties>
</file>