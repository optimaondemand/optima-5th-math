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String (5-7 min): reveal only the first problem. Give 45 seconds of silent think time, then confirm 54 before revealing 60 x 9. Anticipated: most students scale mentally once they see the pattern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String (5-7 min): reveal only the first problem. Give 45 seconds of silent think time, then confirm 54 before revealing 60 x 9. Anticipated: most students scale mentally once they see the pattern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pattern: multiplying a factor by 10 multiplies the product by 10. Common error: students who add a zero to BOTH factors expect the product to only gain one zero -- walk through 60 x 90 = 5,400 (two zeros) to correct this. Transition: 'Let's shift from multiplication facts to a brand-new geometry idea -- angles formed when lines cross.'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pattern: multiplying a factor by 10 multiplies the product by 10. Common error: students who add a zero to BOTH factors expect the product to only gain one zero -- walk through 60 x 90 = 5,400 (two zeros) to correct this. Transition: 'Let's shift from multiplication facts to a brand-new geometry idea -- angles formed when lines cross.'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(1 min)
Frame today's focus: yesterday we measured single angles one at a time; today we look at what happens when TWO lines cross and form angle PAIRS.
Transition: "Let's look at today's goal."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(1-2 min)
Read the I Can statement aloud. Emphasize "pairs" -- today's angles always come with a partner angle, and that partner follows a rule.
Transition: "Before we dive in, let's warm up what we already know about single angles."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 (3 min)
Quick individual review of Lesson 5.11.01 skills -- measuring and classifying a single angle.
Anticipated: 90°, acute, obtuse.
Common error: students may say 155° is "obtuse" correctly but mislabel a right angle's measure as 100°-check for that.
Transition: "Today we're not looking at just one angle -- we're looking at what happens when two lines cross."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(1-2 min)
Gather 2-3 chat responses (clock hands, scissors, a book cover opening, an X on a game board).
Anticipated: scissors, clock hands, an open door against the wall.
Transition: "Let's look closely at what happens at the exact point where two lines cross."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&amp; WONDER (2 min)
Do not reveal measures yet. Collect a few notices (four angles, some look the same size) and wonders (are the two small ones equal? do they add up to anything?).
Anticipated wonder: 'do the angles across from each other match?'
Transition: "Let's build the model and actually measure."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(4-5 min)
Physically trace the two lines with your finger on screen. Point to the two violet (50°) regions -- they sit directly across from each other. Point to the two green (130°) regions -- same.
Ask: 'What do you notice about the two violet angles?' (equal) 'What do the violet and green next to each other add to?' (180°)
Common error: students think ALL four angles must be equal, not just opposite pairs -- have them trace which pairs are actually across from each other.
Transition: "Let's put this into a labeled diagram we can use for any pair of crossing lines."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(3-4 min)
Work left to right: given ∠1 = 68°, ask students to reason out ∠2, ∠3, ∠4 before revealing the table.
Anticipated: ∠3 = 68° because it's vertical to ∠1; ∠2 and ∠4 = 112° because 180-68=112.
Common error: forgetting the second supplementary subtraction and copying 68 for all four.
Transition: "Now let's state the rule in words so it works for any diagram, not just this one."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(2-3 min)
Have a student paraphrase each rule out loud without looking at the diagram.
Common error: mixing up which pair is vertical (across) versus supplementary (side by side).
Transition: "These two rules also explain what happens with perpendicular lines and with parallel lines cut by a third line."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GAP-FILL (2-3 min): the Independent Practice asks about perpendicular lines, so name it explicitly here.
Ask: 'Why do all four angles have to be 90°, using what we just learned?' (supplementary pair sums to 180, so 90+90; vertical pairs are equal).
Common error: assuming perpendicular is a totally new rule instead of a special case of the two rules just learned.
Transition: "Now let's stretch the same rules across TWO parallel lines."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GAP-FILL (3 min): a transversal crossing two parallel lines repeats the SAME crossing pattern at both points.
Ask: 'Why does the corresponding angle match exactly?' (the transversal keeps the same direction, so the same wedge appears at both crossings).
Common error: confusing corresponding (same side, matching position) with alternate interior (opposite side, between the lines) -- both are 74° here, but for different reasons.
Transition: "Let's collect the vocabulary for everything we just built."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(2-3 min)
Have students read each definition aloud, then point to the matching part of the Concrete slide's diagram from memory.
Transition: "Let's use this vocabulary to solve real angle problems together."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A (3-4 min)
Work the steps aloud in order. Point to the matching angle in the diagram at each step.
Anticipated: 68°, 112°, 112°.
Common error: subtracting 68 from 180 only once and reusing 112 for all three remaining angles instead of checking which are vertical vs. supplementary.
Transition: "Now let's try a problem with just one straight line."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B (3 min)
Emphasize this is the SAME supplementary idea as before, just without a second full line crossing.
Anticipated: 133°.
Common error: adding 47 + 180 instead of subtracting.
Transition: "Let's stretch the same equal-angle idea across two parallel lines."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C (3-4 min)
Point out that finding these angles never requires new arithmetic -- corresponding and alternate interior angles are simply equal by position.
Anticipated: 74° and 74°.
Common error: assuming EVERY angle at the second crossing is 74° rather than just the matching two.
Transition: "Your turn -- try one on your own."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(3-4 min)
Give real independent think time before taking chat answers.
Anticipated: yes -- the adjacent angle is supplementary (180-90=90), and the vertical angle is equal (90), so all four are 90°.
Common error: students may say 'no' because they think only the vertical angle has to match, forgetting the supplementary pair also lands on 90 in this special case.
Transition: "That's the last new problem type -- let's look at where these angle relationships take us next."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
Preview that triangle angle work (Lesson 5.11.03/5.11.04) builds directly on today's vertical/supplementary reasoning.
Transition: "Let's check what you've got with two quick questions."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Give silent think time before revealing. Common error: students calculate 180-35=145 (the supplementary angle) instead of recognizing the vertical angle is simply equal.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Give silent think time before revealing. Common error: students calculate 180-35=145 (the supplementary angle) instead of recognizing the vertical angle is simply equal.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STRING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78608" y="164592"/>
            <a:ext cx="612648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78608" y="16459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Warm-Up · Multiplication Fact Fluency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× 9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Solve the first problem. What strategy did you use?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String Unfolds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Number String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601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× 9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9601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54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× 9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540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7160" y="1920240"/>
            <a:ext cx="0" cy="137160"/>
          </a:xfrm>
          <a:prstGeom prst="line">
            <a:avLst/>
          </a:prstGeom>
          <a:noFill/>
          <a:ln w="25400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30632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632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× 90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0" y="30632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5,400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" y="2971800"/>
            <a:ext cx="0" cy="137160"/>
          </a:xfrm>
          <a:prstGeom prst="line">
            <a:avLst/>
          </a:prstGeom>
          <a:noFill/>
          <a:ln w="25400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371600" y="4279392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7939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what changed each time?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STRING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Pattern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Every time a factor picks up a zero, the product...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picks up a zero too — multiplying a factor by 10 multiplies the product by 10.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pattern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STRING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the Next String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× 8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× 80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5.11.02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Angles and Lines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11: Geometry · Lesson 2 of 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MA.5.GR.1.1   ·   MTR.2.1   ·   MTR.5.1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find missing angle measures using vertical, supplementary, and perpendicular angle relationships formed by intersecting lines.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“Intersecting lines make angle pairs with patterns you can measure and see.”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 · Quick Review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Readiness Check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601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What is the measure of a right angle?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116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Classify a 35° angle: acute, right, obtuse, or straight?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0632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An angle measures 155°. What type of angle is it?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425196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5196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answers to all three, in order (example: 90°, acute, obtuse)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Hook · Angles All Around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Connect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Picture a pair of scissors opening — the two blades cross at a point and sweep out an angle, just like the lines you're about to study.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749808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10896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name one place at home or school where two straight edges cross to form an angle.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Look Closely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straight lines cross at one point, forming four angles — two look small and two look large.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Two Lines Cross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2788920"/>
            <a:ext cx="2834640" cy="914"/>
          </a:xfrm>
          <a:prstGeom prst="line">
            <a:avLst/>
          </a:prstGeom>
          <a:noFill/>
          <a:ln w="38100">
            <a:solidFill>
              <a:srgbClr val="1B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3660964" y="1703190"/>
            <a:ext cx="1822071" cy="2171460"/>
          </a:xfrm>
          <a:prstGeom prst="line">
            <a:avLst/>
          </a:prstGeom>
          <a:noFill/>
          <a:ln w="38100">
            <a:solidFill>
              <a:srgbClr val="1B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54635" y="2332913"/>
            <a:ext cx="212639" cy="456007"/>
          </a:xfrm>
          <a:custGeom>
            <a:avLst/>
            <a:gdLst/>
            <a:ahLst/>
            <a:cxnLst/>
            <a:rect l="l" t="t" r="r" b="b"/>
            <a:pathLst>
              <a:path w="212639" h="456007">
                <a:moveTo>
                  <a:pt x="212639" y="456007"/>
                </a:moveTo>
                <a:lnTo>
                  <a:pt x="212246" y="434367"/>
                </a:lnTo>
                <a:lnTo>
                  <a:pt x="211066" y="412755"/>
                </a:lnTo>
                <a:lnTo>
                  <a:pt x="209101" y="391201"/>
                </a:lnTo>
                <a:lnTo>
                  <a:pt x="206354" y="369732"/>
                </a:lnTo>
                <a:lnTo>
                  <a:pt x="202829" y="348378"/>
                </a:lnTo>
                <a:lnTo>
                  <a:pt x="198529" y="327166"/>
                </a:lnTo>
                <a:lnTo>
                  <a:pt x="193461" y="306124"/>
                </a:lnTo>
                <a:lnTo>
                  <a:pt x="187632" y="285280"/>
                </a:lnTo>
                <a:lnTo>
                  <a:pt x="181048" y="264662"/>
                </a:lnTo>
                <a:lnTo>
                  <a:pt x="173720" y="244297"/>
                </a:lnTo>
                <a:lnTo>
                  <a:pt x="165656" y="224212"/>
                </a:lnTo>
                <a:lnTo>
                  <a:pt x="156867" y="204433"/>
                </a:lnTo>
                <a:lnTo>
                  <a:pt x="147365" y="184987"/>
                </a:lnTo>
                <a:lnTo>
                  <a:pt x="137162" y="165899"/>
                </a:lnTo>
                <a:lnTo>
                  <a:pt x="126272" y="147194"/>
                </a:lnTo>
                <a:lnTo>
                  <a:pt x="114709" y="128898"/>
                </a:lnTo>
                <a:lnTo>
                  <a:pt x="102489" y="111034"/>
                </a:lnTo>
                <a:lnTo>
                  <a:pt x="89628" y="93627"/>
                </a:lnTo>
                <a:lnTo>
                  <a:pt x="76142" y="76698"/>
                </a:lnTo>
                <a:lnTo>
                  <a:pt x="62050" y="60271"/>
                </a:lnTo>
                <a:lnTo>
                  <a:pt x="47370" y="44367"/>
                </a:lnTo>
                <a:lnTo>
                  <a:pt x="32121" y="29007"/>
                </a:lnTo>
                <a:lnTo>
                  <a:pt x="16324" y="14211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0"/>
            </a:srgbClr>
          </a:solidFill>
          <a:ln w="38100">
            <a:solidFill>
              <a:srgbClr val="4A3D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13809" y="2218177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13809" y="2218177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50°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976726" y="2194039"/>
            <a:ext cx="977909" cy="594881"/>
          </a:xfrm>
          <a:custGeom>
            <a:avLst/>
            <a:gdLst/>
            <a:ahLst/>
            <a:cxnLst/>
            <a:rect l="l" t="t" r="r" b="b"/>
            <a:pathLst>
              <a:path w="977909" h="594881">
                <a:moveTo>
                  <a:pt x="977909" y="138874"/>
                </a:moveTo>
                <a:lnTo>
                  <a:pt x="933155" y="104791"/>
                </a:lnTo>
                <a:lnTo>
                  <a:pt x="885382" y="75084"/>
                </a:lnTo>
                <a:lnTo>
                  <a:pt x="835019" y="50019"/>
                </a:lnTo>
                <a:lnTo>
                  <a:pt x="782515" y="29821"/>
                </a:lnTo>
                <a:lnTo>
                  <a:pt x="728338" y="14669"/>
                </a:lnTo>
                <a:lnTo>
                  <a:pt x="672973" y="4699"/>
                </a:lnTo>
                <a:lnTo>
                  <a:pt x="616914" y="0"/>
                </a:lnTo>
                <a:lnTo>
                  <a:pt x="560662" y="614"/>
                </a:lnTo>
                <a:lnTo>
                  <a:pt x="504719" y="6535"/>
                </a:lnTo>
                <a:lnTo>
                  <a:pt x="449585" y="17710"/>
                </a:lnTo>
                <a:lnTo>
                  <a:pt x="395752" y="34040"/>
                </a:lnTo>
                <a:lnTo>
                  <a:pt x="343701" y="55379"/>
                </a:lnTo>
                <a:lnTo>
                  <a:pt x="293896" y="81536"/>
                </a:lnTo>
                <a:lnTo>
                  <a:pt x="246783" y="112278"/>
                </a:lnTo>
                <a:lnTo>
                  <a:pt x="202783" y="147330"/>
                </a:lnTo>
                <a:lnTo>
                  <a:pt x="162287" y="186379"/>
                </a:lnTo>
                <a:lnTo>
                  <a:pt x="125659" y="229076"/>
                </a:lnTo>
                <a:lnTo>
                  <a:pt x="93225" y="275040"/>
                </a:lnTo>
                <a:lnTo>
                  <a:pt x="65275" y="323861"/>
                </a:lnTo>
                <a:lnTo>
                  <a:pt x="42058" y="375102"/>
                </a:lnTo>
                <a:lnTo>
                  <a:pt x="23781" y="428306"/>
                </a:lnTo>
                <a:lnTo>
                  <a:pt x="10609" y="482997"/>
                </a:lnTo>
                <a:lnTo>
                  <a:pt x="2658" y="538688"/>
                </a:lnTo>
                <a:lnTo>
                  <a:pt x="0" y="594881"/>
                </a:lnTo>
              </a:path>
            </a:pathLst>
          </a:custGeom>
          <a:solidFill>
            <a:srgbClr val="FFFFFF">
              <a:alpha val="0"/>
            </a:srgbClr>
          </a:solidFill>
          <a:ln w="38100">
            <a:solidFill>
              <a:srgbClr val="2E6E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36665" y="1753335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36665" y="1753335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130°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6726" y="2788920"/>
            <a:ext cx="212639" cy="456007"/>
          </a:xfrm>
          <a:custGeom>
            <a:avLst/>
            <a:gdLst/>
            <a:ahLst/>
            <a:cxnLst/>
            <a:rect l="l" t="t" r="r" b="b"/>
            <a:pathLst>
              <a:path w="212639" h="456007">
                <a:moveTo>
                  <a:pt x="0" y="0"/>
                </a:moveTo>
                <a:lnTo>
                  <a:pt x="393" y="21640"/>
                </a:lnTo>
                <a:lnTo>
                  <a:pt x="1573" y="43251"/>
                </a:lnTo>
                <a:lnTo>
                  <a:pt x="3538" y="64806"/>
                </a:lnTo>
                <a:lnTo>
                  <a:pt x="6285" y="86274"/>
                </a:lnTo>
                <a:lnTo>
                  <a:pt x="9811" y="107629"/>
                </a:lnTo>
                <a:lnTo>
                  <a:pt x="14110" y="128841"/>
                </a:lnTo>
                <a:lnTo>
                  <a:pt x="19178" y="149883"/>
                </a:lnTo>
                <a:lnTo>
                  <a:pt x="25008" y="170727"/>
                </a:lnTo>
                <a:lnTo>
                  <a:pt x="31591" y="191345"/>
                </a:lnTo>
                <a:lnTo>
                  <a:pt x="38920" y="211710"/>
                </a:lnTo>
                <a:lnTo>
                  <a:pt x="46984" y="231795"/>
                </a:lnTo>
                <a:lnTo>
                  <a:pt x="55773" y="251574"/>
                </a:lnTo>
                <a:lnTo>
                  <a:pt x="65275" y="271020"/>
                </a:lnTo>
                <a:lnTo>
                  <a:pt x="75477" y="290108"/>
                </a:lnTo>
                <a:lnTo>
                  <a:pt x="86367" y="308812"/>
                </a:lnTo>
                <a:lnTo>
                  <a:pt x="97930" y="327109"/>
                </a:lnTo>
                <a:lnTo>
                  <a:pt x="110150" y="344972"/>
                </a:lnTo>
                <a:lnTo>
                  <a:pt x="123011" y="362380"/>
                </a:lnTo>
                <a:lnTo>
                  <a:pt x="136497" y="379309"/>
                </a:lnTo>
                <a:lnTo>
                  <a:pt x="150589" y="395736"/>
                </a:lnTo>
                <a:lnTo>
                  <a:pt x="165270" y="411640"/>
                </a:lnTo>
                <a:lnTo>
                  <a:pt x="180518" y="427000"/>
                </a:lnTo>
                <a:lnTo>
                  <a:pt x="196315" y="441795"/>
                </a:lnTo>
                <a:lnTo>
                  <a:pt x="212639" y="456007"/>
                </a:lnTo>
              </a:path>
            </a:pathLst>
          </a:custGeom>
          <a:solidFill>
            <a:srgbClr val="FFFFFF">
              <a:alpha val="0"/>
            </a:srgbClr>
          </a:solidFill>
          <a:ln w="38100">
            <a:solidFill>
              <a:srgbClr val="4A3D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71823" y="3030479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71823" y="3030479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50°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89365" y="2788920"/>
            <a:ext cx="977909" cy="594881"/>
          </a:xfrm>
          <a:custGeom>
            <a:avLst/>
            <a:gdLst/>
            <a:ahLst/>
            <a:cxnLst/>
            <a:rect l="l" t="t" r="r" b="b"/>
            <a:pathLst>
              <a:path w="977909" h="594881">
                <a:moveTo>
                  <a:pt x="0" y="456007"/>
                </a:moveTo>
                <a:lnTo>
                  <a:pt x="44755" y="490090"/>
                </a:lnTo>
                <a:lnTo>
                  <a:pt x="92527" y="519797"/>
                </a:lnTo>
                <a:lnTo>
                  <a:pt x="142890" y="544861"/>
                </a:lnTo>
                <a:lnTo>
                  <a:pt x="195395" y="565060"/>
                </a:lnTo>
                <a:lnTo>
                  <a:pt x="249571" y="580212"/>
                </a:lnTo>
                <a:lnTo>
                  <a:pt x="304936" y="590182"/>
                </a:lnTo>
                <a:lnTo>
                  <a:pt x="360995" y="594881"/>
                </a:lnTo>
                <a:lnTo>
                  <a:pt x="417247" y="594267"/>
                </a:lnTo>
                <a:lnTo>
                  <a:pt x="473190" y="588346"/>
                </a:lnTo>
                <a:lnTo>
                  <a:pt x="528324" y="577171"/>
                </a:lnTo>
                <a:lnTo>
                  <a:pt x="582158" y="560841"/>
                </a:lnTo>
                <a:lnTo>
                  <a:pt x="634209" y="539502"/>
                </a:lnTo>
                <a:lnTo>
                  <a:pt x="684013" y="513345"/>
                </a:lnTo>
                <a:lnTo>
                  <a:pt x="731126" y="482603"/>
                </a:lnTo>
                <a:lnTo>
                  <a:pt x="775127" y="447551"/>
                </a:lnTo>
                <a:lnTo>
                  <a:pt x="815622" y="408502"/>
                </a:lnTo>
                <a:lnTo>
                  <a:pt x="852250" y="365805"/>
                </a:lnTo>
                <a:lnTo>
                  <a:pt x="884684" y="319841"/>
                </a:lnTo>
                <a:lnTo>
                  <a:pt x="912635" y="271020"/>
                </a:lnTo>
                <a:lnTo>
                  <a:pt x="935852" y="219779"/>
                </a:lnTo>
                <a:lnTo>
                  <a:pt x="954128" y="166575"/>
                </a:lnTo>
                <a:lnTo>
                  <a:pt x="967300" y="111883"/>
                </a:lnTo>
                <a:lnTo>
                  <a:pt x="975251" y="56193"/>
                </a:lnTo>
                <a:lnTo>
                  <a:pt x="977909" y="0"/>
                </a:lnTo>
              </a:path>
            </a:pathLst>
          </a:custGeom>
          <a:solidFill>
            <a:srgbClr val="FFFFFF">
              <a:alpha val="0"/>
            </a:srgbClr>
          </a:solidFill>
          <a:ln w="38100">
            <a:solidFill>
              <a:srgbClr val="2E6E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48967" y="3495321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8967" y="3495321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130°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07992" y="2724912"/>
            <a:ext cx="128016" cy="128016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5262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Imagine spinning the diagonal line across the horizontal one — each opening it sweeps out is a real, measurable angle.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Label the Angle Pairs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2743200"/>
            <a:ext cx="2377440" cy="914"/>
          </a:xfrm>
          <a:prstGeom prst="line">
            <a:avLst/>
          </a:prstGeom>
          <a:noFill/>
          <a:ln w="38100">
            <a:solidFill>
              <a:srgbClr val="1B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343618" y="1641038"/>
            <a:ext cx="890605" cy="2204324"/>
          </a:xfrm>
          <a:prstGeom prst="line">
            <a:avLst/>
          </a:prstGeom>
          <a:noFill/>
          <a:ln w="38100">
            <a:solidFill>
              <a:srgbClr val="1B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75947" y="2280292"/>
            <a:ext cx="312235" cy="462908"/>
          </a:xfrm>
          <a:custGeom>
            <a:avLst/>
            <a:gdLst/>
            <a:ahLst/>
            <a:cxnLst/>
            <a:rect l="l" t="t" r="r" b="b"/>
            <a:pathLst>
              <a:path w="312235" h="462908">
                <a:moveTo>
                  <a:pt x="312235" y="462908"/>
                </a:moveTo>
                <a:lnTo>
                  <a:pt x="311625" y="438229"/>
                </a:lnTo>
                <a:lnTo>
                  <a:pt x="309796" y="413610"/>
                </a:lnTo>
                <a:lnTo>
                  <a:pt x="306751" y="389112"/>
                </a:lnTo>
                <a:lnTo>
                  <a:pt x="302500" y="364795"/>
                </a:lnTo>
                <a:lnTo>
                  <a:pt x="297052" y="340717"/>
                </a:lnTo>
                <a:lnTo>
                  <a:pt x="290420" y="316938"/>
                </a:lnTo>
                <a:lnTo>
                  <a:pt x="282621" y="293516"/>
                </a:lnTo>
                <a:lnTo>
                  <a:pt x="273674" y="270508"/>
                </a:lnTo>
                <a:lnTo>
                  <a:pt x="263600" y="247970"/>
                </a:lnTo>
                <a:lnTo>
                  <a:pt x="252424" y="225958"/>
                </a:lnTo>
                <a:lnTo>
                  <a:pt x="240175" y="204525"/>
                </a:lnTo>
                <a:lnTo>
                  <a:pt x="226880" y="183724"/>
                </a:lnTo>
                <a:lnTo>
                  <a:pt x="212574" y="163606"/>
                </a:lnTo>
                <a:lnTo>
                  <a:pt x="197291" y="144219"/>
                </a:lnTo>
                <a:lnTo>
                  <a:pt x="181068" y="125611"/>
                </a:lnTo>
                <a:lnTo>
                  <a:pt x="163945" y="107828"/>
                </a:lnTo>
                <a:lnTo>
                  <a:pt x="145964" y="90914"/>
                </a:lnTo>
                <a:lnTo>
                  <a:pt x="127169" y="74908"/>
                </a:lnTo>
                <a:lnTo>
                  <a:pt x="107606" y="59852"/>
                </a:lnTo>
                <a:lnTo>
                  <a:pt x="87322" y="45780"/>
                </a:lnTo>
                <a:lnTo>
                  <a:pt x="66368" y="32729"/>
                </a:lnTo>
                <a:lnTo>
                  <a:pt x="44794" y="20729"/>
                </a:lnTo>
                <a:lnTo>
                  <a:pt x="22653" y="9811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0"/>
            </a:srgbClr>
          </a:solidFill>
          <a:ln w="38100">
            <a:solidFill>
              <a:srgbClr val="4A3D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76872" y="2094894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6872" y="2094894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9658" y="2244073"/>
            <a:ext cx="686289" cy="499127"/>
          </a:xfrm>
          <a:custGeom>
            <a:avLst/>
            <a:gdLst/>
            <a:ahLst/>
            <a:cxnLst/>
            <a:rect l="l" t="t" r="r" b="b"/>
            <a:pathLst>
              <a:path w="686289" h="499127">
                <a:moveTo>
                  <a:pt x="686289" y="36219"/>
                </a:moveTo>
                <a:lnTo>
                  <a:pt x="648008" y="22538"/>
                </a:lnTo>
                <a:lnTo>
                  <a:pt x="608740" y="12016"/>
                </a:lnTo>
                <a:lnTo>
                  <a:pt x="568746" y="4724"/>
                </a:lnTo>
                <a:lnTo>
                  <a:pt x="528292" y="709"/>
                </a:lnTo>
                <a:lnTo>
                  <a:pt x="487645" y="0"/>
                </a:lnTo>
                <a:lnTo>
                  <a:pt x="447075" y="2600"/>
                </a:lnTo>
                <a:lnTo>
                  <a:pt x="406851" y="8492"/>
                </a:lnTo>
                <a:lnTo>
                  <a:pt x="367240" y="17637"/>
                </a:lnTo>
                <a:lnTo>
                  <a:pt x="328505" y="29974"/>
                </a:lnTo>
                <a:lnTo>
                  <a:pt x="290901" y="45422"/>
                </a:lnTo>
                <a:lnTo>
                  <a:pt x="254679" y="63878"/>
                </a:lnTo>
                <a:lnTo>
                  <a:pt x="220078" y="85220"/>
                </a:lnTo>
                <a:lnTo>
                  <a:pt x="187329" y="109306"/>
                </a:lnTo>
                <a:lnTo>
                  <a:pt x="156648" y="135977"/>
                </a:lnTo>
                <a:lnTo>
                  <a:pt x="128238" y="165055"/>
                </a:lnTo>
                <a:lnTo>
                  <a:pt x="102288" y="196349"/>
                </a:lnTo>
                <a:lnTo>
                  <a:pt x="78971" y="229650"/>
                </a:lnTo>
                <a:lnTo>
                  <a:pt x="58440" y="264738"/>
                </a:lnTo>
                <a:lnTo>
                  <a:pt x="40832" y="301379"/>
                </a:lnTo>
                <a:lnTo>
                  <a:pt x="26263" y="339332"/>
                </a:lnTo>
                <a:lnTo>
                  <a:pt x="14830" y="378345"/>
                </a:lnTo>
                <a:lnTo>
                  <a:pt x="6609" y="418158"/>
                </a:lnTo>
                <a:lnTo>
                  <a:pt x="1655" y="458508"/>
                </a:lnTo>
                <a:lnTo>
                  <a:pt x="0" y="499127"/>
                </a:lnTo>
              </a:path>
            </a:pathLst>
          </a:custGeom>
          <a:solidFill>
            <a:srgbClr val="FFFFFF">
              <a:alpha val="0"/>
            </a:srgbClr>
          </a:solidFill>
          <a:ln w="38100">
            <a:solidFill>
              <a:srgbClr val="2E6E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76022" y="1861472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76022" y="1861472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89658" y="2743200"/>
            <a:ext cx="312235" cy="462908"/>
          </a:xfrm>
          <a:custGeom>
            <a:avLst/>
            <a:gdLst/>
            <a:ahLst/>
            <a:cxnLst/>
            <a:rect l="l" t="t" r="r" b="b"/>
            <a:pathLst>
              <a:path w="312235" h="462908">
                <a:moveTo>
                  <a:pt x="0" y="0"/>
                </a:moveTo>
                <a:lnTo>
                  <a:pt x="610" y="24679"/>
                </a:lnTo>
                <a:lnTo>
                  <a:pt x="2440" y="49298"/>
                </a:lnTo>
                <a:lnTo>
                  <a:pt x="5484" y="73796"/>
                </a:lnTo>
                <a:lnTo>
                  <a:pt x="9735" y="98113"/>
                </a:lnTo>
                <a:lnTo>
                  <a:pt x="15184" y="122191"/>
                </a:lnTo>
                <a:lnTo>
                  <a:pt x="21815" y="145970"/>
                </a:lnTo>
                <a:lnTo>
                  <a:pt x="29614" y="169392"/>
                </a:lnTo>
                <a:lnTo>
                  <a:pt x="38562" y="192400"/>
                </a:lnTo>
                <a:lnTo>
                  <a:pt x="48636" y="214938"/>
                </a:lnTo>
                <a:lnTo>
                  <a:pt x="59811" y="236950"/>
                </a:lnTo>
                <a:lnTo>
                  <a:pt x="72061" y="258383"/>
                </a:lnTo>
                <a:lnTo>
                  <a:pt x="85355" y="279184"/>
                </a:lnTo>
                <a:lnTo>
                  <a:pt x="99661" y="299302"/>
                </a:lnTo>
                <a:lnTo>
                  <a:pt x="114945" y="318689"/>
                </a:lnTo>
                <a:lnTo>
                  <a:pt x="131168" y="337297"/>
                </a:lnTo>
                <a:lnTo>
                  <a:pt x="148290" y="355080"/>
                </a:lnTo>
                <a:lnTo>
                  <a:pt x="166271" y="371994"/>
                </a:lnTo>
                <a:lnTo>
                  <a:pt x="185066" y="388000"/>
                </a:lnTo>
                <a:lnTo>
                  <a:pt x="204630" y="403056"/>
                </a:lnTo>
                <a:lnTo>
                  <a:pt x="224913" y="417128"/>
                </a:lnTo>
                <a:lnTo>
                  <a:pt x="245868" y="430179"/>
                </a:lnTo>
                <a:lnTo>
                  <a:pt x="267441" y="442179"/>
                </a:lnTo>
                <a:lnTo>
                  <a:pt x="289582" y="453097"/>
                </a:lnTo>
                <a:lnTo>
                  <a:pt x="312235" y="462908"/>
                </a:lnTo>
              </a:path>
            </a:pathLst>
          </a:custGeom>
          <a:solidFill>
            <a:srgbClr val="FFFFFF">
              <a:alpha val="0"/>
            </a:srgbClr>
          </a:solidFill>
          <a:ln w="38100">
            <a:solidFill>
              <a:srgbClr val="4A3D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42600" y="3062322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42600" y="3062322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01893" y="2743200"/>
            <a:ext cx="686289" cy="499127"/>
          </a:xfrm>
          <a:custGeom>
            <a:avLst/>
            <a:gdLst/>
            <a:ahLst/>
            <a:cxnLst/>
            <a:rect l="l" t="t" r="r" b="b"/>
            <a:pathLst>
              <a:path w="686289" h="499127">
                <a:moveTo>
                  <a:pt x="0" y="462908"/>
                </a:moveTo>
                <a:lnTo>
                  <a:pt x="38282" y="476590"/>
                </a:lnTo>
                <a:lnTo>
                  <a:pt x="77549" y="487111"/>
                </a:lnTo>
                <a:lnTo>
                  <a:pt x="117543" y="494404"/>
                </a:lnTo>
                <a:lnTo>
                  <a:pt x="157997" y="498418"/>
                </a:lnTo>
                <a:lnTo>
                  <a:pt x="198644" y="499127"/>
                </a:lnTo>
                <a:lnTo>
                  <a:pt x="239214" y="496527"/>
                </a:lnTo>
                <a:lnTo>
                  <a:pt x="279438" y="490635"/>
                </a:lnTo>
                <a:lnTo>
                  <a:pt x="319049" y="481491"/>
                </a:lnTo>
                <a:lnTo>
                  <a:pt x="357785" y="469153"/>
                </a:lnTo>
                <a:lnTo>
                  <a:pt x="395388" y="453705"/>
                </a:lnTo>
                <a:lnTo>
                  <a:pt x="431611" y="435249"/>
                </a:lnTo>
                <a:lnTo>
                  <a:pt x="466211" y="413907"/>
                </a:lnTo>
                <a:lnTo>
                  <a:pt x="498960" y="389821"/>
                </a:lnTo>
                <a:lnTo>
                  <a:pt x="529642" y="363150"/>
                </a:lnTo>
                <a:lnTo>
                  <a:pt x="558051" y="334072"/>
                </a:lnTo>
                <a:lnTo>
                  <a:pt x="584001" y="302778"/>
                </a:lnTo>
                <a:lnTo>
                  <a:pt x="607319" y="269477"/>
                </a:lnTo>
                <a:lnTo>
                  <a:pt x="627850" y="234389"/>
                </a:lnTo>
                <a:lnTo>
                  <a:pt x="645458" y="197748"/>
                </a:lnTo>
                <a:lnTo>
                  <a:pt x="660027" y="159795"/>
                </a:lnTo>
                <a:lnTo>
                  <a:pt x="671459" y="120783"/>
                </a:lnTo>
                <a:lnTo>
                  <a:pt x="679680" y="80969"/>
                </a:lnTo>
                <a:lnTo>
                  <a:pt x="684634" y="40619"/>
                </a:lnTo>
                <a:lnTo>
                  <a:pt x="686289" y="0"/>
                </a:lnTo>
              </a:path>
            </a:pathLst>
          </a:custGeom>
          <a:solidFill>
            <a:srgbClr val="FFFFFF">
              <a:alpha val="0"/>
            </a:srgbClr>
          </a:solidFill>
          <a:ln w="38100">
            <a:solidFill>
              <a:srgbClr val="2E6E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43450" y="3295744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43450" y="3295744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24912" y="2679192"/>
            <a:ext cx="128016" cy="128016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371600"/>
            <a:ext cx="37490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D8F"/>
                </a:solidFill>
              </a:rPr>
              <a:t>Given: ∠1 = 68°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7492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∠1 = 68°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7492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∠2 = 112°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74920" y="2788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∠3 = 68°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7492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∠4 = 112°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74920" y="3657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∠1 and ∠3 are across from each other (vertical) — equal.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∠1 and ∠2 sit on a straight line (supplementary) — sum to 180°.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State the Rule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Vertical angles — angles directly across from each other when two lines cross — are always equal.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788920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Supplementary angles — two angles that sit side by side and form a straight line — always add to 180°.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Perpendicular Lines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Extend the Rule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2743200"/>
            <a:ext cx="2377440" cy="914"/>
          </a:xfrm>
          <a:prstGeom prst="line">
            <a:avLst/>
          </a:prstGeom>
          <a:noFill/>
          <a:ln w="38100">
            <a:solidFill>
              <a:srgbClr val="1B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743200" y="1554480"/>
            <a:ext cx="914" cy="2377440"/>
          </a:xfrm>
          <a:prstGeom prst="line">
            <a:avLst/>
          </a:prstGeom>
          <a:noFill/>
          <a:ln w="38100">
            <a:solidFill>
              <a:srgbClr val="1B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2243938"/>
            <a:ext cx="499262" cy="499262"/>
          </a:xfrm>
          <a:custGeom>
            <a:avLst/>
            <a:gdLst/>
            <a:ahLst/>
            <a:cxnLst/>
            <a:rect l="l" t="t" r="r" b="b"/>
            <a:pathLst>
              <a:path w="499262" h="499262">
                <a:moveTo>
                  <a:pt x="499262" y="499262"/>
                </a:moveTo>
                <a:lnTo>
                  <a:pt x="498193" y="466609"/>
                </a:lnTo>
                <a:lnTo>
                  <a:pt x="494991" y="434096"/>
                </a:lnTo>
                <a:lnTo>
                  <a:pt x="489669" y="401861"/>
                </a:lnTo>
                <a:lnTo>
                  <a:pt x="482250" y="370044"/>
                </a:lnTo>
                <a:lnTo>
                  <a:pt x="472767" y="338780"/>
                </a:lnTo>
                <a:lnTo>
                  <a:pt x="461258" y="308203"/>
                </a:lnTo>
                <a:lnTo>
                  <a:pt x="447775" y="278444"/>
                </a:lnTo>
                <a:lnTo>
                  <a:pt x="432374" y="249631"/>
                </a:lnTo>
                <a:lnTo>
                  <a:pt x="415122" y="221887"/>
                </a:lnTo>
                <a:lnTo>
                  <a:pt x="396091" y="195331"/>
                </a:lnTo>
                <a:lnTo>
                  <a:pt x="375365" y="170076"/>
                </a:lnTo>
                <a:lnTo>
                  <a:pt x="353032" y="146231"/>
                </a:lnTo>
                <a:lnTo>
                  <a:pt x="329187" y="123897"/>
                </a:lnTo>
                <a:lnTo>
                  <a:pt x="303932" y="103171"/>
                </a:lnTo>
                <a:lnTo>
                  <a:pt x="277375" y="84141"/>
                </a:lnTo>
                <a:lnTo>
                  <a:pt x="249631" y="66888"/>
                </a:lnTo>
                <a:lnTo>
                  <a:pt x="220818" y="51488"/>
                </a:lnTo>
                <a:lnTo>
                  <a:pt x="191059" y="38004"/>
                </a:lnTo>
                <a:lnTo>
                  <a:pt x="160483" y="26496"/>
                </a:lnTo>
                <a:lnTo>
                  <a:pt x="129219" y="17012"/>
                </a:lnTo>
                <a:lnTo>
                  <a:pt x="97401" y="9593"/>
                </a:lnTo>
                <a:lnTo>
                  <a:pt x="65167" y="4271"/>
                </a:lnTo>
                <a:lnTo>
                  <a:pt x="32653" y="1069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0"/>
            </a:srgbClr>
          </a:solidFill>
          <a:ln w="38100">
            <a:solidFill>
              <a:srgbClr val="4A3D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25679" y="1966945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25679" y="1966945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90°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43938" y="2243938"/>
            <a:ext cx="499262" cy="499262"/>
          </a:xfrm>
          <a:custGeom>
            <a:avLst/>
            <a:gdLst/>
            <a:ahLst/>
            <a:cxnLst/>
            <a:rect l="l" t="t" r="r" b="b"/>
            <a:pathLst>
              <a:path w="499262" h="499262">
                <a:moveTo>
                  <a:pt x="499262" y="0"/>
                </a:moveTo>
                <a:lnTo>
                  <a:pt x="466609" y="1069"/>
                </a:lnTo>
                <a:lnTo>
                  <a:pt x="434096" y="4271"/>
                </a:lnTo>
                <a:lnTo>
                  <a:pt x="401861" y="9593"/>
                </a:lnTo>
                <a:lnTo>
                  <a:pt x="370044" y="17012"/>
                </a:lnTo>
                <a:lnTo>
                  <a:pt x="338780" y="26496"/>
                </a:lnTo>
                <a:lnTo>
                  <a:pt x="308203" y="38004"/>
                </a:lnTo>
                <a:lnTo>
                  <a:pt x="278444" y="51488"/>
                </a:lnTo>
                <a:lnTo>
                  <a:pt x="249631" y="66888"/>
                </a:lnTo>
                <a:lnTo>
                  <a:pt x="221887" y="84141"/>
                </a:lnTo>
                <a:lnTo>
                  <a:pt x="195331" y="103171"/>
                </a:lnTo>
                <a:lnTo>
                  <a:pt x="170076" y="123897"/>
                </a:lnTo>
                <a:lnTo>
                  <a:pt x="146231" y="146231"/>
                </a:lnTo>
                <a:lnTo>
                  <a:pt x="123897" y="170076"/>
                </a:lnTo>
                <a:lnTo>
                  <a:pt x="103171" y="195331"/>
                </a:lnTo>
                <a:lnTo>
                  <a:pt x="84141" y="221887"/>
                </a:lnTo>
                <a:lnTo>
                  <a:pt x="66888" y="249631"/>
                </a:lnTo>
                <a:lnTo>
                  <a:pt x="51488" y="278444"/>
                </a:lnTo>
                <a:lnTo>
                  <a:pt x="38004" y="308203"/>
                </a:lnTo>
                <a:lnTo>
                  <a:pt x="26496" y="338780"/>
                </a:lnTo>
                <a:lnTo>
                  <a:pt x="17012" y="370044"/>
                </a:lnTo>
                <a:lnTo>
                  <a:pt x="9593" y="401861"/>
                </a:lnTo>
                <a:lnTo>
                  <a:pt x="4271" y="434096"/>
                </a:lnTo>
                <a:lnTo>
                  <a:pt x="1069" y="466609"/>
                </a:lnTo>
                <a:lnTo>
                  <a:pt x="0" y="499262"/>
                </a:lnTo>
              </a:path>
            </a:pathLst>
          </a:custGeom>
          <a:solidFill>
            <a:srgbClr val="FFFFFF">
              <a:alpha val="0"/>
            </a:srgbClr>
          </a:solidFill>
          <a:ln w="38100">
            <a:solidFill>
              <a:srgbClr val="4A3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02353" y="1966945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02353" y="1966945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90°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43938" y="2743200"/>
            <a:ext cx="499262" cy="499262"/>
          </a:xfrm>
          <a:custGeom>
            <a:avLst/>
            <a:gdLst/>
            <a:ahLst/>
            <a:cxnLst/>
            <a:rect l="l" t="t" r="r" b="b"/>
            <a:pathLst>
              <a:path w="499262" h="499262">
                <a:moveTo>
                  <a:pt x="0" y="0"/>
                </a:moveTo>
                <a:lnTo>
                  <a:pt x="1069" y="32653"/>
                </a:lnTo>
                <a:lnTo>
                  <a:pt x="4271" y="65167"/>
                </a:lnTo>
                <a:lnTo>
                  <a:pt x="9593" y="97401"/>
                </a:lnTo>
                <a:lnTo>
                  <a:pt x="17012" y="129219"/>
                </a:lnTo>
                <a:lnTo>
                  <a:pt x="26496" y="160483"/>
                </a:lnTo>
                <a:lnTo>
                  <a:pt x="38004" y="191059"/>
                </a:lnTo>
                <a:lnTo>
                  <a:pt x="51488" y="220818"/>
                </a:lnTo>
                <a:lnTo>
                  <a:pt x="66888" y="249631"/>
                </a:lnTo>
                <a:lnTo>
                  <a:pt x="84141" y="277375"/>
                </a:lnTo>
                <a:lnTo>
                  <a:pt x="103171" y="303932"/>
                </a:lnTo>
                <a:lnTo>
                  <a:pt x="123897" y="329187"/>
                </a:lnTo>
                <a:lnTo>
                  <a:pt x="146231" y="353032"/>
                </a:lnTo>
                <a:lnTo>
                  <a:pt x="170076" y="375365"/>
                </a:lnTo>
                <a:lnTo>
                  <a:pt x="195331" y="396091"/>
                </a:lnTo>
                <a:lnTo>
                  <a:pt x="221887" y="415122"/>
                </a:lnTo>
                <a:lnTo>
                  <a:pt x="249631" y="432374"/>
                </a:lnTo>
                <a:lnTo>
                  <a:pt x="278444" y="447775"/>
                </a:lnTo>
                <a:lnTo>
                  <a:pt x="308203" y="461258"/>
                </a:lnTo>
                <a:lnTo>
                  <a:pt x="338780" y="472767"/>
                </a:lnTo>
                <a:lnTo>
                  <a:pt x="370044" y="482250"/>
                </a:lnTo>
                <a:lnTo>
                  <a:pt x="401861" y="489669"/>
                </a:lnTo>
                <a:lnTo>
                  <a:pt x="434096" y="494991"/>
                </a:lnTo>
                <a:lnTo>
                  <a:pt x="466609" y="498193"/>
                </a:lnTo>
                <a:lnTo>
                  <a:pt x="499262" y="499262"/>
                </a:lnTo>
              </a:path>
            </a:pathLst>
          </a:custGeom>
          <a:solidFill>
            <a:srgbClr val="FFFFFF">
              <a:alpha val="0"/>
            </a:srgbClr>
          </a:solidFill>
          <a:ln w="38100">
            <a:solidFill>
              <a:srgbClr val="4A3D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02353" y="3190271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02353" y="3190271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90°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0" y="2743200"/>
            <a:ext cx="499262" cy="499262"/>
          </a:xfrm>
          <a:custGeom>
            <a:avLst/>
            <a:gdLst/>
            <a:ahLst/>
            <a:cxnLst/>
            <a:rect l="l" t="t" r="r" b="b"/>
            <a:pathLst>
              <a:path w="499262" h="499262">
                <a:moveTo>
                  <a:pt x="0" y="499262"/>
                </a:moveTo>
                <a:lnTo>
                  <a:pt x="32653" y="498193"/>
                </a:lnTo>
                <a:lnTo>
                  <a:pt x="65167" y="494991"/>
                </a:lnTo>
                <a:lnTo>
                  <a:pt x="97401" y="489669"/>
                </a:lnTo>
                <a:lnTo>
                  <a:pt x="129219" y="482250"/>
                </a:lnTo>
                <a:lnTo>
                  <a:pt x="160483" y="472767"/>
                </a:lnTo>
                <a:lnTo>
                  <a:pt x="191059" y="461258"/>
                </a:lnTo>
                <a:lnTo>
                  <a:pt x="220818" y="447775"/>
                </a:lnTo>
                <a:lnTo>
                  <a:pt x="249631" y="432374"/>
                </a:lnTo>
                <a:lnTo>
                  <a:pt x="277375" y="415122"/>
                </a:lnTo>
                <a:lnTo>
                  <a:pt x="303932" y="396091"/>
                </a:lnTo>
                <a:lnTo>
                  <a:pt x="329187" y="375365"/>
                </a:lnTo>
                <a:lnTo>
                  <a:pt x="353032" y="353032"/>
                </a:lnTo>
                <a:lnTo>
                  <a:pt x="375365" y="329187"/>
                </a:lnTo>
                <a:lnTo>
                  <a:pt x="396091" y="303932"/>
                </a:lnTo>
                <a:lnTo>
                  <a:pt x="415122" y="277375"/>
                </a:lnTo>
                <a:lnTo>
                  <a:pt x="432374" y="249631"/>
                </a:lnTo>
                <a:lnTo>
                  <a:pt x="447775" y="220818"/>
                </a:lnTo>
                <a:lnTo>
                  <a:pt x="461258" y="191059"/>
                </a:lnTo>
                <a:lnTo>
                  <a:pt x="472767" y="160483"/>
                </a:lnTo>
                <a:lnTo>
                  <a:pt x="482250" y="129219"/>
                </a:lnTo>
                <a:lnTo>
                  <a:pt x="489669" y="97401"/>
                </a:lnTo>
                <a:lnTo>
                  <a:pt x="494991" y="65167"/>
                </a:lnTo>
                <a:lnTo>
                  <a:pt x="498193" y="32653"/>
                </a:lnTo>
                <a:lnTo>
                  <a:pt x="499262" y="0"/>
                </a:lnTo>
              </a:path>
            </a:pathLst>
          </a:custGeom>
          <a:solidFill>
            <a:srgbClr val="FFFFFF">
              <a:alpha val="0"/>
            </a:srgbClr>
          </a:solidFill>
          <a:ln w="38100">
            <a:solidFill>
              <a:srgbClr val="4A3D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25679" y="3190271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25679" y="3190271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90°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79192" y="2679192"/>
            <a:ext cx="128016" cy="128016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463040"/>
            <a:ext cx="374904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1600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Perpendicular lines cross to form a right angle.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74920" y="233172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Because 90° + 90° = 180° (supplementary) and vertical angles are equal, all four angles at the crossing measure exactly 90°.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Parallel Lines &amp; a Transversal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Extend the Rule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578254"/>
            <a:ext cx="7406640" cy="914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3268066"/>
            <a:ext cx="7406640" cy="914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45901" y="1094817"/>
            <a:ext cx="761793" cy="2656687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7592" y="1495958"/>
            <a:ext cx="109728" cy="82296"/>
          </a:xfrm>
          <a:prstGeom prst="line">
            <a:avLst/>
          </a:prstGeom>
          <a:noFill/>
          <a:ln w="19050">
            <a:solidFill>
              <a:srgbClr val="8A8A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307592" y="1578254"/>
            <a:ext cx="109728" cy="82296"/>
          </a:xfrm>
          <a:prstGeom prst="line">
            <a:avLst/>
          </a:prstGeom>
          <a:noFill/>
          <a:ln w="19050">
            <a:solidFill>
              <a:srgbClr val="8A8A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07592" y="3185770"/>
            <a:ext cx="109728" cy="82296"/>
          </a:xfrm>
          <a:prstGeom prst="line">
            <a:avLst/>
          </a:prstGeom>
          <a:noFill/>
          <a:ln w="19050">
            <a:solidFill>
              <a:srgbClr val="8A8A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307592" y="3268066"/>
            <a:ext cx="109728" cy="82296"/>
          </a:xfrm>
          <a:prstGeom prst="line">
            <a:avLst/>
          </a:prstGeom>
          <a:noFill/>
          <a:ln w="19050">
            <a:solidFill>
              <a:srgbClr val="8A8A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90383" y="1578254"/>
            <a:ext cx="278190" cy="369171"/>
          </a:xfrm>
          <a:custGeom>
            <a:avLst/>
            <a:gdLst/>
            <a:ahLst/>
            <a:cxnLst/>
            <a:rect l="l" t="t" r="r" b="b"/>
            <a:pathLst>
              <a:path w="278190" h="369171">
                <a:moveTo>
                  <a:pt x="0" y="369171"/>
                </a:moveTo>
                <a:lnTo>
                  <a:pt x="19704" y="362942"/>
                </a:lnTo>
                <a:lnTo>
                  <a:pt x="39044" y="355663"/>
                </a:lnTo>
                <a:lnTo>
                  <a:pt x="57965" y="347354"/>
                </a:lnTo>
                <a:lnTo>
                  <a:pt x="76411" y="338040"/>
                </a:lnTo>
                <a:lnTo>
                  <a:pt x="94330" y="327746"/>
                </a:lnTo>
                <a:lnTo>
                  <a:pt x="111669" y="316504"/>
                </a:lnTo>
                <a:lnTo>
                  <a:pt x="128379" y="304345"/>
                </a:lnTo>
                <a:lnTo>
                  <a:pt x="144410" y="291306"/>
                </a:lnTo>
                <a:lnTo>
                  <a:pt x="159716" y="277422"/>
                </a:lnTo>
                <a:lnTo>
                  <a:pt x="174254" y="262736"/>
                </a:lnTo>
                <a:lnTo>
                  <a:pt x="187981" y="247289"/>
                </a:lnTo>
                <a:lnTo>
                  <a:pt x="200856" y="231126"/>
                </a:lnTo>
                <a:lnTo>
                  <a:pt x="212844" y="214294"/>
                </a:lnTo>
                <a:lnTo>
                  <a:pt x="223909" y="196841"/>
                </a:lnTo>
                <a:lnTo>
                  <a:pt x="234020" y="178818"/>
                </a:lnTo>
                <a:lnTo>
                  <a:pt x="243146" y="160278"/>
                </a:lnTo>
                <a:lnTo>
                  <a:pt x="251262" y="141274"/>
                </a:lnTo>
                <a:lnTo>
                  <a:pt x="258344" y="121860"/>
                </a:lnTo>
                <a:lnTo>
                  <a:pt x="264371" y="102094"/>
                </a:lnTo>
                <a:lnTo>
                  <a:pt x="269327" y="82032"/>
                </a:lnTo>
                <a:lnTo>
                  <a:pt x="273196" y="61733"/>
                </a:lnTo>
                <a:lnTo>
                  <a:pt x="275968" y="41255"/>
                </a:lnTo>
                <a:lnTo>
                  <a:pt x="277634" y="20657"/>
                </a:lnTo>
                <a:lnTo>
                  <a:pt x="278190" y="0"/>
                </a:lnTo>
              </a:path>
            </a:pathLst>
          </a:custGeom>
          <a:solidFill>
            <a:srgbClr val="FFFFFF">
              <a:alpha val="0"/>
            </a:srgbClr>
          </a:solidFill>
          <a:ln w="34925">
            <a:solidFill>
              <a:srgbClr val="D994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8636" y="1841034"/>
            <a:ext cx="621792" cy="310896"/>
          </a:xfrm>
          <a:prstGeom prst="roundRect">
            <a:avLst>
              <a:gd name="adj" fmla="val 17647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8636" y="1841034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74°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74928" y="3268066"/>
            <a:ext cx="278190" cy="369171"/>
          </a:xfrm>
          <a:custGeom>
            <a:avLst/>
            <a:gdLst/>
            <a:ahLst/>
            <a:cxnLst/>
            <a:rect l="l" t="t" r="r" b="b"/>
            <a:pathLst>
              <a:path w="278190" h="369171">
                <a:moveTo>
                  <a:pt x="0" y="369171"/>
                </a:moveTo>
                <a:lnTo>
                  <a:pt x="19704" y="362942"/>
                </a:lnTo>
                <a:lnTo>
                  <a:pt x="39044" y="355663"/>
                </a:lnTo>
                <a:lnTo>
                  <a:pt x="57965" y="347354"/>
                </a:lnTo>
                <a:lnTo>
                  <a:pt x="76411" y="338040"/>
                </a:lnTo>
                <a:lnTo>
                  <a:pt x="94330" y="327746"/>
                </a:lnTo>
                <a:lnTo>
                  <a:pt x="111669" y="316504"/>
                </a:lnTo>
                <a:lnTo>
                  <a:pt x="128379" y="304345"/>
                </a:lnTo>
                <a:lnTo>
                  <a:pt x="144410" y="291306"/>
                </a:lnTo>
                <a:lnTo>
                  <a:pt x="159716" y="277422"/>
                </a:lnTo>
                <a:lnTo>
                  <a:pt x="174254" y="262736"/>
                </a:lnTo>
                <a:lnTo>
                  <a:pt x="187981" y="247289"/>
                </a:lnTo>
                <a:lnTo>
                  <a:pt x="200856" y="231126"/>
                </a:lnTo>
                <a:lnTo>
                  <a:pt x="212844" y="214294"/>
                </a:lnTo>
                <a:lnTo>
                  <a:pt x="223909" y="196841"/>
                </a:lnTo>
                <a:lnTo>
                  <a:pt x="234020" y="178818"/>
                </a:lnTo>
                <a:lnTo>
                  <a:pt x="243146" y="160278"/>
                </a:lnTo>
                <a:lnTo>
                  <a:pt x="251262" y="141274"/>
                </a:lnTo>
                <a:lnTo>
                  <a:pt x="258344" y="121860"/>
                </a:lnTo>
                <a:lnTo>
                  <a:pt x="264371" y="102094"/>
                </a:lnTo>
                <a:lnTo>
                  <a:pt x="269327" y="82032"/>
                </a:lnTo>
                <a:lnTo>
                  <a:pt x="273196" y="61733"/>
                </a:lnTo>
                <a:lnTo>
                  <a:pt x="275968" y="41255"/>
                </a:lnTo>
                <a:lnTo>
                  <a:pt x="277634" y="20657"/>
                </a:lnTo>
                <a:lnTo>
                  <a:pt x="278190" y="0"/>
                </a:lnTo>
              </a:path>
            </a:pathLst>
          </a:custGeom>
          <a:solidFill>
            <a:srgbClr val="FFFFFF">
              <a:alpha val="0"/>
            </a:srgbClr>
          </a:solidFill>
          <a:ln w="34925">
            <a:solidFill>
              <a:srgbClr val="D994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13181" y="3530845"/>
            <a:ext cx="621792" cy="310896"/>
          </a:xfrm>
          <a:prstGeom prst="roundRect">
            <a:avLst>
              <a:gd name="adj" fmla="val 17647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13181" y="3530845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74°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42630" y="2954271"/>
            <a:ext cx="236462" cy="313795"/>
          </a:xfrm>
          <a:custGeom>
            <a:avLst/>
            <a:gdLst/>
            <a:ahLst/>
            <a:cxnLst/>
            <a:rect l="l" t="t" r="r" b="b"/>
            <a:pathLst>
              <a:path w="236462" h="313795">
                <a:moveTo>
                  <a:pt x="236462" y="0"/>
                </a:moveTo>
                <a:lnTo>
                  <a:pt x="219713" y="5294"/>
                </a:lnTo>
                <a:lnTo>
                  <a:pt x="203274" y="11481"/>
                </a:lnTo>
                <a:lnTo>
                  <a:pt x="187191" y="18544"/>
                </a:lnTo>
                <a:lnTo>
                  <a:pt x="171512" y="26461"/>
                </a:lnTo>
                <a:lnTo>
                  <a:pt x="156281" y="35211"/>
                </a:lnTo>
                <a:lnTo>
                  <a:pt x="141543" y="44767"/>
                </a:lnTo>
                <a:lnTo>
                  <a:pt x="127340" y="55101"/>
                </a:lnTo>
                <a:lnTo>
                  <a:pt x="113713" y="66185"/>
                </a:lnTo>
                <a:lnTo>
                  <a:pt x="100703" y="77986"/>
                </a:lnTo>
                <a:lnTo>
                  <a:pt x="88346" y="90469"/>
                </a:lnTo>
                <a:lnTo>
                  <a:pt x="76678" y="103599"/>
                </a:lnTo>
                <a:lnTo>
                  <a:pt x="65734" y="117338"/>
                </a:lnTo>
                <a:lnTo>
                  <a:pt x="55544" y="131645"/>
                </a:lnTo>
                <a:lnTo>
                  <a:pt x="46139" y="146480"/>
                </a:lnTo>
                <a:lnTo>
                  <a:pt x="37545" y="161799"/>
                </a:lnTo>
                <a:lnTo>
                  <a:pt x="29787" y="177559"/>
                </a:lnTo>
                <a:lnTo>
                  <a:pt x="22889" y="193712"/>
                </a:lnTo>
                <a:lnTo>
                  <a:pt x="16869" y="210214"/>
                </a:lnTo>
                <a:lnTo>
                  <a:pt x="11746" y="227015"/>
                </a:lnTo>
                <a:lnTo>
                  <a:pt x="7534" y="244068"/>
                </a:lnTo>
                <a:lnTo>
                  <a:pt x="4245" y="261322"/>
                </a:lnTo>
                <a:lnTo>
                  <a:pt x="1889" y="278728"/>
                </a:lnTo>
                <a:lnTo>
                  <a:pt x="473" y="296236"/>
                </a:lnTo>
                <a:lnTo>
                  <a:pt x="0" y="313795"/>
                </a:lnTo>
              </a:path>
            </a:pathLst>
          </a:custGeom>
          <a:solidFill>
            <a:srgbClr val="FFFFFF">
              <a:alpha val="0"/>
            </a:srgbClr>
          </a:solidFill>
          <a:ln w="34925">
            <a:solidFill>
              <a:srgbClr val="2E6E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49175" y="2729059"/>
            <a:ext cx="621792" cy="310896"/>
          </a:xfrm>
          <a:prstGeom prst="roundRect">
            <a:avLst>
              <a:gd name="adj" fmla="val 17647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49175" y="2729059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74°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29661" y="1523390"/>
            <a:ext cx="109728" cy="10972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14206" y="3213202"/>
            <a:ext cx="109728" cy="10972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160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A7A"/>
                </a:solidFill>
              </a:rPr>
              <a:t>Gold arcs = the given angle and its corresponding angle (same position at each crossing) — equal.  Green arc = the alternate interior angle (opposite side, between the lines) — also equal.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6984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D8F"/>
                </a:solidFill>
              </a:rPr>
              <a:t>Intersecting Lines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490472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Lines that cross at exactly one point.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6984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E44"/>
                </a:solidFill>
              </a:rPr>
              <a:t>Vertical Angles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490472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pair of angles directly across from each other when two lines cross; always equal.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9864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6E10"/>
                </a:solidFill>
              </a:rPr>
              <a:t>Supplementary Angles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3319272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angles that together form a straight line; always add to 180°.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09160" y="278892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9864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5818"/>
                </a:solidFill>
              </a:rPr>
              <a:t>Perpendicular Lines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3319272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Lines that intersect to form four right angles (90°).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Vertical Angles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508760" y="2880360"/>
            <a:ext cx="2286000" cy="914"/>
          </a:xfrm>
          <a:prstGeom prst="line">
            <a:avLst/>
          </a:prstGeom>
          <a:noFill/>
          <a:ln w="38100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223585" y="1820589"/>
            <a:ext cx="856351" cy="2119542"/>
          </a:xfrm>
          <a:prstGeom prst="line">
            <a:avLst/>
          </a:prstGeom>
          <a:noFill/>
          <a:ln w="38100">
            <a:solidFill>
              <a:srgbClr val="1B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1594" y="2435256"/>
            <a:ext cx="300226" cy="445104"/>
          </a:xfrm>
          <a:custGeom>
            <a:avLst/>
            <a:gdLst/>
            <a:ahLst/>
            <a:cxnLst/>
            <a:rect l="l" t="t" r="r" b="b"/>
            <a:pathLst>
              <a:path w="300226" h="445104">
                <a:moveTo>
                  <a:pt x="300226" y="445104"/>
                </a:moveTo>
                <a:lnTo>
                  <a:pt x="299640" y="421374"/>
                </a:lnTo>
                <a:lnTo>
                  <a:pt x="297880" y="397702"/>
                </a:lnTo>
                <a:lnTo>
                  <a:pt x="294953" y="374146"/>
                </a:lnTo>
                <a:lnTo>
                  <a:pt x="290865" y="350764"/>
                </a:lnTo>
                <a:lnTo>
                  <a:pt x="285627" y="327612"/>
                </a:lnTo>
                <a:lnTo>
                  <a:pt x="279250" y="304748"/>
                </a:lnTo>
                <a:lnTo>
                  <a:pt x="271751" y="282227"/>
                </a:lnTo>
                <a:lnTo>
                  <a:pt x="263148" y="260104"/>
                </a:lnTo>
                <a:lnTo>
                  <a:pt x="253461" y="238433"/>
                </a:lnTo>
                <a:lnTo>
                  <a:pt x="242716" y="217267"/>
                </a:lnTo>
                <a:lnTo>
                  <a:pt x="230937" y="196659"/>
                </a:lnTo>
                <a:lnTo>
                  <a:pt x="218154" y="176658"/>
                </a:lnTo>
                <a:lnTo>
                  <a:pt x="204398" y="157313"/>
                </a:lnTo>
                <a:lnTo>
                  <a:pt x="189703" y="138672"/>
                </a:lnTo>
                <a:lnTo>
                  <a:pt x="174104" y="120780"/>
                </a:lnTo>
                <a:lnTo>
                  <a:pt x="157639" y="103681"/>
                </a:lnTo>
                <a:lnTo>
                  <a:pt x="140350" y="87417"/>
                </a:lnTo>
                <a:lnTo>
                  <a:pt x="122278" y="72027"/>
                </a:lnTo>
                <a:lnTo>
                  <a:pt x="103467" y="57550"/>
                </a:lnTo>
                <a:lnTo>
                  <a:pt x="83964" y="44020"/>
                </a:lnTo>
                <a:lnTo>
                  <a:pt x="63815" y="31470"/>
                </a:lnTo>
                <a:lnTo>
                  <a:pt x="43071" y="19932"/>
                </a:lnTo>
                <a:lnTo>
                  <a:pt x="21782" y="9433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0"/>
            </a:srgbClr>
          </a:solidFill>
          <a:ln w="38100">
            <a:solidFill>
              <a:srgbClr val="4A3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23793" y="2242791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23793" y="2242791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68°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71700" y="2400430"/>
            <a:ext cx="659894" cy="479930"/>
          </a:xfrm>
          <a:custGeom>
            <a:avLst/>
            <a:gdLst/>
            <a:ahLst/>
            <a:cxnLst/>
            <a:rect l="l" t="t" r="r" b="b"/>
            <a:pathLst>
              <a:path w="659894" h="479930">
                <a:moveTo>
                  <a:pt x="659894" y="34826"/>
                </a:moveTo>
                <a:lnTo>
                  <a:pt x="623084" y="21671"/>
                </a:lnTo>
                <a:lnTo>
                  <a:pt x="585327" y="11554"/>
                </a:lnTo>
                <a:lnTo>
                  <a:pt x="546871" y="4542"/>
                </a:lnTo>
                <a:lnTo>
                  <a:pt x="507973" y="682"/>
                </a:lnTo>
                <a:lnTo>
                  <a:pt x="468890" y="0"/>
                </a:lnTo>
                <a:lnTo>
                  <a:pt x="429880" y="2500"/>
                </a:lnTo>
                <a:lnTo>
                  <a:pt x="391203" y="8165"/>
                </a:lnTo>
                <a:lnTo>
                  <a:pt x="353116" y="16958"/>
                </a:lnTo>
                <a:lnTo>
                  <a:pt x="315870" y="28821"/>
                </a:lnTo>
                <a:lnTo>
                  <a:pt x="279713" y="43675"/>
                </a:lnTo>
                <a:lnTo>
                  <a:pt x="244884" y="61421"/>
                </a:lnTo>
                <a:lnTo>
                  <a:pt x="211614" y="81942"/>
                </a:lnTo>
                <a:lnTo>
                  <a:pt x="180124" y="105102"/>
                </a:lnTo>
                <a:lnTo>
                  <a:pt x="150623" y="130747"/>
                </a:lnTo>
                <a:lnTo>
                  <a:pt x="123306" y="158707"/>
                </a:lnTo>
                <a:lnTo>
                  <a:pt x="98354" y="188797"/>
                </a:lnTo>
                <a:lnTo>
                  <a:pt x="75934" y="220817"/>
                </a:lnTo>
                <a:lnTo>
                  <a:pt x="56192" y="254556"/>
                </a:lnTo>
                <a:lnTo>
                  <a:pt x="39261" y="289788"/>
                </a:lnTo>
                <a:lnTo>
                  <a:pt x="25253" y="326281"/>
                </a:lnTo>
                <a:lnTo>
                  <a:pt x="14260" y="363793"/>
                </a:lnTo>
                <a:lnTo>
                  <a:pt x="6355" y="402075"/>
                </a:lnTo>
                <a:lnTo>
                  <a:pt x="1591" y="440873"/>
                </a:lnTo>
                <a:lnTo>
                  <a:pt x="0" y="479930"/>
                </a:lnTo>
              </a:path>
            </a:pathLst>
          </a:custGeom>
          <a:solidFill>
            <a:srgbClr val="FFFFFF">
              <a:alpha val="0"/>
            </a:srgbClr>
          </a:solidFill>
          <a:ln w="38100">
            <a:solidFill>
              <a:srgbClr val="2E6E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49599" y="2014551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49599" y="2014551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112°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171700" y="2880360"/>
            <a:ext cx="300226" cy="445104"/>
          </a:xfrm>
          <a:custGeom>
            <a:avLst/>
            <a:gdLst/>
            <a:ahLst/>
            <a:cxnLst/>
            <a:rect l="l" t="t" r="r" b="b"/>
            <a:pathLst>
              <a:path w="300226" h="445104">
                <a:moveTo>
                  <a:pt x="0" y="0"/>
                </a:moveTo>
                <a:lnTo>
                  <a:pt x="587" y="23730"/>
                </a:lnTo>
                <a:lnTo>
                  <a:pt x="2346" y="47402"/>
                </a:lnTo>
                <a:lnTo>
                  <a:pt x="5273" y="70957"/>
                </a:lnTo>
                <a:lnTo>
                  <a:pt x="9361" y="94340"/>
                </a:lnTo>
                <a:lnTo>
                  <a:pt x="14600" y="117491"/>
                </a:lnTo>
                <a:lnTo>
                  <a:pt x="20976" y="140356"/>
                </a:lnTo>
                <a:lnTo>
                  <a:pt x="28475" y="162877"/>
                </a:lnTo>
                <a:lnTo>
                  <a:pt x="37079" y="185000"/>
                </a:lnTo>
                <a:lnTo>
                  <a:pt x="46765" y="206671"/>
                </a:lnTo>
                <a:lnTo>
                  <a:pt x="57511" y="227837"/>
                </a:lnTo>
                <a:lnTo>
                  <a:pt x="69289" y="248445"/>
                </a:lnTo>
                <a:lnTo>
                  <a:pt x="82072" y="268446"/>
                </a:lnTo>
                <a:lnTo>
                  <a:pt x="95828" y="287791"/>
                </a:lnTo>
                <a:lnTo>
                  <a:pt x="110524" y="306432"/>
                </a:lnTo>
                <a:lnTo>
                  <a:pt x="126123" y="324324"/>
                </a:lnTo>
                <a:lnTo>
                  <a:pt x="142587" y="341423"/>
                </a:lnTo>
                <a:lnTo>
                  <a:pt x="159876" y="357687"/>
                </a:lnTo>
                <a:lnTo>
                  <a:pt x="177948" y="373077"/>
                </a:lnTo>
                <a:lnTo>
                  <a:pt x="196759" y="387554"/>
                </a:lnTo>
                <a:lnTo>
                  <a:pt x="216263" y="401084"/>
                </a:lnTo>
                <a:lnTo>
                  <a:pt x="236411" y="413634"/>
                </a:lnTo>
                <a:lnTo>
                  <a:pt x="257155" y="425172"/>
                </a:lnTo>
                <a:lnTo>
                  <a:pt x="278444" y="435670"/>
                </a:lnTo>
                <a:lnTo>
                  <a:pt x="300226" y="445104"/>
                </a:lnTo>
              </a:path>
            </a:pathLst>
          </a:custGeom>
          <a:solidFill>
            <a:srgbClr val="FFFFFF">
              <a:alpha val="0"/>
            </a:srgbClr>
          </a:solidFill>
          <a:ln w="38100">
            <a:solidFill>
              <a:srgbClr val="4A3D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21359" y="3188745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21359" y="3188745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68°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471926" y="2880360"/>
            <a:ext cx="659894" cy="479930"/>
          </a:xfrm>
          <a:custGeom>
            <a:avLst/>
            <a:gdLst/>
            <a:ahLst/>
            <a:cxnLst/>
            <a:rect l="l" t="t" r="r" b="b"/>
            <a:pathLst>
              <a:path w="659894" h="479930">
                <a:moveTo>
                  <a:pt x="0" y="445104"/>
                </a:moveTo>
                <a:lnTo>
                  <a:pt x="36809" y="458259"/>
                </a:lnTo>
                <a:lnTo>
                  <a:pt x="74567" y="468376"/>
                </a:lnTo>
                <a:lnTo>
                  <a:pt x="113022" y="475388"/>
                </a:lnTo>
                <a:lnTo>
                  <a:pt x="151921" y="479248"/>
                </a:lnTo>
                <a:lnTo>
                  <a:pt x="191004" y="479930"/>
                </a:lnTo>
                <a:lnTo>
                  <a:pt x="230014" y="477430"/>
                </a:lnTo>
                <a:lnTo>
                  <a:pt x="268690" y="471765"/>
                </a:lnTo>
                <a:lnTo>
                  <a:pt x="306778" y="462972"/>
                </a:lnTo>
                <a:lnTo>
                  <a:pt x="344024" y="451109"/>
                </a:lnTo>
                <a:lnTo>
                  <a:pt x="380181" y="436255"/>
                </a:lnTo>
                <a:lnTo>
                  <a:pt x="415010" y="418509"/>
                </a:lnTo>
                <a:lnTo>
                  <a:pt x="448280" y="397988"/>
                </a:lnTo>
                <a:lnTo>
                  <a:pt x="479770" y="374828"/>
                </a:lnTo>
                <a:lnTo>
                  <a:pt x="509271" y="349183"/>
                </a:lnTo>
                <a:lnTo>
                  <a:pt x="536588" y="321223"/>
                </a:lnTo>
                <a:lnTo>
                  <a:pt x="561539" y="291133"/>
                </a:lnTo>
                <a:lnTo>
                  <a:pt x="583960" y="259113"/>
                </a:lnTo>
                <a:lnTo>
                  <a:pt x="603701" y="225375"/>
                </a:lnTo>
                <a:lnTo>
                  <a:pt x="620632" y="190142"/>
                </a:lnTo>
                <a:lnTo>
                  <a:pt x="634641" y="153649"/>
                </a:lnTo>
                <a:lnTo>
                  <a:pt x="645634" y="116137"/>
                </a:lnTo>
                <a:lnTo>
                  <a:pt x="653538" y="77855"/>
                </a:lnTo>
                <a:lnTo>
                  <a:pt x="658302" y="39057"/>
                </a:lnTo>
                <a:lnTo>
                  <a:pt x="659894" y="0"/>
                </a:lnTo>
              </a:path>
            </a:pathLst>
          </a:custGeom>
          <a:solidFill>
            <a:srgbClr val="FFFFFF">
              <a:alpha val="0"/>
            </a:srgbClr>
          </a:solidFill>
          <a:ln w="38100">
            <a:solidFill>
              <a:srgbClr val="2E6E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95553" y="3416985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95553" y="3416985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112°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87752" y="2816352"/>
            <a:ext cx="128016" cy="128016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1325880"/>
            <a:ext cx="393192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4173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lines intersect. One angle measures 68°. Find the other three.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92040" y="21031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The vertical angle (directly across) is equal → 68°.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892040" y="2697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The two adjacent angles are supplementary to 68° → 180° − 68° = 112°.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892040" y="3291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The fourth angle is vertical to that 112° angle → 112°.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Adjacent Angles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508760" y="2880360"/>
            <a:ext cx="2286000" cy="914"/>
          </a:xfrm>
          <a:prstGeom prst="line">
            <a:avLst/>
          </a:prstGeom>
          <a:noFill/>
          <a:ln w="38100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651760" y="2044423"/>
            <a:ext cx="779524" cy="835937"/>
          </a:xfrm>
          <a:prstGeom prst="line">
            <a:avLst/>
          </a:prstGeom>
          <a:noFill/>
          <a:ln w="38100">
            <a:solidFill>
              <a:srgbClr val="1B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79160" y="2529266"/>
            <a:ext cx="152660" cy="351094"/>
          </a:xfrm>
          <a:custGeom>
            <a:avLst/>
            <a:gdLst/>
            <a:ahLst/>
            <a:cxnLst/>
            <a:rect l="l" t="t" r="r" b="b"/>
            <a:pathLst>
              <a:path w="152660" h="351094">
                <a:moveTo>
                  <a:pt x="152660" y="351094"/>
                </a:moveTo>
                <a:lnTo>
                  <a:pt x="152379" y="334689"/>
                </a:lnTo>
                <a:lnTo>
                  <a:pt x="151539" y="318303"/>
                </a:lnTo>
                <a:lnTo>
                  <a:pt x="150138" y="301955"/>
                </a:lnTo>
                <a:lnTo>
                  <a:pt x="148180" y="285665"/>
                </a:lnTo>
                <a:lnTo>
                  <a:pt x="145667" y="269452"/>
                </a:lnTo>
                <a:lnTo>
                  <a:pt x="142600" y="253333"/>
                </a:lnTo>
                <a:lnTo>
                  <a:pt x="138985" y="237329"/>
                </a:lnTo>
                <a:lnTo>
                  <a:pt x="134825" y="221458"/>
                </a:lnTo>
                <a:lnTo>
                  <a:pt x="130125" y="205738"/>
                </a:lnTo>
                <a:lnTo>
                  <a:pt x="124891" y="190188"/>
                </a:lnTo>
                <a:lnTo>
                  <a:pt x="119128" y="174826"/>
                </a:lnTo>
                <a:lnTo>
                  <a:pt x="112844" y="159670"/>
                </a:lnTo>
                <a:lnTo>
                  <a:pt x="106045" y="144738"/>
                </a:lnTo>
                <a:lnTo>
                  <a:pt x="98740" y="130046"/>
                </a:lnTo>
                <a:lnTo>
                  <a:pt x="90938" y="115613"/>
                </a:lnTo>
                <a:lnTo>
                  <a:pt x="82646" y="101455"/>
                </a:lnTo>
                <a:lnTo>
                  <a:pt x="73876" y="87588"/>
                </a:lnTo>
                <a:lnTo>
                  <a:pt x="64637" y="74029"/>
                </a:lnTo>
                <a:lnTo>
                  <a:pt x="54940" y="60794"/>
                </a:lnTo>
                <a:lnTo>
                  <a:pt x="44796" y="47898"/>
                </a:lnTo>
                <a:lnTo>
                  <a:pt x="34218" y="35356"/>
                </a:lnTo>
                <a:lnTo>
                  <a:pt x="23217" y="23183"/>
                </a:lnTo>
                <a:lnTo>
                  <a:pt x="11807" y="11393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0"/>
            </a:srgbClr>
          </a:solidFill>
          <a:ln w="38100">
            <a:solidFill>
              <a:srgbClr val="4A3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98244" y="2378498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8244" y="2378498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47°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71700" y="2400430"/>
            <a:ext cx="807460" cy="479930"/>
          </a:xfrm>
          <a:custGeom>
            <a:avLst/>
            <a:gdLst/>
            <a:ahLst/>
            <a:cxnLst/>
            <a:rect l="l" t="t" r="r" b="b"/>
            <a:pathLst>
              <a:path w="807460" h="479930">
                <a:moveTo>
                  <a:pt x="807460" y="128836"/>
                </a:moveTo>
                <a:lnTo>
                  <a:pt x="772025" y="98860"/>
                </a:lnTo>
                <a:lnTo>
                  <a:pt x="733861" y="72446"/>
                </a:lnTo>
                <a:lnTo>
                  <a:pt x="693324" y="49842"/>
                </a:lnTo>
                <a:lnTo>
                  <a:pt x="650794" y="31257"/>
                </a:lnTo>
                <a:lnTo>
                  <a:pt x="606668" y="16866"/>
                </a:lnTo>
                <a:lnTo>
                  <a:pt x="561358" y="6804"/>
                </a:lnTo>
                <a:lnTo>
                  <a:pt x="515288" y="1164"/>
                </a:lnTo>
                <a:lnTo>
                  <a:pt x="468890" y="0"/>
                </a:lnTo>
                <a:lnTo>
                  <a:pt x="422595" y="3322"/>
                </a:lnTo>
                <a:lnTo>
                  <a:pt x="376838" y="11099"/>
                </a:lnTo>
                <a:lnTo>
                  <a:pt x="332045" y="23258"/>
                </a:lnTo>
                <a:lnTo>
                  <a:pt x="288637" y="39686"/>
                </a:lnTo>
                <a:lnTo>
                  <a:pt x="247017" y="60229"/>
                </a:lnTo>
                <a:lnTo>
                  <a:pt x="207576" y="84696"/>
                </a:lnTo>
                <a:lnTo>
                  <a:pt x="170682" y="112857"/>
                </a:lnTo>
                <a:lnTo>
                  <a:pt x="136680" y="144449"/>
                </a:lnTo>
                <a:lnTo>
                  <a:pt x="105887" y="179177"/>
                </a:lnTo>
                <a:lnTo>
                  <a:pt x="78592" y="216716"/>
                </a:lnTo>
                <a:lnTo>
                  <a:pt x="55050" y="256716"/>
                </a:lnTo>
                <a:lnTo>
                  <a:pt x="35481" y="298802"/>
                </a:lnTo>
                <a:lnTo>
                  <a:pt x="20068" y="342582"/>
                </a:lnTo>
                <a:lnTo>
                  <a:pt x="8954" y="387645"/>
                </a:lnTo>
                <a:lnTo>
                  <a:pt x="2244" y="433571"/>
                </a:lnTo>
                <a:lnTo>
                  <a:pt x="0" y="479930"/>
                </a:lnTo>
              </a:path>
            </a:pathLst>
          </a:custGeom>
          <a:solidFill>
            <a:srgbClr val="FFFFFF">
              <a:alpha val="0"/>
            </a:srgbClr>
          </a:solidFill>
          <a:ln w="38100">
            <a:solidFill>
              <a:srgbClr val="2E6E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85306" y="1940100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85306" y="1940100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133°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596896" y="2825496"/>
            <a:ext cx="109728" cy="10972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325880"/>
            <a:ext cx="393192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4173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adjacent angles share a ray and together form a straight angle (180°). One measures 47°. Find the other.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423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A straight angle always totals 180°.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9204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180° − 47° = 133°.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92040" y="3429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other angle measures 133°.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Parallel Lines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817827"/>
            <a:ext cx="3931920" cy="914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302813"/>
            <a:ext cx="3931920" cy="914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81616" y="1334389"/>
            <a:ext cx="703060" cy="2451861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4712" y="1735531"/>
            <a:ext cx="109728" cy="82296"/>
          </a:xfrm>
          <a:prstGeom prst="line">
            <a:avLst/>
          </a:prstGeom>
          <a:noFill/>
          <a:ln w="19050">
            <a:solidFill>
              <a:srgbClr val="8A8A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124712" y="1817827"/>
            <a:ext cx="109728" cy="82296"/>
          </a:xfrm>
          <a:prstGeom prst="line">
            <a:avLst/>
          </a:prstGeom>
          <a:noFill/>
          <a:ln w="19050">
            <a:solidFill>
              <a:srgbClr val="8A8A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4712" y="3220517"/>
            <a:ext cx="109728" cy="82296"/>
          </a:xfrm>
          <a:prstGeom prst="line">
            <a:avLst/>
          </a:prstGeom>
          <a:noFill/>
          <a:ln w="19050">
            <a:solidFill>
              <a:srgbClr val="8A8A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124712" y="3302813"/>
            <a:ext cx="109728" cy="82296"/>
          </a:xfrm>
          <a:prstGeom prst="line">
            <a:avLst/>
          </a:prstGeom>
          <a:noFill/>
          <a:ln w="19050">
            <a:solidFill>
              <a:srgbClr val="8A8A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05935" y="1817827"/>
            <a:ext cx="225201" cy="298852"/>
          </a:xfrm>
          <a:custGeom>
            <a:avLst/>
            <a:gdLst/>
            <a:ahLst/>
            <a:cxnLst/>
            <a:rect l="l" t="t" r="r" b="b"/>
            <a:pathLst>
              <a:path w="225201" h="298852">
                <a:moveTo>
                  <a:pt x="0" y="298852"/>
                </a:moveTo>
                <a:lnTo>
                  <a:pt x="15951" y="293810"/>
                </a:lnTo>
                <a:lnTo>
                  <a:pt x="31607" y="287918"/>
                </a:lnTo>
                <a:lnTo>
                  <a:pt x="46924" y="281191"/>
                </a:lnTo>
                <a:lnTo>
                  <a:pt x="61857" y="273651"/>
                </a:lnTo>
                <a:lnTo>
                  <a:pt x="76362" y="265318"/>
                </a:lnTo>
                <a:lnTo>
                  <a:pt x="90399" y="256218"/>
                </a:lnTo>
                <a:lnTo>
                  <a:pt x="103925" y="246375"/>
                </a:lnTo>
                <a:lnTo>
                  <a:pt x="116903" y="235819"/>
                </a:lnTo>
                <a:lnTo>
                  <a:pt x="129294" y="224580"/>
                </a:lnTo>
                <a:lnTo>
                  <a:pt x="141063" y="212691"/>
                </a:lnTo>
                <a:lnTo>
                  <a:pt x="152175" y="200186"/>
                </a:lnTo>
                <a:lnTo>
                  <a:pt x="162598" y="187102"/>
                </a:lnTo>
                <a:lnTo>
                  <a:pt x="172302" y="173476"/>
                </a:lnTo>
                <a:lnTo>
                  <a:pt x="181260" y="159347"/>
                </a:lnTo>
                <a:lnTo>
                  <a:pt x="189445" y="144758"/>
                </a:lnTo>
                <a:lnTo>
                  <a:pt x="196833" y="129749"/>
                </a:lnTo>
                <a:lnTo>
                  <a:pt x="203403" y="114364"/>
                </a:lnTo>
                <a:lnTo>
                  <a:pt x="209135" y="98649"/>
                </a:lnTo>
                <a:lnTo>
                  <a:pt x="214015" y="82648"/>
                </a:lnTo>
                <a:lnTo>
                  <a:pt x="218026" y="66407"/>
                </a:lnTo>
                <a:lnTo>
                  <a:pt x="221159" y="49974"/>
                </a:lnTo>
                <a:lnTo>
                  <a:pt x="223402" y="33397"/>
                </a:lnTo>
                <a:lnTo>
                  <a:pt x="224751" y="16723"/>
                </a:lnTo>
                <a:lnTo>
                  <a:pt x="225201" y="0"/>
                </a:lnTo>
              </a:path>
            </a:pathLst>
          </a:custGeom>
          <a:solidFill>
            <a:srgbClr val="FFFFFF">
              <a:alpha val="0"/>
            </a:srgbClr>
          </a:solidFill>
          <a:ln w="34925">
            <a:solidFill>
              <a:srgbClr val="D994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05929" y="2036583"/>
            <a:ext cx="621792" cy="310896"/>
          </a:xfrm>
          <a:prstGeom prst="roundRect">
            <a:avLst>
              <a:gd name="adj" fmla="val 17647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5929" y="2036583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74°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31747" y="3302813"/>
            <a:ext cx="225201" cy="298852"/>
          </a:xfrm>
          <a:custGeom>
            <a:avLst/>
            <a:gdLst/>
            <a:ahLst/>
            <a:cxnLst/>
            <a:rect l="l" t="t" r="r" b="b"/>
            <a:pathLst>
              <a:path w="225201" h="298852">
                <a:moveTo>
                  <a:pt x="0" y="298852"/>
                </a:moveTo>
                <a:lnTo>
                  <a:pt x="15951" y="293810"/>
                </a:lnTo>
                <a:lnTo>
                  <a:pt x="31607" y="287918"/>
                </a:lnTo>
                <a:lnTo>
                  <a:pt x="46924" y="281191"/>
                </a:lnTo>
                <a:lnTo>
                  <a:pt x="61857" y="273651"/>
                </a:lnTo>
                <a:lnTo>
                  <a:pt x="76362" y="265318"/>
                </a:lnTo>
                <a:lnTo>
                  <a:pt x="90399" y="256218"/>
                </a:lnTo>
                <a:lnTo>
                  <a:pt x="103925" y="246375"/>
                </a:lnTo>
                <a:lnTo>
                  <a:pt x="116903" y="235819"/>
                </a:lnTo>
                <a:lnTo>
                  <a:pt x="129294" y="224580"/>
                </a:lnTo>
                <a:lnTo>
                  <a:pt x="141063" y="212691"/>
                </a:lnTo>
                <a:lnTo>
                  <a:pt x="152175" y="200186"/>
                </a:lnTo>
                <a:lnTo>
                  <a:pt x="162598" y="187102"/>
                </a:lnTo>
                <a:lnTo>
                  <a:pt x="172302" y="173476"/>
                </a:lnTo>
                <a:lnTo>
                  <a:pt x="181260" y="159347"/>
                </a:lnTo>
                <a:lnTo>
                  <a:pt x="189445" y="144758"/>
                </a:lnTo>
                <a:lnTo>
                  <a:pt x="196833" y="129749"/>
                </a:lnTo>
                <a:lnTo>
                  <a:pt x="203403" y="114364"/>
                </a:lnTo>
                <a:lnTo>
                  <a:pt x="209135" y="98649"/>
                </a:lnTo>
                <a:lnTo>
                  <a:pt x="214015" y="82648"/>
                </a:lnTo>
                <a:lnTo>
                  <a:pt x="218026" y="66407"/>
                </a:lnTo>
                <a:lnTo>
                  <a:pt x="221159" y="49974"/>
                </a:lnTo>
                <a:lnTo>
                  <a:pt x="223402" y="33397"/>
                </a:lnTo>
                <a:lnTo>
                  <a:pt x="224751" y="16723"/>
                </a:lnTo>
                <a:lnTo>
                  <a:pt x="225201" y="0"/>
                </a:lnTo>
              </a:path>
            </a:pathLst>
          </a:custGeom>
          <a:solidFill>
            <a:srgbClr val="FFFFFF">
              <a:alpha val="0"/>
            </a:srgbClr>
          </a:solidFill>
          <a:ln w="34925">
            <a:solidFill>
              <a:srgbClr val="D994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31742" y="3521569"/>
            <a:ext cx="621792" cy="310896"/>
          </a:xfrm>
          <a:prstGeom prst="roundRect">
            <a:avLst>
              <a:gd name="adj" fmla="val 17647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31742" y="3521569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74°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081791" y="3048788"/>
            <a:ext cx="191421" cy="254025"/>
          </a:xfrm>
          <a:custGeom>
            <a:avLst/>
            <a:gdLst/>
            <a:ahLst/>
            <a:cxnLst/>
            <a:rect l="l" t="t" r="r" b="b"/>
            <a:pathLst>
              <a:path w="191421" h="254025">
                <a:moveTo>
                  <a:pt x="191421" y="0"/>
                </a:moveTo>
                <a:lnTo>
                  <a:pt x="177863" y="4286"/>
                </a:lnTo>
                <a:lnTo>
                  <a:pt x="164555" y="9294"/>
                </a:lnTo>
                <a:lnTo>
                  <a:pt x="151536" y="15012"/>
                </a:lnTo>
                <a:lnTo>
                  <a:pt x="138843" y="21421"/>
                </a:lnTo>
                <a:lnTo>
                  <a:pt x="126513" y="28504"/>
                </a:lnTo>
                <a:lnTo>
                  <a:pt x="114582" y="36240"/>
                </a:lnTo>
                <a:lnTo>
                  <a:pt x="103085" y="44606"/>
                </a:lnTo>
                <a:lnTo>
                  <a:pt x="92054" y="53579"/>
                </a:lnTo>
                <a:lnTo>
                  <a:pt x="81521" y="63131"/>
                </a:lnTo>
                <a:lnTo>
                  <a:pt x="71518" y="73237"/>
                </a:lnTo>
                <a:lnTo>
                  <a:pt x="62073" y="83866"/>
                </a:lnTo>
                <a:lnTo>
                  <a:pt x="53213" y="94988"/>
                </a:lnTo>
                <a:lnTo>
                  <a:pt x="44964" y="106570"/>
                </a:lnTo>
                <a:lnTo>
                  <a:pt x="37350" y="118579"/>
                </a:lnTo>
                <a:lnTo>
                  <a:pt x="30393" y="130981"/>
                </a:lnTo>
                <a:lnTo>
                  <a:pt x="24114" y="143738"/>
                </a:lnTo>
                <a:lnTo>
                  <a:pt x="18529" y="156815"/>
                </a:lnTo>
                <a:lnTo>
                  <a:pt x="13656" y="170173"/>
                </a:lnTo>
                <a:lnTo>
                  <a:pt x="9509" y="183774"/>
                </a:lnTo>
                <a:lnTo>
                  <a:pt x="6099" y="197579"/>
                </a:lnTo>
                <a:lnTo>
                  <a:pt x="3436" y="211546"/>
                </a:lnTo>
                <a:lnTo>
                  <a:pt x="1529" y="225637"/>
                </a:lnTo>
                <a:lnTo>
                  <a:pt x="383" y="239810"/>
                </a:lnTo>
                <a:lnTo>
                  <a:pt x="0" y="254025"/>
                </a:lnTo>
              </a:path>
            </a:pathLst>
          </a:custGeom>
          <a:solidFill>
            <a:srgbClr val="FFFFFF">
              <a:alpha val="0"/>
            </a:srgbClr>
          </a:solidFill>
          <a:ln w="34925">
            <a:solidFill>
              <a:srgbClr val="2E6E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75815" y="2801226"/>
            <a:ext cx="621792" cy="310896"/>
          </a:xfrm>
          <a:prstGeom prst="roundRect">
            <a:avLst>
              <a:gd name="adj" fmla="val 17647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75815" y="2801226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74°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65376" y="1762963"/>
            <a:ext cx="109728" cy="10972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91189" y="3247949"/>
            <a:ext cx="109728" cy="10972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0" y="132588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14173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AB is parallel to line CD. A transversal crosses both. The angle at the first crossing is 74°.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22402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Corresponding angle (same position, second crossing) = 74°.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303520" y="28346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Alternate interior angle (opposite side, between the lines) = 74°.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303520" y="34290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match because the transversal keeps the same direction.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Your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YOUR TURN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508760" y="2880360"/>
            <a:ext cx="2286000" cy="914"/>
          </a:xfrm>
          <a:prstGeom prst="line">
            <a:avLst/>
          </a:prstGeom>
          <a:noFill/>
          <a:ln w="38100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651760" y="1737360"/>
            <a:ext cx="914" cy="2286000"/>
          </a:xfrm>
          <a:prstGeom prst="line">
            <a:avLst/>
          </a:prstGeom>
          <a:noFill/>
          <a:ln w="38100">
            <a:solidFill>
              <a:srgbClr val="1B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2400300"/>
            <a:ext cx="480060" cy="480060"/>
          </a:xfrm>
          <a:custGeom>
            <a:avLst/>
            <a:gdLst/>
            <a:ahLst/>
            <a:cxnLst/>
            <a:rect l="l" t="t" r="r" b="b"/>
            <a:pathLst>
              <a:path w="480060" h="480060">
                <a:moveTo>
                  <a:pt x="480060" y="480060"/>
                </a:moveTo>
                <a:lnTo>
                  <a:pt x="479032" y="448663"/>
                </a:lnTo>
                <a:lnTo>
                  <a:pt x="475953" y="417400"/>
                </a:lnTo>
                <a:lnTo>
                  <a:pt x="470836" y="386405"/>
                </a:lnTo>
                <a:lnTo>
                  <a:pt x="463702" y="355811"/>
                </a:lnTo>
                <a:lnTo>
                  <a:pt x="454583" y="325750"/>
                </a:lnTo>
                <a:lnTo>
                  <a:pt x="443518" y="296349"/>
                </a:lnTo>
                <a:lnTo>
                  <a:pt x="430553" y="267735"/>
                </a:lnTo>
                <a:lnTo>
                  <a:pt x="415744" y="240030"/>
                </a:lnTo>
                <a:lnTo>
                  <a:pt x="399155" y="213353"/>
                </a:lnTo>
                <a:lnTo>
                  <a:pt x="380857" y="187818"/>
                </a:lnTo>
                <a:lnTo>
                  <a:pt x="360928" y="163534"/>
                </a:lnTo>
                <a:lnTo>
                  <a:pt x="339454" y="140606"/>
                </a:lnTo>
                <a:lnTo>
                  <a:pt x="316526" y="119132"/>
                </a:lnTo>
                <a:lnTo>
                  <a:pt x="292242" y="99203"/>
                </a:lnTo>
                <a:lnTo>
                  <a:pt x="266707" y="80905"/>
                </a:lnTo>
                <a:lnTo>
                  <a:pt x="240030" y="64316"/>
                </a:lnTo>
                <a:lnTo>
                  <a:pt x="212325" y="49507"/>
                </a:lnTo>
                <a:lnTo>
                  <a:pt x="183711" y="36542"/>
                </a:lnTo>
                <a:lnTo>
                  <a:pt x="154310" y="25477"/>
                </a:lnTo>
                <a:lnTo>
                  <a:pt x="124249" y="16358"/>
                </a:lnTo>
                <a:lnTo>
                  <a:pt x="93655" y="9224"/>
                </a:lnTo>
                <a:lnTo>
                  <a:pt x="62660" y="4107"/>
                </a:lnTo>
                <a:lnTo>
                  <a:pt x="31397" y="1028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0"/>
            </a:srgbClr>
          </a:solidFill>
          <a:ln w="38100">
            <a:solidFill>
              <a:srgbClr val="4A3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0661" y="2117683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0661" y="2117683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90°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71700" y="2400300"/>
            <a:ext cx="480060" cy="480060"/>
          </a:xfrm>
          <a:custGeom>
            <a:avLst/>
            <a:gdLst/>
            <a:ahLst/>
            <a:cxnLst/>
            <a:rect l="l" t="t" r="r" b="b"/>
            <a:pathLst>
              <a:path w="480060" h="480060">
                <a:moveTo>
                  <a:pt x="480060" y="0"/>
                </a:moveTo>
                <a:lnTo>
                  <a:pt x="448663" y="1028"/>
                </a:lnTo>
                <a:lnTo>
                  <a:pt x="417400" y="4107"/>
                </a:lnTo>
                <a:lnTo>
                  <a:pt x="386405" y="9224"/>
                </a:lnTo>
                <a:lnTo>
                  <a:pt x="355811" y="16358"/>
                </a:lnTo>
                <a:lnTo>
                  <a:pt x="325750" y="25477"/>
                </a:lnTo>
                <a:lnTo>
                  <a:pt x="296349" y="36542"/>
                </a:lnTo>
                <a:lnTo>
                  <a:pt x="267735" y="49507"/>
                </a:lnTo>
                <a:lnTo>
                  <a:pt x="240030" y="64316"/>
                </a:lnTo>
                <a:lnTo>
                  <a:pt x="213353" y="80905"/>
                </a:lnTo>
                <a:lnTo>
                  <a:pt x="187818" y="99203"/>
                </a:lnTo>
                <a:lnTo>
                  <a:pt x="163534" y="119132"/>
                </a:lnTo>
                <a:lnTo>
                  <a:pt x="140606" y="140606"/>
                </a:lnTo>
                <a:lnTo>
                  <a:pt x="119132" y="163534"/>
                </a:lnTo>
                <a:lnTo>
                  <a:pt x="99203" y="187818"/>
                </a:lnTo>
                <a:lnTo>
                  <a:pt x="80905" y="213353"/>
                </a:lnTo>
                <a:lnTo>
                  <a:pt x="64316" y="240030"/>
                </a:lnTo>
                <a:lnTo>
                  <a:pt x="49507" y="267735"/>
                </a:lnTo>
                <a:lnTo>
                  <a:pt x="36542" y="296349"/>
                </a:lnTo>
                <a:lnTo>
                  <a:pt x="25477" y="325750"/>
                </a:lnTo>
                <a:lnTo>
                  <a:pt x="16358" y="355811"/>
                </a:lnTo>
                <a:lnTo>
                  <a:pt x="9224" y="386405"/>
                </a:lnTo>
                <a:lnTo>
                  <a:pt x="4107" y="417400"/>
                </a:lnTo>
                <a:lnTo>
                  <a:pt x="1028" y="448663"/>
                </a:lnTo>
                <a:lnTo>
                  <a:pt x="0" y="480060"/>
                </a:lnTo>
              </a:path>
            </a:pathLst>
          </a:custGeom>
          <a:solidFill>
            <a:srgbClr val="FFFFFF">
              <a:alpha val="0"/>
            </a:srgbClr>
          </a:solidFill>
          <a:ln w="38100">
            <a:solidFill>
              <a:srgbClr val="AAAA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24491" y="2117683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24491" y="2117683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171700" y="2880360"/>
            <a:ext cx="480060" cy="480060"/>
          </a:xfrm>
          <a:custGeom>
            <a:avLst/>
            <a:gdLst/>
            <a:ahLst/>
            <a:cxnLst/>
            <a:rect l="l" t="t" r="r" b="b"/>
            <a:pathLst>
              <a:path w="480060" h="480060">
                <a:moveTo>
                  <a:pt x="0" y="0"/>
                </a:moveTo>
                <a:lnTo>
                  <a:pt x="1028" y="31397"/>
                </a:lnTo>
                <a:lnTo>
                  <a:pt x="4107" y="62660"/>
                </a:lnTo>
                <a:lnTo>
                  <a:pt x="9224" y="93655"/>
                </a:lnTo>
                <a:lnTo>
                  <a:pt x="16358" y="124249"/>
                </a:lnTo>
                <a:lnTo>
                  <a:pt x="25477" y="154310"/>
                </a:lnTo>
                <a:lnTo>
                  <a:pt x="36542" y="183711"/>
                </a:lnTo>
                <a:lnTo>
                  <a:pt x="49507" y="212325"/>
                </a:lnTo>
                <a:lnTo>
                  <a:pt x="64316" y="240030"/>
                </a:lnTo>
                <a:lnTo>
                  <a:pt x="80905" y="266707"/>
                </a:lnTo>
                <a:lnTo>
                  <a:pt x="99203" y="292242"/>
                </a:lnTo>
                <a:lnTo>
                  <a:pt x="119132" y="316526"/>
                </a:lnTo>
                <a:lnTo>
                  <a:pt x="140606" y="339454"/>
                </a:lnTo>
                <a:lnTo>
                  <a:pt x="163534" y="360928"/>
                </a:lnTo>
                <a:lnTo>
                  <a:pt x="187818" y="380857"/>
                </a:lnTo>
                <a:lnTo>
                  <a:pt x="213353" y="399155"/>
                </a:lnTo>
                <a:lnTo>
                  <a:pt x="240030" y="415744"/>
                </a:lnTo>
                <a:lnTo>
                  <a:pt x="267735" y="430553"/>
                </a:lnTo>
                <a:lnTo>
                  <a:pt x="296349" y="443518"/>
                </a:lnTo>
                <a:lnTo>
                  <a:pt x="325750" y="454583"/>
                </a:lnTo>
                <a:lnTo>
                  <a:pt x="355811" y="463702"/>
                </a:lnTo>
                <a:lnTo>
                  <a:pt x="386405" y="470836"/>
                </a:lnTo>
                <a:lnTo>
                  <a:pt x="417400" y="475953"/>
                </a:lnTo>
                <a:lnTo>
                  <a:pt x="448663" y="479032"/>
                </a:lnTo>
                <a:lnTo>
                  <a:pt x="480060" y="480060"/>
                </a:lnTo>
              </a:path>
            </a:pathLst>
          </a:custGeom>
          <a:solidFill>
            <a:srgbClr val="FFFFFF">
              <a:alpha val="0"/>
            </a:srgbClr>
          </a:solidFill>
          <a:ln w="38100">
            <a:solidFill>
              <a:srgbClr val="AAAA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24491" y="3313853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24491" y="3313853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651760" y="2880360"/>
            <a:ext cx="480060" cy="480060"/>
          </a:xfrm>
          <a:custGeom>
            <a:avLst/>
            <a:gdLst/>
            <a:ahLst/>
            <a:cxnLst/>
            <a:rect l="l" t="t" r="r" b="b"/>
            <a:pathLst>
              <a:path w="480060" h="480060">
                <a:moveTo>
                  <a:pt x="0" y="480060"/>
                </a:moveTo>
                <a:lnTo>
                  <a:pt x="31397" y="479032"/>
                </a:lnTo>
                <a:lnTo>
                  <a:pt x="62660" y="475953"/>
                </a:lnTo>
                <a:lnTo>
                  <a:pt x="93655" y="470836"/>
                </a:lnTo>
                <a:lnTo>
                  <a:pt x="124249" y="463702"/>
                </a:lnTo>
                <a:lnTo>
                  <a:pt x="154310" y="454583"/>
                </a:lnTo>
                <a:lnTo>
                  <a:pt x="183711" y="443518"/>
                </a:lnTo>
                <a:lnTo>
                  <a:pt x="212325" y="430553"/>
                </a:lnTo>
                <a:lnTo>
                  <a:pt x="240030" y="415744"/>
                </a:lnTo>
                <a:lnTo>
                  <a:pt x="266707" y="399155"/>
                </a:lnTo>
                <a:lnTo>
                  <a:pt x="292242" y="380857"/>
                </a:lnTo>
                <a:lnTo>
                  <a:pt x="316526" y="360928"/>
                </a:lnTo>
                <a:lnTo>
                  <a:pt x="339454" y="339454"/>
                </a:lnTo>
                <a:lnTo>
                  <a:pt x="360928" y="316526"/>
                </a:lnTo>
                <a:lnTo>
                  <a:pt x="380857" y="292242"/>
                </a:lnTo>
                <a:lnTo>
                  <a:pt x="399155" y="266707"/>
                </a:lnTo>
                <a:lnTo>
                  <a:pt x="415744" y="240030"/>
                </a:lnTo>
                <a:lnTo>
                  <a:pt x="430553" y="212325"/>
                </a:lnTo>
                <a:lnTo>
                  <a:pt x="443518" y="183711"/>
                </a:lnTo>
                <a:lnTo>
                  <a:pt x="454583" y="154310"/>
                </a:lnTo>
                <a:lnTo>
                  <a:pt x="463702" y="124249"/>
                </a:lnTo>
                <a:lnTo>
                  <a:pt x="470836" y="93655"/>
                </a:lnTo>
                <a:lnTo>
                  <a:pt x="475953" y="62660"/>
                </a:lnTo>
                <a:lnTo>
                  <a:pt x="479032" y="31397"/>
                </a:lnTo>
                <a:lnTo>
                  <a:pt x="480060" y="0"/>
                </a:lnTo>
              </a:path>
            </a:pathLst>
          </a:custGeom>
          <a:solidFill>
            <a:srgbClr val="FFFFFF">
              <a:alpha val="0"/>
            </a:srgbClr>
          </a:solidFill>
          <a:ln w="3810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0661" y="3313853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0661" y="3313853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87752" y="2816352"/>
            <a:ext cx="128016" cy="128016"/>
          </a:xfrm>
          <a:prstGeom prst="ellipse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1325880"/>
            <a:ext cx="393192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4630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Atlas's Claim: "If two lines intersect and one angle is 90°, all four angles must be 90°."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92040" y="25603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Atlas correct? Use the vertical angle rule and the supplementary angle rule to explain why or why not.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4160520"/>
            <a:ext cx="749808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1605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yes or no, plus one reason using the word vertical or supplementary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What's Next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now name and find missing angle measures for vertical, supplementary, and perpendicular angle pairs.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lesson, you'll use these same angle relationships to help classify triangles by their angles.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straight lines intersect. One angle measures 35°. What is the measure of the angle directly across from it (its vertical angle)?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35°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51760" y="21031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55°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480560" y="21031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145°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09360" y="21031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90°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 choice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straight lines intersect. One angle measures 35°. What is the measure of the angle directly across from it (its vertical angle)?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35°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51760" y="21031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55°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480560" y="21031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145°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09360" y="21031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90°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Vertical angles are always equal — no subtraction needed, just match the angle straight across.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 choice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that when two lines cross, the angles directly across from each other always land on the exact same number. I checked it three different ways and it never failed.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 it by adding the two angles that sit next to each other — if they don't add up to 180°, I know I measured one of them wrong.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the crossing lines like a bowtie — the two loops of the bowtie on opposite sides are always the same size.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words matter here: angles across from each other are vertical angles, and angles that share a straight line are supplementary angles.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 for Lesson 5.11.02.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Finish both Show What You Know checks if you haven't already.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 tomorrow's lesson: Classifying Triangles.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5.11.02 Angles and Lines — Teacher Slides</dc:title>
  <dc:subject>PptxGenJS Presentation</dc:subject>
  <dc:creator>PptxGenJS</dc:creator>
  <cp:lastModifiedBy>PptxGenJS</cp:lastModifiedBy>
  <cp:revision>1</cp:revision>
  <dcterms:created xsi:type="dcterms:W3CDTF">2026-09-24T19:11:09Z</dcterms:created>
  <dcterms:modified xsi:type="dcterms:W3CDTF">2026-09-24T19:11:09Z</dcterms:modified>
</cp:coreProperties>
</file>