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all 4 items. Give a minute of think time -- every item can be defended as the one that doesn't belong, but push students toward the mathematical reason (equivalence), not just appearance.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all 4 items. Give a minute of think time -- every item can be defended as the one that doesn't belong, but push students toward the mathematical reason (equivalence), not just appearance.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Connection: tie the discussion to 'equivalent'. Try It: fresh set of 4 -- 5/8 is the outlier because it is not equal to one half; 1/2, 0.5, and 50% all name the same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Connection: tie the discussion to 'equivalent'. Try It: fresh set of 4 -- 5/8 is the outlier because it is not equal to one half; 1/2, 0.5, and 50% all name the same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Frame today's focus: the last two lessons measured angles and angle pairs; today we use those same angle skills, plus side lengths, to sort triangles into families.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(1-2 min)
Read the I Can statement aloud. Emphasize that every triangle earns BOTH a side-name and an angle-name -- naming one does not rule out naming the other.
Transition: "Before we sort triangles, let's warm up what we already know about angles."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Quick individual review of Lesson 5.11.01/5.11.02 skills -- measuring, classifying, and finding a missing supplementary angle.
Anticipated: 90°, obtuse, 70°.
Common error: students may add 110+180 instead of subtracting for the third question -- correct with 180-110=70.
Transition: "Today we use those same angle skills, plus side lengths, on a whole shape -- a triangle."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(1-2 min)
Gather 2-3 chat responses (roof truss, road sign, bridge support, a slice of pizza).
Anticipated: roof, yield sign, bridge truss.
Transition: "Let's look closely at a few different triangles and see what's actually different about them."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Do not reveal category names yet. Collect notices (side lengths look different, one corner looks bigger) and wonders (does a triangle get more than one name? what makes a corner a 'square corner'?).
Anticipated wonder: 'can a triangle have two different names at once?'
Transition: "Let's read one real triangle closely and see exactly what it tells 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(4-5 min)
This is a real drawn triangle with real angle arcs and real side lengths -- students classify it by physically reading the figure, not by a stated rule.
Point to each angle arc in turn (90°, 37°, 53°) then each side length (3, 4, 5 cm).
Ask: 'Does finding the right angle also tell us about the side lengths?' (no -- side and angle names come from separate checks).
Common error: assuming a right triangle can't also be scalene, or that classifying by angle finishes the job.
Transition: "Let's line up a few different triangle types side by side."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(3-4 min)
Compare the three diagrams side by side. Ask students to point to what makes each triangle's angle name true, then what makes its side name true.
Anticipated: the middle triangle's square-looking corner is the 90° angle; the right-hand triangle looks 'stretched open' at the top, matching obtuse.
Common error: confusing 'isosceles' (at least two sides equal) with 'equilateral' (all three equal) -- point out the left triangle satisfies both names at once.
Transition: "Let's state both classification rules in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(2-3 min)
Have a student paraphrase each rule out loud without looking at a diagram.
Common error: mixing up 'isosceles' (at least two) with 'equilateral' (all three) -- point out every equilateral triangle is automatically also isosceles.
Transition: "Let's collect the vocabulary words we'll use to name these triangles."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(2-3 min)
Have students read each definition aloud, then point to a matching triangle from the Pictorial slide.
Transition: "Let's use this vocabulary to classify real triangles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(3 min)
Work the steps aloud. Point to the two matching side labels in the diagram.
Anticipated: isosceles.
Common error: calling it scalene because 8 does not match, instead of noticing the two 5's are enough for isosceles.
Transition: "Now let's classify a triangle using its angles instead of its sides."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Work the steps aloud. Point to the labeled 90° arc in the diagram.
Anticipated: right triangle.
Common error: adding the angles instead of scanning for a 90° angle -- if helpful, confirm 35+90+55=180 as a side note.
Transition: "Now let's classify a triangle using BOTH sides and angles at once."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C (3-4 min)
Emphasize that this triangle needs TWO checks, not one -- a side check and a separate angle check.
Anticipated: equilateral and acute.
Common error: stopping after naming it equilateral and forgetting the angle name is a separate, required step.
Transition: "Your turn -- use the angle-sum rule to check whether a triangle is even possible."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(3-4 min)
Give real independent think time before taking chat answers.
Anticipated: 45+45+90=180, so yes, the triangle is possible.
Common error: forgetting to add all three angles and only comparing the two 45's to each other.
Transition: "Let's use that same angle-sum idea to test a trickier claim."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/ REASONING (3 min): this is the Independent Practice's hardest problem, so reason through it together before students meet it independently.
Ask: 'What are the three angles of every equilateral triangle?' (60°, 60°, 60°).
Anticipated: no -- an equilateral triangle is always acute because all its angles are 60°, and an obtuse triangle needs one angle greater than 90°.
Common error: assuming any triangle name combination is possible without checking the actual angle values.
Transition: "That angle-sum idea you just used is exactly where we're headed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that Lesson 5.11.04 formally proves the 180° angle-sum rule students already used informally today.
Transition: "Let's check what you've got with two quick questions."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Give silent think time before revealing. Common error: choosing scalene because the third side (9 in) is different, instead of noticing the two 6's already qualify it as isosceles.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Give silent think time before revealing. Common error: choosing scalene because the third side (9 in) is different, instead of noticing the two 6's already qualify it as isosceles.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Warm-Up · Fraction-Decimal Equivalence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written as a fraction with denominator 4.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fraction that is NOT already in lowest terms.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value that is NOT equal to three fourths.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value written as a decimal instead of a fraction.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key word is equivalent — fractions or decimals that name the same amount. Which item is NOT equivalent to the others?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5/8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5.11.03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Triangles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11: Geometry · Lesson 3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MA.5.GR.1.1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classify triangles by their side lengths (scalene, isosceles, equilateral) and by their angles (acute, right, obtuse).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triangle gets two names — one for its sides, one for its angles.”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 · Quick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What is the measure of a right angle?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Classify a 152° angle: acute, right, or obtuse?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Two angles form a straight line. One measures 110°. What does the other measure?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51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 to all three, in order (example: 90°, obtuse, 70°)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 · Triangles on Purpose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Connect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builders and roof designers choose a specific triangle shape on purpose — a perfectly even one for strength, or a sharp, stretched one to fit a tight space.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name one triangle-shaped object you can picture in a building, sign, or bridge.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Look Closely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triangles are drawn on the board — one looks perfectly even, one has a square corner, and one looks stretched and pointy.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Read the Real Triangle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651760"/>
            <a:ext cx="1828800" cy="1371600"/>
          </a:xfrm>
          <a:custGeom>
            <a:avLst/>
            <a:gdLst/>
            <a:ahLst/>
            <a:cxnLst/>
            <a:rect l="l" t="t" r="r" b="b"/>
            <a:pathLst>
              <a:path w="1828800" h="1371600">
                <a:moveTo>
                  <a:pt x="0" y="1371600"/>
                </a:moveTo>
                <a:lnTo>
                  <a:pt x="182880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3694176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0" y="0"/>
                </a:moveTo>
                <a:lnTo>
                  <a:pt x="21530" y="705"/>
                </a:lnTo>
                <a:lnTo>
                  <a:pt x="42967" y="2816"/>
                </a:lnTo>
                <a:lnTo>
                  <a:pt x="64221" y="6325"/>
                </a:lnTo>
                <a:lnTo>
                  <a:pt x="85199" y="11217"/>
                </a:lnTo>
                <a:lnTo>
                  <a:pt x="105813" y="17470"/>
                </a:lnTo>
                <a:lnTo>
                  <a:pt x="125973" y="25058"/>
                </a:lnTo>
                <a:lnTo>
                  <a:pt x="145594" y="33948"/>
                </a:lnTo>
                <a:lnTo>
                  <a:pt x="164592" y="44102"/>
                </a:lnTo>
                <a:lnTo>
                  <a:pt x="182885" y="55478"/>
                </a:lnTo>
                <a:lnTo>
                  <a:pt x="200395" y="68025"/>
                </a:lnTo>
                <a:lnTo>
                  <a:pt x="217046" y="81690"/>
                </a:lnTo>
                <a:lnTo>
                  <a:pt x="232768" y="96416"/>
                </a:lnTo>
                <a:lnTo>
                  <a:pt x="247494" y="112138"/>
                </a:lnTo>
                <a:lnTo>
                  <a:pt x="261159" y="128789"/>
                </a:lnTo>
                <a:lnTo>
                  <a:pt x="273706" y="146299"/>
                </a:lnTo>
                <a:lnTo>
                  <a:pt x="285082" y="164592"/>
                </a:lnTo>
                <a:lnTo>
                  <a:pt x="295236" y="183590"/>
                </a:lnTo>
                <a:lnTo>
                  <a:pt x="304126" y="203211"/>
                </a:lnTo>
                <a:lnTo>
                  <a:pt x="311714" y="223371"/>
                </a:lnTo>
                <a:lnTo>
                  <a:pt x="317967" y="243985"/>
                </a:lnTo>
                <a:lnTo>
                  <a:pt x="322859" y="264963"/>
                </a:lnTo>
                <a:lnTo>
                  <a:pt x="326368" y="286217"/>
                </a:lnTo>
                <a:lnTo>
                  <a:pt x="328479" y="307654"/>
                </a:lnTo>
                <a:lnTo>
                  <a:pt x="329184" y="32918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2845" y="342445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90°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85616" y="3825850"/>
            <a:ext cx="65837" cy="197510"/>
          </a:xfrm>
          <a:custGeom>
            <a:avLst/>
            <a:gdLst/>
            <a:ahLst/>
            <a:cxnLst/>
            <a:rect l="l" t="t" r="r" b="b"/>
            <a:pathLst>
              <a:path w="65837" h="197510">
                <a:moveTo>
                  <a:pt x="0" y="197510"/>
                </a:moveTo>
                <a:lnTo>
                  <a:pt x="118" y="188685"/>
                </a:lnTo>
                <a:lnTo>
                  <a:pt x="473" y="179866"/>
                </a:lnTo>
                <a:lnTo>
                  <a:pt x="1064" y="171060"/>
                </a:lnTo>
                <a:lnTo>
                  <a:pt x="1891" y="162273"/>
                </a:lnTo>
                <a:lnTo>
                  <a:pt x="2954" y="153511"/>
                </a:lnTo>
                <a:lnTo>
                  <a:pt x="4251" y="144781"/>
                </a:lnTo>
                <a:lnTo>
                  <a:pt x="5781" y="136089"/>
                </a:lnTo>
                <a:lnTo>
                  <a:pt x="7544" y="127441"/>
                </a:lnTo>
                <a:lnTo>
                  <a:pt x="9538" y="118843"/>
                </a:lnTo>
                <a:lnTo>
                  <a:pt x="11762" y="110302"/>
                </a:lnTo>
                <a:lnTo>
                  <a:pt x="14214" y="101823"/>
                </a:lnTo>
                <a:lnTo>
                  <a:pt x="16893" y="93413"/>
                </a:lnTo>
                <a:lnTo>
                  <a:pt x="19796" y="85078"/>
                </a:lnTo>
                <a:lnTo>
                  <a:pt x="22921" y="76824"/>
                </a:lnTo>
                <a:lnTo>
                  <a:pt x="26267" y="68657"/>
                </a:lnTo>
                <a:lnTo>
                  <a:pt x="29830" y="60582"/>
                </a:lnTo>
                <a:lnTo>
                  <a:pt x="33609" y="52606"/>
                </a:lnTo>
                <a:lnTo>
                  <a:pt x="37600" y="44734"/>
                </a:lnTo>
                <a:lnTo>
                  <a:pt x="41800" y="36972"/>
                </a:lnTo>
                <a:lnTo>
                  <a:pt x="46207" y="29325"/>
                </a:lnTo>
                <a:lnTo>
                  <a:pt x="50818" y="21799"/>
                </a:lnTo>
                <a:lnTo>
                  <a:pt x="55629" y="14399"/>
                </a:lnTo>
                <a:lnTo>
                  <a:pt x="60636" y="7131"/>
                </a:lnTo>
                <a:lnTo>
                  <a:pt x="65837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1807" y="3674645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37°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849270"/>
            <a:ext cx="263347" cy="131674"/>
          </a:xfrm>
          <a:custGeom>
            <a:avLst/>
            <a:gdLst/>
            <a:ahLst/>
            <a:cxnLst/>
            <a:rect l="l" t="t" r="r" b="b"/>
            <a:pathLst>
              <a:path w="263347" h="131674">
                <a:moveTo>
                  <a:pt x="263347" y="0"/>
                </a:moveTo>
                <a:lnTo>
                  <a:pt x="255521" y="10025"/>
                </a:lnTo>
                <a:lnTo>
                  <a:pt x="247314" y="19740"/>
                </a:lnTo>
                <a:lnTo>
                  <a:pt x="238737" y="29131"/>
                </a:lnTo>
                <a:lnTo>
                  <a:pt x="229805" y="38184"/>
                </a:lnTo>
                <a:lnTo>
                  <a:pt x="220529" y="46885"/>
                </a:lnTo>
                <a:lnTo>
                  <a:pt x="210924" y="55221"/>
                </a:lnTo>
                <a:lnTo>
                  <a:pt x="201004" y="63180"/>
                </a:lnTo>
                <a:lnTo>
                  <a:pt x="190784" y="70750"/>
                </a:lnTo>
                <a:lnTo>
                  <a:pt x="180279" y="77919"/>
                </a:lnTo>
                <a:lnTo>
                  <a:pt x="169506" y="84677"/>
                </a:lnTo>
                <a:lnTo>
                  <a:pt x="158479" y="91014"/>
                </a:lnTo>
                <a:lnTo>
                  <a:pt x="147216" y="96921"/>
                </a:lnTo>
                <a:lnTo>
                  <a:pt x="135732" y="102388"/>
                </a:lnTo>
                <a:lnTo>
                  <a:pt x="124047" y="107407"/>
                </a:lnTo>
                <a:lnTo>
                  <a:pt x="112176" y="111971"/>
                </a:lnTo>
                <a:lnTo>
                  <a:pt x="100138" y="116073"/>
                </a:lnTo>
                <a:lnTo>
                  <a:pt x="87950" y="119707"/>
                </a:lnTo>
                <a:lnTo>
                  <a:pt x="75631" y="122868"/>
                </a:lnTo>
                <a:lnTo>
                  <a:pt x="63199" y="125550"/>
                </a:lnTo>
                <a:lnTo>
                  <a:pt x="50673" y="127750"/>
                </a:lnTo>
                <a:lnTo>
                  <a:pt x="38071" y="129465"/>
                </a:lnTo>
                <a:lnTo>
                  <a:pt x="25412" y="130691"/>
                </a:lnTo>
                <a:lnTo>
                  <a:pt x="12716" y="131428"/>
                </a:lnTo>
                <a:lnTo>
                  <a:pt x="0" y="13167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6492" y="307796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53°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49645" y="4114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4 cm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16936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5 cm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26226" y="3104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3 cm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39776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39776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26060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4279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Right triangle · scalene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37490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How do we know?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Angles: 90°, 37°, 53° — one angle is exactly 90°, so this is a right triangle.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2880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Sides: 3 cm, 4 cm, 5 cm — all three lengths are different, so this is also scalene.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Three Triangle Families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Acute · Equilateral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2012594"/>
            <a:ext cx="1371600" cy="1187806"/>
          </a:xfrm>
          <a:custGeom>
            <a:avLst/>
            <a:gdLst/>
            <a:ahLst/>
            <a:cxnLst/>
            <a:rect l="l" t="t" r="r" b="b"/>
            <a:pathLst>
              <a:path w="1371600" h="1187806">
                <a:moveTo>
                  <a:pt x="685800" y="0"/>
                </a:moveTo>
                <a:lnTo>
                  <a:pt x="0" y="1187806"/>
                </a:lnTo>
                <a:lnTo>
                  <a:pt x="1371600" y="1187806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4" y="2297674"/>
            <a:ext cx="329191" cy="44104"/>
          </a:xfrm>
          <a:custGeom>
            <a:avLst/>
            <a:gdLst/>
            <a:ahLst/>
            <a:cxnLst/>
            <a:rect l="l" t="t" r="r" b="b"/>
            <a:pathLst>
              <a:path w="329191" h="44104">
                <a:moveTo>
                  <a:pt x="329191" y="0"/>
                </a:moveTo>
                <a:lnTo>
                  <a:pt x="316599" y="6908"/>
                </a:lnTo>
                <a:lnTo>
                  <a:pt x="303718" y="13261"/>
                </a:lnTo>
                <a:lnTo>
                  <a:pt x="290572" y="19046"/>
                </a:lnTo>
                <a:lnTo>
                  <a:pt x="277186" y="24251"/>
                </a:lnTo>
                <a:lnTo>
                  <a:pt x="263585" y="28868"/>
                </a:lnTo>
                <a:lnTo>
                  <a:pt x="249797" y="32887"/>
                </a:lnTo>
                <a:lnTo>
                  <a:pt x="235846" y="36301"/>
                </a:lnTo>
                <a:lnTo>
                  <a:pt x="221759" y="39103"/>
                </a:lnTo>
                <a:lnTo>
                  <a:pt x="207564" y="41288"/>
                </a:lnTo>
                <a:lnTo>
                  <a:pt x="193287" y="42852"/>
                </a:lnTo>
                <a:lnTo>
                  <a:pt x="178955" y="43791"/>
                </a:lnTo>
                <a:lnTo>
                  <a:pt x="164596" y="44104"/>
                </a:lnTo>
                <a:lnTo>
                  <a:pt x="150236" y="43791"/>
                </a:lnTo>
                <a:lnTo>
                  <a:pt x="135905" y="42852"/>
                </a:lnTo>
                <a:lnTo>
                  <a:pt x="121627" y="41288"/>
                </a:lnTo>
                <a:lnTo>
                  <a:pt x="107432" y="39103"/>
                </a:lnTo>
                <a:lnTo>
                  <a:pt x="93345" y="36301"/>
                </a:lnTo>
                <a:lnTo>
                  <a:pt x="79395" y="32887"/>
                </a:lnTo>
                <a:lnTo>
                  <a:pt x="65606" y="28868"/>
                </a:lnTo>
                <a:lnTo>
                  <a:pt x="52005" y="24251"/>
                </a:lnTo>
                <a:lnTo>
                  <a:pt x="38619" y="19046"/>
                </a:lnTo>
                <a:lnTo>
                  <a:pt x="25473" y="13261"/>
                </a:lnTo>
                <a:lnTo>
                  <a:pt x="12592" y="6908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6" y="2915320"/>
            <a:ext cx="164588" cy="285080"/>
          </a:xfrm>
          <a:custGeom>
            <a:avLst/>
            <a:gdLst/>
            <a:ahLst/>
            <a:cxnLst/>
            <a:rect l="l" t="t" r="r" b="b"/>
            <a:pathLst>
              <a:path w="164588" h="285080">
                <a:moveTo>
                  <a:pt x="0" y="0"/>
                </a:moveTo>
                <a:lnTo>
                  <a:pt x="12278" y="7451"/>
                </a:lnTo>
                <a:lnTo>
                  <a:pt x="24220" y="15430"/>
                </a:lnTo>
                <a:lnTo>
                  <a:pt x="35802" y="23923"/>
                </a:lnTo>
                <a:lnTo>
                  <a:pt x="47002" y="32912"/>
                </a:lnTo>
                <a:lnTo>
                  <a:pt x="57800" y="42382"/>
                </a:lnTo>
                <a:lnTo>
                  <a:pt x="68175" y="52314"/>
                </a:lnTo>
                <a:lnTo>
                  <a:pt x="78106" y="62688"/>
                </a:lnTo>
                <a:lnTo>
                  <a:pt x="87576" y="73486"/>
                </a:lnTo>
                <a:lnTo>
                  <a:pt x="96565" y="84687"/>
                </a:lnTo>
                <a:lnTo>
                  <a:pt x="105058" y="96269"/>
                </a:lnTo>
                <a:lnTo>
                  <a:pt x="113037" y="108211"/>
                </a:lnTo>
                <a:lnTo>
                  <a:pt x="120487" y="120489"/>
                </a:lnTo>
                <a:lnTo>
                  <a:pt x="127395" y="133081"/>
                </a:lnTo>
                <a:lnTo>
                  <a:pt x="133747" y="145962"/>
                </a:lnTo>
                <a:lnTo>
                  <a:pt x="139531" y="159108"/>
                </a:lnTo>
                <a:lnTo>
                  <a:pt x="144737" y="172493"/>
                </a:lnTo>
                <a:lnTo>
                  <a:pt x="149353" y="186093"/>
                </a:lnTo>
                <a:lnTo>
                  <a:pt x="153372" y="199882"/>
                </a:lnTo>
                <a:lnTo>
                  <a:pt x="156786" y="213832"/>
                </a:lnTo>
                <a:lnTo>
                  <a:pt x="159587" y="227918"/>
                </a:lnTo>
                <a:lnTo>
                  <a:pt x="161772" y="242113"/>
                </a:lnTo>
                <a:lnTo>
                  <a:pt x="163336" y="256390"/>
                </a:lnTo>
                <a:lnTo>
                  <a:pt x="164275" y="270721"/>
                </a:lnTo>
                <a:lnTo>
                  <a:pt x="164588" y="28508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85416" y="2915320"/>
            <a:ext cx="164588" cy="285080"/>
          </a:xfrm>
          <a:custGeom>
            <a:avLst/>
            <a:gdLst/>
            <a:ahLst/>
            <a:cxnLst/>
            <a:rect l="l" t="t" r="r" b="b"/>
            <a:pathLst>
              <a:path w="164588" h="285080">
                <a:moveTo>
                  <a:pt x="0" y="285080"/>
                </a:moveTo>
                <a:lnTo>
                  <a:pt x="313" y="270721"/>
                </a:lnTo>
                <a:lnTo>
                  <a:pt x="1253" y="256390"/>
                </a:lnTo>
                <a:lnTo>
                  <a:pt x="2816" y="242113"/>
                </a:lnTo>
                <a:lnTo>
                  <a:pt x="5001" y="227918"/>
                </a:lnTo>
                <a:lnTo>
                  <a:pt x="7803" y="213832"/>
                </a:lnTo>
                <a:lnTo>
                  <a:pt x="11216" y="199882"/>
                </a:lnTo>
                <a:lnTo>
                  <a:pt x="15235" y="186093"/>
                </a:lnTo>
                <a:lnTo>
                  <a:pt x="19852" y="172493"/>
                </a:lnTo>
                <a:lnTo>
                  <a:pt x="25057" y="159108"/>
                </a:lnTo>
                <a:lnTo>
                  <a:pt x="30841" y="145962"/>
                </a:lnTo>
                <a:lnTo>
                  <a:pt x="37193" y="133081"/>
                </a:lnTo>
                <a:lnTo>
                  <a:pt x="44101" y="120489"/>
                </a:lnTo>
                <a:lnTo>
                  <a:pt x="51552" y="108211"/>
                </a:lnTo>
                <a:lnTo>
                  <a:pt x="59531" y="96269"/>
                </a:lnTo>
                <a:lnTo>
                  <a:pt x="68023" y="84687"/>
                </a:lnTo>
                <a:lnTo>
                  <a:pt x="77013" y="73486"/>
                </a:lnTo>
                <a:lnTo>
                  <a:pt x="86482" y="62688"/>
                </a:lnTo>
                <a:lnTo>
                  <a:pt x="96414" y="52314"/>
                </a:lnTo>
                <a:lnTo>
                  <a:pt x="106788" y="42382"/>
                </a:lnTo>
                <a:lnTo>
                  <a:pt x="117586" y="32912"/>
                </a:lnTo>
                <a:lnTo>
                  <a:pt x="128787" y="23923"/>
                </a:lnTo>
                <a:lnTo>
                  <a:pt x="140369" y="15430"/>
                </a:lnTo>
                <a:lnTo>
                  <a:pt x="152310" y="7451"/>
                </a:lnTo>
                <a:lnTo>
                  <a:pt x="164588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966874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1546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31546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56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All angles &lt; 90°, all sides equal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Right · Scalene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011680"/>
            <a:ext cx="1463040" cy="1188720"/>
          </a:xfrm>
          <a:custGeom>
            <a:avLst/>
            <a:gdLst/>
            <a:ahLst/>
            <a:cxnLst/>
            <a:rect l="l" t="t" r="r" b="b"/>
            <a:pathLst>
              <a:path w="1463040" h="1188720">
                <a:moveTo>
                  <a:pt x="0" y="1188720"/>
                </a:moveTo>
                <a:lnTo>
                  <a:pt x="1463040" y="1188720"/>
                </a:lnTo>
                <a:lnTo>
                  <a:pt x="0" y="0"/>
                </a:lnTo>
                <a:close/>
              </a:path>
            </a:pathLst>
          </a:custGeom>
          <a:solidFill>
            <a:srgbClr val="E6F2EA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871216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0" y="0"/>
                </a:moveTo>
                <a:lnTo>
                  <a:pt x="21530" y="705"/>
                </a:lnTo>
                <a:lnTo>
                  <a:pt x="42967" y="2816"/>
                </a:lnTo>
                <a:lnTo>
                  <a:pt x="64221" y="6325"/>
                </a:lnTo>
                <a:lnTo>
                  <a:pt x="85199" y="11217"/>
                </a:lnTo>
                <a:lnTo>
                  <a:pt x="105813" y="17470"/>
                </a:lnTo>
                <a:lnTo>
                  <a:pt x="125973" y="25058"/>
                </a:lnTo>
                <a:lnTo>
                  <a:pt x="145594" y="33948"/>
                </a:lnTo>
                <a:lnTo>
                  <a:pt x="164592" y="44102"/>
                </a:lnTo>
                <a:lnTo>
                  <a:pt x="182885" y="55478"/>
                </a:lnTo>
                <a:lnTo>
                  <a:pt x="200395" y="68025"/>
                </a:lnTo>
                <a:lnTo>
                  <a:pt x="217046" y="81690"/>
                </a:lnTo>
                <a:lnTo>
                  <a:pt x="232768" y="96416"/>
                </a:lnTo>
                <a:lnTo>
                  <a:pt x="247494" y="112138"/>
                </a:lnTo>
                <a:lnTo>
                  <a:pt x="261159" y="128789"/>
                </a:lnTo>
                <a:lnTo>
                  <a:pt x="273706" y="146299"/>
                </a:lnTo>
                <a:lnTo>
                  <a:pt x="285082" y="164592"/>
                </a:lnTo>
                <a:lnTo>
                  <a:pt x="295236" y="183590"/>
                </a:lnTo>
                <a:lnTo>
                  <a:pt x="304126" y="203211"/>
                </a:lnTo>
                <a:lnTo>
                  <a:pt x="311714" y="223371"/>
                </a:lnTo>
                <a:lnTo>
                  <a:pt x="317967" y="243985"/>
                </a:lnTo>
                <a:lnTo>
                  <a:pt x="322859" y="264963"/>
                </a:lnTo>
                <a:lnTo>
                  <a:pt x="326368" y="286217"/>
                </a:lnTo>
                <a:lnTo>
                  <a:pt x="328479" y="307654"/>
                </a:lnTo>
                <a:lnTo>
                  <a:pt x="329184" y="32918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57216" y="2992819"/>
            <a:ext cx="73700" cy="207581"/>
          </a:xfrm>
          <a:custGeom>
            <a:avLst/>
            <a:gdLst/>
            <a:ahLst/>
            <a:cxnLst/>
            <a:rect l="l" t="t" r="r" b="b"/>
            <a:pathLst>
              <a:path w="73700" h="207581">
                <a:moveTo>
                  <a:pt x="0" y="207581"/>
                </a:moveTo>
                <a:lnTo>
                  <a:pt x="133" y="198224"/>
                </a:lnTo>
                <a:lnTo>
                  <a:pt x="532" y="188874"/>
                </a:lnTo>
                <a:lnTo>
                  <a:pt x="1197" y="179539"/>
                </a:lnTo>
                <a:lnTo>
                  <a:pt x="2126" y="170227"/>
                </a:lnTo>
                <a:lnTo>
                  <a:pt x="3320" y="160945"/>
                </a:lnTo>
                <a:lnTo>
                  <a:pt x="4778" y="151701"/>
                </a:lnTo>
                <a:lnTo>
                  <a:pt x="6497" y="142502"/>
                </a:lnTo>
                <a:lnTo>
                  <a:pt x="8477" y="133356"/>
                </a:lnTo>
                <a:lnTo>
                  <a:pt x="10717" y="124269"/>
                </a:lnTo>
                <a:lnTo>
                  <a:pt x="13214" y="115250"/>
                </a:lnTo>
                <a:lnTo>
                  <a:pt x="15966" y="106306"/>
                </a:lnTo>
                <a:lnTo>
                  <a:pt x="18972" y="97443"/>
                </a:lnTo>
                <a:lnTo>
                  <a:pt x="22228" y="88669"/>
                </a:lnTo>
                <a:lnTo>
                  <a:pt x="25732" y="79992"/>
                </a:lnTo>
                <a:lnTo>
                  <a:pt x="29481" y="71418"/>
                </a:lnTo>
                <a:lnTo>
                  <a:pt x="33473" y="62953"/>
                </a:lnTo>
                <a:lnTo>
                  <a:pt x="37704" y="54606"/>
                </a:lnTo>
                <a:lnTo>
                  <a:pt x="42170" y="46382"/>
                </a:lnTo>
                <a:lnTo>
                  <a:pt x="46868" y="38288"/>
                </a:lnTo>
                <a:lnTo>
                  <a:pt x="51795" y="30332"/>
                </a:lnTo>
                <a:lnTo>
                  <a:pt x="56945" y="22518"/>
                </a:lnTo>
                <a:lnTo>
                  <a:pt x="62316" y="14854"/>
                </a:lnTo>
                <a:lnTo>
                  <a:pt x="67902" y="7346"/>
                </a:lnTo>
                <a:lnTo>
                  <a:pt x="7370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2219261"/>
            <a:ext cx="255484" cy="121603"/>
          </a:xfrm>
          <a:custGeom>
            <a:avLst/>
            <a:gdLst/>
            <a:ahLst/>
            <a:cxnLst/>
            <a:rect l="l" t="t" r="r" b="b"/>
            <a:pathLst>
              <a:path w="255484" h="121603">
                <a:moveTo>
                  <a:pt x="255484" y="0"/>
                </a:moveTo>
                <a:lnTo>
                  <a:pt x="247626" y="9314"/>
                </a:lnTo>
                <a:lnTo>
                  <a:pt x="239429" y="18330"/>
                </a:lnTo>
                <a:lnTo>
                  <a:pt x="230904" y="27037"/>
                </a:lnTo>
                <a:lnTo>
                  <a:pt x="222062" y="35422"/>
                </a:lnTo>
                <a:lnTo>
                  <a:pt x="212916" y="43475"/>
                </a:lnTo>
                <a:lnTo>
                  <a:pt x="203478" y="51183"/>
                </a:lnTo>
                <a:lnTo>
                  <a:pt x="193761" y="58537"/>
                </a:lnTo>
                <a:lnTo>
                  <a:pt x="183779" y="65526"/>
                </a:lnTo>
                <a:lnTo>
                  <a:pt x="173545" y="72141"/>
                </a:lnTo>
                <a:lnTo>
                  <a:pt x="163073" y="78372"/>
                </a:lnTo>
                <a:lnTo>
                  <a:pt x="152378" y="84212"/>
                </a:lnTo>
                <a:lnTo>
                  <a:pt x="141474" y="89652"/>
                </a:lnTo>
                <a:lnTo>
                  <a:pt x="130376" y="94684"/>
                </a:lnTo>
                <a:lnTo>
                  <a:pt x="119099" y="99302"/>
                </a:lnTo>
                <a:lnTo>
                  <a:pt x="107660" y="103500"/>
                </a:lnTo>
                <a:lnTo>
                  <a:pt x="96072" y="107272"/>
                </a:lnTo>
                <a:lnTo>
                  <a:pt x="84353" y="110612"/>
                </a:lnTo>
                <a:lnTo>
                  <a:pt x="72519" y="113516"/>
                </a:lnTo>
                <a:lnTo>
                  <a:pt x="60585" y="115980"/>
                </a:lnTo>
                <a:lnTo>
                  <a:pt x="48568" y="118000"/>
                </a:lnTo>
                <a:lnTo>
                  <a:pt x="36484" y="119575"/>
                </a:lnTo>
                <a:lnTo>
                  <a:pt x="24351" y="120701"/>
                </a:lnTo>
                <a:lnTo>
                  <a:pt x="12184" y="121377"/>
                </a:lnTo>
                <a:lnTo>
                  <a:pt x="0" y="121603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31546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19659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One 90° angle, all sides different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Obtuse · Isosceles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697480"/>
            <a:ext cx="1828800" cy="502920"/>
          </a:xfrm>
          <a:custGeom>
            <a:avLst/>
            <a:gdLst/>
            <a:ahLst/>
            <a:cxnLst/>
            <a:rect l="l" t="t" r="r" b="b"/>
            <a:pathLst>
              <a:path w="1828800" h="502920">
                <a:moveTo>
                  <a:pt x="914400" y="0"/>
                </a:moveTo>
                <a:lnTo>
                  <a:pt x="0" y="502920"/>
                </a:lnTo>
                <a:lnTo>
                  <a:pt x="1828800" y="502920"/>
                </a:lnTo>
                <a:close/>
              </a:path>
            </a:pathLst>
          </a:custGeom>
          <a:solidFill>
            <a:srgbClr val="FEF0E6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3884" y="2856120"/>
            <a:ext cx="576873" cy="170544"/>
          </a:xfrm>
          <a:custGeom>
            <a:avLst/>
            <a:gdLst/>
            <a:ahLst/>
            <a:cxnLst/>
            <a:rect l="l" t="t" r="r" b="b"/>
            <a:pathLst>
              <a:path w="576873" h="170544">
                <a:moveTo>
                  <a:pt x="576873" y="0"/>
                </a:moveTo>
                <a:lnTo>
                  <a:pt x="561631" y="25008"/>
                </a:lnTo>
                <a:lnTo>
                  <a:pt x="544228" y="48562"/>
                </a:lnTo>
                <a:lnTo>
                  <a:pt x="524800" y="70477"/>
                </a:lnTo>
                <a:lnTo>
                  <a:pt x="503501" y="90578"/>
                </a:lnTo>
                <a:lnTo>
                  <a:pt x="480499" y="108706"/>
                </a:lnTo>
                <a:lnTo>
                  <a:pt x="455978" y="124718"/>
                </a:lnTo>
                <a:lnTo>
                  <a:pt x="430130" y="138488"/>
                </a:lnTo>
                <a:lnTo>
                  <a:pt x="403161" y="149905"/>
                </a:lnTo>
                <a:lnTo>
                  <a:pt x="375284" y="158881"/>
                </a:lnTo>
                <a:lnTo>
                  <a:pt x="346720" y="165343"/>
                </a:lnTo>
                <a:lnTo>
                  <a:pt x="317694" y="169241"/>
                </a:lnTo>
                <a:lnTo>
                  <a:pt x="288436" y="170544"/>
                </a:lnTo>
                <a:lnTo>
                  <a:pt x="259179" y="169241"/>
                </a:lnTo>
                <a:lnTo>
                  <a:pt x="230153" y="165343"/>
                </a:lnTo>
                <a:lnTo>
                  <a:pt x="201588" y="158881"/>
                </a:lnTo>
                <a:lnTo>
                  <a:pt x="173711" y="149905"/>
                </a:lnTo>
                <a:lnTo>
                  <a:pt x="146742" y="138488"/>
                </a:lnTo>
                <a:lnTo>
                  <a:pt x="120895" y="124718"/>
                </a:lnTo>
                <a:lnTo>
                  <a:pt x="96373" y="108706"/>
                </a:lnTo>
                <a:lnTo>
                  <a:pt x="73372" y="90578"/>
                </a:lnTo>
                <a:lnTo>
                  <a:pt x="52073" y="70477"/>
                </a:lnTo>
                <a:lnTo>
                  <a:pt x="32645" y="48562"/>
                </a:lnTo>
                <a:lnTo>
                  <a:pt x="15241" y="25008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06356" y="3041760"/>
            <a:ext cx="40748" cy="158640"/>
          </a:xfrm>
          <a:custGeom>
            <a:avLst/>
            <a:gdLst/>
            <a:ahLst/>
            <a:cxnLst/>
            <a:rect l="l" t="t" r="r" b="b"/>
            <a:pathLst>
              <a:path w="40748" h="158640">
                <a:moveTo>
                  <a:pt x="0" y="0"/>
                </a:moveTo>
                <a:lnTo>
                  <a:pt x="3260" y="6078"/>
                </a:lnTo>
                <a:lnTo>
                  <a:pt x="6392" y="12222"/>
                </a:lnTo>
                <a:lnTo>
                  <a:pt x="9395" y="18431"/>
                </a:lnTo>
                <a:lnTo>
                  <a:pt x="12267" y="24702"/>
                </a:lnTo>
                <a:lnTo>
                  <a:pt x="15007" y="31031"/>
                </a:lnTo>
                <a:lnTo>
                  <a:pt x="17614" y="37416"/>
                </a:lnTo>
                <a:lnTo>
                  <a:pt x="20087" y="43854"/>
                </a:lnTo>
                <a:lnTo>
                  <a:pt x="22424" y="50343"/>
                </a:lnTo>
                <a:lnTo>
                  <a:pt x="24624" y="56880"/>
                </a:lnTo>
                <a:lnTo>
                  <a:pt x="26688" y="63461"/>
                </a:lnTo>
                <a:lnTo>
                  <a:pt x="28612" y="70083"/>
                </a:lnTo>
                <a:lnTo>
                  <a:pt x="30398" y="76745"/>
                </a:lnTo>
                <a:lnTo>
                  <a:pt x="32044" y="83443"/>
                </a:lnTo>
                <a:lnTo>
                  <a:pt x="33549" y="90173"/>
                </a:lnTo>
                <a:lnTo>
                  <a:pt x="34913" y="96934"/>
                </a:lnTo>
                <a:lnTo>
                  <a:pt x="36134" y="103722"/>
                </a:lnTo>
                <a:lnTo>
                  <a:pt x="37214" y="110534"/>
                </a:lnTo>
                <a:lnTo>
                  <a:pt x="38150" y="117367"/>
                </a:lnTo>
                <a:lnTo>
                  <a:pt x="38943" y="124218"/>
                </a:lnTo>
                <a:lnTo>
                  <a:pt x="39592" y="131084"/>
                </a:lnTo>
                <a:lnTo>
                  <a:pt x="40098" y="137963"/>
                </a:lnTo>
                <a:lnTo>
                  <a:pt x="40459" y="144850"/>
                </a:lnTo>
                <a:lnTo>
                  <a:pt x="40675" y="151743"/>
                </a:lnTo>
                <a:lnTo>
                  <a:pt x="40748" y="15864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17536" y="3041760"/>
            <a:ext cx="40748" cy="158640"/>
          </a:xfrm>
          <a:custGeom>
            <a:avLst/>
            <a:gdLst/>
            <a:ahLst/>
            <a:cxnLst/>
            <a:rect l="l" t="t" r="r" b="b"/>
            <a:pathLst>
              <a:path w="40748" h="158640">
                <a:moveTo>
                  <a:pt x="0" y="158640"/>
                </a:moveTo>
                <a:lnTo>
                  <a:pt x="72" y="151743"/>
                </a:lnTo>
                <a:lnTo>
                  <a:pt x="289" y="144850"/>
                </a:lnTo>
                <a:lnTo>
                  <a:pt x="650" y="137963"/>
                </a:lnTo>
                <a:lnTo>
                  <a:pt x="1155" y="131084"/>
                </a:lnTo>
                <a:lnTo>
                  <a:pt x="1805" y="124218"/>
                </a:lnTo>
                <a:lnTo>
                  <a:pt x="2598" y="117367"/>
                </a:lnTo>
                <a:lnTo>
                  <a:pt x="3534" y="110534"/>
                </a:lnTo>
                <a:lnTo>
                  <a:pt x="4613" y="103722"/>
                </a:lnTo>
                <a:lnTo>
                  <a:pt x="5835" y="96934"/>
                </a:lnTo>
                <a:lnTo>
                  <a:pt x="7199" y="90173"/>
                </a:lnTo>
                <a:lnTo>
                  <a:pt x="8704" y="83443"/>
                </a:lnTo>
                <a:lnTo>
                  <a:pt x="10350" y="76745"/>
                </a:lnTo>
                <a:lnTo>
                  <a:pt x="12135" y="70083"/>
                </a:lnTo>
                <a:lnTo>
                  <a:pt x="14060" y="63461"/>
                </a:lnTo>
                <a:lnTo>
                  <a:pt x="16123" y="56880"/>
                </a:lnTo>
                <a:lnTo>
                  <a:pt x="18324" y="50343"/>
                </a:lnTo>
                <a:lnTo>
                  <a:pt x="20661" y="43854"/>
                </a:lnTo>
                <a:lnTo>
                  <a:pt x="23134" y="37416"/>
                </a:lnTo>
                <a:lnTo>
                  <a:pt x="25740" y="31031"/>
                </a:lnTo>
                <a:lnTo>
                  <a:pt x="28480" y="24702"/>
                </a:lnTo>
                <a:lnTo>
                  <a:pt x="31353" y="18431"/>
                </a:lnTo>
                <a:lnTo>
                  <a:pt x="34355" y="12222"/>
                </a:lnTo>
                <a:lnTo>
                  <a:pt x="37487" y="6078"/>
                </a:lnTo>
                <a:lnTo>
                  <a:pt x="40748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C058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26517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1546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31546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456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One angle &gt; 90°, two sides equal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State the Rules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angle: acute (every angle less than 90°), right (exactly one 90° angle), or obtuse (exactly one angle greater than 90°).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side: equilateral (all three sides equal), isosceles (at least two sides equal), or scalene (no sides equal).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</a:rPr>
              <a:t>Scalene Triangle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with no equal sides.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44"/>
                </a:solidFill>
              </a:rPr>
              <a:t>Isosceles Triangle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4904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with at least two equal sides.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986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6E10"/>
                </a:solidFill>
              </a:rPr>
              <a:t>Equilateral Triangle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with all three sides equal.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986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818"/>
                </a:solidFill>
              </a:rPr>
              <a:t>Right Triangle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3192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with exactly one 90° angle.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Classify by Sides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80160" y="2468880"/>
            <a:ext cx="2194560" cy="822960"/>
          </a:xfrm>
          <a:custGeom>
            <a:avLst/>
            <a:gdLst/>
            <a:ahLst/>
            <a:cxnLst/>
            <a:rect l="l" t="t" r="r" b="b"/>
            <a:pathLst>
              <a:path w="2194560" h="822960">
                <a:moveTo>
                  <a:pt x="1097280" y="0"/>
                </a:moveTo>
                <a:lnTo>
                  <a:pt x="0" y="822960"/>
                </a:lnTo>
                <a:lnTo>
                  <a:pt x="2194560" y="82296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14093" y="2666390"/>
            <a:ext cx="526694" cy="131674"/>
          </a:xfrm>
          <a:custGeom>
            <a:avLst/>
            <a:gdLst/>
            <a:ahLst/>
            <a:cxnLst/>
            <a:rect l="l" t="t" r="r" b="b"/>
            <a:pathLst>
              <a:path w="526694" h="131674">
                <a:moveTo>
                  <a:pt x="526694" y="0"/>
                </a:moveTo>
                <a:lnTo>
                  <a:pt x="510661" y="19740"/>
                </a:lnTo>
                <a:lnTo>
                  <a:pt x="493152" y="38184"/>
                </a:lnTo>
                <a:lnTo>
                  <a:pt x="474271" y="55221"/>
                </a:lnTo>
                <a:lnTo>
                  <a:pt x="454131" y="70750"/>
                </a:lnTo>
                <a:lnTo>
                  <a:pt x="432853" y="84677"/>
                </a:lnTo>
                <a:lnTo>
                  <a:pt x="410563" y="96921"/>
                </a:lnTo>
                <a:lnTo>
                  <a:pt x="387394" y="107407"/>
                </a:lnTo>
                <a:lnTo>
                  <a:pt x="363485" y="116073"/>
                </a:lnTo>
                <a:lnTo>
                  <a:pt x="338978" y="122868"/>
                </a:lnTo>
                <a:lnTo>
                  <a:pt x="314020" y="127750"/>
                </a:lnTo>
                <a:lnTo>
                  <a:pt x="288759" y="130691"/>
                </a:lnTo>
                <a:lnTo>
                  <a:pt x="263347" y="131674"/>
                </a:lnTo>
                <a:lnTo>
                  <a:pt x="237935" y="130691"/>
                </a:lnTo>
                <a:lnTo>
                  <a:pt x="212674" y="127750"/>
                </a:lnTo>
                <a:lnTo>
                  <a:pt x="187716" y="122868"/>
                </a:lnTo>
                <a:lnTo>
                  <a:pt x="163209" y="116073"/>
                </a:lnTo>
                <a:lnTo>
                  <a:pt x="139300" y="107407"/>
                </a:lnTo>
                <a:lnTo>
                  <a:pt x="116132" y="96921"/>
                </a:lnTo>
                <a:lnTo>
                  <a:pt x="93842" y="84677"/>
                </a:lnTo>
                <a:lnTo>
                  <a:pt x="72563" y="70750"/>
                </a:lnTo>
                <a:lnTo>
                  <a:pt x="52423" y="55221"/>
                </a:lnTo>
                <a:lnTo>
                  <a:pt x="33543" y="38184"/>
                </a:lnTo>
                <a:lnTo>
                  <a:pt x="16033" y="1974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507" y="3094330"/>
            <a:ext cx="65837" cy="197510"/>
          </a:xfrm>
          <a:custGeom>
            <a:avLst/>
            <a:gdLst/>
            <a:ahLst/>
            <a:cxnLst/>
            <a:rect l="l" t="t" r="r" b="b"/>
            <a:pathLst>
              <a:path w="65837" h="197510">
                <a:moveTo>
                  <a:pt x="0" y="0"/>
                </a:moveTo>
                <a:lnTo>
                  <a:pt x="5200" y="7131"/>
                </a:lnTo>
                <a:lnTo>
                  <a:pt x="10208" y="14399"/>
                </a:lnTo>
                <a:lnTo>
                  <a:pt x="15019" y="21799"/>
                </a:lnTo>
                <a:lnTo>
                  <a:pt x="19629" y="29325"/>
                </a:lnTo>
                <a:lnTo>
                  <a:pt x="24037" y="36972"/>
                </a:lnTo>
                <a:lnTo>
                  <a:pt x="28237" y="44734"/>
                </a:lnTo>
                <a:lnTo>
                  <a:pt x="32228" y="52606"/>
                </a:lnTo>
                <a:lnTo>
                  <a:pt x="36007" y="60582"/>
                </a:lnTo>
                <a:lnTo>
                  <a:pt x="39570" y="68657"/>
                </a:lnTo>
                <a:lnTo>
                  <a:pt x="42916" y="76824"/>
                </a:lnTo>
                <a:lnTo>
                  <a:pt x="46041" y="85078"/>
                </a:lnTo>
                <a:lnTo>
                  <a:pt x="48944" y="93413"/>
                </a:lnTo>
                <a:lnTo>
                  <a:pt x="51623" y="101823"/>
                </a:lnTo>
                <a:lnTo>
                  <a:pt x="54075" y="110302"/>
                </a:lnTo>
                <a:lnTo>
                  <a:pt x="56299" y="118843"/>
                </a:lnTo>
                <a:lnTo>
                  <a:pt x="58293" y="127441"/>
                </a:lnTo>
                <a:lnTo>
                  <a:pt x="60056" y="136089"/>
                </a:lnTo>
                <a:lnTo>
                  <a:pt x="61586" y="144781"/>
                </a:lnTo>
                <a:lnTo>
                  <a:pt x="62883" y="153511"/>
                </a:lnTo>
                <a:lnTo>
                  <a:pt x="63945" y="162273"/>
                </a:lnTo>
                <a:lnTo>
                  <a:pt x="64772" y="171060"/>
                </a:lnTo>
                <a:lnTo>
                  <a:pt x="65364" y="179866"/>
                </a:lnTo>
                <a:lnTo>
                  <a:pt x="65718" y="188685"/>
                </a:lnTo>
                <a:lnTo>
                  <a:pt x="65837" y="19751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5536" y="3094330"/>
            <a:ext cx="65837" cy="197510"/>
          </a:xfrm>
          <a:custGeom>
            <a:avLst/>
            <a:gdLst/>
            <a:ahLst/>
            <a:cxnLst/>
            <a:rect l="l" t="t" r="r" b="b"/>
            <a:pathLst>
              <a:path w="65837" h="197510">
                <a:moveTo>
                  <a:pt x="0" y="197510"/>
                </a:moveTo>
                <a:lnTo>
                  <a:pt x="118" y="188685"/>
                </a:lnTo>
                <a:lnTo>
                  <a:pt x="473" y="179866"/>
                </a:lnTo>
                <a:lnTo>
                  <a:pt x="1064" y="171060"/>
                </a:lnTo>
                <a:lnTo>
                  <a:pt x="1891" y="162273"/>
                </a:lnTo>
                <a:lnTo>
                  <a:pt x="2954" y="153511"/>
                </a:lnTo>
                <a:lnTo>
                  <a:pt x="4251" y="144781"/>
                </a:lnTo>
                <a:lnTo>
                  <a:pt x="5781" y="136089"/>
                </a:lnTo>
                <a:lnTo>
                  <a:pt x="7544" y="127441"/>
                </a:lnTo>
                <a:lnTo>
                  <a:pt x="9538" y="118843"/>
                </a:lnTo>
                <a:lnTo>
                  <a:pt x="11762" y="110302"/>
                </a:lnTo>
                <a:lnTo>
                  <a:pt x="14214" y="101823"/>
                </a:lnTo>
                <a:lnTo>
                  <a:pt x="16893" y="93413"/>
                </a:lnTo>
                <a:lnTo>
                  <a:pt x="19796" y="85078"/>
                </a:lnTo>
                <a:lnTo>
                  <a:pt x="22921" y="76824"/>
                </a:lnTo>
                <a:lnTo>
                  <a:pt x="26267" y="68657"/>
                </a:lnTo>
                <a:lnTo>
                  <a:pt x="29830" y="60582"/>
                </a:lnTo>
                <a:lnTo>
                  <a:pt x="33609" y="52606"/>
                </a:lnTo>
                <a:lnTo>
                  <a:pt x="37600" y="44734"/>
                </a:lnTo>
                <a:lnTo>
                  <a:pt x="41800" y="36972"/>
                </a:lnTo>
                <a:lnTo>
                  <a:pt x="46207" y="29325"/>
                </a:lnTo>
                <a:lnTo>
                  <a:pt x="50818" y="21799"/>
                </a:lnTo>
                <a:lnTo>
                  <a:pt x="55629" y="14399"/>
                </a:lnTo>
                <a:lnTo>
                  <a:pt x="60636" y="7131"/>
                </a:lnTo>
                <a:lnTo>
                  <a:pt x="65837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9751" y="26766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5 cm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8 cm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89289" y="26766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5 cm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31720" y="24231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2461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has side lengths of 5 cm, 5 cm, and 8 cm. Classify it by its sides.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Compare the three side lengths — 5 cm, 8 cm, 5 cm.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Two sides match (5 cm and 5 cm).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triangle is isosceles — exactly two sides are equal.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Classify by Angles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2231136"/>
            <a:ext cx="1188720" cy="1700784"/>
          </a:xfrm>
          <a:custGeom>
            <a:avLst/>
            <a:gdLst/>
            <a:ahLst/>
            <a:cxnLst/>
            <a:rect l="l" t="t" r="r" b="b"/>
            <a:pathLst>
              <a:path w="1188720" h="1700784">
                <a:moveTo>
                  <a:pt x="0" y="1700784"/>
                </a:moveTo>
                <a:lnTo>
                  <a:pt x="1188720" y="1700784"/>
                </a:lnTo>
                <a:lnTo>
                  <a:pt x="0" y="0"/>
                </a:lnTo>
                <a:close/>
              </a:path>
            </a:pathLst>
          </a:custGeom>
          <a:solidFill>
            <a:srgbClr val="E6F2EA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602736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0" y="0"/>
                </a:moveTo>
                <a:lnTo>
                  <a:pt x="21530" y="705"/>
                </a:lnTo>
                <a:lnTo>
                  <a:pt x="42967" y="2816"/>
                </a:lnTo>
                <a:lnTo>
                  <a:pt x="64221" y="6325"/>
                </a:lnTo>
                <a:lnTo>
                  <a:pt x="85199" y="11217"/>
                </a:lnTo>
                <a:lnTo>
                  <a:pt x="105813" y="17470"/>
                </a:lnTo>
                <a:lnTo>
                  <a:pt x="125973" y="25058"/>
                </a:lnTo>
                <a:lnTo>
                  <a:pt x="145594" y="33948"/>
                </a:lnTo>
                <a:lnTo>
                  <a:pt x="164592" y="44102"/>
                </a:lnTo>
                <a:lnTo>
                  <a:pt x="182885" y="55478"/>
                </a:lnTo>
                <a:lnTo>
                  <a:pt x="200395" y="68025"/>
                </a:lnTo>
                <a:lnTo>
                  <a:pt x="217046" y="81690"/>
                </a:lnTo>
                <a:lnTo>
                  <a:pt x="232768" y="96416"/>
                </a:lnTo>
                <a:lnTo>
                  <a:pt x="247494" y="112138"/>
                </a:lnTo>
                <a:lnTo>
                  <a:pt x="261159" y="128789"/>
                </a:lnTo>
                <a:lnTo>
                  <a:pt x="273706" y="146299"/>
                </a:lnTo>
                <a:lnTo>
                  <a:pt x="285082" y="164592"/>
                </a:lnTo>
                <a:lnTo>
                  <a:pt x="295236" y="183590"/>
                </a:lnTo>
                <a:lnTo>
                  <a:pt x="304126" y="203211"/>
                </a:lnTo>
                <a:lnTo>
                  <a:pt x="311714" y="223371"/>
                </a:lnTo>
                <a:lnTo>
                  <a:pt x="317967" y="243985"/>
                </a:lnTo>
                <a:lnTo>
                  <a:pt x="322859" y="264963"/>
                </a:lnTo>
                <a:lnTo>
                  <a:pt x="326368" y="286217"/>
                </a:lnTo>
                <a:lnTo>
                  <a:pt x="328479" y="307654"/>
                </a:lnTo>
                <a:lnTo>
                  <a:pt x="329184" y="32918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1405" y="333301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90°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54096" y="3662106"/>
            <a:ext cx="140604" cy="269814"/>
          </a:xfrm>
          <a:custGeom>
            <a:avLst/>
            <a:gdLst/>
            <a:ahLst/>
            <a:cxnLst/>
            <a:rect l="l" t="t" r="r" b="b"/>
            <a:pathLst>
              <a:path w="140604" h="269814">
                <a:moveTo>
                  <a:pt x="0" y="269814"/>
                </a:moveTo>
                <a:lnTo>
                  <a:pt x="264" y="256640"/>
                </a:lnTo>
                <a:lnTo>
                  <a:pt x="1055" y="243486"/>
                </a:lnTo>
                <a:lnTo>
                  <a:pt x="2371" y="230375"/>
                </a:lnTo>
                <a:lnTo>
                  <a:pt x="4212" y="217326"/>
                </a:lnTo>
                <a:lnTo>
                  <a:pt x="6573" y="204362"/>
                </a:lnTo>
                <a:lnTo>
                  <a:pt x="9451" y="191503"/>
                </a:lnTo>
                <a:lnTo>
                  <a:pt x="12841" y="178769"/>
                </a:lnTo>
                <a:lnTo>
                  <a:pt x="16738" y="166181"/>
                </a:lnTo>
                <a:lnTo>
                  <a:pt x="21136" y="153760"/>
                </a:lnTo>
                <a:lnTo>
                  <a:pt x="26028" y="141524"/>
                </a:lnTo>
                <a:lnTo>
                  <a:pt x="31405" y="129494"/>
                </a:lnTo>
                <a:lnTo>
                  <a:pt x="37260" y="117688"/>
                </a:lnTo>
                <a:lnTo>
                  <a:pt x="43582" y="106127"/>
                </a:lnTo>
                <a:lnTo>
                  <a:pt x="50362" y="94827"/>
                </a:lnTo>
                <a:lnTo>
                  <a:pt x="57589" y="83808"/>
                </a:lnTo>
                <a:lnTo>
                  <a:pt x="65251" y="73088"/>
                </a:lnTo>
                <a:lnTo>
                  <a:pt x="73336" y="62682"/>
                </a:lnTo>
                <a:lnTo>
                  <a:pt x="81831" y="52608"/>
                </a:lnTo>
                <a:lnTo>
                  <a:pt x="90722" y="42883"/>
                </a:lnTo>
                <a:lnTo>
                  <a:pt x="99995" y="33521"/>
                </a:lnTo>
                <a:lnTo>
                  <a:pt x="109636" y="24537"/>
                </a:lnTo>
                <a:lnTo>
                  <a:pt x="119628" y="15947"/>
                </a:lnTo>
                <a:lnTo>
                  <a:pt x="129957" y="7764"/>
                </a:lnTo>
                <a:lnTo>
                  <a:pt x="140604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9889" y="3489815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55°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2500950"/>
            <a:ext cx="188580" cy="59370"/>
          </a:xfrm>
          <a:custGeom>
            <a:avLst/>
            <a:gdLst/>
            <a:ahLst/>
            <a:cxnLst/>
            <a:rect l="l" t="t" r="r" b="b"/>
            <a:pathLst>
              <a:path w="188580" h="59370">
                <a:moveTo>
                  <a:pt x="188580" y="0"/>
                </a:moveTo>
                <a:lnTo>
                  <a:pt x="181662" y="4705"/>
                </a:lnTo>
                <a:lnTo>
                  <a:pt x="174627" y="9234"/>
                </a:lnTo>
                <a:lnTo>
                  <a:pt x="167478" y="13581"/>
                </a:lnTo>
                <a:lnTo>
                  <a:pt x="160222" y="17746"/>
                </a:lnTo>
                <a:lnTo>
                  <a:pt x="152862" y="21725"/>
                </a:lnTo>
                <a:lnTo>
                  <a:pt x="145404" y="25516"/>
                </a:lnTo>
                <a:lnTo>
                  <a:pt x="137851" y="29116"/>
                </a:lnTo>
                <a:lnTo>
                  <a:pt x="130210" y="32523"/>
                </a:lnTo>
                <a:lnTo>
                  <a:pt x="122484" y="35734"/>
                </a:lnTo>
                <a:lnTo>
                  <a:pt x="114679" y="38748"/>
                </a:lnTo>
                <a:lnTo>
                  <a:pt x="106800" y="41563"/>
                </a:lnTo>
                <a:lnTo>
                  <a:pt x="98852" y="44177"/>
                </a:lnTo>
                <a:lnTo>
                  <a:pt x="90841" y="46588"/>
                </a:lnTo>
                <a:lnTo>
                  <a:pt x="82770" y="48794"/>
                </a:lnTo>
                <a:lnTo>
                  <a:pt x="74646" y="50795"/>
                </a:lnTo>
                <a:lnTo>
                  <a:pt x="66474" y="52588"/>
                </a:lnTo>
                <a:lnTo>
                  <a:pt x="58259" y="54173"/>
                </a:lnTo>
                <a:lnTo>
                  <a:pt x="50007" y="55549"/>
                </a:lnTo>
                <a:lnTo>
                  <a:pt x="41722" y="56715"/>
                </a:lnTo>
                <a:lnTo>
                  <a:pt x="33410" y="57670"/>
                </a:lnTo>
                <a:lnTo>
                  <a:pt x="25076" y="58413"/>
                </a:lnTo>
                <a:lnTo>
                  <a:pt x="16726" y="58945"/>
                </a:lnTo>
                <a:lnTo>
                  <a:pt x="8366" y="59263"/>
                </a:lnTo>
                <a:lnTo>
                  <a:pt x="0" y="5937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1013" y="269537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35°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3886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3886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2185416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has angles of 35°, 90°, and 55°. Classify it by its angles.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Read the three angle measures — 35°, 90°, 55°.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One angle is exactly 90°.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triangle is a right triangle.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Double Classification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2506370"/>
            <a:ext cx="1645920" cy="1425550"/>
          </a:xfrm>
          <a:custGeom>
            <a:avLst/>
            <a:gdLst/>
            <a:ahLst/>
            <a:cxnLst/>
            <a:rect l="l" t="t" r="r" b="b"/>
            <a:pathLst>
              <a:path w="1645920" h="1425550">
                <a:moveTo>
                  <a:pt x="822960" y="0"/>
                </a:moveTo>
                <a:lnTo>
                  <a:pt x="0" y="1425550"/>
                </a:lnTo>
                <a:lnTo>
                  <a:pt x="1645920" y="1425550"/>
                </a:lnTo>
                <a:close/>
              </a:path>
            </a:pathLst>
          </a:custGeom>
          <a:solidFill>
            <a:srgbClr val="FEF6E4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2860" y="2791459"/>
            <a:ext cx="329160" cy="44095"/>
          </a:xfrm>
          <a:custGeom>
            <a:avLst/>
            <a:gdLst/>
            <a:ahLst/>
            <a:cxnLst/>
            <a:rect l="l" t="t" r="r" b="b"/>
            <a:pathLst>
              <a:path w="329160" h="44095">
                <a:moveTo>
                  <a:pt x="329160" y="0"/>
                </a:moveTo>
                <a:lnTo>
                  <a:pt x="316569" y="6907"/>
                </a:lnTo>
                <a:lnTo>
                  <a:pt x="303688" y="13258"/>
                </a:lnTo>
                <a:lnTo>
                  <a:pt x="290543" y="19042"/>
                </a:lnTo>
                <a:lnTo>
                  <a:pt x="277159" y="24246"/>
                </a:lnTo>
                <a:lnTo>
                  <a:pt x="263559" y="28862"/>
                </a:lnTo>
                <a:lnTo>
                  <a:pt x="249772" y="32880"/>
                </a:lnTo>
                <a:lnTo>
                  <a:pt x="235823" y="36294"/>
                </a:lnTo>
                <a:lnTo>
                  <a:pt x="221737" y="39095"/>
                </a:lnTo>
                <a:lnTo>
                  <a:pt x="207543" y="41279"/>
                </a:lnTo>
                <a:lnTo>
                  <a:pt x="193268" y="42843"/>
                </a:lnTo>
                <a:lnTo>
                  <a:pt x="178937" y="43782"/>
                </a:lnTo>
                <a:lnTo>
                  <a:pt x="164580" y="44095"/>
                </a:lnTo>
                <a:lnTo>
                  <a:pt x="150222" y="43782"/>
                </a:lnTo>
                <a:lnTo>
                  <a:pt x="135892" y="42843"/>
                </a:lnTo>
                <a:lnTo>
                  <a:pt x="121616" y="41279"/>
                </a:lnTo>
                <a:lnTo>
                  <a:pt x="107422" y="39095"/>
                </a:lnTo>
                <a:lnTo>
                  <a:pt x="93337" y="36294"/>
                </a:lnTo>
                <a:lnTo>
                  <a:pt x="79388" y="32880"/>
                </a:lnTo>
                <a:lnTo>
                  <a:pt x="65600" y="28862"/>
                </a:lnTo>
                <a:lnTo>
                  <a:pt x="52001" y="24246"/>
                </a:lnTo>
                <a:lnTo>
                  <a:pt x="38616" y="19042"/>
                </a:lnTo>
                <a:lnTo>
                  <a:pt x="25471" y="13258"/>
                </a:lnTo>
                <a:lnTo>
                  <a:pt x="12591" y="6907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A66E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00014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6E10"/>
                </a:solidFill>
              </a:rPr>
              <a:t>60°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19060" y="3646831"/>
            <a:ext cx="164604" cy="285089"/>
          </a:xfrm>
          <a:custGeom>
            <a:avLst/>
            <a:gdLst/>
            <a:ahLst/>
            <a:cxnLst/>
            <a:rect l="l" t="t" r="r" b="b"/>
            <a:pathLst>
              <a:path w="164604" h="285089">
                <a:moveTo>
                  <a:pt x="0" y="0"/>
                </a:moveTo>
                <a:lnTo>
                  <a:pt x="12279" y="7451"/>
                </a:lnTo>
                <a:lnTo>
                  <a:pt x="24222" y="15430"/>
                </a:lnTo>
                <a:lnTo>
                  <a:pt x="35805" y="23922"/>
                </a:lnTo>
                <a:lnTo>
                  <a:pt x="47007" y="32912"/>
                </a:lnTo>
                <a:lnTo>
                  <a:pt x="57805" y="42381"/>
                </a:lnTo>
                <a:lnTo>
                  <a:pt x="68181" y="52313"/>
                </a:lnTo>
                <a:lnTo>
                  <a:pt x="78113" y="62688"/>
                </a:lnTo>
                <a:lnTo>
                  <a:pt x="87584" y="73486"/>
                </a:lnTo>
                <a:lnTo>
                  <a:pt x="96574" y="84687"/>
                </a:lnTo>
                <a:lnTo>
                  <a:pt x="105067" y="96270"/>
                </a:lnTo>
                <a:lnTo>
                  <a:pt x="113047" y="108212"/>
                </a:lnTo>
                <a:lnTo>
                  <a:pt x="120498" y="120491"/>
                </a:lnTo>
                <a:lnTo>
                  <a:pt x="127407" y="133083"/>
                </a:lnTo>
                <a:lnTo>
                  <a:pt x="133760" y="145964"/>
                </a:lnTo>
                <a:lnTo>
                  <a:pt x="139545" y="159111"/>
                </a:lnTo>
                <a:lnTo>
                  <a:pt x="144750" y="172497"/>
                </a:lnTo>
                <a:lnTo>
                  <a:pt x="149367" y="186097"/>
                </a:lnTo>
                <a:lnTo>
                  <a:pt x="153387" y="199886"/>
                </a:lnTo>
                <a:lnTo>
                  <a:pt x="156801" y="213837"/>
                </a:lnTo>
                <a:lnTo>
                  <a:pt x="159603" y="227924"/>
                </a:lnTo>
                <a:lnTo>
                  <a:pt x="161788" y="242120"/>
                </a:lnTo>
                <a:lnTo>
                  <a:pt x="163351" y="256397"/>
                </a:lnTo>
                <a:lnTo>
                  <a:pt x="164291" y="270729"/>
                </a:lnTo>
                <a:lnTo>
                  <a:pt x="164604" y="285089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A66E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3039" y="34655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6E10"/>
                </a:solidFill>
              </a:rPr>
              <a:t>60°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71216" y="3646831"/>
            <a:ext cx="164604" cy="285089"/>
          </a:xfrm>
          <a:custGeom>
            <a:avLst/>
            <a:gdLst/>
            <a:ahLst/>
            <a:cxnLst/>
            <a:rect l="l" t="t" r="r" b="b"/>
            <a:pathLst>
              <a:path w="164604" h="285089">
                <a:moveTo>
                  <a:pt x="0" y="285089"/>
                </a:moveTo>
                <a:lnTo>
                  <a:pt x="313" y="270729"/>
                </a:lnTo>
                <a:lnTo>
                  <a:pt x="1253" y="256397"/>
                </a:lnTo>
                <a:lnTo>
                  <a:pt x="2816" y="242120"/>
                </a:lnTo>
                <a:lnTo>
                  <a:pt x="5001" y="227924"/>
                </a:lnTo>
                <a:lnTo>
                  <a:pt x="7804" y="213837"/>
                </a:lnTo>
                <a:lnTo>
                  <a:pt x="11218" y="199886"/>
                </a:lnTo>
                <a:lnTo>
                  <a:pt x="15237" y="186097"/>
                </a:lnTo>
                <a:lnTo>
                  <a:pt x="19854" y="172497"/>
                </a:lnTo>
                <a:lnTo>
                  <a:pt x="25060" y="159111"/>
                </a:lnTo>
                <a:lnTo>
                  <a:pt x="30844" y="145964"/>
                </a:lnTo>
                <a:lnTo>
                  <a:pt x="37197" y="133083"/>
                </a:lnTo>
                <a:lnTo>
                  <a:pt x="44106" y="120491"/>
                </a:lnTo>
                <a:lnTo>
                  <a:pt x="51557" y="108212"/>
                </a:lnTo>
                <a:lnTo>
                  <a:pt x="59537" y="96270"/>
                </a:lnTo>
                <a:lnTo>
                  <a:pt x="68030" y="84687"/>
                </a:lnTo>
                <a:lnTo>
                  <a:pt x="77020" y="73486"/>
                </a:lnTo>
                <a:lnTo>
                  <a:pt x="86491" y="62688"/>
                </a:lnTo>
                <a:lnTo>
                  <a:pt x="96423" y="52313"/>
                </a:lnTo>
                <a:lnTo>
                  <a:pt x="106799" y="42381"/>
                </a:lnTo>
                <a:lnTo>
                  <a:pt x="117598" y="32912"/>
                </a:lnTo>
                <a:lnTo>
                  <a:pt x="128799" y="23922"/>
                </a:lnTo>
                <a:lnTo>
                  <a:pt x="140382" y="15430"/>
                </a:lnTo>
                <a:lnTo>
                  <a:pt x="152325" y="7451"/>
                </a:lnTo>
                <a:lnTo>
                  <a:pt x="164604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A66E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0321" y="34655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6E10"/>
                </a:solidFill>
              </a:rPr>
              <a:t>60°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5478" y="294481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7 cm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7 cm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3562" y="294481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7 cm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246065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3886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3886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325880"/>
            <a:ext cx="393192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has angles of 60°, 60°, and 60°, and all sides are 7 cm. Classify it by both sides and angles.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24231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Sides: all three are 7 cm — equal — so it's equilateral.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Angles: all three are 60° — every angle is less than 90° — so it's also acute.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570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triangle is equilateral AND acute.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265176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0" y="1280160"/>
                </a:moveTo>
                <a:lnTo>
                  <a:pt x="1280160" y="1280160"/>
                </a:lnTo>
                <a:lnTo>
                  <a:pt x="0" y="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602736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0" y="0"/>
                </a:moveTo>
                <a:lnTo>
                  <a:pt x="21530" y="705"/>
                </a:lnTo>
                <a:lnTo>
                  <a:pt x="42967" y="2816"/>
                </a:lnTo>
                <a:lnTo>
                  <a:pt x="64221" y="6325"/>
                </a:lnTo>
                <a:lnTo>
                  <a:pt x="85199" y="11217"/>
                </a:lnTo>
                <a:lnTo>
                  <a:pt x="105813" y="17470"/>
                </a:lnTo>
                <a:lnTo>
                  <a:pt x="125973" y="25058"/>
                </a:lnTo>
                <a:lnTo>
                  <a:pt x="145594" y="33948"/>
                </a:lnTo>
                <a:lnTo>
                  <a:pt x="164592" y="44102"/>
                </a:lnTo>
                <a:lnTo>
                  <a:pt x="182885" y="55478"/>
                </a:lnTo>
                <a:lnTo>
                  <a:pt x="200395" y="68025"/>
                </a:lnTo>
                <a:lnTo>
                  <a:pt x="217046" y="81690"/>
                </a:lnTo>
                <a:lnTo>
                  <a:pt x="232768" y="96416"/>
                </a:lnTo>
                <a:lnTo>
                  <a:pt x="247494" y="112138"/>
                </a:lnTo>
                <a:lnTo>
                  <a:pt x="261159" y="128789"/>
                </a:lnTo>
                <a:lnTo>
                  <a:pt x="273706" y="146299"/>
                </a:lnTo>
                <a:lnTo>
                  <a:pt x="285082" y="164592"/>
                </a:lnTo>
                <a:lnTo>
                  <a:pt x="295236" y="183590"/>
                </a:lnTo>
                <a:lnTo>
                  <a:pt x="304126" y="203211"/>
                </a:lnTo>
                <a:lnTo>
                  <a:pt x="311714" y="223371"/>
                </a:lnTo>
                <a:lnTo>
                  <a:pt x="317967" y="243985"/>
                </a:lnTo>
                <a:lnTo>
                  <a:pt x="322859" y="264963"/>
                </a:lnTo>
                <a:lnTo>
                  <a:pt x="326368" y="286217"/>
                </a:lnTo>
                <a:lnTo>
                  <a:pt x="328479" y="307654"/>
                </a:lnTo>
                <a:lnTo>
                  <a:pt x="329184" y="32918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1405" y="333301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90°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3699152"/>
            <a:ext cx="96416" cy="232768"/>
          </a:xfrm>
          <a:custGeom>
            <a:avLst/>
            <a:gdLst/>
            <a:ahLst/>
            <a:cxnLst/>
            <a:rect l="l" t="t" r="r" b="b"/>
            <a:pathLst>
              <a:path w="96416" h="232768">
                <a:moveTo>
                  <a:pt x="0" y="232768"/>
                </a:moveTo>
                <a:lnTo>
                  <a:pt x="176" y="221998"/>
                </a:lnTo>
                <a:lnTo>
                  <a:pt x="705" y="211239"/>
                </a:lnTo>
                <a:lnTo>
                  <a:pt x="1585" y="200503"/>
                </a:lnTo>
                <a:lnTo>
                  <a:pt x="2816" y="189801"/>
                </a:lnTo>
                <a:lnTo>
                  <a:pt x="4397" y="179146"/>
                </a:lnTo>
                <a:lnTo>
                  <a:pt x="6325" y="168548"/>
                </a:lnTo>
                <a:lnTo>
                  <a:pt x="8599" y="158018"/>
                </a:lnTo>
                <a:lnTo>
                  <a:pt x="11217" y="147569"/>
                </a:lnTo>
                <a:lnTo>
                  <a:pt x="14175" y="137211"/>
                </a:lnTo>
                <a:lnTo>
                  <a:pt x="17470" y="126956"/>
                </a:lnTo>
                <a:lnTo>
                  <a:pt x="21099" y="116813"/>
                </a:lnTo>
                <a:lnTo>
                  <a:pt x="25058" y="106795"/>
                </a:lnTo>
                <a:lnTo>
                  <a:pt x="29342" y="96912"/>
                </a:lnTo>
                <a:lnTo>
                  <a:pt x="33948" y="87174"/>
                </a:lnTo>
                <a:lnTo>
                  <a:pt x="38870" y="77592"/>
                </a:lnTo>
                <a:lnTo>
                  <a:pt x="44102" y="68176"/>
                </a:lnTo>
                <a:lnTo>
                  <a:pt x="49640" y="58937"/>
                </a:lnTo>
                <a:lnTo>
                  <a:pt x="55478" y="49883"/>
                </a:lnTo>
                <a:lnTo>
                  <a:pt x="61608" y="41026"/>
                </a:lnTo>
                <a:lnTo>
                  <a:pt x="68025" y="32374"/>
                </a:lnTo>
                <a:lnTo>
                  <a:pt x="74721" y="23936"/>
                </a:lnTo>
                <a:lnTo>
                  <a:pt x="81690" y="15722"/>
                </a:lnTo>
                <a:lnTo>
                  <a:pt x="88924" y="7741"/>
                </a:lnTo>
                <a:lnTo>
                  <a:pt x="96416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7603" y="35406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45°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2884528"/>
            <a:ext cx="232768" cy="96416"/>
          </a:xfrm>
          <a:custGeom>
            <a:avLst/>
            <a:gdLst/>
            <a:ahLst/>
            <a:cxnLst/>
            <a:rect l="l" t="t" r="r" b="b"/>
            <a:pathLst>
              <a:path w="232768" h="96416">
                <a:moveTo>
                  <a:pt x="232768" y="0"/>
                </a:moveTo>
                <a:lnTo>
                  <a:pt x="225028" y="7491"/>
                </a:lnTo>
                <a:lnTo>
                  <a:pt x="217046" y="14725"/>
                </a:lnTo>
                <a:lnTo>
                  <a:pt x="208832" y="21694"/>
                </a:lnTo>
                <a:lnTo>
                  <a:pt x="200395" y="28391"/>
                </a:lnTo>
                <a:lnTo>
                  <a:pt x="191742" y="34808"/>
                </a:lnTo>
                <a:lnTo>
                  <a:pt x="182885" y="40938"/>
                </a:lnTo>
                <a:lnTo>
                  <a:pt x="173831" y="46776"/>
                </a:lnTo>
                <a:lnTo>
                  <a:pt x="164592" y="52313"/>
                </a:lnTo>
                <a:lnTo>
                  <a:pt x="155176" y="57546"/>
                </a:lnTo>
                <a:lnTo>
                  <a:pt x="145594" y="62468"/>
                </a:lnTo>
                <a:lnTo>
                  <a:pt x="135857" y="67074"/>
                </a:lnTo>
                <a:lnTo>
                  <a:pt x="125973" y="71358"/>
                </a:lnTo>
                <a:lnTo>
                  <a:pt x="115955" y="75317"/>
                </a:lnTo>
                <a:lnTo>
                  <a:pt x="105813" y="78946"/>
                </a:lnTo>
                <a:lnTo>
                  <a:pt x="95557" y="82241"/>
                </a:lnTo>
                <a:lnTo>
                  <a:pt x="85199" y="85199"/>
                </a:lnTo>
                <a:lnTo>
                  <a:pt x="74750" y="87816"/>
                </a:lnTo>
                <a:lnTo>
                  <a:pt x="64221" y="90091"/>
                </a:lnTo>
                <a:lnTo>
                  <a:pt x="53623" y="92019"/>
                </a:lnTo>
                <a:lnTo>
                  <a:pt x="42967" y="93600"/>
                </a:lnTo>
                <a:lnTo>
                  <a:pt x="32266" y="94831"/>
                </a:lnTo>
                <a:lnTo>
                  <a:pt x="21530" y="95711"/>
                </a:lnTo>
                <a:lnTo>
                  <a:pt x="10771" y="96240"/>
                </a:lnTo>
                <a:lnTo>
                  <a:pt x="0" y="96416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3748" y="3096813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45°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3886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3886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26060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says she drew a right isosceles triangle. Its two equal angles are each 45°.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2331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this triangle is possible by checking that all three angles sum to 180°.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80467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sum of the three angles, and whether the triangle is possible (yes or no)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Reasoning: Can a Triangle Be Both?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Extend the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drew a triangle and said it is both obtuse and equilateral. Is this possible?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it: every equilateral triangle has three 60° angles. Can an angle greater than 90° ever fit inside that?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yes or no, plus your reason using the word equilateral or obtuse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classify any triangle by its sides (scalene, isosceles, equilateral) and by its angles (acute, right, obtuse).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prove that every triangle's three angles always add up to exactly 180° — the same rule you just used to check Sophia's and Kai's triangles.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has side lengths of 6 in, 9 in, and 6 in. How should you classify it by its sides?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Scalene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Isosceles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Equilateral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4652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Right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choice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has side lengths of 6 in, 9 in, and 6 in. How should you classify it by its sides?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Scalene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Isosceles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Equilateral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4652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Right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Two sides match (6 in and 6 in) — exactly two equal sides means isosceles, even though the third side is different.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choice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counting matching side lengths tells me the side name right away — three matches means equilateral, two means isosceles, none means scalene.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 the angle name by hunting for exactly one 90° angle first. If I find one, I stop right there and call it a right triangle — no need to check the other two.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'obtuse' as a corner that leans way open, past a square corner, like a door pushed almost flat against the wall.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words matter here: isosceles only needs at least two equal sides, so an equilateral triangle is always isosceles too, since all three of its sides match.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5.11.03.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both Show What You Know checks if you haven't already.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tomorrow's lesson: Sum of Angles in a Triangle.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5.11.03 Classifying Triangles — Teacher Slides</dc:title>
  <dc:subject>PptxGenJS Presentation</dc:subject>
  <dc:creator>PptxGenJS</dc:creator>
  <cp:lastModifiedBy>PptxGenJS</cp:lastModifiedBy>
  <cp:revision>1</cp:revision>
  <dcterms:created xsi:type="dcterms:W3CDTF">2026-09-24T19:17:46Z</dcterms:created>
  <dcterms:modified xsi:type="dcterms:W3CDTF">2026-09-24T19:17:46Z</dcterms:modified>
</cp:coreProperties>
</file>