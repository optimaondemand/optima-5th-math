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 First (5 min): present 38 x 21. Collect a range of estimates before any exact work. This is a fluency warm-up, not a geometry problem -- it keeps mental-math muscles active while today's lesson builds a brand-new geometry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 First (5 min): present 38 x 21. Collect a range of estimates before any exact work. This is a fluency warm-up, not a geometry problem -- it keeps mental-math muscles active while today's lesson builds a brand-new geometry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798. Compare to the class's estimates -- whose was closest? Transition: 'Estimating got us close fast. Today we build an exact rule about triangles that works every single time -- no estimating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798. Compare to the class's estimates -- whose was closest? Transition: 'Estimating got us close fast. Today we build an exact rule about triangles that works every single time -- no estimating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(30 sec)
Name today's lesson: the sum of the angles in a triangle. Students have just finished classifying triangles by their angles (Lesson 3) -- today they discover the number those angles always add up to.
Transition: "Let's see what we're aiming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NOTE: the source HTML's Warm-Up and Objectives sections were stale copy-paste from an unrelated fractions/decimals lesson (fraction-benchmark warm-up questions and 'Build/Connect/Explain the decimal operation' objectives) -- this Goal slide and the Warm-Up slide were written fresh from this lesson's own real content (Essential Question, key idea quote, and Visual Proof section), not lifted from the HTML's broken sections.
Read the I Can statement aloud. Emphasize: this works for EVERY triangle, no matter its shape.
Transition: "Before we dig into triangles, let's warm up with what we already know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This reviews Lesson 3's triangle classification by angle (right, acute, obtuse) -- readiness for today, which is about the angle MEASURES themselves rather than just their category.
Anticipated: right triangle; acute triangle; obtuse triangle.
Common error: confusing 'acute triangle' (all three angles acute) with just having one acute angle -- every triangle has at least two acute angles.
Transition: "You can already classify triangles by their angles. Today we find out something true about the angles in EVERY triangle, no matter the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(1-2 min)
Frame the real-world stakes: builders, carpenters, and engineers rely on the triangle angle-sum rule constantly to check cuts and angles without measuring every corner.
Anticipated: mixed guesses -- some students will intuit that two known angles are enough.
Transition: "Let's find out exactly why two angles are always enough to find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Show a plain triangle with 3 colored corners (no measures given yet). Ask what students notice about the corners, then what they wonder about what would happen if the three corners were placed side by side on a straight line.
Anticipated notice: the corners are different sizes; together they look like they could fill a line.
Anticipated wonder: would they exactly reach 180°? Would it change for a different triangle?
Transition: "Let's physically move those three corners and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(4-5 min) -- THE KEY MOMENT OF THE LESSON
This is a physical, spatial demonstration, not a stated fact. Walk through it step by step: point to the top triangle's three colored corner angles (70°, 55°, 55°). Then point to the bottom row -- the SAME three colored wedges, physically rotated off the triangle and reassembled edge to edge along one straight baseline.
Emphasize: nothing about the angles changed size -- they were only rotated and moved into place.
Anticipated: 'a straight line' / '180 degrees.'
Common error: students think the angles somehow got 'stretched' to fit -- reinforce that a straight angle is always 180°, and these three corners happen to fill it exactly, every single time, for every triangle.
Transition: "Now let's see the same idea drawn as a diagram, with an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(3-4 min)
Same idea, now as a labeled diagram with an equation instead of physical wedges. Two angles are given (65°, 82°); the third is marked with a question mark.
Work the equation together: 65 + 82 = 147; 180 - 147 = 33.
Anticipated: 33°.
Common error: adding all three given numbers including 180, or forgetting to subtract from 180 at the end.
Transition: "Let's put that into words as a rule we can use for any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Name the rule in words -- no letter variables. Have 2-3 students paraphrase it out loud in their own words before moving on.
Common error: some students will want to write it as a formula with letters -- redirect to 'the two known angles' and 'the missing angle,' spelled out.
Transition: "Let's put a few precise words to today's new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card. Point to today's triangle diagram whenever a term applies -- e.g., point to one corner arc for 'interior angle,' point to the reassembled baseline for 'straight angle.'
Common error: students confuse 'angle sum' (a total) with 'straight angle' (a specific 180° angle) -- keep them visually anchored to different parts of the diagram.
Transition: "Now let's use these words while we solve a few problems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(3 min)
Work this step by step at the board: add the two known angles first (48 + 65 = 113), then subtract from 180 (180 - 113 = 67).
Anticipated: students who add all three first will land on 180 automatically once the missing angle is included -- use that as a built-in self-check.
Common error: subtracting each angle from 180 separately instead of adding them first.
Transition: "Now let's try a special case -- a triangle with a right angle already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Special case: one angle is already known to be 90° because it's a right triangle. Same rule applies -- add the two known angles (90 + 37), subtract from 180.
Anticipated: 53°.
Common error: forgetting that the right-angle mark means exactly 90° and treating it as an unknown.
Transition: "One more special case -- what if two of the angles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C (3-4 min) -- this closes a gap the Independent Practice tests directly.
Different operation this time: once the two equal base angles are found to share 140° together, DIVIDE by 2 instead of just subtracting.
Anticipated: 70° each.
Common error: stopping at 140° and forgetting each base angle only gets half; or dividing the wrong number by 2.
Transition: "Now it's your turn to try one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(3 min)
Students solve independently: 72 + 48 = 120; 180 - 120 = 60.
Give real think time before revealing. Cold-call 1-2 students to explain their steps out loud.
Anticipated: 60°, found by adding then subtracting from 180.
Common error: subtracting 72 and 48 from 180 one at a time correctly but then adding instead of leaving as the final answer -- double check the arithmetic order out loud.
Transition: "Let's look ahead to where this idea leads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Today's triangle angle-sum rule (180°) sets up Lesson 5 (classifying quadrilaterals) and Lessons 6-7 (finding the angle sum of a quadrilateral, which builds on today's idea).
Transition: "Let's check what you've got before we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Give real think time before revealing. This mirrors Guided Practice A's method exactly -- add the two known angles, subtract from 180.
Common error: choosing 115° (the sum of the two given angles, not the missing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Give real think time before revealing. This mirrors Guided Practice A's method exactly -- add the two known angles, subtract from 180.
Common error: choosing 115° (the sum of the two given angles, not the missing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DISMISSAL (1 min)
Remind students the Independent Practice includes a right-triangle case, an isosceles case, and an error-checking problem -- all covered today.
End of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Lesson 5.11.04 · Estimation Review</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38 × 21</a:t>
            </a:r>
            <a:endParaRPr lang="en-US" sz="48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Don't calculate exactly yet -- what's your best estimate?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Check the Estimate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Estimate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2560320" cy="2743200"/>
          </a:xfrm>
          <a:prstGeom prst="roundRect">
            <a:avLst>
              <a:gd name="adj" fmla="val 3571"/>
            </a:avLst>
          </a:prstGeom>
          <a:solidFill>
            <a:srgbClr val="FFFFFF"/>
          </a:solidFill>
          <a:ln w="6350">
            <a:solidFill>
              <a:srgbClr val="DDDDEE"/>
            </a:solidFill>
            <a:prstDash val="solid"/>
          </a:ln>
        </p:spPr>
      </p:sp>
      <p:sp>
        <p:nvSpPr>
          <p:cNvPr id="7" name="Text 5"/>
          <p:cNvSpPr/>
          <p:nvPr/>
        </p:nvSpPr>
        <p:spPr>
          <a:xfrm>
            <a:off x="5943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Round both numbers</a:t>
            </a:r>
            <a:endParaRPr lang="en-US" sz="1300" dirty="0"/>
          </a:p>
        </p:txBody>
      </p:sp>
      <p:sp>
        <p:nvSpPr>
          <p:cNvPr id="8" name="Shape 6"/>
          <p:cNvSpPr/>
          <p:nvPr/>
        </p:nvSpPr>
        <p:spPr>
          <a:xfrm>
            <a:off x="594360" y="1508760"/>
            <a:ext cx="2286000" cy="0"/>
          </a:xfrm>
          <a:prstGeom prst="line">
            <a:avLst/>
          </a:prstGeom>
          <a:noFill/>
          <a:ln w="6350">
            <a:solidFill>
              <a:srgbClr val="CCCCCC"/>
            </a:solidFill>
            <a:prstDash val="solid"/>
          </a:ln>
        </p:spPr>
      </p:sp>
      <p:sp>
        <p:nvSpPr>
          <p:cNvPr id="9" name="Text 7"/>
          <p:cNvSpPr/>
          <p:nvPr/>
        </p:nvSpPr>
        <p:spPr>
          <a:xfrm>
            <a:off x="6858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38 → 40</a:t>
            </a:r>
            <a:endParaRPr lang="en-US" sz="1200" dirty="0"/>
          </a:p>
        </p:txBody>
      </p:sp>
      <p:sp>
        <p:nvSpPr>
          <p:cNvPr id="10" name="Text 8"/>
          <p:cNvSpPr/>
          <p:nvPr/>
        </p:nvSpPr>
        <p:spPr>
          <a:xfrm>
            <a:off x="6858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21 → 20</a:t>
            </a:r>
            <a:endParaRPr lang="en-US" sz="1200" dirty="0"/>
          </a:p>
        </p:txBody>
      </p:sp>
      <p:sp>
        <p:nvSpPr>
          <p:cNvPr id="11" name="Text 9"/>
          <p:cNvSpPr/>
          <p:nvPr/>
        </p:nvSpPr>
        <p:spPr>
          <a:xfrm>
            <a:off x="6858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40 × 20 = 800</a:t>
            </a:r>
            <a:endParaRPr lang="en-US" sz="1200" dirty="0"/>
          </a:p>
        </p:txBody>
      </p:sp>
      <p:sp>
        <p:nvSpPr>
          <p:cNvPr id="12" name="Shape 10"/>
          <p:cNvSpPr/>
          <p:nvPr/>
        </p:nvSpPr>
        <p:spPr>
          <a:xfrm>
            <a:off x="3200400" y="960120"/>
            <a:ext cx="2560320" cy="2743200"/>
          </a:xfrm>
          <a:prstGeom prst="roundRect">
            <a:avLst>
              <a:gd name="adj" fmla="val 3571"/>
            </a:avLst>
          </a:prstGeom>
          <a:solidFill>
            <a:srgbClr val="FFFFFF"/>
          </a:solidFill>
          <a:ln w="6350">
            <a:solidFill>
              <a:srgbClr val="DDDDEE"/>
            </a:solidFill>
            <a:prstDash val="solid"/>
          </a:ln>
        </p:spPr>
      </p:sp>
      <p:sp>
        <p:nvSpPr>
          <p:cNvPr id="13" name="Text 11"/>
          <p:cNvSpPr/>
          <p:nvPr/>
        </p:nvSpPr>
        <p:spPr>
          <a:xfrm>
            <a:off x="33375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Use compatible numbers</a:t>
            </a:r>
            <a:endParaRPr lang="en-US" sz="1300" dirty="0"/>
          </a:p>
        </p:txBody>
      </p:sp>
      <p:sp>
        <p:nvSpPr>
          <p:cNvPr id="14" name="Shape 12"/>
          <p:cNvSpPr/>
          <p:nvPr/>
        </p:nvSpPr>
        <p:spPr>
          <a:xfrm>
            <a:off x="3337560" y="1508760"/>
            <a:ext cx="2286000" cy="0"/>
          </a:xfrm>
          <a:prstGeom prst="line">
            <a:avLst/>
          </a:prstGeom>
          <a:noFill/>
          <a:ln w="6350">
            <a:solidFill>
              <a:srgbClr val="CCCCCC"/>
            </a:solidFill>
            <a:prstDash val="solid"/>
          </a:ln>
        </p:spPr>
      </p:sp>
      <p:sp>
        <p:nvSpPr>
          <p:cNvPr id="15" name="Text 13"/>
          <p:cNvSpPr/>
          <p:nvPr/>
        </p:nvSpPr>
        <p:spPr>
          <a:xfrm>
            <a:off x="34290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38 × 21 is close to</a:t>
            </a:r>
            <a:endParaRPr lang="en-US" sz="1200" dirty="0"/>
          </a:p>
        </p:txBody>
      </p:sp>
      <p:sp>
        <p:nvSpPr>
          <p:cNvPr id="16" name="Text 14"/>
          <p:cNvSpPr/>
          <p:nvPr/>
        </p:nvSpPr>
        <p:spPr>
          <a:xfrm>
            <a:off x="34290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38 × 20</a:t>
            </a:r>
            <a:endParaRPr lang="en-US" sz="1200" dirty="0"/>
          </a:p>
        </p:txBody>
      </p:sp>
      <p:sp>
        <p:nvSpPr>
          <p:cNvPr id="17" name="Text 15"/>
          <p:cNvSpPr/>
          <p:nvPr/>
        </p:nvSpPr>
        <p:spPr>
          <a:xfrm>
            <a:off x="34290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38 × 20 = 760</a:t>
            </a:r>
            <a:endParaRPr lang="en-US" sz="1200" dirty="0"/>
          </a:p>
        </p:txBody>
      </p:sp>
      <p:sp>
        <p:nvSpPr>
          <p:cNvPr id="18" name="Shape 16"/>
          <p:cNvSpPr/>
          <p:nvPr/>
        </p:nvSpPr>
        <p:spPr>
          <a:xfrm>
            <a:off x="5943600" y="960120"/>
            <a:ext cx="2560320" cy="2743200"/>
          </a:xfrm>
          <a:prstGeom prst="roundRect">
            <a:avLst>
              <a:gd name="adj" fmla="val 3571"/>
            </a:avLst>
          </a:prstGeom>
          <a:solidFill>
            <a:srgbClr val="FFFFFF"/>
          </a:solidFill>
          <a:ln w="6350">
            <a:solidFill>
              <a:srgbClr val="DDDDEE"/>
            </a:solidFill>
            <a:prstDash val="solid"/>
          </a:ln>
        </p:spPr>
      </p:sp>
      <p:sp>
        <p:nvSpPr>
          <p:cNvPr id="19" name="Text 17"/>
          <p:cNvSpPr/>
          <p:nvPr/>
        </p:nvSpPr>
        <p:spPr>
          <a:xfrm>
            <a:off x="60807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Front-end estimate</a:t>
            </a:r>
            <a:endParaRPr lang="en-US" sz="1300" dirty="0"/>
          </a:p>
        </p:txBody>
      </p:sp>
      <p:sp>
        <p:nvSpPr>
          <p:cNvPr id="20" name="Shape 18"/>
          <p:cNvSpPr/>
          <p:nvPr/>
        </p:nvSpPr>
        <p:spPr>
          <a:xfrm>
            <a:off x="6080760" y="1508760"/>
            <a:ext cx="2286000" cy="0"/>
          </a:xfrm>
          <a:prstGeom prst="line">
            <a:avLst/>
          </a:prstGeom>
          <a:noFill/>
          <a:ln w="6350">
            <a:solidFill>
              <a:srgbClr val="CCCCCC"/>
            </a:solidFill>
            <a:prstDash val="solid"/>
          </a:ln>
        </p:spPr>
      </p:sp>
      <p:sp>
        <p:nvSpPr>
          <p:cNvPr id="21" name="Text 19"/>
          <p:cNvSpPr/>
          <p:nvPr/>
        </p:nvSpPr>
        <p:spPr>
          <a:xfrm>
            <a:off x="61722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30 × 20 = 600</a:t>
            </a:r>
            <a:endParaRPr lang="en-US" sz="1200" dirty="0"/>
          </a:p>
        </p:txBody>
      </p:sp>
      <p:sp>
        <p:nvSpPr>
          <p:cNvPr id="22" name="Text 20"/>
          <p:cNvSpPr/>
          <p:nvPr/>
        </p:nvSpPr>
        <p:spPr>
          <a:xfrm>
            <a:off x="61722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plus a bit more</a:t>
            </a:r>
            <a:endParaRPr lang="en-US" sz="1200" dirty="0"/>
          </a:p>
        </p:txBody>
      </p:sp>
      <p:sp>
        <p:nvSpPr>
          <p:cNvPr id="23" name="Text 21"/>
          <p:cNvSpPr/>
          <p:nvPr/>
        </p:nvSpPr>
        <p:spPr>
          <a:xfrm>
            <a:off x="61722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estimate a little above 600</a:t>
            </a:r>
            <a:endParaRPr lang="en-US" sz="1200" dirty="0"/>
          </a:p>
        </p:txBody>
      </p:sp>
      <p:sp>
        <p:nvSpPr>
          <p:cNvPr id="24" name="Shape 22"/>
          <p:cNvSpPr/>
          <p:nvPr/>
        </p:nvSpPr>
        <p:spPr>
          <a:xfrm>
            <a:off x="457200" y="3794760"/>
            <a:ext cx="8229600" cy="457200"/>
          </a:xfrm>
          <a:prstGeom prst="roundRect">
            <a:avLst>
              <a:gd name="adj" fmla="val 16000"/>
            </a:avLst>
          </a:prstGeom>
          <a:solidFill>
            <a:srgbClr val="2E6E44"/>
          </a:solidFill>
          <a:ln w="12700">
            <a:solidFill>
              <a:srgbClr val="2E6E44"/>
            </a:solidFill>
            <a:prstDash val="solid"/>
          </a:ln>
        </p:spPr>
      </p:sp>
      <p:sp>
        <p:nvSpPr>
          <p:cNvPr id="25" name="Text 23"/>
          <p:cNvSpPr/>
          <p:nvPr/>
        </p:nvSpPr>
        <p:spPr>
          <a:xfrm>
            <a:off x="457200" y="3794760"/>
            <a:ext cx="8229600" cy="457200"/>
          </a:xfrm>
          <a:prstGeom prst="rect">
            <a:avLst/>
          </a:prstGeom>
          <a:noFill/>
          <a:ln/>
        </p:spPr>
        <p:txBody>
          <a:bodyPr wrap="square" lIns="0" tIns="0" rIns="0" bIns="0" rtlCol="0" anchor="ctr"/>
          <a:lstStyle/>
          <a:p>
            <a:pPr algn="ctr" indent="0" marL="0">
              <a:buNone/>
            </a:pPr>
            <a:r>
              <a:rPr lang="en-US" sz="1400" b="1" dirty="0">
                <a:solidFill>
                  <a:srgbClr val="FFFFFF"/>
                </a:solidFill>
              </a:rPr>
              <a:t>Exact answer: 798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600200"/>
            <a:ext cx="8229600" cy="1828800"/>
          </a:xfrm>
          <a:prstGeom prst="rect">
            <a:avLst/>
          </a:prstGeom>
          <a:noFill/>
          <a:ln/>
        </p:spPr>
        <p:txBody>
          <a:bodyPr wrap="square" lIns="0" tIns="0" rIns="0" bIns="0" rtlCol="0" anchor="ctr"/>
          <a:lstStyle/>
          <a:p>
            <a:pPr indent="0" marL="0">
              <a:buNone/>
            </a:pPr>
            <a:endParaRPr lang="en-US" sz="2200" dirty="0"/>
          </a:p>
        </p:txBody>
      </p:sp>
      <p:sp>
        <p:nvSpPr>
          <p:cNvPr id="8" name="Shape 6"/>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52 × 19</a:t>
            </a:r>
            <a:endParaRPr lang="en-US" sz="4000" dirty="0"/>
          </a:p>
        </p:txBody>
      </p:sp>
      <p:sp>
        <p:nvSpPr>
          <p:cNvPr id="8" name="Shape 6"/>
          <p:cNvSpPr/>
          <p:nvPr/>
        </p:nvSpPr>
        <p:spPr>
          <a:xfrm>
            <a:off x="1828800" y="379476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7947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estimate + exact answer</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988 — close to the estimate of 50 × 20 = 1,000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5.11.04</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Sum of the Angles in a Triangle</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11: Geometry · Lesson 4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MA.5.GR.1.1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find a missing angle in a triangle when I know the other two, because the three angles always add up to 180 degrees.</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“Every triangle has three angles that fit together into a straight line.”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3200400"/>
          </a:xfrm>
          <a:prstGeom prst="roundRect">
            <a:avLst>
              <a:gd name="adj" fmla="val 2857"/>
            </a:avLst>
          </a:prstGeom>
          <a:solidFill>
            <a:srgbClr val="FFFFFF"/>
          </a:solidFill>
          <a:ln w="6350">
            <a:solidFill>
              <a:srgbClr val="DDDDEE"/>
            </a:solidFill>
            <a:prstDash val="solid"/>
          </a:ln>
        </p:spPr>
      </p:sp>
      <p:sp>
        <p:nvSpPr>
          <p:cNvPr id="7" name="Text 5"/>
          <p:cNvSpPr/>
          <p:nvPr/>
        </p:nvSpPr>
        <p:spPr>
          <a:xfrm>
            <a:off x="685800" y="1097280"/>
            <a:ext cx="7772400" cy="365760"/>
          </a:xfrm>
          <a:prstGeom prst="rect">
            <a:avLst/>
          </a:prstGeom>
          <a:noFill/>
          <a:ln/>
        </p:spPr>
        <p:txBody>
          <a:bodyPr wrap="square" lIns="0" tIns="0" rIns="0" bIns="0" rtlCol="0" anchor="ctr"/>
          <a:lstStyle/>
          <a:p>
            <a:pPr indent="0" marL="0">
              <a:buNone/>
            </a:pPr>
            <a:r>
              <a:rPr lang="en-US" sz="1500" b="1" dirty="0">
                <a:solidFill>
                  <a:srgbClr val="4A3D8F"/>
                </a:solidFill>
              </a:rPr>
              <a:t>Quick Review: Classifying Triangles</a:t>
            </a:r>
            <a:endParaRPr lang="en-US" sz="1500" dirty="0"/>
          </a:p>
        </p:txBody>
      </p:sp>
      <p:sp>
        <p:nvSpPr>
          <p:cNvPr id="8" name="Text 6"/>
          <p:cNvSpPr/>
          <p:nvPr/>
        </p:nvSpPr>
        <p:spPr>
          <a:xfrm>
            <a:off x="822960" y="160020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A triangle has one angle that measures 90°. What kind of triangle is it?</a:t>
            </a:r>
            <a:endParaRPr lang="en-US" sz="1400" dirty="0"/>
          </a:p>
        </p:txBody>
      </p:sp>
      <p:sp>
        <p:nvSpPr>
          <p:cNvPr id="9" name="Text 7"/>
          <p:cNvSpPr/>
          <p:nvPr/>
        </p:nvSpPr>
        <p:spPr>
          <a:xfrm>
            <a:off x="822960" y="224028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A triangle has angles of 40°, 60°, and 80°. All three angles are less than 90°. What kind of triangle is it?</a:t>
            </a:r>
            <a:endParaRPr lang="en-US" sz="1400" dirty="0"/>
          </a:p>
        </p:txBody>
      </p:sp>
      <p:sp>
        <p:nvSpPr>
          <p:cNvPr id="10" name="Text 8"/>
          <p:cNvSpPr/>
          <p:nvPr/>
        </p:nvSpPr>
        <p:spPr>
          <a:xfrm>
            <a:off x="822960" y="2880360"/>
            <a:ext cx="7315200" cy="54864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A triangle has one angle that measures 110°. What kind of triangle is it?</a:t>
            </a:r>
            <a:endParaRPr lang="en-US" sz="1400" dirty="0"/>
          </a:p>
        </p:txBody>
      </p:sp>
      <p:sp>
        <p:nvSpPr>
          <p:cNvPr id="11" name="Shape 9"/>
          <p:cNvSpPr/>
          <p:nvPr/>
        </p:nvSpPr>
        <p:spPr>
          <a:xfrm>
            <a:off x="1188720" y="4343400"/>
            <a:ext cx="6766560" cy="438912"/>
          </a:xfrm>
          <a:prstGeom prst="roundRect">
            <a:avLst>
              <a:gd name="adj" fmla="val 12500"/>
            </a:avLst>
          </a:prstGeom>
          <a:solidFill>
            <a:srgbClr val="464EB8"/>
          </a:solidFill>
          <a:ln w="12700">
            <a:solidFill>
              <a:srgbClr val="464EB8"/>
            </a:solidFill>
            <a:prstDash val="solid"/>
          </a:ln>
        </p:spPr>
      </p:sp>
      <p:sp>
        <p:nvSpPr>
          <p:cNvPr id="12" name="Text 10"/>
          <p:cNvSpPr/>
          <p:nvPr/>
        </p:nvSpPr>
        <p:spPr>
          <a:xfrm>
            <a:off x="1188720" y="4343400"/>
            <a:ext cx="676656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three answers (right, acute, or obtuse)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Connection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2103120"/>
          </a:xfrm>
          <a:prstGeom prst="roundRect">
            <a:avLst>
              <a:gd name="adj" fmla="val 4348"/>
            </a:avLst>
          </a:prstGeom>
          <a:solidFill>
            <a:srgbClr val="EAE8F5"/>
          </a:solidFill>
          <a:ln w="6350">
            <a:solidFill>
              <a:srgbClr val="DDDDEE"/>
            </a:solidFill>
            <a:prstDash val="solid"/>
          </a:ln>
        </p:spPr>
      </p:sp>
      <p:sp>
        <p:nvSpPr>
          <p:cNvPr id="7" name="Text 5"/>
          <p:cNvSpPr/>
          <p:nvPr/>
        </p:nvSpPr>
        <p:spPr>
          <a:xfrm>
            <a:off x="685800" y="1280160"/>
            <a:ext cx="7772400" cy="17373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A carpenter cuts a triangular roof brace and needs to know the missing corner angle before making the cut — without a protractor.</a:t>
            </a:r>
            <a:endParaRPr lang="en-US" sz="1800" dirty="0"/>
          </a:p>
        </p:txBody>
      </p:sp>
      <p:sp>
        <p:nvSpPr>
          <p:cNvPr id="8" name="Shape 6"/>
          <p:cNvSpPr/>
          <p:nvPr/>
        </p:nvSpPr>
        <p:spPr>
          <a:xfrm>
            <a:off x="914400" y="347472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47472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could you find that missing angle if you knew the other two?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Think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A straight line measures 180°. Here is a triangle with its three corner angles marked in three different colors.</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Move the Corners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1737360" y="1234440"/>
            <a:ext cx="3657600" cy="1554480"/>
          </a:xfrm>
          <a:custGeom>
            <a:avLst/>
            <a:gdLst/>
            <a:ahLst/>
            <a:cxnLst/>
            <a:rect l="l" t="t" r="r" b="b"/>
            <a:pathLst>
              <a:path w="3657600" h="1554480">
                <a:moveTo>
                  <a:pt x="1554480" y="0"/>
                </a:moveTo>
                <a:lnTo>
                  <a:pt x="0" y="1554480"/>
                </a:lnTo>
                <a:lnTo>
                  <a:pt x="3657600" y="1554480"/>
                </a:lnTo>
                <a:close/>
              </a:path>
            </a:pathLst>
          </a:custGeom>
          <a:solidFill>
            <a:srgbClr val="F5F5F8"/>
          </a:solidFill>
          <a:ln w="34925">
            <a:solidFill>
              <a:srgbClr val="1B2A4A"/>
            </a:solidFill>
            <a:prstDash val="solid"/>
          </a:ln>
        </p:spPr>
      </p:sp>
      <p:sp>
        <p:nvSpPr>
          <p:cNvPr id="7" name="Shape 5"/>
          <p:cNvSpPr/>
          <p:nvPr/>
        </p:nvSpPr>
        <p:spPr>
          <a:xfrm>
            <a:off x="3097866" y="1397493"/>
            <a:ext cx="414575" cy="111266"/>
          </a:xfrm>
          <a:custGeom>
            <a:avLst/>
            <a:gdLst/>
            <a:ahLst/>
            <a:cxnLst/>
            <a:rect l="l" t="t" r="r" b="b"/>
            <a:pathLst>
              <a:path w="414575" h="111266">
                <a:moveTo>
                  <a:pt x="414575" y="0"/>
                </a:moveTo>
                <a:lnTo>
                  <a:pt x="402336" y="15375"/>
                </a:lnTo>
                <a:lnTo>
                  <a:pt x="389027" y="29834"/>
                </a:lnTo>
                <a:lnTo>
                  <a:pt x="374717" y="43304"/>
                </a:lnTo>
                <a:lnTo>
                  <a:pt x="359480" y="55714"/>
                </a:lnTo>
                <a:lnTo>
                  <a:pt x="343393" y="67002"/>
                </a:lnTo>
                <a:lnTo>
                  <a:pt x="326539" y="77109"/>
                </a:lnTo>
                <a:lnTo>
                  <a:pt x="309006" y="85983"/>
                </a:lnTo>
                <a:lnTo>
                  <a:pt x="290881" y="93579"/>
                </a:lnTo>
                <a:lnTo>
                  <a:pt x="272260" y="99859"/>
                </a:lnTo>
                <a:lnTo>
                  <a:pt x="253236" y="104789"/>
                </a:lnTo>
                <a:lnTo>
                  <a:pt x="233909" y="108344"/>
                </a:lnTo>
                <a:lnTo>
                  <a:pt x="214376" y="110507"/>
                </a:lnTo>
                <a:lnTo>
                  <a:pt x="194739" y="111266"/>
                </a:lnTo>
                <a:lnTo>
                  <a:pt x="175098" y="110616"/>
                </a:lnTo>
                <a:lnTo>
                  <a:pt x="155554" y="108563"/>
                </a:lnTo>
                <a:lnTo>
                  <a:pt x="136207" y="105115"/>
                </a:lnTo>
                <a:lnTo>
                  <a:pt x="117156" y="100292"/>
                </a:lnTo>
                <a:lnTo>
                  <a:pt x="98500" y="94116"/>
                </a:lnTo>
                <a:lnTo>
                  <a:pt x="80334" y="86621"/>
                </a:lnTo>
                <a:lnTo>
                  <a:pt x="62750" y="77845"/>
                </a:lnTo>
                <a:lnTo>
                  <a:pt x="45841" y="67832"/>
                </a:lnTo>
                <a:lnTo>
                  <a:pt x="29691" y="56635"/>
                </a:lnTo>
                <a:lnTo>
                  <a:pt x="14385" y="44309"/>
                </a:lnTo>
                <a:lnTo>
                  <a:pt x="0" y="30920"/>
                </a:lnTo>
              </a:path>
            </a:pathLst>
          </a:custGeom>
          <a:solidFill>
            <a:srgbClr val="FFFFFF">
              <a:alpha val="0"/>
            </a:srgbClr>
          </a:solidFill>
          <a:ln w="31750">
            <a:solidFill>
              <a:srgbClr val="4A3D8F"/>
            </a:solidFill>
            <a:prstDash val="solid"/>
          </a:ln>
        </p:spPr>
      </p:sp>
      <p:sp>
        <p:nvSpPr>
          <p:cNvPr id="8" name="Text 6"/>
          <p:cNvSpPr/>
          <p:nvPr/>
        </p:nvSpPr>
        <p:spPr>
          <a:xfrm>
            <a:off x="2969606" y="1671731"/>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70°</a:t>
            </a:r>
            <a:endParaRPr lang="en-US" sz="1200" dirty="0"/>
          </a:p>
        </p:txBody>
      </p:sp>
      <p:sp>
        <p:nvSpPr>
          <p:cNvPr id="9" name="Shape 7"/>
          <p:cNvSpPr/>
          <p:nvPr/>
        </p:nvSpPr>
        <p:spPr>
          <a:xfrm>
            <a:off x="1931334" y="2594946"/>
            <a:ext cx="80346" cy="193974"/>
          </a:xfrm>
          <a:custGeom>
            <a:avLst/>
            <a:gdLst/>
            <a:ahLst/>
            <a:cxnLst/>
            <a:rect l="l" t="t" r="r" b="b"/>
            <a:pathLst>
              <a:path w="80346" h="193974">
                <a:moveTo>
                  <a:pt x="0" y="0"/>
                </a:moveTo>
                <a:lnTo>
                  <a:pt x="6243" y="6450"/>
                </a:lnTo>
                <a:lnTo>
                  <a:pt x="12271" y="13102"/>
                </a:lnTo>
                <a:lnTo>
                  <a:pt x="18079" y="19947"/>
                </a:lnTo>
                <a:lnTo>
                  <a:pt x="23659" y="26978"/>
                </a:lnTo>
                <a:lnTo>
                  <a:pt x="29007" y="34188"/>
                </a:lnTo>
                <a:lnTo>
                  <a:pt x="34115" y="41570"/>
                </a:lnTo>
                <a:lnTo>
                  <a:pt x="38980" y="49114"/>
                </a:lnTo>
                <a:lnTo>
                  <a:pt x="43595" y="56814"/>
                </a:lnTo>
                <a:lnTo>
                  <a:pt x="47955" y="64660"/>
                </a:lnTo>
                <a:lnTo>
                  <a:pt x="52057" y="72645"/>
                </a:lnTo>
                <a:lnTo>
                  <a:pt x="55895" y="80760"/>
                </a:lnTo>
                <a:lnTo>
                  <a:pt x="59465" y="88996"/>
                </a:lnTo>
                <a:lnTo>
                  <a:pt x="62764" y="97344"/>
                </a:lnTo>
                <a:lnTo>
                  <a:pt x="65788" y="105796"/>
                </a:lnTo>
                <a:lnTo>
                  <a:pt x="68534" y="114343"/>
                </a:lnTo>
                <a:lnTo>
                  <a:pt x="70999" y="122974"/>
                </a:lnTo>
                <a:lnTo>
                  <a:pt x="73180" y="131682"/>
                </a:lnTo>
                <a:lnTo>
                  <a:pt x="75075" y="140456"/>
                </a:lnTo>
                <a:lnTo>
                  <a:pt x="76682" y="149288"/>
                </a:lnTo>
                <a:lnTo>
                  <a:pt x="78000" y="158168"/>
                </a:lnTo>
                <a:lnTo>
                  <a:pt x="79026" y="167085"/>
                </a:lnTo>
                <a:lnTo>
                  <a:pt x="79759" y="176032"/>
                </a:lnTo>
                <a:lnTo>
                  <a:pt x="80200" y="184998"/>
                </a:lnTo>
                <a:lnTo>
                  <a:pt x="80346" y="193974"/>
                </a:lnTo>
              </a:path>
            </a:pathLst>
          </a:custGeom>
          <a:solidFill>
            <a:srgbClr val="FFFFFF">
              <a:alpha val="0"/>
            </a:srgbClr>
          </a:solidFill>
          <a:ln w="31750">
            <a:solidFill>
              <a:srgbClr val="2E6E44"/>
            </a:solidFill>
            <a:prstDash val="solid"/>
          </a:ln>
        </p:spPr>
      </p:sp>
      <p:sp>
        <p:nvSpPr>
          <p:cNvPr id="10" name="Text 8"/>
          <p:cNvSpPr/>
          <p:nvPr/>
        </p:nvSpPr>
        <p:spPr>
          <a:xfrm>
            <a:off x="1912269" y="2418664"/>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55°</a:t>
            </a:r>
            <a:endParaRPr lang="en-US" sz="1200" dirty="0"/>
          </a:p>
        </p:txBody>
      </p:sp>
      <p:sp>
        <p:nvSpPr>
          <p:cNvPr id="11" name="Shape 9"/>
          <p:cNvSpPr/>
          <p:nvPr/>
        </p:nvSpPr>
        <p:spPr>
          <a:xfrm>
            <a:off x="5120640" y="2625867"/>
            <a:ext cx="53718" cy="163053"/>
          </a:xfrm>
          <a:custGeom>
            <a:avLst/>
            <a:gdLst/>
            <a:ahLst/>
            <a:cxnLst/>
            <a:rect l="l" t="t" r="r" b="b"/>
            <a:pathLst>
              <a:path w="53718" h="163053">
                <a:moveTo>
                  <a:pt x="0" y="163053"/>
                </a:moveTo>
                <a:lnTo>
                  <a:pt x="96" y="155779"/>
                </a:lnTo>
                <a:lnTo>
                  <a:pt x="386" y="148510"/>
                </a:lnTo>
                <a:lnTo>
                  <a:pt x="868" y="141251"/>
                </a:lnTo>
                <a:lnTo>
                  <a:pt x="1542" y="134007"/>
                </a:lnTo>
                <a:lnTo>
                  <a:pt x="2408" y="126783"/>
                </a:lnTo>
                <a:lnTo>
                  <a:pt x="3466" y="119586"/>
                </a:lnTo>
                <a:lnTo>
                  <a:pt x="4714" y="112418"/>
                </a:lnTo>
                <a:lnTo>
                  <a:pt x="6151" y="105287"/>
                </a:lnTo>
                <a:lnTo>
                  <a:pt x="7777" y="98196"/>
                </a:lnTo>
                <a:lnTo>
                  <a:pt x="9591" y="91150"/>
                </a:lnTo>
                <a:lnTo>
                  <a:pt x="11591" y="84156"/>
                </a:lnTo>
                <a:lnTo>
                  <a:pt x="13775" y="77216"/>
                </a:lnTo>
                <a:lnTo>
                  <a:pt x="16143" y="70337"/>
                </a:lnTo>
                <a:lnTo>
                  <a:pt x="18693" y="63524"/>
                </a:lnTo>
                <a:lnTo>
                  <a:pt x="21422" y="56780"/>
                </a:lnTo>
                <a:lnTo>
                  <a:pt x="24329" y="50111"/>
                </a:lnTo>
                <a:lnTo>
                  <a:pt x="27412" y="43521"/>
                </a:lnTo>
                <a:lnTo>
                  <a:pt x="30669" y="37016"/>
                </a:lnTo>
                <a:lnTo>
                  <a:pt x="34097" y="30599"/>
                </a:lnTo>
                <a:lnTo>
                  <a:pt x="37694" y="24275"/>
                </a:lnTo>
                <a:lnTo>
                  <a:pt x="41457" y="18049"/>
                </a:lnTo>
                <a:lnTo>
                  <a:pt x="45384" y="11925"/>
                </a:lnTo>
                <a:lnTo>
                  <a:pt x="49472" y="5907"/>
                </a:lnTo>
                <a:lnTo>
                  <a:pt x="53718" y="0"/>
                </a:lnTo>
              </a:path>
            </a:pathLst>
          </a:custGeom>
          <a:solidFill>
            <a:srgbClr val="FFFFFF">
              <a:alpha val="0"/>
            </a:srgbClr>
          </a:solidFill>
          <a:ln w="31750">
            <a:solidFill>
              <a:srgbClr val="D9941A"/>
            </a:solidFill>
            <a:prstDash val="solid"/>
          </a:ln>
        </p:spPr>
      </p:sp>
      <p:sp>
        <p:nvSpPr>
          <p:cNvPr id="12" name="Text 10"/>
          <p:cNvSpPr/>
          <p:nvPr/>
        </p:nvSpPr>
        <p:spPr>
          <a:xfrm>
            <a:off x="4473372" y="2459497"/>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55°</a:t>
            </a:r>
            <a:endParaRPr lang="en-US" sz="1200" dirty="0"/>
          </a:p>
        </p:txBody>
      </p:sp>
      <p:sp>
        <p:nvSpPr>
          <p:cNvPr id="13" name="Shape 11"/>
          <p:cNvSpPr/>
          <p:nvPr/>
        </p:nvSpPr>
        <p:spPr>
          <a:xfrm>
            <a:off x="3246120" y="1188720"/>
            <a:ext cx="91440" cy="91440"/>
          </a:xfrm>
          <a:prstGeom prst="ellipse">
            <a:avLst/>
          </a:prstGeom>
          <a:solidFill>
            <a:srgbClr val="1B2A4A"/>
          </a:solidFill>
          <a:ln w="9525">
            <a:solidFill>
              <a:srgbClr val="FFFFFF"/>
            </a:solidFill>
            <a:prstDash val="solid"/>
          </a:ln>
        </p:spPr>
      </p:sp>
      <p:sp>
        <p:nvSpPr>
          <p:cNvPr id="14" name="Shape 12"/>
          <p:cNvSpPr/>
          <p:nvPr/>
        </p:nvSpPr>
        <p:spPr>
          <a:xfrm>
            <a:off x="1691640" y="2743200"/>
            <a:ext cx="91440" cy="91440"/>
          </a:xfrm>
          <a:prstGeom prst="ellipse">
            <a:avLst/>
          </a:prstGeom>
          <a:solidFill>
            <a:srgbClr val="1B2A4A"/>
          </a:solidFill>
          <a:ln w="9525">
            <a:solidFill>
              <a:srgbClr val="FFFFFF"/>
            </a:solidFill>
            <a:prstDash val="solid"/>
          </a:ln>
        </p:spPr>
      </p:sp>
      <p:sp>
        <p:nvSpPr>
          <p:cNvPr id="15" name="Shape 13"/>
          <p:cNvSpPr/>
          <p:nvPr/>
        </p:nvSpPr>
        <p:spPr>
          <a:xfrm>
            <a:off x="5349240" y="2743200"/>
            <a:ext cx="91440" cy="91440"/>
          </a:xfrm>
          <a:prstGeom prst="ellipse">
            <a:avLst/>
          </a:prstGeom>
          <a:solidFill>
            <a:srgbClr val="1B2A4A"/>
          </a:solidFill>
          <a:ln w="9525">
            <a:solidFill>
              <a:srgbClr val="FFFFFF"/>
            </a:solidFill>
            <a:prstDash val="solid"/>
          </a:ln>
        </p:spPr>
      </p:sp>
      <p:sp>
        <p:nvSpPr>
          <p:cNvPr id="16" name="Shape 14"/>
          <p:cNvSpPr/>
          <p:nvPr/>
        </p:nvSpPr>
        <p:spPr>
          <a:xfrm>
            <a:off x="1463040" y="3931920"/>
            <a:ext cx="6217920" cy="0"/>
          </a:xfrm>
          <a:prstGeom prst="line">
            <a:avLst/>
          </a:prstGeom>
          <a:noFill/>
          <a:ln w="31750">
            <a:solidFill>
              <a:srgbClr val="1B2A4A"/>
            </a:solidFill>
            <a:prstDash val="solid"/>
          </a:ln>
        </p:spPr>
      </p:sp>
      <p:sp>
        <p:nvSpPr>
          <p:cNvPr id="17" name="Shape 15"/>
          <p:cNvSpPr/>
          <p:nvPr/>
        </p:nvSpPr>
        <p:spPr>
          <a:xfrm>
            <a:off x="1408176" y="3877056"/>
            <a:ext cx="109728" cy="109728"/>
          </a:xfrm>
          <a:prstGeom prst="ellipse">
            <a:avLst/>
          </a:prstGeom>
          <a:solidFill>
            <a:srgbClr val="FFFFFF">
              <a:alpha val="0"/>
            </a:srgbClr>
          </a:solidFill>
          <a:ln w="12700">
            <a:solidFill>
              <a:srgbClr val="FFFFFF">
                <a:alpha val="0"/>
              </a:srgbClr>
            </a:solidFill>
            <a:prstDash val="solid"/>
          </a:ln>
        </p:spPr>
      </p:sp>
      <p:sp>
        <p:nvSpPr>
          <p:cNvPr id="18" name="Shape 16"/>
          <p:cNvSpPr/>
          <p:nvPr/>
        </p:nvSpPr>
        <p:spPr>
          <a:xfrm>
            <a:off x="4572000" y="3201553"/>
            <a:ext cx="777240" cy="730367"/>
          </a:xfrm>
          <a:custGeom>
            <a:avLst/>
            <a:gdLst/>
            <a:ahLst/>
            <a:cxnLst/>
            <a:rect l="l" t="t" r="r" b="b"/>
            <a:pathLst>
              <a:path w="777240" h="730367">
                <a:moveTo>
                  <a:pt x="0" y="730367"/>
                </a:moveTo>
                <a:lnTo>
                  <a:pt x="777240" y="730367"/>
                </a:lnTo>
                <a:lnTo>
                  <a:pt x="775790" y="682917"/>
                </a:lnTo>
                <a:lnTo>
                  <a:pt x="771447" y="635645"/>
                </a:lnTo>
                <a:lnTo>
                  <a:pt x="764225" y="588726"/>
                </a:lnTo>
                <a:lnTo>
                  <a:pt x="754153" y="542335"/>
                </a:lnTo>
                <a:lnTo>
                  <a:pt x="741267" y="496646"/>
                </a:lnTo>
                <a:lnTo>
                  <a:pt x="725616" y="451829"/>
                </a:lnTo>
                <a:lnTo>
                  <a:pt x="707258" y="408051"/>
                </a:lnTo>
                <a:lnTo>
                  <a:pt x="686262" y="365475"/>
                </a:lnTo>
                <a:lnTo>
                  <a:pt x="662706" y="324260"/>
                </a:lnTo>
                <a:lnTo>
                  <a:pt x="636678" y="284560"/>
                </a:lnTo>
                <a:lnTo>
                  <a:pt x="608274" y="246523"/>
                </a:lnTo>
                <a:lnTo>
                  <a:pt x="577602" y="210292"/>
                </a:lnTo>
                <a:lnTo>
                  <a:pt x="544775" y="176000"/>
                </a:lnTo>
                <a:lnTo>
                  <a:pt x="509915" y="143776"/>
                </a:lnTo>
                <a:lnTo>
                  <a:pt x="473154" y="113741"/>
                </a:lnTo>
                <a:lnTo>
                  <a:pt x="434627" y="86006"/>
                </a:lnTo>
                <a:lnTo>
                  <a:pt x="394479" y="60674"/>
                </a:lnTo>
                <a:lnTo>
                  <a:pt x="352860" y="37841"/>
                </a:lnTo>
                <a:lnTo>
                  <a:pt x="309924" y="17591"/>
                </a:lnTo>
                <a:lnTo>
                  <a:pt x="265832" y="0"/>
                </a:lnTo>
                <a:close/>
              </a:path>
            </a:pathLst>
          </a:custGeom>
          <a:solidFill>
            <a:srgbClr val="4A3D8F"/>
          </a:solidFill>
          <a:ln w="15875">
            <a:solidFill>
              <a:srgbClr val="FFFFFF"/>
            </a:solidFill>
            <a:prstDash val="solid"/>
          </a:ln>
        </p:spPr>
      </p:sp>
      <p:sp>
        <p:nvSpPr>
          <p:cNvPr id="19" name="Text 17"/>
          <p:cNvSpPr/>
          <p:nvPr/>
        </p:nvSpPr>
        <p:spPr>
          <a:xfrm>
            <a:off x="4646700" y="3509216"/>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70°</a:t>
            </a:r>
            <a:endParaRPr lang="en-US" sz="1200" dirty="0"/>
          </a:p>
        </p:txBody>
      </p:sp>
      <p:sp>
        <p:nvSpPr>
          <p:cNvPr id="20" name="Shape 18"/>
          <p:cNvSpPr/>
          <p:nvPr/>
        </p:nvSpPr>
        <p:spPr>
          <a:xfrm>
            <a:off x="4126193" y="3154747"/>
            <a:ext cx="711638" cy="777173"/>
          </a:xfrm>
          <a:custGeom>
            <a:avLst/>
            <a:gdLst/>
            <a:ahLst/>
            <a:cxnLst/>
            <a:rect l="l" t="t" r="r" b="b"/>
            <a:pathLst>
              <a:path w="711638" h="777173">
                <a:moveTo>
                  <a:pt x="445807" y="777173"/>
                </a:moveTo>
                <a:lnTo>
                  <a:pt x="711638" y="46807"/>
                </a:lnTo>
                <a:lnTo>
                  <a:pt x="676291" y="34894"/>
                </a:lnTo>
                <a:lnTo>
                  <a:pt x="640412" y="24690"/>
                </a:lnTo>
                <a:lnTo>
                  <a:pt x="604085" y="16220"/>
                </a:lnTo>
                <a:lnTo>
                  <a:pt x="567394" y="9503"/>
                </a:lnTo>
                <a:lnTo>
                  <a:pt x="530422" y="4553"/>
                </a:lnTo>
                <a:lnTo>
                  <a:pt x="493256" y="1383"/>
                </a:lnTo>
                <a:lnTo>
                  <a:pt x="455980" y="0"/>
                </a:lnTo>
                <a:lnTo>
                  <a:pt x="418681" y="407"/>
                </a:lnTo>
                <a:lnTo>
                  <a:pt x="381445" y="2603"/>
                </a:lnTo>
                <a:lnTo>
                  <a:pt x="344356" y="6583"/>
                </a:lnTo>
                <a:lnTo>
                  <a:pt x="307502" y="12338"/>
                </a:lnTo>
                <a:lnTo>
                  <a:pt x="270966" y="19854"/>
                </a:lnTo>
                <a:lnTo>
                  <a:pt x="234832" y="29115"/>
                </a:lnTo>
                <a:lnTo>
                  <a:pt x="199185" y="40098"/>
                </a:lnTo>
                <a:lnTo>
                  <a:pt x="164105" y="52780"/>
                </a:lnTo>
                <a:lnTo>
                  <a:pt x="129675" y="67129"/>
                </a:lnTo>
                <a:lnTo>
                  <a:pt x="95972" y="83114"/>
                </a:lnTo>
                <a:lnTo>
                  <a:pt x="63075" y="100698"/>
                </a:lnTo>
                <a:lnTo>
                  <a:pt x="31060" y="119840"/>
                </a:lnTo>
                <a:lnTo>
                  <a:pt x="0" y="140496"/>
                </a:lnTo>
                <a:close/>
              </a:path>
            </a:pathLst>
          </a:custGeom>
          <a:solidFill>
            <a:srgbClr val="2E6E44"/>
          </a:solidFill>
          <a:ln w="15875">
            <a:solidFill>
              <a:srgbClr val="FFFFFF"/>
            </a:solidFill>
            <a:prstDash val="solid"/>
          </a:ln>
        </p:spPr>
      </p:sp>
      <p:sp>
        <p:nvSpPr>
          <p:cNvPr id="21" name="Text 19"/>
          <p:cNvSpPr/>
          <p:nvPr/>
        </p:nvSpPr>
        <p:spPr>
          <a:xfrm>
            <a:off x="4189061" y="3307850"/>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55°</a:t>
            </a:r>
            <a:endParaRPr lang="en-US" sz="1200" dirty="0"/>
          </a:p>
        </p:txBody>
      </p:sp>
      <p:sp>
        <p:nvSpPr>
          <p:cNvPr id="22" name="Shape 20"/>
          <p:cNvSpPr/>
          <p:nvPr/>
        </p:nvSpPr>
        <p:spPr>
          <a:xfrm>
            <a:off x="3794760" y="3295242"/>
            <a:ext cx="777240" cy="636678"/>
          </a:xfrm>
          <a:custGeom>
            <a:avLst/>
            <a:gdLst/>
            <a:ahLst/>
            <a:cxnLst/>
            <a:rect l="l" t="t" r="r" b="b"/>
            <a:pathLst>
              <a:path w="777240" h="636678">
                <a:moveTo>
                  <a:pt x="777240" y="636678"/>
                </a:moveTo>
                <a:lnTo>
                  <a:pt x="331433" y="0"/>
                </a:lnTo>
                <a:lnTo>
                  <a:pt x="301400" y="22122"/>
                </a:lnTo>
                <a:lnTo>
                  <a:pt x="272463" y="45660"/>
                </a:lnTo>
                <a:lnTo>
                  <a:pt x="244688" y="70559"/>
                </a:lnTo>
                <a:lnTo>
                  <a:pt x="218140" y="96761"/>
                </a:lnTo>
                <a:lnTo>
                  <a:pt x="192880" y="124208"/>
                </a:lnTo>
                <a:lnTo>
                  <a:pt x="168966" y="152834"/>
                </a:lnTo>
                <a:lnTo>
                  <a:pt x="146452" y="182576"/>
                </a:lnTo>
                <a:lnTo>
                  <a:pt x="125392" y="213362"/>
                </a:lnTo>
                <a:lnTo>
                  <a:pt x="105832" y="245124"/>
                </a:lnTo>
                <a:lnTo>
                  <a:pt x="87820" y="277788"/>
                </a:lnTo>
                <a:lnTo>
                  <a:pt x="71395" y="311279"/>
                </a:lnTo>
                <a:lnTo>
                  <a:pt x="56596" y="345519"/>
                </a:lnTo>
                <a:lnTo>
                  <a:pt x="43456" y="380429"/>
                </a:lnTo>
                <a:lnTo>
                  <a:pt x="32007" y="415930"/>
                </a:lnTo>
                <a:lnTo>
                  <a:pt x="22274" y="451939"/>
                </a:lnTo>
                <a:lnTo>
                  <a:pt x="14280" y="488373"/>
                </a:lnTo>
                <a:lnTo>
                  <a:pt x="8043" y="525150"/>
                </a:lnTo>
                <a:lnTo>
                  <a:pt x="3578" y="562183"/>
                </a:lnTo>
                <a:lnTo>
                  <a:pt x="895" y="599387"/>
                </a:lnTo>
                <a:lnTo>
                  <a:pt x="0" y="636678"/>
                </a:lnTo>
                <a:close/>
              </a:path>
            </a:pathLst>
          </a:custGeom>
          <a:solidFill>
            <a:srgbClr val="D9941A"/>
          </a:solidFill>
          <a:ln w="15875">
            <a:solidFill>
              <a:srgbClr val="FFFFFF"/>
            </a:solidFill>
            <a:prstDash val="solid"/>
          </a:ln>
        </p:spPr>
      </p:sp>
      <p:sp>
        <p:nvSpPr>
          <p:cNvPr id="23" name="Text 21"/>
          <p:cNvSpPr/>
          <p:nvPr/>
        </p:nvSpPr>
        <p:spPr>
          <a:xfrm>
            <a:off x="3824519" y="3563105"/>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55°</a:t>
            </a:r>
            <a:endParaRPr lang="en-US" sz="1200" dirty="0"/>
          </a:p>
        </p:txBody>
      </p:sp>
      <p:sp>
        <p:nvSpPr>
          <p:cNvPr id="24" name="Shape 22"/>
          <p:cNvSpPr/>
          <p:nvPr/>
        </p:nvSpPr>
        <p:spPr>
          <a:xfrm>
            <a:off x="4517136" y="3877056"/>
            <a:ext cx="109728" cy="109728"/>
          </a:xfrm>
          <a:prstGeom prst="ellipse">
            <a:avLst/>
          </a:prstGeom>
          <a:solidFill>
            <a:srgbClr val="1B2A4A"/>
          </a:solidFill>
          <a:ln w="12700">
            <a:solidFill>
              <a:srgbClr val="FFFFFF"/>
            </a:solidFill>
            <a:prstDash val="solid"/>
          </a:ln>
        </p:spPr>
      </p:sp>
      <p:sp>
        <p:nvSpPr>
          <p:cNvPr id="25" name="Shape 23"/>
          <p:cNvSpPr/>
          <p:nvPr/>
        </p:nvSpPr>
        <p:spPr>
          <a:xfrm>
            <a:off x="3200400" y="4096512"/>
            <a:ext cx="2743200" cy="384048"/>
          </a:xfrm>
          <a:prstGeom prst="roundRect">
            <a:avLst>
              <a:gd name="adj" fmla="val 16667"/>
            </a:avLst>
          </a:prstGeom>
          <a:solidFill>
            <a:srgbClr val="1B2A4A"/>
          </a:solidFill>
          <a:ln w="12700">
            <a:solidFill>
              <a:srgbClr val="1B2A4A"/>
            </a:solidFill>
            <a:prstDash val="solid"/>
          </a:ln>
        </p:spPr>
      </p:sp>
      <p:sp>
        <p:nvSpPr>
          <p:cNvPr id="26" name="Text 24"/>
          <p:cNvSpPr/>
          <p:nvPr/>
        </p:nvSpPr>
        <p:spPr>
          <a:xfrm>
            <a:off x="3200400" y="4096512"/>
            <a:ext cx="2743200" cy="384048"/>
          </a:xfrm>
          <a:prstGeom prst="rect">
            <a:avLst/>
          </a:prstGeom>
          <a:noFill/>
          <a:ln/>
        </p:spPr>
        <p:txBody>
          <a:bodyPr wrap="square" lIns="0" tIns="0" rIns="0" bIns="0" rtlCol="0" anchor="ctr"/>
          <a:lstStyle/>
          <a:p>
            <a:pPr algn="ctr" indent="0" marL="0">
              <a:buNone/>
            </a:pPr>
            <a:r>
              <a:rPr lang="en-US" sz="1300" b="1" dirty="0">
                <a:solidFill>
                  <a:srgbClr val="FFFFFF"/>
                </a:solidFill>
              </a:rPr>
              <a:t>70° + 55° + 55° = 180°</a:t>
            </a:r>
            <a:endParaRPr lang="en-US" sz="1300" dirty="0"/>
          </a:p>
        </p:txBody>
      </p:sp>
      <p:sp>
        <p:nvSpPr>
          <p:cNvPr id="27" name="Shape 25"/>
          <p:cNvSpPr/>
          <p:nvPr/>
        </p:nvSpPr>
        <p:spPr>
          <a:xfrm>
            <a:off x="1097280" y="4663440"/>
            <a:ext cx="6949440" cy="438912"/>
          </a:xfrm>
          <a:prstGeom prst="roundRect">
            <a:avLst>
              <a:gd name="adj" fmla="val 12500"/>
            </a:avLst>
          </a:prstGeom>
          <a:solidFill>
            <a:srgbClr val="464EB8"/>
          </a:solidFill>
          <a:ln w="12700">
            <a:solidFill>
              <a:srgbClr val="464EB8"/>
            </a:solidFill>
            <a:prstDash val="solid"/>
          </a:ln>
        </p:spPr>
      </p:sp>
      <p:sp>
        <p:nvSpPr>
          <p:cNvPr id="28" name="Text 26"/>
          <p:cNvSpPr/>
          <p:nvPr/>
        </p:nvSpPr>
        <p:spPr>
          <a:xfrm>
            <a:off x="1097280" y="466344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do the three corners make when they sit side by side?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Write the Equation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834640" y="1188720"/>
            <a:ext cx="3474720" cy="2057400"/>
          </a:xfrm>
          <a:custGeom>
            <a:avLst/>
            <a:gdLst/>
            <a:ahLst/>
            <a:cxnLst/>
            <a:rect l="l" t="t" r="r" b="b"/>
            <a:pathLst>
              <a:path w="3474720" h="2057400">
                <a:moveTo>
                  <a:pt x="1737360" y="0"/>
                </a:moveTo>
                <a:lnTo>
                  <a:pt x="0" y="2057400"/>
                </a:lnTo>
                <a:lnTo>
                  <a:pt x="3474720" y="2057400"/>
                </a:lnTo>
                <a:close/>
              </a:path>
            </a:pathLst>
          </a:custGeom>
          <a:solidFill>
            <a:srgbClr val="EAE8F5"/>
          </a:solidFill>
          <a:ln w="34925">
            <a:solidFill>
              <a:srgbClr val="1B2A4A"/>
            </a:solidFill>
            <a:prstDash val="solid"/>
          </a:ln>
        </p:spPr>
      </p:sp>
      <p:sp>
        <p:nvSpPr>
          <p:cNvPr id="7" name="Shape 5"/>
          <p:cNvSpPr/>
          <p:nvPr/>
        </p:nvSpPr>
        <p:spPr>
          <a:xfrm>
            <a:off x="4336019" y="1468172"/>
            <a:ext cx="471963" cy="86308"/>
          </a:xfrm>
          <a:custGeom>
            <a:avLst/>
            <a:gdLst/>
            <a:ahLst/>
            <a:cxnLst/>
            <a:rect l="l" t="t" r="r" b="b"/>
            <a:pathLst>
              <a:path w="471963" h="86308">
                <a:moveTo>
                  <a:pt x="471963" y="0"/>
                </a:moveTo>
                <a:lnTo>
                  <a:pt x="455238" y="13305"/>
                </a:lnTo>
                <a:lnTo>
                  <a:pt x="437766" y="25611"/>
                </a:lnTo>
                <a:lnTo>
                  <a:pt x="419604" y="36876"/>
                </a:lnTo>
                <a:lnTo>
                  <a:pt x="400815" y="47060"/>
                </a:lnTo>
                <a:lnTo>
                  <a:pt x="381464" y="56130"/>
                </a:lnTo>
                <a:lnTo>
                  <a:pt x="361616" y="64054"/>
                </a:lnTo>
                <a:lnTo>
                  <a:pt x="341339" y="70806"/>
                </a:lnTo>
                <a:lnTo>
                  <a:pt x="320702" y="76361"/>
                </a:lnTo>
                <a:lnTo>
                  <a:pt x="299777" y="80702"/>
                </a:lnTo>
                <a:lnTo>
                  <a:pt x="278633" y="83813"/>
                </a:lnTo>
                <a:lnTo>
                  <a:pt x="257344" y="85684"/>
                </a:lnTo>
                <a:lnTo>
                  <a:pt x="235981" y="86308"/>
                </a:lnTo>
                <a:lnTo>
                  <a:pt x="214619" y="85684"/>
                </a:lnTo>
                <a:lnTo>
                  <a:pt x="193330" y="83813"/>
                </a:lnTo>
                <a:lnTo>
                  <a:pt x="172186" y="80702"/>
                </a:lnTo>
                <a:lnTo>
                  <a:pt x="151260" y="76361"/>
                </a:lnTo>
                <a:lnTo>
                  <a:pt x="130624" y="70806"/>
                </a:lnTo>
                <a:lnTo>
                  <a:pt x="110347" y="64054"/>
                </a:lnTo>
                <a:lnTo>
                  <a:pt x="90499" y="56130"/>
                </a:lnTo>
                <a:lnTo>
                  <a:pt x="71147" y="47060"/>
                </a:lnTo>
                <a:lnTo>
                  <a:pt x="52359" y="36876"/>
                </a:lnTo>
                <a:lnTo>
                  <a:pt x="34197" y="25611"/>
                </a:lnTo>
                <a:lnTo>
                  <a:pt x="16724" y="13305"/>
                </a:lnTo>
                <a:lnTo>
                  <a:pt x="0" y="0"/>
                </a:lnTo>
              </a:path>
            </a:pathLst>
          </a:custGeom>
          <a:solidFill>
            <a:srgbClr val="FFFFFF">
              <a:alpha val="0"/>
            </a:srgbClr>
          </a:solidFill>
          <a:ln w="31750">
            <a:solidFill>
              <a:srgbClr val="4A3D8F"/>
            </a:solidFill>
            <a:prstDash val="solid"/>
          </a:ln>
        </p:spPr>
      </p:sp>
      <p:sp>
        <p:nvSpPr>
          <p:cNvPr id="8" name="Text 6"/>
          <p:cNvSpPr/>
          <p:nvPr/>
        </p:nvSpPr>
        <p:spPr>
          <a:xfrm>
            <a:off x="4206240" y="1719072"/>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65°</a:t>
            </a:r>
            <a:endParaRPr lang="en-US" sz="1200" dirty="0"/>
          </a:p>
        </p:txBody>
      </p:sp>
      <p:sp>
        <p:nvSpPr>
          <p:cNvPr id="9" name="Shape 7"/>
          <p:cNvSpPr/>
          <p:nvPr/>
        </p:nvSpPr>
        <p:spPr>
          <a:xfrm>
            <a:off x="3070621" y="2966668"/>
            <a:ext cx="129779" cy="279452"/>
          </a:xfrm>
          <a:custGeom>
            <a:avLst/>
            <a:gdLst/>
            <a:ahLst/>
            <a:cxnLst/>
            <a:rect l="l" t="t" r="r" b="b"/>
            <a:pathLst>
              <a:path w="129779" h="279452">
                <a:moveTo>
                  <a:pt x="0" y="0"/>
                </a:moveTo>
                <a:lnTo>
                  <a:pt x="9968" y="8731"/>
                </a:lnTo>
                <a:lnTo>
                  <a:pt x="19612" y="17818"/>
                </a:lnTo>
                <a:lnTo>
                  <a:pt x="28922" y="27248"/>
                </a:lnTo>
                <a:lnTo>
                  <a:pt x="37883" y="37009"/>
                </a:lnTo>
                <a:lnTo>
                  <a:pt x="46486" y="47088"/>
                </a:lnTo>
                <a:lnTo>
                  <a:pt x="54717" y="57472"/>
                </a:lnTo>
                <a:lnTo>
                  <a:pt x="62567" y="68148"/>
                </a:lnTo>
                <a:lnTo>
                  <a:pt x="70025" y="79101"/>
                </a:lnTo>
                <a:lnTo>
                  <a:pt x="77082" y="90317"/>
                </a:lnTo>
                <a:lnTo>
                  <a:pt x="83727" y="101781"/>
                </a:lnTo>
                <a:lnTo>
                  <a:pt x="89953" y="113478"/>
                </a:lnTo>
                <a:lnTo>
                  <a:pt x="95751" y="125393"/>
                </a:lnTo>
                <a:lnTo>
                  <a:pt x="101114" y="137511"/>
                </a:lnTo>
                <a:lnTo>
                  <a:pt x="106034" y="149814"/>
                </a:lnTo>
                <a:lnTo>
                  <a:pt x="110506" y="162288"/>
                </a:lnTo>
                <a:lnTo>
                  <a:pt x="114522" y="174916"/>
                </a:lnTo>
                <a:lnTo>
                  <a:pt x="118079" y="187681"/>
                </a:lnTo>
                <a:lnTo>
                  <a:pt x="121170" y="200566"/>
                </a:lnTo>
                <a:lnTo>
                  <a:pt x="123794" y="213555"/>
                </a:lnTo>
                <a:lnTo>
                  <a:pt x="125944" y="226630"/>
                </a:lnTo>
                <a:lnTo>
                  <a:pt x="127620" y="239775"/>
                </a:lnTo>
                <a:lnTo>
                  <a:pt x="128819" y="252971"/>
                </a:lnTo>
                <a:lnTo>
                  <a:pt x="129539" y="266203"/>
                </a:lnTo>
                <a:lnTo>
                  <a:pt x="129779" y="279452"/>
                </a:lnTo>
              </a:path>
            </a:pathLst>
          </a:custGeom>
          <a:solidFill>
            <a:srgbClr val="FFFFFF">
              <a:alpha val="0"/>
            </a:srgbClr>
          </a:solidFill>
          <a:ln w="31750">
            <a:solidFill>
              <a:srgbClr val="2E6E44"/>
            </a:solidFill>
            <a:prstDash val="solid"/>
          </a:ln>
        </p:spPr>
      </p:sp>
      <p:sp>
        <p:nvSpPr>
          <p:cNvPr id="10" name="Text 8"/>
          <p:cNvSpPr/>
          <p:nvPr/>
        </p:nvSpPr>
        <p:spPr>
          <a:xfrm>
            <a:off x="3082585" y="2814808"/>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82°</a:t>
            </a:r>
            <a:endParaRPr lang="en-US" sz="1200" dirty="0"/>
          </a:p>
        </p:txBody>
      </p:sp>
      <p:sp>
        <p:nvSpPr>
          <p:cNvPr id="11" name="Shape 9"/>
          <p:cNvSpPr/>
          <p:nvPr/>
        </p:nvSpPr>
        <p:spPr>
          <a:xfrm>
            <a:off x="5943600" y="2966668"/>
            <a:ext cx="129779" cy="279452"/>
          </a:xfrm>
          <a:custGeom>
            <a:avLst/>
            <a:gdLst/>
            <a:ahLst/>
            <a:cxnLst/>
            <a:rect l="l" t="t" r="r" b="b"/>
            <a:pathLst>
              <a:path w="129779" h="279452">
                <a:moveTo>
                  <a:pt x="0" y="279452"/>
                </a:moveTo>
                <a:lnTo>
                  <a:pt x="240" y="266203"/>
                </a:lnTo>
                <a:lnTo>
                  <a:pt x="960" y="252971"/>
                </a:lnTo>
                <a:lnTo>
                  <a:pt x="2158" y="239775"/>
                </a:lnTo>
                <a:lnTo>
                  <a:pt x="3834" y="226630"/>
                </a:lnTo>
                <a:lnTo>
                  <a:pt x="5985" y="213555"/>
                </a:lnTo>
                <a:lnTo>
                  <a:pt x="8608" y="200566"/>
                </a:lnTo>
                <a:lnTo>
                  <a:pt x="11700" y="187681"/>
                </a:lnTo>
                <a:lnTo>
                  <a:pt x="15257" y="174916"/>
                </a:lnTo>
                <a:lnTo>
                  <a:pt x="19273" y="162288"/>
                </a:lnTo>
                <a:lnTo>
                  <a:pt x="23745" y="149814"/>
                </a:lnTo>
                <a:lnTo>
                  <a:pt x="28665" y="137511"/>
                </a:lnTo>
                <a:lnTo>
                  <a:pt x="34027" y="125393"/>
                </a:lnTo>
                <a:lnTo>
                  <a:pt x="39826" y="113478"/>
                </a:lnTo>
                <a:lnTo>
                  <a:pt x="46052" y="101781"/>
                </a:lnTo>
                <a:lnTo>
                  <a:pt x="52697" y="90317"/>
                </a:lnTo>
                <a:lnTo>
                  <a:pt x="59753" y="79101"/>
                </a:lnTo>
                <a:lnTo>
                  <a:pt x="67212" y="68148"/>
                </a:lnTo>
                <a:lnTo>
                  <a:pt x="75061" y="57472"/>
                </a:lnTo>
                <a:lnTo>
                  <a:pt x="83293" y="47088"/>
                </a:lnTo>
                <a:lnTo>
                  <a:pt x="91895" y="37009"/>
                </a:lnTo>
                <a:lnTo>
                  <a:pt x="100857" y="27248"/>
                </a:lnTo>
                <a:lnTo>
                  <a:pt x="110166" y="17818"/>
                </a:lnTo>
                <a:lnTo>
                  <a:pt x="119811" y="8731"/>
                </a:lnTo>
                <a:lnTo>
                  <a:pt x="129779" y="0"/>
                </a:lnTo>
              </a:path>
            </a:pathLst>
          </a:custGeom>
          <a:solidFill>
            <a:srgbClr val="FFFFFF">
              <a:alpha val="0"/>
            </a:srgbClr>
          </a:solidFill>
          <a:ln w="31750">
            <a:solidFill>
              <a:srgbClr val="D9941A"/>
            </a:solidFill>
            <a:prstDash val="solid"/>
          </a:ln>
        </p:spPr>
      </p:sp>
      <p:sp>
        <p:nvSpPr>
          <p:cNvPr id="12" name="Text 10"/>
          <p:cNvSpPr/>
          <p:nvPr/>
        </p:nvSpPr>
        <p:spPr>
          <a:xfrm>
            <a:off x="5329895" y="2814808"/>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a:t>
            </a:r>
            <a:endParaRPr lang="en-US" sz="1200" dirty="0"/>
          </a:p>
        </p:txBody>
      </p:sp>
      <p:sp>
        <p:nvSpPr>
          <p:cNvPr id="13" name="Shape 11"/>
          <p:cNvSpPr/>
          <p:nvPr/>
        </p:nvSpPr>
        <p:spPr>
          <a:xfrm>
            <a:off x="4526280" y="1143000"/>
            <a:ext cx="91440" cy="91440"/>
          </a:xfrm>
          <a:prstGeom prst="ellipse">
            <a:avLst/>
          </a:prstGeom>
          <a:solidFill>
            <a:srgbClr val="1B2A4A"/>
          </a:solidFill>
          <a:ln w="9525">
            <a:solidFill>
              <a:srgbClr val="FFFFFF"/>
            </a:solidFill>
            <a:prstDash val="solid"/>
          </a:ln>
        </p:spPr>
      </p:sp>
      <p:sp>
        <p:nvSpPr>
          <p:cNvPr id="14" name="Shape 12"/>
          <p:cNvSpPr/>
          <p:nvPr/>
        </p:nvSpPr>
        <p:spPr>
          <a:xfrm>
            <a:off x="2788920" y="3200400"/>
            <a:ext cx="91440" cy="91440"/>
          </a:xfrm>
          <a:prstGeom prst="ellipse">
            <a:avLst/>
          </a:prstGeom>
          <a:solidFill>
            <a:srgbClr val="1B2A4A"/>
          </a:solidFill>
          <a:ln w="9525">
            <a:solidFill>
              <a:srgbClr val="FFFFFF"/>
            </a:solidFill>
            <a:prstDash val="solid"/>
          </a:ln>
        </p:spPr>
      </p:sp>
      <p:sp>
        <p:nvSpPr>
          <p:cNvPr id="15" name="Shape 13"/>
          <p:cNvSpPr/>
          <p:nvPr/>
        </p:nvSpPr>
        <p:spPr>
          <a:xfrm>
            <a:off x="6263640" y="3200400"/>
            <a:ext cx="91440" cy="91440"/>
          </a:xfrm>
          <a:prstGeom prst="ellipse">
            <a:avLst/>
          </a:prstGeom>
          <a:solidFill>
            <a:srgbClr val="1B2A4A"/>
          </a:solidFill>
          <a:ln w="9525">
            <a:solidFill>
              <a:srgbClr val="FFFFFF"/>
            </a:solidFill>
            <a:prstDash val="solid"/>
          </a:ln>
        </p:spPr>
      </p:sp>
      <p:sp>
        <p:nvSpPr>
          <p:cNvPr id="16" name="Text 14"/>
          <p:cNvSpPr/>
          <p:nvPr/>
        </p:nvSpPr>
        <p:spPr>
          <a:xfrm>
            <a:off x="2560320" y="3502152"/>
            <a:ext cx="4023360" cy="292608"/>
          </a:xfrm>
          <a:prstGeom prst="rect">
            <a:avLst/>
          </a:prstGeom>
          <a:noFill/>
          <a:ln/>
        </p:spPr>
        <p:txBody>
          <a:bodyPr wrap="square" lIns="0" tIns="0" rIns="0" bIns="0" rtlCol="0" anchor="ctr"/>
          <a:lstStyle/>
          <a:p>
            <a:pPr algn="ctr" indent="0" marL="0">
              <a:buNone/>
            </a:pPr>
            <a:r>
              <a:rPr lang="en-US" sz="1200" b="1" i="1" dirty="0">
                <a:solidFill>
                  <a:srgbClr val="5A5A7A"/>
                </a:solidFill>
              </a:rPr>
              <a:t>Triangle ABC</a:t>
            </a:r>
            <a:endParaRPr lang="en-US" sz="1200" dirty="0"/>
          </a:p>
        </p:txBody>
      </p:sp>
      <p:sp>
        <p:nvSpPr>
          <p:cNvPr id="17" name="Shape 15"/>
          <p:cNvSpPr/>
          <p:nvPr/>
        </p:nvSpPr>
        <p:spPr>
          <a:xfrm>
            <a:off x="2194560" y="3749040"/>
            <a:ext cx="4754880" cy="777240"/>
          </a:xfrm>
          <a:prstGeom prst="roundRect">
            <a:avLst>
              <a:gd name="adj" fmla="val 11765"/>
            </a:avLst>
          </a:prstGeom>
          <a:solidFill>
            <a:srgbClr val="FFFFFF"/>
          </a:solidFill>
          <a:ln w="6350">
            <a:solidFill>
              <a:srgbClr val="DDDDEE"/>
            </a:solidFill>
            <a:prstDash val="solid"/>
          </a:ln>
        </p:spPr>
      </p:sp>
      <p:sp>
        <p:nvSpPr>
          <p:cNvPr id="18" name="Text 16"/>
          <p:cNvSpPr/>
          <p:nvPr/>
        </p:nvSpPr>
        <p:spPr>
          <a:xfrm>
            <a:off x="2194560" y="3749040"/>
            <a:ext cx="4754880" cy="777240"/>
          </a:xfrm>
          <a:prstGeom prst="rect">
            <a:avLst/>
          </a:prstGeom>
          <a:noFill/>
          <a:ln/>
        </p:spPr>
        <p:txBody>
          <a:bodyPr wrap="square" lIns="0" tIns="0" rIns="0" bIns="0" rtlCol="0" anchor="ctr"/>
          <a:lstStyle/>
          <a:p>
            <a:pPr algn="ctr" indent="0" marL="0">
              <a:buNone/>
            </a:pPr>
            <a:r>
              <a:rPr lang="en-US" sz="2200" b="1" dirty="0">
                <a:solidFill>
                  <a:srgbClr val="1B2A4A"/>
                </a:solidFill>
                <a:latin typeface="Cambria" pitchFamily="34" charset="0"/>
                <a:ea typeface="Cambria" pitchFamily="34" charset="-122"/>
                <a:cs typeface="Cambria" pitchFamily="34" charset="-120"/>
              </a:rPr>
              <a:t>65° + 82° + ___° = 180°</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CPA · ABSTRACT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54480"/>
            <a:ext cx="8229600" cy="10058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three interior angles of any triangle always add up to 180 degrees.</a:t>
            </a:r>
            <a:endParaRPr lang="en-US" sz="2200" dirty="0"/>
          </a:p>
        </p:txBody>
      </p:sp>
      <p:sp>
        <p:nvSpPr>
          <p:cNvPr id="8" name="Text 6"/>
          <p:cNvSpPr/>
          <p:nvPr/>
        </p:nvSpPr>
        <p:spPr>
          <a:xfrm>
            <a:off x="457200" y="2743200"/>
            <a:ext cx="8229600" cy="1005840"/>
          </a:xfrm>
          <a:prstGeom prst="rect">
            <a:avLst/>
          </a:prstGeom>
          <a:noFill/>
          <a:ln/>
        </p:spPr>
        <p:txBody>
          <a:bodyPr wrap="square" lIns="0" tIns="0" rIns="0" bIns="0" rtlCol="0" anchor="ctr"/>
          <a:lstStyle/>
          <a:p>
            <a:pPr indent="0" marL="0">
              <a:buNone/>
            </a:pPr>
            <a:r>
              <a:rPr lang="en-US" sz="1800" i="1" dirty="0">
                <a:solidFill>
                  <a:srgbClr val="CCCCFF"/>
                </a:solidFill>
                <a:latin typeface="Cambria" pitchFamily="34" charset="0"/>
                <a:ea typeface="Cambria" pitchFamily="34" charset="-122"/>
                <a:cs typeface="Cambria" pitchFamily="34" charset="-120"/>
              </a:rPr>
              <a:t>To find a missing angle: add the two angles you know, then subtract that total from 180 degrees.</a:t>
            </a:r>
            <a:endParaRPr lang="en-US" sz="1800" dirty="0"/>
          </a:p>
        </p:txBody>
      </p:sp>
      <p:sp>
        <p:nvSpPr>
          <p:cNvPr id="9" name="Shape 7"/>
          <p:cNvSpPr/>
          <p:nvPr/>
        </p:nvSpPr>
        <p:spPr>
          <a:xfrm>
            <a:off x="2011680" y="4343400"/>
            <a:ext cx="512064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011680" y="4343400"/>
            <a:ext cx="51206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what a triangle's angles always do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Daily Math Language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640080" y="1097280"/>
            <a:ext cx="3566160" cy="365760"/>
          </a:xfrm>
          <a:prstGeom prst="rect">
            <a:avLst/>
          </a:prstGeom>
          <a:noFill/>
          <a:ln/>
        </p:spPr>
        <p:txBody>
          <a:bodyPr wrap="square" lIns="0" tIns="0" rIns="0" bIns="0" rtlCol="0" anchor="ctr"/>
          <a:lstStyle/>
          <a:p>
            <a:pPr indent="0" marL="0">
              <a:buNone/>
            </a:pPr>
            <a:r>
              <a:rPr lang="en-US" sz="1600" b="1" dirty="0">
                <a:solidFill>
                  <a:srgbClr val="4A3D8F"/>
                </a:solidFill>
              </a:rPr>
              <a:t>interior angle</a:t>
            </a:r>
            <a:endParaRPr lang="en-US" sz="1600" dirty="0"/>
          </a:p>
        </p:txBody>
      </p:sp>
      <p:sp>
        <p:nvSpPr>
          <p:cNvPr id="8" name="Text 6"/>
          <p:cNvSpPr/>
          <p:nvPr/>
        </p:nvSpPr>
        <p:spPr>
          <a:xfrm>
            <a:off x="640080" y="150876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an angle inside a shape, formed where two sides meet</a:t>
            </a:r>
            <a:endParaRPr lang="en-US" sz="1250" dirty="0"/>
          </a:p>
        </p:txBody>
      </p:sp>
      <p:sp>
        <p:nvSpPr>
          <p:cNvPr id="9" name="Shape 7"/>
          <p:cNvSpPr/>
          <p:nvPr/>
        </p:nvSpPr>
        <p:spPr>
          <a:xfrm>
            <a:off x="4754880" y="960120"/>
            <a:ext cx="3931920" cy="1554480"/>
          </a:xfrm>
          <a:prstGeom prst="roundRect">
            <a:avLst>
              <a:gd name="adj" fmla="val 5882"/>
            </a:avLst>
          </a:prstGeom>
          <a:solidFill>
            <a:srgbClr val="E6F2EA"/>
          </a:solidFill>
          <a:ln w="6350">
            <a:solidFill>
              <a:srgbClr val="DDDDEE"/>
            </a:solidFill>
            <a:prstDash val="solid"/>
          </a:ln>
        </p:spPr>
      </p:sp>
      <p:sp>
        <p:nvSpPr>
          <p:cNvPr id="10" name="Text 8"/>
          <p:cNvSpPr/>
          <p:nvPr/>
        </p:nvSpPr>
        <p:spPr>
          <a:xfrm>
            <a:off x="4937760" y="1097280"/>
            <a:ext cx="3566160" cy="365760"/>
          </a:xfrm>
          <a:prstGeom prst="rect">
            <a:avLst/>
          </a:prstGeom>
          <a:noFill/>
          <a:ln/>
        </p:spPr>
        <p:txBody>
          <a:bodyPr wrap="square" lIns="0" tIns="0" rIns="0" bIns="0" rtlCol="0" anchor="ctr"/>
          <a:lstStyle/>
          <a:p>
            <a:pPr indent="0" marL="0">
              <a:buNone/>
            </a:pPr>
            <a:r>
              <a:rPr lang="en-US" sz="1600" b="1" dirty="0">
                <a:solidFill>
                  <a:srgbClr val="2E6E44"/>
                </a:solidFill>
              </a:rPr>
              <a:t>angle sum</a:t>
            </a:r>
            <a:endParaRPr lang="en-US" sz="1600" dirty="0"/>
          </a:p>
        </p:txBody>
      </p:sp>
      <p:sp>
        <p:nvSpPr>
          <p:cNvPr id="11" name="Text 9"/>
          <p:cNvSpPr/>
          <p:nvPr/>
        </p:nvSpPr>
        <p:spPr>
          <a:xfrm>
            <a:off x="4937760" y="150876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the total you get when you add angle measures together</a:t>
            </a:r>
            <a:endParaRPr lang="en-US" sz="1250" dirty="0"/>
          </a:p>
        </p:txBody>
      </p:sp>
      <p:sp>
        <p:nvSpPr>
          <p:cNvPr id="12" name="Shape 10"/>
          <p:cNvSpPr/>
          <p:nvPr/>
        </p:nvSpPr>
        <p:spPr>
          <a:xfrm>
            <a:off x="457200" y="2743200"/>
            <a:ext cx="3931920" cy="1554480"/>
          </a:xfrm>
          <a:prstGeom prst="roundRect">
            <a:avLst>
              <a:gd name="adj" fmla="val 5882"/>
            </a:avLst>
          </a:prstGeom>
          <a:solidFill>
            <a:srgbClr val="FEF6E4"/>
          </a:solidFill>
          <a:ln w="6350">
            <a:solidFill>
              <a:srgbClr val="DDDDEE"/>
            </a:solidFill>
            <a:prstDash val="solid"/>
          </a:ln>
        </p:spPr>
      </p:sp>
      <p:sp>
        <p:nvSpPr>
          <p:cNvPr id="13" name="Text 11"/>
          <p:cNvSpPr/>
          <p:nvPr/>
        </p:nvSpPr>
        <p:spPr>
          <a:xfrm>
            <a:off x="640080" y="2880360"/>
            <a:ext cx="3566160" cy="365760"/>
          </a:xfrm>
          <a:prstGeom prst="rect">
            <a:avLst/>
          </a:prstGeom>
          <a:noFill/>
          <a:ln/>
        </p:spPr>
        <p:txBody>
          <a:bodyPr wrap="square" lIns="0" tIns="0" rIns="0" bIns="0" rtlCol="0" anchor="ctr"/>
          <a:lstStyle/>
          <a:p>
            <a:pPr indent="0" marL="0">
              <a:buNone/>
            </a:pPr>
            <a:r>
              <a:rPr lang="en-US" sz="1600" b="1" dirty="0">
                <a:solidFill>
                  <a:srgbClr val="A66E10"/>
                </a:solidFill>
              </a:rPr>
              <a:t>straight angle</a:t>
            </a:r>
            <a:endParaRPr lang="en-US" sz="1600" dirty="0"/>
          </a:p>
        </p:txBody>
      </p:sp>
      <p:sp>
        <p:nvSpPr>
          <p:cNvPr id="14" name="Text 12"/>
          <p:cNvSpPr/>
          <p:nvPr/>
        </p:nvSpPr>
        <p:spPr>
          <a:xfrm>
            <a:off x="640080" y="329184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an angle that measures exactly 180 degrees</a:t>
            </a:r>
            <a:endParaRPr lang="en-US" sz="1250" dirty="0"/>
          </a:p>
        </p:txBody>
      </p:sp>
      <p:sp>
        <p:nvSpPr>
          <p:cNvPr id="15" name="Shape 13"/>
          <p:cNvSpPr/>
          <p:nvPr/>
        </p:nvSpPr>
        <p:spPr>
          <a:xfrm>
            <a:off x="4754880" y="2743200"/>
            <a:ext cx="3931920" cy="1554480"/>
          </a:xfrm>
          <a:prstGeom prst="roundRect">
            <a:avLst>
              <a:gd name="adj" fmla="val 5882"/>
            </a:avLst>
          </a:prstGeom>
          <a:solidFill>
            <a:srgbClr val="FEF0E6"/>
          </a:solidFill>
          <a:ln w="6350">
            <a:solidFill>
              <a:srgbClr val="DDDDEE"/>
            </a:solidFill>
            <a:prstDash val="solid"/>
          </a:ln>
        </p:spPr>
      </p:sp>
      <p:sp>
        <p:nvSpPr>
          <p:cNvPr id="16" name="Text 14"/>
          <p:cNvSpPr/>
          <p:nvPr/>
        </p:nvSpPr>
        <p:spPr>
          <a:xfrm>
            <a:off x="4937760" y="2880360"/>
            <a:ext cx="3566160" cy="365760"/>
          </a:xfrm>
          <a:prstGeom prst="rect">
            <a:avLst/>
          </a:prstGeom>
          <a:noFill/>
          <a:ln/>
        </p:spPr>
        <p:txBody>
          <a:bodyPr wrap="square" lIns="0" tIns="0" rIns="0" bIns="0" rtlCol="0" anchor="ctr"/>
          <a:lstStyle/>
          <a:p>
            <a:pPr indent="0" marL="0">
              <a:buNone/>
            </a:pPr>
            <a:r>
              <a:rPr lang="en-US" sz="1600" b="1" dirty="0">
                <a:solidFill>
                  <a:srgbClr val="C05818"/>
                </a:solidFill>
              </a:rPr>
              <a:t>degree</a:t>
            </a:r>
            <a:endParaRPr lang="en-US" sz="1600" dirty="0"/>
          </a:p>
        </p:txBody>
      </p:sp>
      <p:sp>
        <p:nvSpPr>
          <p:cNvPr id="17" name="Text 15"/>
          <p:cNvSpPr/>
          <p:nvPr/>
        </p:nvSpPr>
        <p:spPr>
          <a:xfrm>
            <a:off x="4937760" y="3291840"/>
            <a:ext cx="3566160" cy="914400"/>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the unit used to measure the size of an angle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 · Watch &amp; Follow</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1188720" y="1417320"/>
            <a:ext cx="2560320" cy="1874520"/>
          </a:xfrm>
          <a:custGeom>
            <a:avLst/>
            <a:gdLst/>
            <a:ahLst/>
            <a:cxnLst/>
            <a:rect l="l" t="t" r="r" b="b"/>
            <a:pathLst>
              <a:path w="2560320" h="1874520">
                <a:moveTo>
                  <a:pt x="1188720" y="0"/>
                </a:moveTo>
                <a:lnTo>
                  <a:pt x="0" y="1874520"/>
                </a:lnTo>
                <a:lnTo>
                  <a:pt x="2560320" y="1874520"/>
                </a:lnTo>
                <a:close/>
              </a:path>
            </a:pathLst>
          </a:custGeom>
          <a:solidFill>
            <a:srgbClr val="EAE8F5"/>
          </a:solidFill>
          <a:ln w="34925">
            <a:solidFill>
              <a:srgbClr val="1B2A4A"/>
            </a:solidFill>
            <a:prstDash val="solid"/>
          </a:ln>
        </p:spPr>
      </p:sp>
      <p:sp>
        <p:nvSpPr>
          <p:cNvPr id="9" name="Shape 7"/>
          <p:cNvSpPr/>
          <p:nvPr/>
        </p:nvSpPr>
        <p:spPr>
          <a:xfrm>
            <a:off x="2220736" y="1653464"/>
            <a:ext cx="329492" cy="56424"/>
          </a:xfrm>
          <a:custGeom>
            <a:avLst/>
            <a:gdLst/>
            <a:ahLst/>
            <a:cxnLst/>
            <a:rect l="l" t="t" r="r" b="b"/>
            <a:pathLst>
              <a:path w="329492" h="56424">
                <a:moveTo>
                  <a:pt x="329492" y="0"/>
                </a:moveTo>
                <a:lnTo>
                  <a:pt x="317506" y="8320"/>
                </a:lnTo>
                <a:lnTo>
                  <a:pt x="305120" y="16031"/>
                </a:lnTo>
                <a:lnTo>
                  <a:pt x="292365" y="23116"/>
                </a:lnTo>
                <a:lnTo>
                  <a:pt x="279273" y="29556"/>
                </a:lnTo>
                <a:lnTo>
                  <a:pt x="265876" y="35335"/>
                </a:lnTo>
                <a:lnTo>
                  <a:pt x="252208" y="40440"/>
                </a:lnTo>
                <a:lnTo>
                  <a:pt x="238302" y="44857"/>
                </a:lnTo>
                <a:lnTo>
                  <a:pt x="224193" y="48575"/>
                </a:lnTo>
                <a:lnTo>
                  <a:pt x="209917" y="51585"/>
                </a:lnTo>
                <a:lnTo>
                  <a:pt x="195508" y="53880"/>
                </a:lnTo>
                <a:lnTo>
                  <a:pt x="181003" y="55454"/>
                </a:lnTo>
                <a:lnTo>
                  <a:pt x="166437" y="56303"/>
                </a:lnTo>
                <a:lnTo>
                  <a:pt x="151847" y="56424"/>
                </a:lnTo>
                <a:lnTo>
                  <a:pt x="137270" y="55818"/>
                </a:lnTo>
                <a:lnTo>
                  <a:pt x="122740" y="54487"/>
                </a:lnTo>
                <a:lnTo>
                  <a:pt x="108295" y="52432"/>
                </a:lnTo>
                <a:lnTo>
                  <a:pt x="93971" y="49661"/>
                </a:lnTo>
                <a:lnTo>
                  <a:pt x="79802" y="46178"/>
                </a:lnTo>
                <a:lnTo>
                  <a:pt x="65824" y="41994"/>
                </a:lnTo>
                <a:lnTo>
                  <a:pt x="52073" y="37118"/>
                </a:lnTo>
                <a:lnTo>
                  <a:pt x="38582" y="31563"/>
                </a:lnTo>
                <a:lnTo>
                  <a:pt x="25384" y="25342"/>
                </a:lnTo>
                <a:lnTo>
                  <a:pt x="12513" y="18471"/>
                </a:lnTo>
                <a:lnTo>
                  <a:pt x="0" y="10966"/>
                </a:lnTo>
              </a:path>
            </a:pathLst>
          </a:custGeom>
          <a:solidFill>
            <a:srgbClr val="FFFFFF">
              <a:alpha val="0"/>
            </a:srgbClr>
          </a:solidFill>
          <a:ln w="31750">
            <a:solidFill>
              <a:srgbClr val="4A3D8F"/>
            </a:solidFill>
            <a:prstDash val="solid"/>
          </a:ln>
        </p:spPr>
      </p:sp>
      <p:sp>
        <p:nvSpPr>
          <p:cNvPr id="10" name="Text 8"/>
          <p:cNvSpPr/>
          <p:nvPr/>
        </p:nvSpPr>
        <p:spPr>
          <a:xfrm>
            <a:off x="2031755" y="1874186"/>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48°</a:t>
            </a:r>
            <a:endParaRPr lang="en-US" sz="1200" dirty="0"/>
          </a:p>
        </p:txBody>
      </p:sp>
      <p:sp>
        <p:nvSpPr>
          <p:cNvPr id="11" name="Shape 9"/>
          <p:cNvSpPr/>
          <p:nvPr/>
        </p:nvSpPr>
        <p:spPr>
          <a:xfrm>
            <a:off x="1345424" y="3044730"/>
            <a:ext cx="135904" cy="247110"/>
          </a:xfrm>
          <a:custGeom>
            <a:avLst/>
            <a:gdLst/>
            <a:ahLst/>
            <a:cxnLst/>
            <a:rect l="l" t="t" r="r" b="b"/>
            <a:pathLst>
              <a:path w="135904" h="247110">
                <a:moveTo>
                  <a:pt x="0" y="0"/>
                </a:moveTo>
                <a:lnTo>
                  <a:pt x="10214" y="6781"/>
                </a:lnTo>
                <a:lnTo>
                  <a:pt x="20135" y="13984"/>
                </a:lnTo>
                <a:lnTo>
                  <a:pt x="29745" y="21597"/>
                </a:lnTo>
                <a:lnTo>
                  <a:pt x="39028" y="29605"/>
                </a:lnTo>
                <a:lnTo>
                  <a:pt x="47967" y="37995"/>
                </a:lnTo>
                <a:lnTo>
                  <a:pt x="56548" y="46752"/>
                </a:lnTo>
                <a:lnTo>
                  <a:pt x="64753" y="55861"/>
                </a:lnTo>
                <a:lnTo>
                  <a:pt x="72570" y="65306"/>
                </a:lnTo>
                <a:lnTo>
                  <a:pt x="79985" y="75069"/>
                </a:lnTo>
                <a:lnTo>
                  <a:pt x="86984" y="85135"/>
                </a:lnTo>
                <a:lnTo>
                  <a:pt x="93555" y="95485"/>
                </a:lnTo>
                <a:lnTo>
                  <a:pt x="99687" y="106102"/>
                </a:lnTo>
                <a:lnTo>
                  <a:pt x="105368" y="116966"/>
                </a:lnTo>
                <a:lnTo>
                  <a:pt x="110590" y="128058"/>
                </a:lnTo>
                <a:lnTo>
                  <a:pt x="115343" y="139359"/>
                </a:lnTo>
                <a:lnTo>
                  <a:pt x="119617" y="150850"/>
                </a:lnTo>
                <a:lnTo>
                  <a:pt x="123407" y="162509"/>
                </a:lnTo>
                <a:lnTo>
                  <a:pt x="126705" y="174317"/>
                </a:lnTo>
                <a:lnTo>
                  <a:pt x="129506" y="186253"/>
                </a:lnTo>
                <a:lnTo>
                  <a:pt x="131804" y="198296"/>
                </a:lnTo>
                <a:lnTo>
                  <a:pt x="133595" y="210424"/>
                </a:lnTo>
                <a:lnTo>
                  <a:pt x="134877" y="222617"/>
                </a:lnTo>
                <a:lnTo>
                  <a:pt x="135647" y="234853"/>
                </a:lnTo>
                <a:lnTo>
                  <a:pt x="135904" y="247110"/>
                </a:lnTo>
              </a:path>
            </a:pathLst>
          </a:custGeom>
          <a:solidFill>
            <a:srgbClr val="FFFFFF">
              <a:alpha val="0"/>
            </a:srgbClr>
          </a:solidFill>
          <a:ln w="31750">
            <a:solidFill>
              <a:srgbClr val="2E6E44"/>
            </a:solidFill>
            <a:prstDash val="solid"/>
          </a:ln>
        </p:spPr>
      </p:sp>
      <p:sp>
        <p:nvSpPr>
          <p:cNvPr id="12" name="Text 10"/>
          <p:cNvSpPr/>
          <p:nvPr/>
        </p:nvSpPr>
        <p:spPr>
          <a:xfrm>
            <a:off x="1351766" y="2854707"/>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65°</a:t>
            </a:r>
            <a:endParaRPr lang="en-US" sz="1200" dirty="0"/>
          </a:p>
        </p:txBody>
      </p:sp>
      <p:sp>
        <p:nvSpPr>
          <p:cNvPr id="13" name="Shape 11"/>
          <p:cNvSpPr/>
          <p:nvPr/>
        </p:nvSpPr>
        <p:spPr>
          <a:xfrm>
            <a:off x="3456432" y="3055696"/>
            <a:ext cx="119820" cy="236144"/>
          </a:xfrm>
          <a:custGeom>
            <a:avLst/>
            <a:gdLst/>
            <a:ahLst/>
            <a:cxnLst/>
            <a:rect l="l" t="t" r="r" b="b"/>
            <a:pathLst>
              <a:path w="119820" h="236144">
                <a:moveTo>
                  <a:pt x="0" y="236144"/>
                </a:moveTo>
                <a:lnTo>
                  <a:pt x="224" y="224697"/>
                </a:lnTo>
                <a:lnTo>
                  <a:pt x="896" y="213268"/>
                </a:lnTo>
                <a:lnTo>
                  <a:pt x="2014" y="201874"/>
                </a:lnTo>
                <a:lnTo>
                  <a:pt x="3577" y="190532"/>
                </a:lnTo>
                <a:lnTo>
                  <a:pt x="5582" y="179260"/>
                </a:lnTo>
                <a:lnTo>
                  <a:pt x="8027" y="168075"/>
                </a:lnTo>
                <a:lnTo>
                  <a:pt x="10908" y="156995"/>
                </a:lnTo>
                <a:lnTo>
                  <a:pt x="14220" y="146036"/>
                </a:lnTo>
                <a:lnTo>
                  <a:pt x="17958" y="135214"/>
                </a:lnTo>
                <a:lnTo>
                  <a:pt x="22116" y="124547"/>
                </a:lnTo>
                <a:lnTo>
                  <a:pt x="26689" y="114051"/>
                </a:lnTo>
                <a:lnTo>
                  <a:pt x="31669" y="103742"/>
                </a:lnTo>
                <a:lnTo>
                  <a:pt x="37048" y="93636"/>
                </a:lnTo>
                <a:lnTo>
                  <a:pt x="42818" y="83747"/>
                </a:lnTo>
                <a:lnTo>
                  <a:pt x="48971" y="74092"/>
                </a:lnTo>
                <a:lnTo>
                  <a:pt x="55497" y="64685"/>
                </a:lnTo>
                <a:lnTo>
                  <a:pt x="62386" y="55541"/>
                </a:lnTo>
                <a:lnTo>
                  <a:pt x="69627" y="46673"/>
                </a:lnTo>
                <a:lnTo>
                  <a:pt x="77210" y="38095"/>
                </a:lnTo>
                <a:lnTo>
                  <a:pt x="85122" y="29821"/>
                </a:lnTo>
                <a:lnTo>
                  <a:pt x="93352" y="21862"/>
                </a:lnTo>
                <a:lnTo>
                  <a:pt x="101887" y="14231"/>
                </a:lnTo>
                <a:lnTo>
                  <a:pt x="110715" y="6940"/>
                </a:lnTo>
                <a:lnTo>
                  <a:pt x="119820" y="0"/>
                </a:lnTo>
              </a:path>
            </a:pathLst>
          </a:custGeom>
          <a:solidFill>
            <a:srgbClr val="FFFFFF">
              <a:alpha val="0"/>
            </a:srgbClr>
          </a:solidFill>
          <a:ln w="31750">
            <a:solidFill>
              <a:srgbClr val="D9941A"/>
            </a:solidFill>
            <a:prstDash val="solid"/>
          </a:ln>
        </p:spPr>
      </p:sp>
      <p:sp>
        <p:nvSpPr>
          <p:cNvPr id="14" name="Text 12"/>
          <p:cNvSpPr/>
          <p:nvPr/>
        </p:nvSpPr>
        <p:spPr>
          <a:xfrm>
            <a:off x="2845093" y="2872458"/>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a:t>
            </a:r>
            <a:endParaRPr lang="en-US" sz="1200" dirty="0"/>
          </a:p>
        </p:txBody>
      </p:sp>
      <p:sp>
        <p:nvSpPr>
          <p:cNvPr id="15" name="Shape 13"/>
          <p:cNvSpPr/>
          <p:nvPr/>
        </p:nvSpPr>
        <p:spPr>
          <a:xfrm>
            <a:off x="2331720" y="1371600"/>
            <a:ext cx="91440" cy="91440"/>
          </a:xfrm>
          <a:prstGeom prst="ellipse">
            <a:avLst/>
          </a:prstGeom>
          <a:solidFill>
            <a:srgbClr val="1B2A4A"/>
          </a:solidFill>
          <a:ln w="9525">
            <a:solidFill>
              <a:srgbClr val="FFFFFF"/>
            </a:solidFill>
            <a:prstDash val="solid"/>
          </a:ln>
        </p:spPr>
      </p:sp>
      <p:sp>
        <p:nvSpPr>
          <p:cNvPr id="16" name="Shape 14"/>
          <p:cNvSpPr/>
          <p:nvPr/>
        </p:nvSpPr>
        <p:spPr>
          <a:xfrm>
            <a:off x="1143000" y="3246120"/>
            <a:ext cx="91440" cy="91440"/>
          </a:xfrm>
          <a:prstGeom prst="ellipse">
            <a:avLst/>
          </a:prstGeom>
          <a:solidFill>
            <a:srgbClr val="1B2A4A"/>
          </a:solidFill>
          <a:ln w="9525">
            <a:solidFill>
              <a:srgbClr val="FFFFFF"/>
            </a:solidFill>
            <a:prstDash val="solid"/>
          </a:ln>
        </p:spPr>
      </p:sp>
      <p:sp>
        <p:nvSpPr>
          <p:cNvPr id="17" name="Shape 15"/>
          <p:cNvSpPr/>
          <p:nvPr/>
        </p:nvSpPr>
        <p:spPr>
          <a:xfrm>
            <a:off x="3703320" y="3246120"/>
            <a:ext cx="91440" cy="91440"/>
          </a:xfrm>
          <a:prstGeom prst="ellipse">
            <a:avLst/>
          </a:prstGeom>
          <a:solidFill>
            <a:srgbClr val="1B2A4A"/>
          </a:solidFill>
          <a:ln w="9525">
            <a:solidFill>
              <a:srgbClr val="FFFFFF"/>
            </a:solidFill>
            <a:prstDash val="solid"/>
          </a:ln>
        </p:spPr>
      </p:sp>
      <p:sp>
        <p:nvSpPr>
          <p:cNvPr id="18" name="Shape 16"/>
          <p:cNvSpPr/>
          <p:nvPr/>
        </p:nvSpPr>
        <p:spPr>
          <a:xfrm>
            <a:off x="4572000" y="1280160"/>
            <a:ext cx="3931920" cy="3017520"/>
          </a:xfrm>
          <a:prstGeom prst="roundRect">
            <a:avLst>
              <a:gd name="adj" fmla="val 3030"/>
            </a:avLst>
          </a:prstGeom>
          <a:solidFill>
            <a:srgbClr val="FFFFFF"/>
          </a:solidFill>
          <a:ln w="6350">
            <a:solidFill>
              <a:srgbClr val="DDDDEE"/>
            </a:solidFill>
            <a:prstDash val="solid"/>
          </a:ln>
        </p:spPr>
      </p:sp>
      <p:sp>
        <p:nvSpPr>
          <p:cNvPr id="19" name="Text 17"/>
          <p:cNvSpPr/>
          <p:nvPr/>
        </p:nvSpPr>
        <p:spPr>
          <a:xfrm>
            <a:off x="4754880" y="1417320"/>
            <a:ext cx="3566160" cy="777240"/>
          </a:xfrm>
          <a:prstGeom prst="rect">
            <a:avLst/>
          </a:prstGeom>
          <a:noFill/>
          <a:ln/>
        </p:spPr>
        <p:txBody>
          <a:bodyPr wrap="square" lIns="0" tIns="0" rIns="0" bIns="0" rtlCol="0" anchor="ctr"/>
          <a:lstStyle/>
          <a:p>
            <a:pPr indent="0" marL="0">
              <a:buNone/>
            </a:pPr>
            <a:r>
              <a:rPr lang="en-US" sz="1300" b="1" dirty="0">
                <a:solidFill>
                  <a:srgbClr val="4A3D8F"/>
                </a:solidFill>
                <a:latin typeface="Cambria" pitchFamily="34" charset="0"/>
                <a:ea typeface="Cambria" pitchFamily="34" charset="-122"/>
                <a:cs typeface="Cambria" pitchFamily="34" charset="-120"/>
              </a:rPr>
              <a:t>A triangle has two known angles: 48° and 65°. Find the third angle.</a:t>
            </a:r>
            <a:endParaRPr lang="en-US" sz="1300" dirty="0"/>
          </a:p>
        </p:txBody>
      </p:sp>
      <p:sp>
        <p:nvSpPr>
          <p:cNvPr id="20" name="Text 18"/>
          <p:cNvSpPr/>
          <p:nvPr/>
        </p:nvSpPr>
        <p:spPr>
          <a:xfrm>
            <a:off x="4754880" y="2286000"/>
            <a:ext cx="3566160" cy="3657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Add the two known angles:</a:t>
            </a:r>
            <a:endParaRPr lang="en-US" sz="1300" dirty="0"/>
          </a:p>
        </p:txBody>
      </p:sp>
      <p:sp>
        <p:nvSpPr>
          <p:cNvPr id="21" name="Text 19"/>
          <p:cNvSpPr/>
          <p:nvPr/>
        </p:nvSpPr>
        <p:spPr>
          <a:xfrm>
            <a:off x="4754880" y="2670048"/>
            <a:ext cx="3566160" cy="3657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48° + 65° = 113°</a:t>
            </a:r>
            <a:endParaRPr lang="en-US" sz="1300" dirty="0"/>
          </a:p>
        </p:txBody>
      </p:sp>
      <p:sp>
        <p:nvSpPr>
          <p:cNvPr id="22" name="Text 20"/>
          <p:cNvSpPr/>
          <p:nvPr/>
        </p:nvSpPr>
        <p:spPr>
          <a:xfrm>
            <a:off x="4754880" y="3054096"/>
            <a:ext cx="3566160" cy="3657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Subtract from 180°:</a:t>
            </a:r>
            <a:endParaRPr lang="en-US" sz="1300" dirty="0"/>
          </a:p>
        </p:txBody>
      </p:sp>
      <p:sp>
        <p:nvSpPr>
          <p:cNvPr id="23" name="Text 21"/>
          <p:cNvSpPr/>
          <p:nvPr/>
        </p:nvSpPr>
        <p:spPr>
          <a:xfrm>
            <a:off x="4754880" y="3438144"/>
            <a:ext cx="3566160" cy="3657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180° − 113° = 67°</a:t>
            </a:r>
            <a:endParaRPr lang="en-US" sz="1300" dirty="0"/>
          </a:p>
        </p:txBody>
      </p:sp>
      <p:sp>
        <p:nvSpPr>
          <p:cNvPr id="24" name="Text 22"/>
          <p:cNvSpPr/>
          <p:nvPr/>
        </p:nvSpPr>
        <p:spPr>
          <a:xfrm>
            <a:off x="4754880" y="3822192"/>
            <a:ext cx="3566160" cy="3657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The third angle is 67°.</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Right Triangle Special Case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1188720" y="1417320"/>
            <a:ext cx="2560320" cy="1874520"/>
          </a:xfrm>
          <a:custGeom>
            <a:avLst/>
            <a:gdLst/>
            <a:ahLst/>
            <a:cxnLst/>
            <a:rect l="l" t="t" r="r" b="b"/>
            <a:pathLst>
              <a:path w="2560320" h="1874520">
                <a:moveTo>
                  <a:pt x="0" y="1874520"/>
                </a:moveTo>
                <a:lnTo>
                  <a:pt x="0" y="0"/>
                </a:lnTo>
                <a:lnTo>
                  <a:pt x="2560320" y="1874520"/>
                </a:lnTo>
                <a:close/>
              </a:path>
            </a:pathLst>
          </a:custGeom>
          <a:solidFill>
            <a:srgbClr val="EAE8F5"/>
          </a:solidFill>
          <a:ln w="34925">
            <a:solidFill>
              <a:srgbClr val="1B2A4A"/>
            </a:solidFill>
            <a:prstDash val="solid"/>
          </a:ln>
        </p:spPr>
      </p:sp>
      <p:sp>
        <p:nvSpPr>
          <p:cNvPr id="9" name="Shape 7"/>
          <p:cNvSpPr/>
          <p:nvPr/>
        </p:nvSpPr>
        <p:spPr>
          <a:xfrm>
            <a:off x="1188720" y="2999232"/>
            <a:ext cx="292608" cy="292608"/>
          </a:xfrm>
          <a:custGeom>
            <a:avLst/>
            <a:gdLst/>
            <a:ahLst/>
            <a:cxnLst/>
            <a:rect l="l" t="t" r="r" b="b"/>
            <a:pathLst>
              <a:path w="292608" h="292608">
                <a:moveTo>
                  <a:pt x="292608" y="292608"/>
                </a:moveTo>
                <a:lnTo>
                  <a:pt x="291982" y="273471"/>
                </a:lnTo>
                <a:lnTo>
                  <a:pt x="290105" y="254415"/>
                </a:lnTo>
                <a:lnTo>
                  <a:pt x="286986" y="235523"/>
                </a:lnTo>
                <a:lnTo>
                  <a:pt x="282638" y="216875"/>
                </a:lnTo>
                <a:lnTo>
                  <a:pt x="277079" y="198552"/>
                </a:lnTo>
                <a:lnTo>
                  <a:pt x="270335" y="180632"/>
                </a:lnTo>
                <a:lnTo>
                  <a:pt x="262432" y="163191"/>
                </a:lnTo>
                <a:lnTo>
                  <a:pt x="253406" y="146304"/>
                </a:lnTo>
                <a:lnTo>
                  <a:pt x="243295" y="130044"/>
                </a:lnTo>
                <a:lnTo>
                  <a:pt x="232142" y="114480"/>
                </a:lnTo>
                <a:lnTo>
                  <a:pt x="219994" y="99678"/>
                </a:lnTo>
                <a:lnTo>
                  <a:pt x="206905" y="85703"/>
                </a:lnTo>
                <a:lnTo>
                  <a:pt x="192930" y="72614"/>
                </a:lnTo>
                <a:lnTo>
                  <a:pt x="178128" y="60466"/>
                </a:lnTo>
                <a:lnTo>
                  <a:pt x="162564" y="49313"/>
                </a:lnTo>
                <a:lnTo>
                  <a:pt x="146304" y="39202"/>
                </a:lnTo>
                <a:lnTo>
                  <a:pt x="129417" y="30176"/>
                </a:lnTo>
                <a:lnTo>
                  <a:pt x="111976" y="22273"/>
                </a:lnTo>
                <a:lnTo>
                  <a:pt x="94056" y="15529"/>
                </a:lnTo>
                <a:lnTo>
                  <a:pt x="75733" y="9970"/>
                </a:lnTo>
                <a:lnTo>
                  <a:pt x="57085" y="5622"/>
                </a:lnTo>
                <a:lnTo>
                  <a:pt x="38193" y="2503"/>
                </a:lnTo>
                <a:lnTo>
                  <a:pt x="19137" y="626"/>
                </a:lnTo>
                <a:lnTo>
                  <a:pt x="0" y="0"/>
                </a:lnTo>
              </a:path>
            </a:pathLst>
          </a:custGeom>
          <a:solidFill>
            <a:srgbClr val="FFFFFF">
              <a:alpha val="0"/>
            </a:srgbClr>
          </a:solidFill>
          <a:ln w="31750">
            <a:solidFill>
              <a:srgbClr val="4A3D8F"/>
            </a:solidFill>
            <a:prstDash val="solid"/>
          </a:ln>
        </p:spPr>
      </p:sp>
      <p:sp>
        <p:nvSpPr>
          <p:cNvPr id="10" name="Text 8"/>
          <p:cNvSpPr/>
          <p:nvPr/>
        </p:nvSpPr>
        <p:spPr>
          <a:xfrm>
            <a:off x="1249702" y="2718794"/>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90°</a:t>
            </a:r>
            <a:endParaRPr lang="en-US" sz="1200" dirty="0"/>
          </a:p>
        </p:txBody>
      </p:sp>
      <p:sp>
        <p:nvSpPr>
          <p:cNvPr id="11" name="Shape 9"/>
          <p:cNvSpPr/>
          <p:nvPr/>
        </p:nvSpPr>
        <p:spPr>
          <a:xfrm>
            <a:off x="1188720" y="1590175"/>
            <a:ext cx="236095" cy="119753"/>
          </a:xfrm>
          <a:custGeom>
            <a:avLst/>
            <a:gdLst/>
            <a:ahLst/>
            <a:cxnLst/>
            <a:rect l="l" t="t" r="r" b="b"/>
            <a:pathLst>
              <a:path w="236095" h="119753">
                <a:moveTo>
                  <a:pt x="0" y="119753"/>
                </a:moveTo>
                <a:lnTo>
                  <a:pt x="11443" y="119529"/>
                </a:lnTo>
                <a:lnTo>
                  <a:pt x="22869" y="118858"/>
                </a:lnTo>
                <a:lnTo>
                  <a:pt x="34260" y="117741"/>
                </a:lnTo>
                <a:lnTo>
                  <a:pt x="45598" y="116178"/>
                </a:lnTo>
                <a:lnTo>
                  <a:pt x="56866" y="114174"/>
                </a:lnTo>
                <a:lnTo>
                  <a:pt x="68048" y="111731"/>
                </a:lnTo>
                <a:lnTo>
                  <a:pt x="79125" y="108852"/>
                </a:lnTo>
                <a:lnTo>
                  <a:pt x="90082" y="105542"/>
                </a:lnTo>
                <a:lnTo>
                  <a:pt x="100900" y="101806"/>
                </a:lnTo>
                <a:lnTo>
                  <a:pt x="111564" y="97650"/>
                </a:lnTo>
                <a:lnTo>
                  <a:pt x="122058" y="93080"/>
                </a:lnTo>
                <a:lnTo>
                  <a:pt x="132364" y="88103"/>
                </a:lnTo>
                <a:lnTo>
                  <a:pt x="142469" y="82727"/>
                </a:lnTo>
                <a:lnTo>
                  <a:pt x="152355" y="76960"/>
                </a:lnTo>
                <a:lnTo>
                  <a:pt x="162008" y="70811"/>
                </a:lnTo>
                <a:lnTo>
                  <a:pt x="171413" y="64288"/>
                </a:lnTo>
                <a:lnTo>
                  <a:pt x="180556" y="57403"/>
                </a:lnTo>
                <a:lnTo>
                  <a:pt x="189423" y="50166"/>
                </a:lnTo>
                <a:lnTo>
                  <a:pt x="198000" y="42588"/>
                </a:lnTo>
                <a:lnTo>
                  <a:pt x="206274" y="34680"/>
                </a:lnTo>
                <a:lnTo>
                  <a:pt x="214232" y="26454"/>
                </a:lnTo>
                <a:lnTo>
                  <a:pt x="221863" y="17923"/>
                </a:lnTo>
                <a:lnTo>
                  <a:pt x="229154" y="9101"/>
                </a:lnTo>
                <a:lnTo>
                  <a:pt x="236095" y="0"/>
                </a:lnTo>
              </a:path>
            </a:pathLst>
          </a:custGeom>
          <a:solidFill>
            <a:srgbClr val="FFFFFF">
              <a:alpha val="0"/>
            </a:srgbClr>
          </a:solidFill>
          <a:ln w="31750">
            <a:solidFill>
              <a:srgbClr val="2E6E44"/>
            </a:solidFill>
            <a:prstDash val="solid"/>
          </a:ln>
        </p:spPr>
      </p:sp>
      <p:sp>
        <p:nvSpPr>
          <p:cNvPr id="12" name="Text 10"/>
          <p:cNvSpPr/>
          <p:nvPr/>
        </p:nvSpPr>
        <p:spPr>
          <a:xfrm>
            <a:off x="1095962" y="1809242"/>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37°</a:t>
            </a:r>
            <a:endParaRPr lang="en-US" sz="1200" dirty="0"/>
          </a:p>
        </p:txBody>
      </p:sp>
      <p:sp>
        <p:nvSpPr>
          <p:cNvPr id="13" name="Shape 11"/>
          <p:cNvSpPr/>
          <p:nvPr/>
        </p:nvSpPr>
        <p:spPr>
          <a:xfrm>
            <a:off x="3456432" y="3118985"/>
            <a:ext cx="56513" cy="172855"/>
          </a:xfrm>
          <a:custGeom>
            <a:avLst/>
            <a:gdLst/>
            <a:ahLst/>
            <a:cxnLst/>
            <a:rect l="l" t="t" r="r" b="b"/>
            <a:pathLst>
              <a:path w="56513" h="172855">
                <a:moveTo>
                  <a:pt x="56513" y="0"/>
                </a:moveTo>
                <a:lnTo>
                  <a:pt x="52044" y="6276"/>
                </a:lnTo>
                <a:lnTo>
                  <a:pt x="47742" y="12668"/>
                </a:lnTo>
                <a:lnTo>
                  <a:pt x="43609" y="19170"/>
                </a:lnTo>
                <a:lnTo>
                  <a:pt x="39649" y="25780"/>
                </a:lnTo>
                <a:lnTo>
                  <a:pt x="35864" y="32491"/>
                </a:lnTo>
                <a:lnTo>
                  <a:pt x="32258" y="39299"/>
                </a:lnTo>
                <a:lnTo>
                  <a:pt x="28831" y="46200"/>
                </a:lnTo>
                <a:lnTo>
                  <a:pt x="25588" y="53189"/>
                </a:lnTo>
                <a:lnTo>
                  <a:pt x="22530" y="60261"/>
                </a:lnTo>
                <a:lnTo>
                  <a:pt x="19659" y="67411"/>
                </a:lnTo>
                <a:lnTo>
                  <a:pt x="16978" y="74634"/>
                </a:lnTo>
                <a:lnTo>
                  <a:pt x="14487" y="81926"/>
                </a:lnTo>
                <a:lnTo>
                  <a:pt x="12189" y="89280"/>
                </a:lnTo>
                <a:lnTo>
                  <a:pt x="10086" y="96692"/>
                </a:lnTo>
                <a:lnTo>
                  <a:pt x="8179" y="104157"/>
                </a:lnTo>
                <a:lnTo>
                  <a:pt x="6469" y="111670"/>
                </a:lnTo>
                <a:lnTo>
                  <a:pt x="4957" y="119225"/>
                </a:lnTo>
                <a:lnTo>
                  <a:pt x="3644" y="126817"/>
                </a:lnTo>
                <a:lnTo>
                  <a:pt x="2532" y="134441"/>
                </a:lnTo>
                <a:lnTo>
                  <a:pt x="1622" y="142092"/>
                </a:lnTo>
                <a:lnTo>
                  <a:pt x="913" y="149764"/>
                </a:lnTo>
                <a:lnTo>
                  <a:pt x="406" y="157452"/>
                </a:lnTo>
                <a:lnTo>
                  <a:pt x="101" y="165151"/>
                </a:lnTo>
                <a:lnTo>
                  <a:pt x="0" y="172855"/>
                </a:lnTo>
              </a:path>
            </a:pathLst>
          </a:custGeom>
          <a:solidFill>
            <a:srgbClr val="FFFFFF">
              <a:alpha val="0"/>
            </a:srgbClr>
          </a:solidFill>
          <a:ln w="31750">
            <a:solidFill>
              <a:srgbClr val="D9941A"/>
            </a:solidFill>
            <a:prstDash val="solid"/>
          </a:ln>
        </p:spPr>
      </p:sp>
      <p:sp>
        <p:nvSpPr>
          <p:cNvPr id="14" name="Text 12"/>
          <p:cNvSpPr/>
          <p:nvPr/>
        </p:nvSpPr>
        <p:spPr>
          <a:xfrm>
            <a:off x="2809655" y="2957994"/>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a:t>
            </a:r>
            <a:endParaRPr lang="en-US" sz="1200" dirty="0"/>
          </a:p>
        </p:txBody>
      </p:sp>
      <p:sp>
        <p:nvSpPr>
          <p:cNvPr id="15" name="Shape 13"/>
          <p:cNvSpPr/>
          <p:nvPr/>
        </p:nvSpPr>
        <p:spPr>
          <a:xfrm>
            <a:off x="1143000" y="3246120"/>
            <a:ext cx="91440" cy="91440"/>
          </a:xfrm>
          <a:prstGeom prst="ellipse">
            <a:avLst/>
          </a:prstGeom>
          <a:solidFill>
            <a:srgbClr val="1B2A4A"/>
          </a:solidFill>
          <a:ln w="9525">
            <a:solidFill>
              <a:srgbClr val="FFFFFF"/>
            </a:solidFill>
            <a:prstDash val="solid"/>
          </a:ln>
        </p:spPr>
      </p:sp>
      <p:sp>
        <p:nvSpPr>
          <p:cNvPr id="16" name="Shape 14"/>
          <p:cNvSpPr/>
          <p:nvPr/>
        </p:nvSpPr>
        <p:spPr>
          <a:xfrm>
            <a:off x="1143000" y="1371600"/>
            <a:ext cx="91440" cy="91440"/>
          </a:xfrm>
          <a:prstGeom prst="ellipse">
            <a:avLst/>
          </a:prstGeom>
          <a:solidFill>
            <a:srgbClr val="1B2A4A"/>
          </a:solidFill>
          <a:ln w="9525">
            <a:solidFill>
              <a:srgbClr val="FFFFFF"/>
            </a:solidFill>
            <a:prstDash val="solid"/>
          </a:ln>
        </p:spPr>
      </p:sp>
      <p:sp>
        <p:nvSpPr>
          <p:cNvPr id="17" name="Shape 15"/>
          <p:cNvSpPr/>
          <p:nvPr/>
        </p:nvSpPr>
        <p:spPr>
          <a:xfrm>
            <a:off x="3703320" y="3246120"/>
            <a:ext cx="91440" cy="91440"/>
          </a:xfrm>
          <a:prstGeom prst="ellipse">
            <a:avLst/>
          </a:prstGeom>
          <a:solidFill>
            <a:srgbClr val="1B2A4A"/>
          </a:solidFill>
          <a:ln w="9525">
            <a:solidFill>
              <a:srgbClr val="FFFFFF"/>
            </a:solidFill>
            <a:prstDash val="solid"/>
          </a:ln>
        </p:spPr>
      </p:sp>
      <p:sp>
        <p:nvSpPr>
          <p:cNvPr id="18" name="Shape 16"/>
          <p:cNvSpPr/>
          <p:nvPr/>
        </p:nvSpPr>
        <p:spPr>
          <a:xfrm>
            <a:off x="1188720" y="3145536"/>
            <a:ext cx="146304" cy="146304"/>
          </a:xfrm>
          <a:custGeom>
            <a:avLst/>
            <a:gdLst/>
            <a:ahLst/>
            <a:cxnLst/>
            <a:rect l="l" t="t" r="r" b="b"/>
            <a:pathLst>
              <a:path w="146304" h="146304">
                <a:moveTo>
                  <a:pt x="0" y="146304"/>
                </a:moveTo>
                <a:lnTo>
                  <a:pt x="146304" y="146304"/>
                </a:lnTo>
                <a:lnTo>
                  <a:pt x="146304" y="0"/>
                </a:lnTo>
                <a:lnTo>
                  <a:pt x="0" y="0"/>
                </a:lnTo>
                <a:close/>
              </a:path>
            </a:pathLst>
          </a:custGeom>
          <a:solidFill>
            <a:srgbClr val="FFFFFF"/>
          </a:solidFill>
          <a:ln w="19050">
            <a:solidFill>
              <a:srgbClr val="1B2A4A"/>
            </a:solidFill>
            <a:prstDash val="solid"/>
          </a:ln>
        </p:spPr>
      </p:sp>
      <p:sp>
        <p:nvSpPr>
          <p:cNvPr id="19" name="Shape 17"/>
          <p:cNvSpPr/>
          <p:nvPr/>
        </p:nvSpPr>
        <p:spPr>
          <a:xfrm>
            <a:off x="4572000" y="1280160"/>
            <a:ext cx="3931920" cy="3017520"/>
          </a:xfrm>
          <a:prstGeom prst="roundRect">
            <a:avLst>
              <a:gd name="adj" fmla="val 3030"/>
            </a:avLst>
          </a:prstGeom>
          <a:solidFill>
            <a:srgbClr val="FFFFFF"/>
          </a:solidFill>
          <a:ln w="6350">
            <a:solidFill>
              <a:srgbClr val="DDDDEE"/>
            </a:solidFill>
            <a:prstDash val="solid"/>
          </a:ln>
        </p:spPr>
      </p:sp>
      <p:sp>
        <p:nvSpPr>
          <p:cNvPr id="20" name="Text 18"/>
          <p:cNvSpPr/>
          <p:nvPr/>
        </p:nvSpPr>
        <p:spPr>
          <a:xfrm>
            <a:off x="4754880" y="1417320"/>
            <a:ext cx="3566160" cy="777240"/>
          </a:xfrm>
          <a:prstGeom prst="rect">
            <a:avLst/>
          </a:prstGeom>
          <a:noFill/>
          <a:ln/>
        </p:spPr>
        <p:txBody>
          <a:bodyPr wrap="square" lIns="0" tIns="0" rIns="0" bIns="0" rtlCol="0" anchor="ctr"/>
          <a:lstStyle/>
          <a:p>
            <a:pPr indent="0" marL="0">
              <a:buNone/>
            </a:pPr>
            <a:r>
              <a:rPr lang="en-US" sz="1300" b="1" dirty="0">
                <a:solidFill>
                  <a:srgbClr val="4A3D8F"/>
                </a:solidFill>
                <a:latin typeface="Cambria" pitchFamily="34" charset="0"/>
                <a:ea typeface="Cambria" pitchFamily="34" charset="-122"/>
                <a:cs typeface="Cambria" pitchFamily="34" charset="-120"/>
              </a:rPr>
              <a:t>A right triangle has one angle of 90° and one angle of 37°. Find the third angle.</a:t>
            </a:r>
            <a:endParaRPr lang="en-US" sz="1300" dirty="0"/>
          </a:p>
        </p:txBody>
      </p:sp>
      <p:sp>
        <p:nvSpPr>
          <p:cNvPr id="21" name="Text 19"/>
          <p:cNvSpPr/>
          <p:nvPr/>
        </p:nvSpPr>
        <p:spPr>
          <a:xfrm>
            <a:off x="4754880" y="2286000"/>
            <a:ext cx="3566160" cy="329184"/>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 right angle is always 90°.</a:t>
            </a:r>
            <a:endParaRPr lang="en-US" sz="1250" dirty="0"/>
          </a:p>
        </p:txBody>
      </p:sp>
      <p:sp>
        <p:nvSpPr>
          <p:cNvPr id="22" name="Text 20"/>
          <p:cNvSpPr/>
          <p:nvPr/>
        </p:nvSpPr>
        <p:spPr>
          <a:xfrm>
            <a:off x="4754880" y="2633472"/>
            <a:ext cx="3566160" cy="329184"/>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Add the two known angles:</a:t>
            </a:r>
            <a:endParaRPr lang="en-US" sz="1250" dirty="0"/>
          </a:p>
        </p:txBody>
      </p:sp>
      <p:sp>
        <p:nvSpPr>
          <p:cNvPr id="23" name="Text 21"/>
          <p:cNvSpPr/>
          <p:nvPr/>
        </p:nvSpPr>
        <p:spPr>
          <a:xfrm>
            <a:off x="4754880" y="2980944"/>
            <a:ext cx="3566160" cy="329184"/>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90° + 37° = 127°</a:t>
            </a:r>
            <a:endParaRPr lang="en-US" sz="1250" dirty="0"/>
          </a:p>
        </p:txBody>
      </p:sp>
      <p:sp>
        <p:nvSpPr>
          <p:cNvPr id="24" name="Text 22"/>
          <p:cNvSpPr/>
          <p:nvPr/>
        </p:nvSpPr>
        <p:spPr>
          <a:xfrm>
            <a:off x="4754880" y="3328416"/>
            <a:ext cx="3566160" cy="329184"/>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Subtract from 180°:</a:t>
            </a:r>
            <a:endParaRPr lang="en-US" sz="1250" dirty="0"/>
          </a:p>
        </p:txBody>
      </p:sp>
      <p:sp>
        <p:nvSpPr>
          <p:cNvPr id="25" name="Text 23"/>
          <p:cNvSpPr/>
          <p:nvPr/>
        </p:nvSpPr>
        <p:spPr>
          <a:xfrm>
            <a:off x="4754880" y="3675888"/>
            <a:ext cx="3566160" cy="329184"/>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180° − 127° = 53°</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Isosceles Triangle Special Case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1005840" y="1280160"/>
            <a:ext cx="2743200" cy="2011680"/>
          </a:xfrm>
          <a:custGeom>
            <a:avLst/>
            <a:gdLst/>
            <a:ahLst/>
            <a:cxnLst/>
            <a:rect l="l" t="t" r="r" b="b"/>
            <a:pathLst>
              <a:path w="2743200" h="2011680">
                <a:moveTo>
                  <a:pt x="1371600" y="0"/>
                </a:moveTo>
                <a:lnTo>
                  <a:pt x="0" y="2011680"/>
                </a:lnTo>
                <a:lnTo>
                  <a:pt x="2743200" y="2011680"/>
                </a:lnTo>
                <a:close/>
              </a:path>
            </a:pathLst>
          </a:custGeom>
          <a:solidFill>
            <a:srgbClr val="EAE8F5"/>
          </a:solidFill>
          <a:ln w="34925">
            <a:solidFill>
              <a:srgbClr val="1B2A4A"/>
            </a:solidFill>
            <a:prstDash val="solid"/>
          </a:ln>
        </p:spPr>
      </p:sp>
      <p:sp>
        <p:nvSpPr>
          <p:cNvPr id="9" name="Shape 7"/>
          <p:cNvSpPr/>
          <p:nvPr/>
        </p:nvSpPr>
        <p:spPr>
          <a:xfrm>
            <a:off x="2212603" y="1521921"/>
            <a:ext cx="329674" cy="50847"/>
          </a:xfrm>
          <a:custGeom>
            <a:avLst/>
            <a:gdLst/>
            <a:ahLst/>
            <a:cxnLst/>
            <a:rect l="l" t="t" r="r" b="b"/>
            <a:pathLst>
              <a:path w="329674" h="50847">
                <a:moveTo>
                  <a:pt x="329674" y="0"/>
                </a:moveTo>
                <a:lnTo>
                  <a:pt x="317418" y="7916"/>
                </a:lnTo>
                <a:lnTo>
                  <a:pt x="304782" y="15212"/>
                </a:lnTo>
                <a:lnTo>
                  <a:pt x="291799" y="21868"/>
                </a:lnTo>
                <a:lnTo>
                  <a:pt x="278500" y="27869"/>
                </a:lnTo>
                <a:lnTo>
                  <a:pt x="264918" y="33200"/>
                </a:lnTo>
                <a:lnTo>
                  <a:pt x="251087" y="37847"/>
                </a:lnTo>
                <a:lnTo>
                  <a:pt x="237042" y="41798"/>
                </a:lnTo>
                <a:lnTo>
                  <a:pt x="222818" y="45045"/>
                </a:lnTo>
                <a:lnTo>
                  <a:pt x="208449" y="47579"/>
                </a:lnTo>
                <a:lnTo>
                  <a:pt x="193972" y="49393"/>
                </a:lnTo>
                <a:lnTo>
                  <a:pt x="179423" y="50484"/>
                </a:lnTo>
                <a:lnTo>
                  <a:pt x="164837" y="50847"/>
                </a:lnTo>
                <a:lnTo>
                  <a:pt x="150251" y="50484"/>
                </a:lnTo>
                <a:lnTo>
                  <a:pt x="135702" y="49393"/>
                </a:lnTo>
                <a:lnTo>
                  <a:pt x="121224" y="47579"/>
                </a:lnTo>
                <a:lnTo>
                  <a:pt x="106856" y="45045"/>
                </a:lnTo>
                <a:lnTo>
                  <a:pt x="92631" y="41798"/>
                </a:lnTo>
                <a:lnTo>
                  <a:pt x="78586" y="37847"/>
                </a:lnTo>
                <a:lnTo>
                  <a:pt x="64756" y="33200"/>
                </a:lnTo>
                <a:lnTo>
                  <a:pt x="51174" y="27869"/>
                </a:lnTo>
                <a:lnTo>
                  <a:pt x="37875" y="21868"/>
                </a:lnTo>
                <a:lnTo>
                  <a:pt x="24892" y="15212"/>
                </a:lnTo>
                <a:lnTo>
                  <a:pt x="12256" y="7916"/>
                </a:lnTo>
                <a:lnTo>
                  <a:pt x="0" y="0"/>
                </a:lnTo>
              </a:path>
            </a:pathLst>
          </a:custGeom>
          <a:solidFill>
            <a:srgbClr val="FFFFFF">
              <a:alpha val="0"/>
            </a:srgbClr>
          </a:solidFill>
          <a:ln w="31750">
            <a:solidFill>
              <a:srgbClr val="D9941A"/>
            </a:solidFill>
            <a:prstDash val="solid"/>
          </a:ln>
        </p:spPr>
      </p:sp>
      <p:sp>
        <p:nvSpPr>
          <p:cNvPr id="10" name="Text 8"/>
          <p:cNvSpPr/>
          <p:nvPr/>
        </p:nvSpPr>
        <p:spPr>
          <a:xfrm>
            <a:off x="2011680" y="1737360"/>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40°</a:t>
            </a:r>
            <a:endParaRPr lang="en-US" sz="1200" dirty="0"/>
          </a:p>
        </p:txBody>
      </p:sp>
      <p:sp>
        <p:nvSpPr>
          <p:cNvPr id="11" name="Shape 9"/>
          <p:cNvSpPr/>
          <p:nvPr/>
        </p:nvSpPr>
        <p:spPr>
          <a:xfrm>
            <a:off x="1170677" y="3050079"/>
            <a:ext cx="127771" cy="241761"/>
          </a:xfrm>
          <a:custGeom>
            <a:avLst/>
            <a:gdLst/>
            <a:ahLst/>
            <a:cxnLst/>
            <a:rect l="l" t="t" r="r" b="b"/>
            <a:pathLst>
              <a:path w="127771" h="241761">
                <a:moveTo>
                  <a:pt x="0" y="0"/>
                </a:moveTo>
                <a:lnTo>
                  <a:pt x="9657" y="6875"/>
                </a:lnTo>
                <a:lnTo>
                  <a:pt x="19028" y="14136"/>
                </a:lnTo>
                <a:lnTo>
                  <a:pt x="28097" y="21770"/>
                </a:lnTo>
                <a:lnTo>
                  <a:pt x="36849" y="29765"/>
                </a:lnTo>
                <a:lnTo>
                  <a:pt x="45271" y="38108"/>
                </a:lnTo>
                <a:lnTo>
                  <a:pt x="53347" y="46786"/>
                </a:lnTo>
                <a:lnTo>
                  <a:pt x="61065" y="55783"/>
                </a:lnTo>
                <a:lnTo>
                  <a:pt x="68413" y="65086"/>
                </a:lnTo>
                <a:lnTo>
                  <a:pt x="75378" y="74679"/>
                </a:lnTo>
                <a:lnTo>
                  <a:pt x="81948" y="84545"/>
                </a:lnTo>
                <a:lnTo>
                  <a:pt x="88114" y="94670"/>
                </a:lnTo>
                <a:lnTo>
                  <a:pt x="93864" y="105037"/>
                </a:lnTo>
                <a:lnTo>
                  <a:pt x="99189" y="115628"/>
                </a:lnTo>
                <a:lnTo>
                  <a:pt x="104082" y="126425"/>
                </a:lnTo>
                <a:lnTo>
                  <a:pt x="108533" y="137412"/>
                </a:lnTo>
                <a:lnTo>
                  <a:pt x="112535" y="148571"/>
                </a:lnTo>
                <a:lnTo>
                  <a:pt x="116082" y="159882"/>
                </a:lnTo>
                <a:lnTo>
                  <a:pt x="119168" y="171328"/>
                </a:lnTo>
                <a:lnTo>
                  <a:pt x="121788" y="182889"/>
                </a:lnTo>
                <a:lnTo>
                  <a:pt x="123937" y="194547"/>
                </a:lnTo>
                <a:lnTo>
                  <a:pt x="125612" y="206283"/>
                </a:lnTo>
                <a:lnTo>
                  <a:pt x="126811" y="218076"/>
                </a:lnTo>
                <a:lnTo>
                  <a:pt x="127531" y="229909"/>
                </a:lnTo>
                <a:lnTo>
                  <a:pt x="127771" y="241761"/>
                </a:lnTo>
              </a:path>
            </a:pathLst>
          </a:custGeom>
          <a:solidFill>
            <a:srgbClr val="FFFFFF">
              <a:alpha val="0"/>
            </a:srgbClr>
          </a:solidFill>
          <a:ln w="31750">
            <a:solidFill>
              <a:srgbClr val="4A3D8F"/>
            </a:solidFill>
            <a:prstDash val="solid"/>
          </a:ln>
        </p:spPr>
      </p:sp>
      <p:sp>
        <p:nvSpPr>
          <p:cNvPr id="12" name="Text 10"/>
          <p:cNvSpPr/>
          <p:nvPr/>
        </p:nvSpPr>
        <p:spPr>
          <a:xfrm>
            <a:off x="1173650" y="2863543"/>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a:t>
            </a:r>
            <a:endParaRPr lang="en-US" sz="1200" dirty="0"/>
          </a:p>
        </p:txBody>
      </p:sp>
      <p:sp>
        <p:nvSpPr>
          <p:cNvPr id="13" name="Shape 11"/>
          <p:cNvSpPr/>
          <p:nvPr/>
        </p:nvSpPr>
        <p:spPr>
          <a:xfrm>
            <a:off x="3456432" y="3050079"/>
            <a:ext cx="127771" cy="241761"/>
          </a:xfrm>
          <a:custGeom>
            <a:avLst/>
            <a:gdLst/>
            <a:ahLst/>
            <a:cxnLst/>
            <a:rect l="l" t="t" r="r" b="b"/>
            <a:pathLst>
              <a:path w="127771" h="241761">
                <a:moveTo>
                  <a:pt x="0" y="241761"/>
                </a:moveTo>
                <a:lnTo>
                  <a:pt x="240" y="229909"/>
                </a:lnTo>
                <a:lnTo>
                  <a:pt x="960" y="218076"/>
                </a:lnTo>
                <a:lnTo>
                  <a:pt x="2159" y="206283"/>
                </a:lnTo>
                <a:lnTo>
                  <a:pt x="3834" y="194547"/>
                </a:lnTo>
                <a:lnTo>
                  <a:pt x="5984" y="182889"/>
                </a:lnTo>
                <a:lnTo>
                  <a:pt x="8603" y="171328"/>
                </a:lnTo>
                <a:lnTo>
                  <a:pt x="11689" y="159882"/>
                </a:lnTo>
                <a:lnTo>
                  <a:pt x="15236" y="148571"/>
                </a:lnTo>
                <a:lnTo>
                  <a:pt x="19238" y="137412"/>
                </a:lnTo>
                <a:lnTo>
                  <a:pt x="23689" y="126425"/>
                </a:lnTo>
                <a:lnTo>
                  <a:pt x="28582" y="115628"/>
                </a:lnTo>
                <a:lnTo>
                  <a:pt x="33907" y="105037"/>
                </a:lnTo>
                <a:lnTo>
                  <a:pt x="39658" y="94670"/>
                </a:lnTo>
                <a:lnTo>
                  <a:pt x="45823" y="84545"/>
                </a:lnTo>
                <a:lnTo>
                  <a:pt x="52394" y="74679"/>
                </a:lnTo>
                <a:lnTo>
                  <a:pt x="59358" y="65086"/>
                </a:lnTo>
                <a:lnTo>
                  <a:pt x="66706" y="55783"/>
                </a:lnTo>
                <a:lnTo>
                  <a:pt x="74424" y="46786"/>
                </a:lnTo>
                <a:lnTo>
                  <a:pt x="82501" y="38108"/>
                </a:lnTo>
                <a:lnTo>
                  <a:pt x="90922" y="29765"/>
                </a:lnTo>
                <a:lnTo>
                  <a:pt x="99674" y="21770"/>
                </a:lnTo>
                <a:lnTo>
                  <a:pt x="108743" y="14136"/>
                </a:lnTo>
                <a:lnTo>
                  <a:pt x="118114" y="6875"/>
                </a:lnTo>
                <a:lnTo>
                  <a:pt x="127771" y="0"/>
                </a:lnTo>
              </a:path>
            </a:pathLst>
          </a:custGeom>
          <a:solidFill>
            <a:srgbClr val="FFFFFF">
              <a:alpha val="0"/>
            </a:srgbClr>
          </a:solidFill>
          <a:ln w="31750">
            <a:solidFill>
              <a:srgbClr val="4A3D8F"/>
            </a:solidFill>
            <a:prstDash val="solid"/>
          </a:ln>
        </p:spPr>
      </p:sp>
      <p:sp>
        <p:nvSpPr>
          <p:cNvPr id="14" name="Text 12"/>
          <p:cNvSpPr/>
          <p:nvPr/>
        </p:nvSpPr>
        <p:spPr>
          <a:xfrm>
            <a:off x="2849710" y="2863543"/>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a:t>
            </a:r>
            <a:endParaRPr lang="en-US" sz="1200" dirty="0"/>
          </a:p>
        </p:txBody>
      </p:sp>
      <p:sp>
        <p:nvSpPr>
          <p:cNvPr id="15" name="Text 13"/>
          <p:cNvSpPr/>
          <p:nvPr/>
        </p:nvSpPr>
        <p:spPr>
          <a:xfrm>
            <a:off x="1874520" y="3429000"/>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equal sides</a:t>
            </a:r>
            <a:endParaRPr lang="en-US" sz="1200" dirty="0"/>
          </a:p>
        </p:txBody>
      </p:sp>
      <p:sp>
        <p:nvSpPr>
          <p:cNvPr id="16" name="Text 14"/>
          <p:cNvSpPr/>
          <p:nvPr/>
        </p:nvSpPr>
        <p:spPr>
          <a:xfrm>
            <a:off x="2806765" y="2028356"/>
            <a:ext cx="1005840" cy="274320"/>
          </a:xfrm>
          <a:prstGeom prst="rect">
            <a:avLst/>
          </a:prstGeom>
          <a:noFill/>
          <a:ln/>
        </p:spPr>
        <p:txBody>
          <a:bodyPr wrap="square" lIns="0" tIns="0" rIns="0" bIns="0" rtlCol="0" anchor="ctr"/>
          <a:lstStyle/>
          <a:p>
            <a:pPr algn="ctr" indent="0" marL="0">
              <a:buNone/>
            </a:pPr>
            <a:r>
              <a:rPr lang="en-US" sz="1200" b="1" dirty="0">
                <a:solidFill>
                  <a:srgbClr val="1A1A2E"/>
                </a:solidFill>
              </a:rPr>
              <a:t>equal sides</a:t>
            </a:r>
            <a:endParaRPr lang="en-US" sz="1200" dirty="0"/>
          </a:p>
        </p:txBody>
      </p:sp>
      <p:sp>
        <p:nvSpPr>
          <p:cNvPr id="17" name="Shape 15"/>
          <p:cNvSpPr/>
          <p:nvPr/>
        </p:nvSpPr>
        <p:spPr>
          <a:xfrm>
            <a:off x="2331720" y="1234440"/>
            <a:ext cx="91440" cy="91440"/>
          </a:xfrm>
          <a:prstGeom prst="ellipse">
            <a:avLst/>
          </a:prstGeom>
          <a:solidFill>
            <a:srgbClr val="1B2A4A"/>
          </a:solidFill>
          <a:ln w="9525">
            <a:solidFill>
              <a:srgbClr val="FFFFFF"/>
            </a:solidFill>
            <a:prstDash val="solid"/>
          </a:ln>
        </p:spPr>
      </p:sp>
      <p:sp>
        <p:nvSpPr>
          <p:cNvPr id="18" name="Shape 16"/>
          <p:cNvSpPr/>
          <p:nvPr/>
        </p:nvSpPr>
        <p:spPr>
          <a:xfrm>
            <a:off x="960120" y="3246120"/>
            <a:ext cx="91440" cy="91440"/>
          </a:xfrm>
          <a:prstGeom prst="ellipse">
            <a:avLst/>
          </a:prstGeom>
          <a:solidFill>
            <a:srgbClr val="1B2A4A"/>
          </a:solidFill>
          <a:ln w="9525">
            <a:solidFill>
              <a:srgbClr val="FFFFFF"/>
            </a:solidFill>
            <a:prstDash val="solid"/>
          </a:ln>
        </p:spPr>
      </p:sp>
      <p:sp>
        <p:nvSpPr>
          <p:cNvPr id="19" name="Shape 17"/>
          <p:cNvSpPr/>
          <p:nvPr/>
        </p:nvSpPr>
        <p:spPr>
          <a:xfrm>
            <a:off x="3703320" y="3246120"/>
            <a:ext cx="91440" cy="91440"/>
          </a:xfrm>
          <a:prstGeom prst="ellipse">
            <a:avLst/>
          </a:prstGeom>
          <a:solidFill>
            <a:srgbClr val="1B2A4A"/>
          </a:solidFill>
          <a:ln w="9525">
            <a:solidFill>
              <a:srgbClr val="FFFFFF"/>
            </a:solidFill>
            <a:prstDash val="solid"/>
          </a:ln>
        </p:spPr>
      </p:sp>
      <p:sp>
        <p:nvSpPr>
          <p:cNvPr id="20" name="Shape 18"/>
          <p:cNvSpPr/>
          <p:nvPr/>
        </p:nvSpPr>
        <p:spPr>
          <a:xfrm>
            <a:off x="4572000" y="1280160"/>
            <a:ext cx="3931920" cy="3200400"/>
          </a:xfrm>
          <a:prstGeom prst="roundRect">
            <a:avLst>
              <a:gd name="adj" fmla="val 2857"/>
            </a:avLst>
          </a:prstGeom>
          <a:solidFill>
            <a:srgbClr val="FFFFFF"/>
          </a:solidFill>
          <a:ln w="6350">
            <a:solidFill>
              <a:srgbClr val="DDDDEE"/>
            </a:solidFill>
            <a:prstDash val="solid"/>
          </a:ln>
        </p:spPr>
      </p:sp>
      <p:sp>
        <p:nvSpPr>
          <p:cNvPr id="21" name="Text 19"/>
          <p:cNvSpPr/>
          <p:nvPr/>
        </p:nvSpPr>
        <p:spPr>
          <a:xfrm>
            <a:off x="4754880" y="1417320"/>
            <a:ext cx="3566160" cy="914400"/>
          </a:xfrm>
          <a:prstGeom prst="rect">
            <a:avLst/>
          </a:prstGeom>
          <a:noFill/>
          <a:ln/>
        </p:spPr>
        <p:txBody>
          <a:bodyPr wrap="square" lIns="0" tIns="0" rIns="0" bIns="0" rtlCol="0" anchor="ctr"/>
          <a:lstStyle/>
          <a:p>
            <a:pPr indent="0" marL="0">
              <a:buNone/>
            </a:pPr>
            <a:r>
              <a:rPr lang="en-US" sz="1300" b="1" dirty="0">
                <a:solidFill>
                  <a:srgbClr val="4A3D8F"/>
                </a:solidFill>
                <a:latin typeface="Cambria" pitchFamily="34" charset="0"/>
                <a:ea typeface="Cambria" pitchFamily="34" charset="-122"/>
                <a:cs typeface="Cambria" pitchFamily="34" charset="-120"/>
              </a:rPr>
              <a:t>An isosceles triangle has a vertex angle of 40°. The two base angles are equal. Find each base angle.</a:t>
            </a:r>
            <a:endParaRPr lang="en-US" sz="1300" dirty="0"/>
          </a:p>
        </p:txBody>
      </p:sp>
      <p:sp>
        <p:nvSpPr>
          <p:cNvPr id="22" name="Text 20"/>
          <p:cNvSpPr/>
          <p:nvPr/>
        </p:nvSpPr>
        <p:spPr>
          <a:xfrm>
            <a:off x="4754880" y="2423160"/>
            <a:ext cx="3566160" cy="347472"/>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Subtract the known angle from 180°:</a:t>
            </a:r>
            <a:endParaRPr lang="en-US" sz="1250" dirty="0"/>
          </a:p>
        </p:txBody>
      </p:sp>
      <p:sp>
        <p:nvSpPr>
          <p:cNvPr id="23" name="Text 21"/>
          <p:cNvSpPr/>
          <p:nvPr/>
        </p:nvSpPr>
        <p:spPr>
          <a:xfrm>
            <a:off x="4754880" y="2788920"/>
            <a:ext cx="3566160" cy="347472"/>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180° − 40° = 140°</a:t>
            </a:r>
            <a:endParaRPr lang="en-US" sz="1250" dirty="0"/>
          </a:p>
        </p:txBody>
      </p:sp>
      <p:sp>
        <p:nvSpPr>
          <p:cNvPr id="24" name="Text 22"/>
          <p:cNvSpPr/>
          <p:nvPr/>
        </p:nvSpPr>
        <p:spPr>
          <a:xfrm>
            <a:off x="4754880" y="3154680"/>
            <a:ext cx="3566160" cy="347472"/>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The two base angles share that total equally:</a:t>
            </a:r>
            <a:endParaRPr lang="en-US" sz="1250" dirty="0"/>
          </a:p>
        </p:txBody>
      </p:sp>
      <p:sp>
        <p:nvSpPr>
          <p:cNvPr id="25" name="Text 23"/>
          <p:cNvSpPr/>
          <p:nvPr/>
        </p:nvSpPr>
        <p:spPr>
          <a:xfrm>
            <a:off x="4754880" y="3520440"/>
            <a:ext cx="3566160" cy="347472"/>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140° ÷ 2 = 70°</a:t>
            </a:r>
            <a:endParaRPr lang="en-US" sz="1250" dirty="0"/>
          </a:p>
        </p:txBody>
      </p:sp>
      <p:sp>
        <p:nvSpPr>
          <p:cNvPr id="26" name="Text 24"/>
          <p:cNvSpPr/>
          <p:nvPr/>
        </p:nvSpPr>
        <p:spPr>
          <a:xfrm>
            <a:off x="4754880" y="3886200"/>
            <a:ext cx="3566160" cy="347472"/>
          </a:xfrm>
          <a:prstGeom prst="rect">
            <a:avLst/>
          </a:prstGeom>
          <a:noFill/>
          <a:ln/>
        </p:spPr>
        <p:txBody>
          <a:bodyPr wrap="square" lIns="0" tIns="0" rIns="0" bIns="0" rtlCol="0" anchor="ctr"/>
          <a:lstStyle/>
          <a:p>
            <a:pPr indent="0" marL="0">
              <a:buNone/>
            </a:pPr>
            <a:r>
              <a:rPr lang="en-US" sz="1250" dirty="0">
                <a:solidFill>
                  <a:srgbClr val="1A1A2E"/>
                </a:solidFill>
                <a:latin typeface="Cambria" pitchFamily="34" charset="0"/>
                <a:ea typeface="Cambria" pitchFamily="34" charset="-122"/>
                <a:cs typeface="Cambria" pitchFamily="34" charset="-120"/>
              </a:rPr>
              <a:t>Each base angle is 70°.</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Your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1005840" y="1280160"/>
            <a:ext cx="2743200" cy="2011680"/>
          </a:xfrm>
          <a:custGeom>
            <a:avLst/>
            <a:gdLst/>
            <a:ahLst/>
            <a:cxnLst/>
            <a:rect l="l" t="t" r="r" b="b"/>
            <a:pathLst>
              <a:path w="2743200" h="2011680">
                <a:moveTo>
                  <a:pt x="1371600" y="0"/>
                </a:moveTo>
                <a:lnTo>
                  <a:pt x="0" y="2011680"/>
                </a:lnTo>
                <a:lnTo>
                  <a:pt x="2743200" y="2011680"/>
                </a:lnTo>
                <a:close/>
              </a:path>
            </a:pathLst>
          </a:custGeom>
          <a:solidFill>
            <a:srgbClr val="EAE8F5"/>
          </a:solidFill>
          <a:ln w="34925">
            <a:solidFill>
              <a:srgbClr val="1B2A4A"/>
            </a:solidFill>
            <a:prstDash val="solid"/>
          </a:ln>
        </p:spPr>
      </p:sp>
      <p:sp>
        <p:nvSpPr>
          <p:cNvPr id="7" name="Shape 5"/>
          <p:cNvSpPr/>
          <p:nvPr/>
        </p:nvSpPr>
        <p:spPr>
          <a:xfrm>
            <a:off x="2212603" y="1521921"/>
            <a:ext cx="329674" cy="50847"/>
          </a:xfrm>
          <a:custGeom>
            <a:avLst/>
            <a:gdLst/>
            <a:ahLst/>
            <a:cxnLst/>
            <a:rect l="l" t="t" r="r" b="b"/>
            <a:pathLst>
              <a:path w="329674" h="50847">
                <a:moveTo>
                  <a:pt x="329674" y="0"/>
                </a:moveTo>
                <a:lnTo>
                  <a:pt x="317418" y="7916"/>
                </a:lnTo>
                <a:lnTo>
                  <a:pt x="304782" y="15212"/>
                </a:lnTo>
                <a:lnTo>
                  <a:pt x="291799" y="21868"/>
                </a:lnTo>
                <a:lnTo>
                  <a:pt x="278500" y="27869"/>
                </a:lnTo>
                <a:lnTo>
                  <a:pt x="264918" y="33200"/>
                </a:lnTo>
                <a:lnTo>
                  <a:pt x="251087" y="37847"/>
                </a:lnTo>
                <a:lnTo>
                  <a:pt x="237042" y="41798"/>
                </a:lnTo>
                <a:lnTo>
                  <a:pt x="222818" y="45045"/>
                </a:lnTo>
                <a:lnTo>
                  <a:pt x="208449" y="47579"/>
                </a:lnTo>
                <a:lnTo>
                  <a:pt x="193972" y="49393"/>
                </a:lnTo>
                <a:lnTo>
                  <a:pt x="179423" y="50484"/>
                </a:lnTo>
                <a:lnTo>
                  <a:pt x="164837" y="50847"/>
                </a:lnTo>
                <a:lnTo>
                  <a:pt x="150251" y="50484"/>
                </a:lnTo>
                <a:lnTo>
                  <a:pt x="135702" y="49393"/>
                </a:lnTo>
                <a:lnTo>
                  <a:pt x="121224" y="47579"/>
                </a:lnTo>
                <a:lnTo>
                  <a:pt x="106856" y="45045"/>
                </a:lnTo>
                <a:lnTo>
                  <a:pt x="92631" y="41798"/>
                </a:lnTo>
                <a:lnTo>
                  <a:pt x="78586" y="37847"/>
                </a:lnTo>
                <a:lnTo>
                  <a:pt x="64756" y="33200"/>
                </a:lnTo>
                <a:lnTo>
                  <a:pt x="51174" y="27869"/>
                </a:lnTo>
                <a:lnTo>
                  <a:pt x="37875" y="21868"/>
                </a:lnTo>
                <a:lnTo>
                  <a:pt x="24892" y="15212"/>
                </a:lnTo>
                <a:lnTo>
                  <a:pt x="12256" y="7916"/>
                </a:lnTo>
                <a:lnTo>
                  <a:pt x="0" y="0"/>
                </a:lnTo>
              </a:path>
            </a:pathLst>
          </a:custGeom>
          <a:solidFill>
            <a:srgbClr val="FFFFFF">
              <a:alpha val="0"/>
            </a:srgbClr>
          </a:solidFill>
          <a:ln w="31750">
            <a:solidFill>
              <a:srgbClr val="4A3D8F"/>
            </a:solidFill>
            <a:prstDash val="solid"/>
          </a:ln>
        </p:spPr>
      </p:sp>
      <p:sp>
        <p:nvSpPr>
          <p:cNvPr id="8" name="Text 6"/>
          <p:cNvSpPr/>
          <p:nvPr/>
        </p:nvSpPr>
        <p:spPr>
          <a:xfrm>
            <a:off x="2011680" y="1737360"/>
            <a:ext cx="731520" cy="292608"/>
          </a:xfrm>
          <a:prstGeom prst="rect">
            <a:avLst/>
          </a:prstGeom>
          <a:noFill/>
          <a:ln/>
        </p:spPr>
        <p:txBody>
          <a:bodyPr wrap="square" lIns="0" tIns="0" rIns="0" bIns="0" rtlCol="0" anchor="ctr"/>
          <a:lstStyle/>
          <a:p>
            <a:pPr algn="ctr" indent="0" marL="0">
              <a:buNone/>
            </a:pPr>
            <a:r>
              <a:rPr lang="en-US" sz="1200" b="1" dirty="0">
                <a:solidFill>
                  <a:srgbClr val="4A3D8F"/>
                </a:solidFill>
              </a:rPr>
              <a:t>72°</a:t>
            </a:r>
            <a:endParaRPr lang="en-US" sz="1200" dirty="0"/>
          </a:p>
        </p:txBody>
      </p:sp>
      <p:sp>
        <p:nvSpPr>
          <p:cNvPr id="9" name="Shape 7"/>
          <p:cNvSpPr/>
          <p:nvPr/>
        </p:nvSpPr>
        <p:spPr>
          <a:xfrm>
            <a:off x="1170677" y="3050079"/>
            <a:ext cx="127771" cy="241761"/>
          </a:xfrm>
          <a:custGeom>
            <a:avLst/>
            <a:gdLst/>
            <a:ahLst/>
            <a:cxnLst/>
            <a:rect l="l" t="t" r="r" b="b"/>
            <a:pathLst>
              <a:path w="127771" h="241761">
                <a:moveTo>
                  <a:pt x="0" y="0"/>
                </a:moveTo>
                <a:lnTo>
                  <a:pt x="9657" y="6875"/>
                </a:lnTo>
                <a:lnTo>
                  <a:pt x="19028" y="14136"/>
                </a:lnTo>
                <a:lnTo>
                  <a:pt x="28097" y="21770"/>
                </a:lnTo>
                <a:lnTo>
                  <a:pt x="36849" y="29765"/>
                </a:lnTo>
                <a:lnTo>
                  <a:pt x="45271" y="38108"/>
                </a:lnTo>
                <a:lnTo>
                  <a:pt x="53347" y="46786"/>
                </a:lnTo>
                <a:lnTo>
                  <a:pt x="61065" y="55783"/>
                </a:lnTo>
                <a:lnTo>
                  <a:pt x="68413" y="65086"/>
                </a:lnTo>
                <a:lnTo>
                  <a:pt x="75378" y="74679"/>
                </a:lnTo>
                <a:lnTo>
                  <a:pt x="81948" y="84545"/>
                </a:lnTo>
                <a:lnTo>
                  <a:pt x="88114" y="94670"/>
                </a:lnTo>
                <a:lnTo>
                  <a:pt x="93864" y="105037"/>
                </a:lnTo>
                <a:lnTo>
                  <a:pt x="99189" y="115628"/>
                </a:lnTo>
                <a:lnTo>
                  <a:pt x="104082" y="126425"/>
                </a:lnTo>
                <a:lnTo>
                  <a:pt x="108533" y="137412"/>
                </a:lnTo>
                <a:lnTo>
                  <a:pt x="112535" y="148571"/>
                </a:lnTo>
                <a:lnTo>
                  <a:pt x="116082" y="159882"/>
                </a:lnTo>
                <a:lnTo>
                  <a:pt x="119168" y="171328"/>
                </a:lnTo>
                <a:lnTo>
                  <a:pt x="121788" y="182889"/>
                </a:lnTo>
                <a:lnTo>
                  <a:pt x="123937" y="194547"/>
                </a:lnTo>
                <a:lnTo>
                  <a:pt x="125612" y="206283"/>
                </a:lnTo>
                <a:lnTo>
                  <a:pt x="126811" y="218076"/>
                </a:lnTo>
                <a:lnTo>
                  <a:pt x="127531" y="229909"/>
                </a:lnTo>
                <a:lnTo>
                  <a:pt x="127771" y="241761"/>
                </a:lnTo>
              </a:path>
            </a:pathLst>
          </a:custGeom>
          <a:solidFill>
            <a:srgbClr val="FFFFFF">
              <a:alpha val="0"/>
            </a:srgbClr>
          </a:solidFill>
          <a:ln w="31750">
            <a:solidFill>
              <a:srgbClr val="2E6E44"/>
            </a:solidFill>
            <a:prstDash val="solid"/>
          </a:ln>
        </p:spPr>
      </p:sp>
      <p:sp>
        <p:nvSpPr>
          <p:cNvPr id="10" name="Text 8"/>
          <p:cNvSpPr/>
          <p:nvPr/>
        </p:nvSpPr>
        <p:spPr>
          <a:xfrm>
            <a:off x="1173650" y="2863543"/>
            <a:ext cx="731520" cy="292608"/>
          </a:xfrm>
          <a:prstGeom prst="rect">
            <a:avLst/>
          </a:prstGeom>
          <a:noFill/>
          <a:ln/>
        </p:spPr>
        <p:txBody>
          <a:bodyPr wrap="square" lIns="0" tIns="0" rIns="0" bIns="0" rtlCol="0" anchor="ctr"/>
          <a:lstStyle/>
          <a:p>
            <a:pPr algn="ctr" indent="0" marL="0">
              <a:buNone/>
            </a:pPr>
            <a:r>
              <a:rPr lang="en-US" sz="1200" b="1" dirty="0">
                <a:solidFill>
                  <a:srgbClr val="2E6E44"/>
                </a:solidFill>
              </a:rPr>
              <a:t>48°</a:t>
            </a:r>
            <a:endParaRPr lang="en-US" sz="1200" dirty="0"/>
          </a:p>
        </p:txBody>
      </p:sp>
      <p:sp>
        <p:nvSpPr>
          <p:cNvPr id="11" name="Shape 9"/>
          <p:cNvSpPr/>
          <p:nvPr/>
        </p:nvSpPr>
        <p:spPr>
          <a:xfrm>
            <a:off x="3456432" y="3050079"/>
            <a:ext cx="127771" cy="241761"/>
          </a:xfrm>
          <a:custGeom>
            <a:avLst/>
            <a:gdLst/>
            <a:ahLst/>
            <a:cxnLst/>
            <a:rect l="l" t="t" r="r" b="b"/>
            <a:pathLst>
              <a:path w="127771" h="241761">
                <a:moveTo>
                  <a:pt x="0" y="241761"/>
                </a:moveTo>
                <a:lnTo>
                  <a:pt x="240" y="229909"/>
                </a:lnTo>
                <a:lnTo>
                  <a:pt x="960" y="218076"/>
                </a:lnTo>
                <a:lnTo>
                  <a:pt x="2159" y="206283"/>
                </a:lnTo>
                <a:lnTo>
                  <a:pt x="3834" y="194547"/>
                </a:lnTo>
                <a:lnTo>
                  <a:pt x="5984" y="182889"/>
                </a:lnTo>
                <a:lnTo>
                  <a:pt x="8603" y="171328"/>
                </a:lnTo>
                <a:lnTo>
                  <a:pt x="11689" y="159882"/>
                </a:lnTo>
                <a:lnTo>
                  <a:pt x="15236" y="148571"/>
                </a:lnTo>
                <a:lnTo>
                  <a:pt x="19238" y="137412"/>
                </a:lnTo>
                <a:lnTo>
                  <a:pt x="23689" y="126425"/>
                </a:lnTo>
                <a:lnTo>
                  <a:pt x="28582" y="115628"/>
                </a:lnTo>
                <a:lnTo>
                  <a:pt x="33907" y="105037"/>
                </a:lnTo>
                <a:lnTo>
                  <a:pt x="39658" y="94670"/>
                </a:lnTo>
                <a:lnTo>
                  <a:pt x="45823" y="84545"/>
                </a:lnTo>
                <a:lnTo>
                  <a:pt x="52394" y="74679"/>
                </a:lnTo>
                <a:lnTo>
                  <a:pt x="59358" y="65086"/>
                </a:lnTo>
                <a:lnTo>
                  <a:pt x="66706" y="55783"/>
                </a:lnTo>
                <a:lnTo>
                  <a:pt x="74424" y="46786"/>
                </a:lnTo>
                <a:lnTo>
                  <a:pt x="82501" y="38108"/>
                </a:lnTo>
                <a:lnTo>
                  <a:pt x="90922" y="29765"/>
                </a:lnTo>
                <a:lnTo>
                  <a:pt x="99674" y="21770"/>
                </a:lnTo>
                <a:lnTo>
                  <a:pt x="108743" y="14136"/>
                </a:lnTo>
                <a:lnTo>
                  <a:pt x="118114" y="6875"/>
                </a:lnTo>
                <a:lnTo>
                  <a:pt x="127771" y="0"/>
                </a:lnTo>
              </a:path>
            </a:pathLst>
          </a:custGeom>
          <a:solidFill>
            <a:srgbClr val="FFFFFF">
              <a:alpha val="0"/>
            </a:srgbClr>
          </a:solidFill>
          <a:ln w="31750">
            <a:solidFill>
              <a:srgbClr val="D9941A"/>
            </a:solidFill>
            <a:prstDash val="solid"/>
          </a:ln>
        </p:spPr>
      </p:sp>
      <p:sp>
        <p:nvSpPr>
          <p:cNvPr id="12" name="Text 10"/>
          <p:cNvSpPr/>
          <p:nvPr/>
        </p:nvSpPr>
        <p:spPr>
          <a:xfrm>
            <a:off x="2849710" y="2863543"/>
            <a:ext cx="731520" cy="292608"/>
          </a:xfrm>
          <a:prstGeom prst="rect">
            <a:avLst/>
          </a:prstGeom>
          <a:noFill/>
          <a:ln/>
        </p:spPr>
        <p:txBody>
          <a:bodyPr wrap="square" lIns="0" tIns="0" rIns="0" bIns="0" rtlCol="0" anchor="ctr"/>
          <a:lstStyle/>
          <a:p>
            <a:pPr algn="ctr" indent="0" marL="0">
              <a:buNone/>
            </a:pPr>
            <a:r>
              <a:rPr lang="en-US" sz="1200" b="1" dirty="0">
                <a:solidFill>
                  <a:srgbClr val="D9941A"/>
                </a:solidFill>
              </a:rPr>
              <a:t>?</a:t>
            </a:r>
            <a:endParaRPr lang="en-US" sz="1200" dirty="0"/>
          </a:p>
        </p:txBody>
      </p:sp>
      <p:sp>
        <p:nvSpPr>
          <p:cNvPr id="13" name="Shape 11"/>
          <p:cNvSpPr/>
          <p:nvPr/>
        </p:nvSpPr>
        <p:spPr>
          <a:xfrm>
            <a:off x="2331720" y="1234440"/>
            <a:ext cx="91440" cy="91440"/>
          </a:xfrm>
          <a:prstGeom prst="ellipse">
            <a:avLst/>
          </a:prstGeom>
          <a:solidFill>
            <a:srgbClr val="1B2A4A"/>
          </a:solidFill>
          <a:ln w="9525">
            <a:solidFill>
              <a:srgbClr val="FFFFFF"/>
            </a:solidFill>
            <a:prstDash val="solid"/>
          </a:ln>
        </p:spPr>
      </p:sp>
      <p:sp>
        <p:nvSpPr>
          <p:cNvPr id="14" name="Shape 12"/>
          <p:cNvSpPr/>
          <p:nvPr/>
        </p:nvSpPr>
        <p:spPr>
          <a:xfrm>
            <a:off x="960120" y="3246120"/>
            <a:ext cx="91440" cy="91440"/>
          </a:xfrm>
          <a:prstGeom prst="ellipse">
            <a:avLst/>
          </a:prstGeom>
          <a:solidFill>
            <a:srgbClr val="1B2A4A"/>
          </a:solidFill>
          <a:ln w="9525">
            <a:solidFill>
              <a:srgbClr val="FFFFFF"/>
            </a:solidFill>
            <a:prstDash val="solid"/>
          </a:ln>
        </p:spPr>
      </p:sp>
      <p:sp>
        <p:nvSpPr>
          <p:cNvPr id="15" name="Shape 13"/>
          <p:cNvSpPr/>
          <p:nvPr/>
        </p:nvSpPr>
        <p:spPr>
          <a:xfrm>
            <a:off x="3703320" y="3246120"/>
            <a:ext cx="91440" cy="91440"/>
          </a:xfrm>
          <a:prstGeom prst="ellipse">
            <a:avLst/>
          </a:prstGeom>
          <a:solidFill>
            <a:srgbClr val="1B2A4A"/>
          </a:solidFill>
          <a:ln w="9525">
            <a:solidFill>
              <a:srgbClr val="FFFFFF"/>
            </a:solidFill>
            <a:prstDash val="solid"/>
          </a:ln>
        </p:spPr>
      </p:sp>
      <p:sp>
        <p:nvSpPr>
          <p:cNvPr id="16" name="Shape 14"/>
          <p:cNvSpPr/>
          <p:nvPr/>
        </p:nvSpPr>
        <p:spPr>
          <a:xfrm>
            <a:off x="4572000" y="1280160"/>
            <a:ext cx="3931920" cy="2011680"/>
          </a:xfrm>
          <a:prstGeom prst="roundRect">
            <a:avLst>
              <a:gd name="adj" fmla="val 4545"/>
            </a:avLst>
          </a:prstGeom>
          <a:solidFill>
            <a:srgbClr val="FFFFFF"/>
          </a:solidFill>
          <a:ln w="6350">
            <a:solidFill>
              <a:srgbClr val="DDDDEE"/>
            </a:solidFill>
            <a:prstDash val="solid"/>
          </a:ln>
        </p:spPr>
      </p:sp>
      <p:sp>
        <p:nvSpPr>
          <p:cNvPr id="17" name="Text 15"/>
          <p:cNvSpPr/>
          <p:nvPr/>
        </p:nvSpPr>
        <p:spPr>
          <a:xfrm>
            <a:off x="4754880" y="1463040"/>
            <a:ext cx="3566160" cy="914400"/>
          </a:xfrm>
          <a:prstGeom prst="rect">
            <a:avLst/>
          </a:prstGeom>
          <a:noFill/>
          <a:ln/>
        </p:spPr>
        <p:txBody>
          <a:bodyPr wrap="square" lIns="0" tIns="0" rIns="0" bIns="0" rtlCol="0" anchor="ctr"/>
          <a:lstStyle/>
          <a:p>
            <a:pPr indent="0" marL="0">
              <a:buNone/>
            </a:pPr>
            <a:r>
              <a:rPr lang="en-US" sz="1500" b="1" dirty="0">
                <a:solidFill>
                  <a:srgbClr val="4A3D8F"/>
                </a:solidFill>
                <a:latin typeface="Cambria" pitchFamily="34" charset="0"/>
                <a:ea typeface="Cambria" pitchFamily="34" charset="-122"/>
                <a:cs typeface="Cambria" pitchFamily="34" charset="-120"/>
              </a:rPr>
              <a:t>A triangle has angles 72° and 48°. Find the third angle.</a:t>
            </a:r>
            <a:endParaRPr lang="en-US" sz="1500" dirty="0"/>
          </a:p>
        </p:txBody>
      </p:sp>
      <p:sp>
        <p:nvSpPr>
          <p:cNvPr id="18" name="Shape 16"/>
          <p:cNvSpPr/>
          <p:nvPr/>
        </p:nvSpPr>
        <p:spPr>
          <a:xfrm>
            <a:off x="914400" y="3703320"/>
            <a:ext cx="7315200" cy="438912"/>
          </a:xfrm>
          <a:prstGeom prst="roundRect">
            <a:avLst>
              <a:gd name="adj" fmla="val 12500"/>
            </a:avLst>
          </a:prstGeom>
          <a:solidFill>
            <a:srgbClr val="464EB8"/>
          </a:solidFill>
          <a:ln w="12700">
            <a:solidFill>
              <a:srgbClr val="464EB8"/>
            </a:solidFill>
            <a:prstDash val="solid"/>
          </a:ln>
        </p:spPr>
      </p:sp>
      <p:sp>
        <p:nvSpPr>
          <p:cNvPr id="19" name="Text 17"/>
          <p:cNvSpPr/>
          <p:nvPr/>
        </p:nvSpPr>
        <p:spPr>
          <a:xfrm>
            <a:off x="914400" y="370332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missing angle's measure AND how you found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194560"/>
          </a:xfrm>
          <a:prstGeom prst="roundRect">
            <a:avLst>
              <a:gd name="adj" fmla="val 4167"/>
            </a:avLst>
          </a:prstGeom>
          <a:solidFill>
            <a:srgbClr val="EAE8F5"/>
          </a:solidFill>
          <a:ln w="6350">
            <a:solidFill>
              <a:srgbClr val="DDDDEE"/>
            </a:solidFill>
            <a:prstDash val="solid"/>
          </a:ln>
        </p:spPr>
      </p:sp>
      <p:sp>
        <p:nvSpPr>
          <p:cNvPr id="7" name="Text 5"/>
          <p:cNvSpPr/>
          <p:nvPr/>
        </p:nvSpPr>
        <p:spPr>
          <a:xfrm>
            <a:off x="685800" y="1371600"/>
            <a:ext cx="7772400" cy="1828800"/>
          </a:xfrm>
          <a:prstGeom prst="rect">
            <a:avLst/>
          </a:prstGeom>
          <a:noFill/>
          <a:ln/>
        </p:spPr>
        <p:txBody>
          <a:bodyPr wrap="square" lIns="0" tIns="0" rIns="0" bIns="0" rtlCol="0" anchor="ctr"/>
          <a:lstStyle/>
          <a:p>
            <a:pPr indent="0" marL="0">
              <a:buNone/>
            </a:pPr>
            <a:r>
              <a:rPr lang="en-US" sz="1900" dirty="0">
                <a:solidFill>
                  <a:srgbClr val="1A1A2E"/>
                </a:solidFill>
                <a:latin typeface="Cambria" pitchFamily="34" charset="0"/>
                <a:ea typeface="Cambria" pitchFamily="34" charset="-122"/>
                <a:cs typeface="Cambria" pitchFamily="34" charset="-120"/>
              </a:rPr>
              <a:t>Next you will use shape properties to classify quadrilaterals — and later, find their angle sum too.</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 triangle has angles of 55° and 60°. What is the measure of the third angle?</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55°</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65°</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75°</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115°</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 triangle has angles of 55° and 60°. What is the measure of the third angle?</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55°</a:t>
            </a:r>
            <a:endParaRPr lang="en-US" sz="2000" dirty="0"/>
          </a:p>
        </p:txBody>
      </p:sp>
      <p:sp>
        <p:nvSpPr>
          <p:cNvPr id="10" name="Shape 8"/>
          <p:cNvSpPr/>
          <p:nvPr/>
        </p:nvSpPr>
        <p:spPr>
          <a:xfrm>
            <a:off x="2834640" y="2103120"/>
            <a:ext cx="1737360" cy="822960"/>
          </a:xfrm>
          <a:prstGeom prst="roundRect">
            <a:avLst>
              <a:gd name="adj" fmla="val 8889"/>
            </a:avLst>
          </a:prstGeom>
          <a:solidFill>
            <a:srgbClr val="2E6E44"/>
          </a:solidFill>
          <a:ln w="12700">
            <a:solidFill>
              <a:srgbClr val="2E6E44"/>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65°</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75°</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115°</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55° + 60° = 115°; 180° − 115° = 65°.</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the three corner angles always fit together into a straight line, no matter how I reshaped the triangle. That straight line is always 180°, so the three angles always total 180°.</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 my missing-angle answer by adding all three angles back together. If two known angles plus my answer don't total 180°, I know I made a mistake somewhere.</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three corners as puzzle pieces that snap together along one flat edge. Seeing them slide into place helps me believe the rule instead of just memorizing it.</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term is interior angle sum: the sum of a triangle's three interior angles is always 180 degrees. Using that exact phrase helps me explain my reasoning clearly on paper.</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for Lesson 5.11.04.</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Complete the Show What You Know checks in the Canvas lesson.</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Review your Math Journal answers before submitting.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5.11.04 The Sum of the Angles in a Triangle — Teacher Slides</dc:title>
  <dc:subject>PptxGenJS Presentation</dc:subject>
  <dc:creator>PptxGenJS</dc:creator>
  <cp:lastModifiedBy>PptxGenJS</cp:lastModifiedBy>
  <cp:revision>1</cp:revision>
  <dcterms:created xsi:type="dcterms:W3CDTF">2026-09-24T19:17:16Z</dcterms:created>
  <dcterms:modified xsi:type="dcterms:W3CDTF">2026-09-24T19:17:16Z</dcterms:modified>
</cp:coreProperties>
</file>