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present the problem. Give 60 seconds of silent think time before taking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present the problem. Give 60 seconds of silent think time before taking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this is the conceptual anchor from Unit 10 -- have 2-3 students paraphrase out loud before moving on. Try It: cold-call 1-2 students to explain how they knew; confirm 7 and connect back to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this is the conceptual anchor from Unit 10 -- have 2-3 students paraphrase out loud before moving on. Try It: cold-call 1-2 students to explain how they knew; confirm 7 and connect back to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Frame today's focus: the last two lessons classified triangles and proved their angles sum to 180 degrees. Today we shift to four-sided shapes and sort them by side and angle properties instead of by how they happen to look.
Transition: "Let's look at today's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(1-2 min)
Read the I Can statement aloud. Emphasize that a shape can earn more than one name at once if it meets more than one set of properties.
Transition: "Before we sort quadrilaterals, let's warm up what we already know about triangles."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Quick individual review of Lesson 5.11.03/5.11.04 skills -- classifying by sides, classifying by angles, and using the 180° angle-sum rule.
Anticipated: equilateral, right, 45°.
Common error: subtracting 70-65 instead of 180-70-65 for the third question -- correct with 180-70-65=45.
Transition: "Today we use those same sorting skills on a shape with one more side -- a quadrilateral."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(1-2 min)
Gather 2-3 chat responses (window, door, book cover, tile, sign).
Anticipated: window, door, tile.
Transition: "Let's look closely at two quadrilaterals and see what's actually different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Do not reveal category names or rules yet. Collect notices (both shapes have 4 equal sides, the corners look different) and wonders (does the tilted one still count as a square? can a shape have more than one name?).
Anticipated wonder: 'why isn't the tilted one still a square if the sides are equal?'
Transition: "Let's read one real quadrilateral closely and see exactly what it tells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(4-5 min)
This is a real drawn quadrilateral with real angle arcs and real side lengths -- students classify it by physically reading the figure, not by a stated rule.
Point to each 90° arc, then each 5 cm side label.
Ask: 'Which single property would this shape lose if we tilted it into a diamond, keeping the same side lengths?' (the right angles).
Common error: naming it only a rhombus (from the equal sides) or only a rectangle (from the right angles) instead of recognizing it earns both names at once.
Transition: "Let's line up five members of the quadrilateral family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(3-4 min)
Compare all five diagrams side by side, left to right, from least to most specific. Ask students to point to what makes each shape's name true.
Anticipated for the chat prompt: rectangle and rhombus (both have two pairs of parallel sides).
Common error: thinking the trapezoid belongs in the parallelogram family -- point out it has only ONE pair of parallel sides, so it's a separate branch.
Transition: "Let's state the family rules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(2-3 min)
Have a student paraphrase each rule out loud without looking at a diagram.
Common error: assuming every quadrilateral is a parallelogram -- point back to the trapezoid on the Pictorial slide as the shape that breaks that assumption.
Transition: "Let's collect the vocabulary words we'll use to name these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(2-3 min)
Have students read each definition aloud, then point to a matching shape from the Pictorial slide.
Transition: "Let's use this vocabulary to classify real quadrilaterals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(3 min)
Work the steps aloud. Point to the four 90° arcs, then the four 6 cm side labels.
Anticipated: square.
Common error: naming it only a rectangle or only a rhombus instead of noticing it satisfies both sets of properties at once.
Transition: "Now let's use a rectangle's properties to find its perimeter."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(3 min)
Work the steps aloud. Point to the 10 cm and 4 cm side labels before adding.
Anticipated: 28 cm.
Common error: multiplying length times width (finding area, 40 cm²) instead of adding length and width first, then doubling.
Transition: "Now let's compare two shapes that are easy to mix up -- a parallelogram and a rhombus."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C (3-4 min)
Compare the two shapes side by side. Point out both have opposite sides parallel -- that alone only proves parallelogram.
Anticipated: Shape A is a parallelogram; Shape B is a rhombus.
Common error: calling Shape B a square because its sides look even, instead of checking that it has no right angles.
Transition: "Now let's classify a shape with only ONE pair of parallel sides, and find its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D (3-4 min)
Point to the dashed height line as a separate measurement from the two parallel sides.
Anticipated: trapezoid, 47.5 cm².
Common error: adding all four sides instead of only the two parallel sides, or forgetting the 'take half' step at the end.
Transition: "Your turn -- classify a shape and decide whether it also fits a broader family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(3-4 min)
Give real independent think time before taking chat answers.
Anticipated: rhombus; yes, it is also a parallelogram because it has two pairs of parallel sides.
Common error: saying no because the shape 'looks tilted,' forgetting that a parallelogram is defined by parallel sides, not by orientation.
Transition: "Let's reason through one more tricky claim about squares and rectangles."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 REASONING (3 min): this is the Independent Practice's hardest problem, so reason through it together before students meet it independently.
Ask: 'What does a rectangle require? What does a square require?'
Anticipated: yes -- a square meets every rectangle requirement (four right angles) plus one more (four equal sides), but a rectangle does not have to meet that extra requirement.
Common error: assuming the two shapes are interchangeable, or that 'more specific' means 'less true.'
Transition: "That same properties-first thinking is exactly where we're headed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that Lesson 5.11.06 extends today's shape families into an angle-sum rule for quadrilaterals, the same way Lesson 5.11.04 did for triangles.
Transition: "Let's check what you've got with two quick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Give silent think time before revealing. Common error: choosing square because the sides look equal, forgetting a square also requires four right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Give silent think time before revealing. Common error: choosing square because the sides look equal, forgetting a square also requires four right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182880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182880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TALK</a:t>
            </a:r>
            <a:endParaRPr lang="en-US" sz="800" dirty="0"/>
          </a:p>
        </p:txBody>
      </p:sp>
      <p:sp>
        <p:nvSpPr>
          <p:cNvPr id="5" name="Shape 3"/>
          <p:cNvSpPr/>
          <p:nvPr/>
        </p:nvSpPr>
        <p:spPr>
          <a:xfrm>
            <a:off x="2029968" y="164592"/>
            <a:ext cx="667512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029968" y="164592"/>
            <a:ext cx="6675120" cy="292608"/>
          </a:xfrm>
          <a:prstGeom prst="rect">
            <a:avLst/>
          </a:prstGeom>
          <a:noFill/>
          <a:ln/>
        </p:spPr>
        <p:txBody>
          <a:bodyPr wrap="square" lIns="0" tIns="0" rIns="0" bIns="0" rtlCol="0" anchor="ctr"/>
          <a:lstStyle/>
          <a:p>
            <a:pPr indent="0" marL="0">
              <a:buNone/>
            </a:pPr>
            <a:r>
              <a:rPr lang="en-US" sz="900" dirty="0">
                <a:solidFill>
                  <a:srgbClr val="FFFFFF"/>
                </a:solidFill>
              </a:rPr>
              <a:t>  ·  Warm-Up · Dividing Decimals</a:t>
            </a:r>
            <a:endParaRPr lang="en-US" sz="900" dirty="0"/>
          </a:p>
        </p:txBody>
      </p:sp>
      <p:sp>
        <p:nvSpPr>
          <p:cNvPr id="7" name="Text 5"/>
          <p:cNvSpPr/>
          <p:nvPr/>
        </p:nvSpPr>
        <p:spPr>
          <a:xfrm>
            <a:off x="457200" y="1097280"/>
            <a:ext cx="8229600" cy="23774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3.6 ÷ 0.4</a:t>
            </a:r>
            <a:endParaRPr lang="en-US" sz="46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What do you notice? What strategies come to mind?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Strategy Gallery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Number Talk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2560320" cy="3474720"/>
          </a:xfrm>
          <a:prstGeom prst="roundRect">
            <a:avLst>
              <a:gd name="adj" fmla="val 3571"/>
            </a:avLst>
          </a:prstGeom>
          <a:solidFill>
            <a:srgbClr val="FFFFFF"/>
          </a:solidFill>
          <a:ln w="6350">
            <a:solidFill>
              <a:srgbClr val="DDDDEE"/>
            </a:solidFill>
            <a:prstDash val="solid"/>
          </a:ln>
        </p:spPr>
      </p:sp>
      <p:sp>
        <p:nvSpPr>
          <p:cNvPr id="7" name="Text 5"/>
          <p:cNvSpPr/>
          <p:nvPr/>
        </p:nvSpPr>
        <p:spPr>
          <a:xfrm>
            <a:off x="5943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Multiply both by 10</a:t>
            </a:r>
            <a:endParaRPr lang="en-US" sz="1300" dirty="0"/>
          </a:p>
        </p:txBody>
      </p:sp>
      <p:sp>
        <p:nvSpPr>
          <p:cNvPr id="8" name="Shape 6"/>
          <p:cNvSpPr/>
          <p:nvPr/>
        </p:nvSpPr>
        <p:spPr>
          <a:xfrm>
            <a:off x="594360" y="1508760"/>
            <a:ext cx="2286000" cy="0"/>
          </a:xfrm>
          <a:prstGeom prst="line">
            <a:avLst/>
          </a:prstGeom>
          <a:noFill/>
          <a:ln w="6350">
            <a:solidFill>
              <a:srgbClr val="CCCCCC"/>
            </a:solidFill>
            <a:prstDash val="solid"/>
          </a:ln>
        </p:spPr>
      </p:sp>
      <p:sp>
        <p:nvSpPr>
          <p:cNvPr id="9" name="Text 7"/>
          <p:cNvSpPr/>
          <p:nvPr/>
        </p:nvSpPr>
        <p:spPr>
          <a:xfrm>
            <a:off x="685800" y="160020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3.6 ÷ 0.4 = 36 ÷ 4 (multiply both by 10)</a:t>
            </a:r>
            <a:endParaRPr lang="en-US" sz="1300" dirty="0"/>
          </a:p>
        </p:txBody>
      </p:sp>
      <p:sp>
        <p:nvSpPr>
          <p:cNvPr id="10" name="Text 8"/>
          <p:cNvSpPr/>
          <p:nvPr/>
        </p:nvSpPr>
        <p:spPr>
          <a:xfrm>
            <a:off x="685800" y="210312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36 ÷ 4 = 9</a:t>
            </a:r>
            <a:endParaRPr lang="en-US" sz="1300" dirty="0"/>
          </a:p>
        </p:txBody>
      </p:sp>
      <p:sp>
        <p:nvSpPr>
          <p:cNvPr id="11" name="Text 9"/>
          <p:cNvSpPr/>
          <p:nvPr/>
        </p:nvSpPr>
        <p:spPr>
          <a:xfrm>
            <a:off x="685800" y="2606040"/>
            <a:ext cx="224028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So 3.6 ÷ 0.4 = 9</a:t>
            </a:r>
            <a:endParaRPr lang="en-US" sz="1300" dirty="0"/>
          </a:p>
        </p:txBody>
      </p:sp>
      <p:sp>
        <p:nvSpPr>
          <p:cNvPr id="12" name="Shape 10"/>
          <p:cNvSpPr/>
          <p:nvPr/>
        </p:nvSpPr>
        <p:spPr>
          <a:xfrm>
            <a:off x="3200400" y="960120"/>
            <a:ext cx="2560320" cy="3474720"/>
          </a:xfrm>
          <a:prstGeom prst="roundRect">
            <a:avLst>
              <a:gd name="adj" fmla="val 3571"/>
            </a:avLst>
          </a:prstGeom>
          <a:solidFill>
            <a:srgbClr val="FFFFFF"/>
          </a:solidFill>
          <a:ln w="6350">
            <a:solidFill>
              <a:srgbClr val="DDDDEE"/>
            </a:solidFill>
            <a:prstDash val="solid"/>
          </a:ln>
        </p:spPr>
      </p:sp>
      <p:sp>
        <p:nvSpPr>
          <p:cNvPr id="13" name="Text 11"/>
          <p:cNvSpPr/>
          <p:nvPr/>
        </p:nvSpPr>
        <p:spPr>
          <a:xfrm>
            <a:off x="33375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Use a related whole-number fact</a:t>
            </a:r>
            <a:endParaRPr lang="en-US" sz="1300" dirty="0"/>
          </a:p>
        </p:txBody>
      </p:sp>
      <p:sp>
        <p:nvSpPr>
          <p:cNvPr id="14" name="Shape 12"/>
          <p:cNvSpPr/>
          <p:nvPr/>
        </p:nvSpPr>
        <p:spPr>
          <a:xfrm>
            <a:off x="3337560" y="1508760"/>
            <a:ext cx="2286000" cy="0"/>
          </a:xfrm>
          <a:prstGeom prst="line">
            <a:avLst/>
          </a:prstGeom>
          <a:noFill/>
          <a:ln w="6350">
            <a:solidFill>
              <a:srgbClr val="CCCCCC"/>
            </a:solidFill>
            <a:prstDash val="solid"/>
          </a:ln>
        </p:spPr>
      </p:sp>
      <p:sp>
        <p:nvSpPr>
          <p:cNvPr id="15" name="Shape 13"/>
          <p:cNvSpPr/>
          <p:nvPr/>
        </p:nvSpPr>
        <p:spPr>
          <a:xfrm>
            <a:off x="5943600" y="960120"/>
            <a:ext cx="2560320" cy="3474720"/>
          </a:xfrm>
          <a:prstGeom prst="roundRect">
            <a:avLst>
              <a:gd name="adj" fmla="val 3571"/>
            </a:avLst>
          </a:prstGeom>
          <a:solidFill>
            <a:srgbClr val="FFFFFF"/>
          </a:solidFill>
          <a:ln w="6350">
            <a:solidFill>
              <a:srgbClr val="DDDDEE"/>
            </a:solidFill>
            <a:prstDash val="solid"/>
          </a:ln>
        </p:spPr>
      </p:sp>
      <p:sp>
        <p:nvSpPr>
          <p:cNvPr id="16" name="Text 14"/>
          <p:cNvSpPr/>
          <p:nvPr/>
        </p:nvSpPr>
        <p:spPr>
          <a:xfrm>
            <a:off x="60807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Estimate first</a:t>
            </a:r>
            <a:endParaRPr lang="en-US" sz="1300" dirty="0"/>
          </a:p>
        </p:txBody>
      </p:sp>
      <p:sp>
        <p:nvSpPr>
          <p:cNvPr id="17" name="Shape 15"/>
          <p:cNvSpPr/>
          <p:nvPr/>
        </p:nvSpPr>
        <p:spPr>
          <a:xfrm>
            <a:off x="6080760" y="1508760"/>
            <a:ext cx="2286000" cy="0"/>
          </a:xfrm>
          <a:prstGeom prst="line">
            <a:avLst/>
          </a:prstGeom>
          <a:noFill/>
          <a:ln w="6350">
            <a:solidFill>
              <a:srgbClr val="CCCCCC"/>
            </a:solidFill>
            <a:prstDash val="solid"/>
          </a:ln>
        </p:spPr>
      </p:sp>
      <p:sp>
        <p:nvSpPr>
          <p:cNvPr id="18" name="Shape 16"/>
          <p:cNvSpPr/>
          <p:nvPr/>
        </p:nvSpPr>
        <p:spPr>
          <a:xfrm>
            <a:off x="1828800" y="4526280"/>
            <a:ext cx="5486400" cy="438912"/>
          </a:xfrm>
          <a:prstGeom prst="roundRect">
            <a:avLst>
              <a:gd name="adj" fmla="val 12500"/>
            </a:avLst>
          </a:prstGeom>
          <a:solidFill>
            <a:srgbClr val="464EB8"/>
          </a:solidFill>
          <a:ln w="12700">
            <a:solidFill>
              <a:srgbClr val="464EB8"/>
            </a:solidFill>
            <a:prstDash val="solid"/>
          </a:ln>
        </p:spPr>
      </p:sp>
      <p:sp>
        <p:nvSpPr>
          <p:cNvPr id="19" name="Text 17"/>
          <p:cNvSpPr/>
          <p:nvPr/>
        </p:nvSpPr>
        <p:spPr>
          <a:xfrm>
            <a:off x="1828800" y="452628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strategy did you try first?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TALK</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Every time I multiply both the dividend and divisor by 10, the quotient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Multiplying both numbers in a division problem by the same power of 10 does not change the quotient.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TALK</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5.6 ÷ 0.8</a:t>
            </a:r>
            <a:endParaRPr lang="en-US" sz="4000" dirty="0"/>
          </a:p>
        </p:txBody>
      </p:sp>
      <p:sp>
        <p:nvSpPr>
          <p:cNvPr id="8" name="Shape 6"/>
          <p:cNvSpPr/>
          <p:nvPr/>
        </p:nvSpPr>
        <p:spPr>
          <a:xfrm>
            <a:off x="2286000" y="3794760"/>
            <a:ext cx="45720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2286000" y="379476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7 — multiply both by 10 to get 56 ÷ 8 = 7</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5.11.05</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Classifying Quadrilaterals</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11: Geometry · Lesson 5 of 8</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MA.5.GR.1.1   ·   MTR.2.1   ·   MTR.5.1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classify quadrilaterals by their sides and angles, including squares, rectangles, rhombi, parallelograms, and trapezoids.</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“A quadrilateral's name comes from its properties, not from how it looks.”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 · Quick Review</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868680"/>
          </a:xfrm>
          <a:prstGeom prst="roundRect">
            <a:avLst>
              <a:gd name="adj" fmla="val 10526"/>
            </a:avLst>
          </a:prstGeom>
          <a:solidFill>
            <a:srgbClr val="FFFFFF"/>
          </a:solidFill>
          <a:ln w="6350">
            <a:solidFill>
              <a:srgbClr val="DDDDEE"/>
            </a:solidFill>
            <a:prstDash val="solid"/>
          </a:ln>
        </p:spPr>
      </p:sp>
      <p:sp>
        <p:nvSpPr>
          <p:cNvPr id="7" name="Text 5"/>
          <p:cNvSpPr/>
          <p:nvPr/>
        </p:nvSpPr>
        <p:spPr>
          <a:xfrm>
            <a:off x="685800" y="960120"/>
            <a:ext cx="7772400" cy="86868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1.  Classify a triangle with side lengths 5 cm, 5 cm, and 5 cm.</a:t>
            </a:r>
            <a:endParaRPr lang="en-US" sz="1600" dirty="0"/>
          </a:p>
        </p:txBody>
      </p:sp>
      <p:sp>
        <p:nvSpPr>
          <p:cNvPr id="8" name="Shape 6"/>
          <p:cNvSpPr/>
          <p:nvPr/>
        </p:nvSpPr>
        <p:spPr>
          <a:xfrm>
            <a:off x="457200" y="2011680"/>
            <a:ext cx="8229600" cy="868680"/>
          </a:xfrm>
          <a:prstGeom prst="roundRect">
            <a:avLst>
              <a:gd name="adj" fmla="val 10526"/>
            </a:avLst>
          </a:prstGeom>
          <a:solidFill>
            <a:srgbClr val="FFFFFF"/>
          </a:solidFill>
          <a:ln w="6350">
            <a:solidFill>
              <a:srgbClr val="DDDDEE"/>
            </a:solidFill>
            <a:prstDash val="solid"/>
          </a:ln>
        </p:spPr>
      </p:sp>
      <p:sp>
        <p:nvSpPr>
          <p:cNvPr id="9" name="Text 7"/>
          <p:cNvSpPr/>
          <p:nvPr/>
        </p:nvSpPr>
        <p:spPr>
          <a:xfrm>
            <a:off x="685800" y="2011680"/>
            <a:ext cx="7772400" cy="86868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2.  A triangle has angles of 40°, 50°, and 90°. Classify it by its angles.</a:t>
            </a:r>
            <a:endParaRPr lang="en-US" sz="1600" dirty="0"/>
          </a:p>
        </p:txBody>
      </p:sp>
      <p:sp>
        <p:nvSpPr>
          <p:cNvPr id="10" name="Shape 8"/>
          <p:cNvSpPr/>
          <p:nvPr/>
        </p:nvSpPr>
        <p:spPr>
          <a:xfrm>
            <a:off x="457200" y="3063240"/>
            <a:ext cx="8229600" cy="868680"/>
          </a:xfrm>
          <a:prstGeom prst="roundRect">
            <a:avLst>
              <a:gd name="adj" fmla="val 10526"/>
            </a:avLst>
          </a:prstGeom>
          <a:solidFill>
            <a:srgbClr val="FFFFFF"/>
          </a:solidFill>
          <a:ln w="6350">
            <a:solidFill>
              <a:srgbClr val="DDDDEE"/>
            </a:solidFill>
            <a:prstDash val="solid"/>
          </a:ln>
        </p:spPr>
      </p:sp>
      <p:sp>
        <p:nvSpPr>
          <p:cNvPr id="11" name="Text 9"/>
          <p:cNvSpPr/>
          <p:nvPr/>
        </p:nvSpPr>
        <p:spPr>
          <a:xfrm>
            <a:off x="685800" y="3063240"/>
            <a:ext cx="7772400" cy="86868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3.  Two angles of a triangle measure 70° and 65°. What is the third angle?</a:t>
            </a:r>
            <a:endParaRPr lang="en-US" sz="1600" dirty="0"/>
          </a:p>
        </p:txBody>
      </p:sp>
      <p:sp>
        <p:nvSpPr>
          <p:cNvPr id="12" name="Shape 10"/>
          <p:cNvSpPr/>
          <p:nvPr/>
        </p:nvSpPr>
        <p:spPr>
          <a:xfrm>
            <a:off x="731520" y="4251960"/>
            <a:ext cx="7680960" cy="438912"/>
          </a:xfrm>
          <a:prstGeom prst="roundRect">
            <a:avLst>
              <a:gd name="adj" fmla="val 12500"/>
            </a:avLst>
          </a:prstGeom>
          <a:solidFill>
            <a:srgbClr val="464EB8"/>
          </a:solidFill>
          <a:ln w="12700">
            <a:solidFill>
              <a:srgbClr val="464EB8"/>
            </a:solidFill>
            <a:prstDash val="solid"/>
          </a:ln>
        </p:spPr>
      </p:sp>
      <p:sp>
        <p:nvSpPr>
          <p:cNvPr id="13" name="Text 11"/>
          <p:cNvSpPr/>
          <p:nvPr/>
        </p:nvSpPr>
        <p:spPr>
          <a:xfrm>
            <a:off x="731520" y="4251960"/>
            <a:ext cx="76809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answers to all three, in order (example: equilateral, right, 45°)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 · Four Sides, On Purpose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Connect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1463040"/>
          </a:xfrm>
          <a:prstGeom prst="roundRect">
            <a:avLst>
              <a:gd name="adj" fmla="val 6250"/>
            </a:avLst>
          </a:prstGeom>
          <a:solidFill>
            <a:srgbClr val="EAE8F5"/>
          </a:solidFill>
          <a:ln w="6350">
            <a:solidFill>
              <a:srgbClr val="DDDDEE"/>
            </a:solidFill>
            <a:prstDash val="solid"/>
          </a:ln>
        </p:spPr>
      </p:sp>
      <p:sp>
        <p:nvSpPr>
          <p:cNvPr id="7" name="Text 5"/>
          <p:cNvSpPr/>
          <p:nvPr/>
        </p:nvSpPr>
        <p:spPr>
          <a:xfrm>
            <a:off x="685800" y="1325880"/>
            <a:ext cx="7772400" cy="118872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Windows, doors, tiles, and street signs are all quadrilaterals, but builders and designers pick a specific one on purpose — a sturdy rectangle for a door, a tilted rhombus for a decorative tile.</a:t>
            </a:r>
            <a:endParaRPr lang="en-US" sz="1700" dirty="0"/>
          </a:p>
        </p:txBody>
      </p:sp>
      <p:sp>
        <p:nvSpPr>
          <p:cNvPr id="8" name="Shape 6"/>
          <p:cNvSpPr/>
          <p:nvPr/>
        </p:nvSpPr>
        <p:spPr>
          <a:xfrm>
            <a:off x="1097280" y="3108960"/>
            <a:ext cx="694944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097280" y="3108960"/>
            <a:ext cx="694944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name one quadrilateral-shaped object you can see right now.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Look Closely</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A square and a rhombus are drawn on the board — both have four equal sides, but the square looks 'straight' and the rhombus looks 'tilted.'</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Read the Real Quadrilateral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1828800" y="1280160"/>
            <a:ext cx="2103120" cy="2103120"/>
          </a:xfrm>
          <a:custGeom>
            <a:avLst/>
            <a:gdLst/>
            <a:ahLst/>
            <a:cxnLst/>
            <a:rect l="l" t="t" r="r" b="b"/>
            <a:pathLst>
              <a:path w="2103120" h="2103120">
                <a:moveTo>
                  <a:pt x="0" y="0"/>
                </a:moveTo>
                <a:lnTo>
                  <a:pt x="2103120" y="0"/>
                </a:lnTo>
                <a:lnTo>
                  <a:pt x="2103120" y="2103120"/>
                </a:lnTo>
                <a:lnTo>
                  <a:pt x="0" y="2103120"/>
                </a:lnTo>
                <a:close/>
              </a:path>
            </a:pathLst>
          </a:custGeom>
          <a:solidFill>
            <a:srgbClr val="E6F2EA"/>
          </a:solidFill>
          <a:ln w="34925">
            <a:solidFill>
              <a:srgbClr val="1B2A4A"/>
            </a:solidFill>
            <a:prstDash val="solid"/>
          </a:ln>
        </p:spPr>
      </p:sp>
      <p:sp>
        <p:nvSpPr>
          <p:cNvPr id="7" name="Shape 5"/>
          <p:cNvSpPr/>
          <p:nvPr/>
        </p:nvSpPr>
        <p:spPr>
          <a:xfrm>
            <a:off x="1828800" y="1280160"/>
            <a:ext cx="292608" cy="292608"/>
          </a:xfrm>
          <a:custGeom>
            <a:avLst/>
            <a:gdLst/>
            <a:ahLst/>
            <a:cxnLst/>
            <a:rect l="l" t="t" r="r" b="b"/>
            <a:pathLst>
              <a:path w="292608" h="292608">
                <a:moveTo>
                  <a:pt x="0" y="292608"/>
                </a:moveTo>
                <a:lnTo>
                  <a:pt x="19137" y="291982"/>
                </a:lnTo>
                <a:lnTo>
                  <a:pt x="38193" y="290105"/>
                </a:lnTo>
                <a:lnTo>
                  <a:pt x="57085" y="286986"/>
                </a:lnTo>
                <a:lnTo>
                  <a:pt x="75733" y="282638"/>
                </a:lnTo>
                <a:lnTo>
                  <a:pt x="94056" y="277079"/>
                </a:lnTo>
                <a:lnTo>
                  <a:pt x="111976" y="270335"/>
                </a:lnTo>
                <a:lnTo>
                  <a:pt x="129417" y="262432"/>
                </a:lnTo>
                <a:lnTo>
                  <a:pt x="146304" y="253406"/>
                </a:lnTo>
                <a:lnTo>
                  <a:pt x="162564" y="243295"/>
                </a:lnTo>
                <a:lnTo>
                  <a:pt x="178128" y="232142"/>
                </a:lnTo>
                <a:lnTo>
                  <a:pt x="192930" y="219994"/>
                </a:lnTo>
                <a:lnTo>
                  <a:pt x="206905" y="206905"/>
                </a:lnTo>
                <a:lnTo>
                  <a:pt x="219994" y="192930"/>
                </a:lnTo>
                <a:lnTo>
                  <a:pt x="232142" y="178128"/>
                </a:lnTo>
                <a:lnTo>
                  <a:pt x="243295" y="162564"/>
                </a:lnTo>
                <a:lnTo>
                  <a:pt x="253406" y="146304"/>
                </a:lnTo>
                <a:lnTo>
                  <a:pt x="262432" y="129417"/>
                </a:lnTo>
                <a:lnTo>
                  <a:pt x="270335" y="111976"/>
                </a:lnTo>
                <a:lnTo>
                  <a:pt x="277079" y="94056"/>
                </a:lnTo>
                <a:lnTo>
                  <a:pt x="282638" y="75733"/>
                </a:lnTo>
                <a:lnTo>
                  <a:pt x="286986" y="57085"/>
                </a:lnTo>
                <a:lnTo>
                  <a:pt x="290105" y="38193"/>
                </a:lnTo>
                <a:lnTo>
                  <a:pt x="291982" y="19137"/>
                </a:lnTo>
                <a:lnTo>
                  <a:pt x="292608" y="0"/>
                </a:lnTo>
              </a:path>
            </a:pathLst>
          </a:custGeom>
          <a:solidFill>
            <a:srgbClr val="FFFFFF">
              <a:alpha val="0"/>
            </a:srgbClr>
          </a:solidFill>
          <a:ln w="31750">
            <a:solidFill>
              <a:srgbClr val="2E6E44"/>
            </a:solidFill>
            <a:prstDash val="solid"/>
          </a:ln>
        </p:spPr>
      </p:sp>
      <p:sp>
        <p:nvSpPr>
          <p:cNvPr id="8" name="Text 6"/>
          <p:cNvSpPr/>
          <p:nvPr/>
        </p:nvSpPr>
        <p:spPr>
          <a:xfrm>
            <a:off x="1889782" y="1560598"/>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90°</a:t>
            </a:r>
            <a:endParaRPr lang="en-US" sz="1200" dirty="0"/>
          </a:p>
        </p:txBody>
      </p:sp>
      <p:sp>
        <p:nvSpPr>
          <p:cNvPr id="9" name="Shape 7"/>
          <p:cNvSpPr/>
          <p:nvPr/>
        </p:nvSpPr>
        <p:spPr>
          <a:xfrm>
            <a:off x="3639312" y="1280160"/>
            <a:ext cx="292608" cy="292608"/>
          </a:xfrm>
          <a:custGeom>
            <a:avLst/>
            <a:gdLst/>
            <a:ahLst/>
            <a:cxnLst/>
            <a:rect l="l" t="t" r="r" b="b"/>
            <a:pathLst>
              <a:path w="292608" h="292608">
                <a:moveTo>
                  <a:pt x="0" y="0"/>
                </a:moveTo>
                <a:lnTo>
                  <a:pt x="626" y="19137"/>
                </a:lnTo>
                <a:lnTo>
                  <a:pt x="2503" y="38193"/>
                </a:lnTo>
                <a:lnTo>
                  <a:pt x="5622" y="57085"/>
                </a:lnTo>
                <a:lnTo>
                  <a:pt x="9970" y="75733"/>
                </a:lnTo>
                <a:lnTo>
                  <a:pt x="15529" y="94056"/>
                </a:lnTo>
                <a:lnTo>
                  <a:pt x="22273" y="111976"/>
                </a:lnTo>
                <a:lnTo>
                  <a:pt x="30176" y="129417"/>
                </a:lnTo>
                <a:lnTo>
                  <a:pt x="39202" y="146304"/>
                </a:lnTo>
                <a:lnTo>
                  <a:pt x="49313" y="162564"/>
                </a:lnTo>
                <a:lnTo>
                  <a:pt x="60466" y="178128"/>
                </a:lnTo>
                <a:lnTo>
                  <a:pt x="72614" y="192930"/>
                </a:lnTo>
                <a:lnTo>
                  <a:pt x="85703" y="206905"/>
                </a:lnTo>
                <a:lnTo>
                  <a:pt x="99678" y="219994"/>
                </a:lnTo>
                <a:lnTo>
                  <a:pt x="114480" y="232142"/>
                </a:lnTo>
                <a:lnTo>
                  <a:pt x="130044" y="243295"/>
                </a:lnTo>
                <a:lnTo>
                  <a:pt x="146304" y="253406"/>
                </a:lnTo>
                <a:lnTo>
                  <a:pt x="163191" y="262432"/>
                </a:lnTo>
                <a:lnTo>
                  <a:pt x="180632" y="270335"/>
                </a:lnTo>
                <a:lnTo>
                  <a:pt x="198552" y="277079"/>
                </a:lnTo>
                <a:lnTo>
                  <a:pt x="216875" y="282638"/>
                </a:lnTo>
                <a:lnTo>
                  <a:pt x="235523" y="286986"/>
                </a:lnTo>
                <a:lnTo>
                  <a:pt x="254415" y="290105"/>
                </a:lnTo>
                <a:lnTo>
                  <a:pt x="273471" y="291982"/>
                </a:lnTo>
                <a:lnTo>
                  <a:pt x="292608" y="292608"/>
                </a:lnTo>
              </a:path>
            </a:pathLst>
          </a:custGeom>
          <a:solidFill>
            <a:srgbClr val="FFFFFF">
              <a:alpha val="0"/>
            </a:srgbClr>
          </a:solidFill>
          <a:ln w="31750">
            <a:solidFill>
              <a:srgbClr val="2E6E44"/>
            </a:solidFill>
            <a:prstDash val="solid"/>
          </a:ln>
        </p:spPr>
      </p:sp>
      <p:sp>
        <p:nvSpPr>
          <p:cNvPr id="10" name="Text 8"/>
          <p:cNvSpPr/>
          <p:nvPr/>
        </p:nvSpPr>
        <p:spPr>
          <a:xfrm>
            <a:off x="3139418" y="1560598"/>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90°</a:t>
            </a:r>
            <a:endParaRPr lang="en-US" sz="1200" dirty="0"/>
          </a:p>
        </p:txBody>
      </p:sp>
      <p:sp>
        <p:nvSpPr>
          <p:cNvPr id="11" name="Shape 9"/>
          <p:cNvSpPr/>
          <p:nvPr/>
        </p:nvSpPr>
        <p:spPr>
          <a:xfrm>
            <a:off x="3639312" y="3090672"/>
            <a:ext cx="292608" cy="292608"/>
          </a:xfrm>
          <a:custGeom>
            <a:avLst/>
            <a:gdLst/>
            <a:ahLst/>
            <a:cxnLst/>
            <a:rect l="l" t="t" r="r" b="b"/>
            <a:pathLst>
              <a:path w="292608" h="292608">
                <a:moveTo>
                  <a:pt x="292608" y="0"/>
                </a:moveTo>
                <a:lnTo>
                  <a:pt x="273471" y="626"/>
                </a:lnTo>
                <a:lnTo>
                  <a:pt x="254415" y="2503"/>
                </a:lnTo>
                <a:lnTo>
                  <a:pt x="235523" y="5622"/>
                </a:lnTo>
                <a:lnTo>
                  <a:pt x="216875" y="9970"/>
                </a:lnTo>
                <a:lnTo>
                  <a:pt x="198552" y="15529"/>
                </a:lnTo>
                <a:lnTo>
                  <a:pt x="180632" y="22273"/>
                </a:lnTo>
                <a:lnTo>
                  <a:pt x="163191" y="30176"/>
                </a:lnTo>
                <a:lnTo>
                  <a:pt x="146304" y="39202"/>
                </a:lnTo>
                <a:lnTo>
                  <a:pt x="130044" y="49313"/>
                </a:lnTo>
                <a:lnTo>
                  <a:pt x="114480" y="60466"/>
                </a:lnTo>
                <a:lnTo>
                  <a:pt x="99678" y="72614"/>
                </a:lnTo>
                <a:lnTo>
                  <a:pt x="85703" y="85703"/>
                </a:lnTo>
                <a:lnTo>
                  <a:pt x="72614" y="99678"/>
                </a:lnTo>
                <a:lnTo>
                  <a:pt x="60466" y="114480"/>
                </a:lnTo>
                <a:lnTo>
                  <a:pt x="49313" y="130044"/>
                </a:lnTo>
                <a:lnTo>
                  <a:pt x="39202" y="146304"/>
                </a:lnTo>
                <a:lnTo>
                  <a:pt x="30176" y="163191"/>
                </a:lnTo>
                <a:lnTo>
                  <a:pt x="22273" y="180632"/>
                </a:lnTo>
                <a:lnTo>
                  <a:pt x="15529" y="198552"/>
                </a:lnTo>
                <a:lnTo>
                  <a:pt x="9970" y="216875"/>
                </a:lnTo>
                <a:lnTo>
                  <a:pt x="5622" y="235523"/>
                </a:lnTo>
                <a:lnTo>
                  <a:pt x="2503" y="254415"/>
                </a:lnTo>
                <a:lnTo>
                  <a:pt x="626" y="273471"/>
                </a:lnTo>
                <a:lnTo>
                  <a:pt x="0" y="292608"/>
                </a:lnTo>
              </a:path>
            </a:pathLst>
          </a:custGeom>
          <a:solidFill>
            <a:srgbClr val="FFFFFF">
              <a:alpha val="0"/>
            </a:srgbClr>
          </a:solidFill>
          <a:ln w="31750">
            <a:solidFill>
              <a:srgbClr val="2E6E44"/>
            </a:solidFill>
            <a:prstDash val="solid"/>
          </a:ln>
        </p:spPr>
      </p:sp>
      <p:sp>
        <p:nvSpPr>
          <p:cNvPr id="12" name="Text 10"/>
          <p:cNvSpPr/>
          <p:nvPr/>
        </p:nvSpPr>
        <p:spPr>
          <a:xfrm>
            <a:off x="3139418" y="2810234"/>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90°</a:t>
            </a:r>
            <a:endParaRPr lang="en-US" sz="1200" dirty="0"/>
          </a:p>
        </p:txBody>
      </p:sp>
      <p:sp>
        <p:nvSpPr>
          <p:cNvPr id="13" name="Shape 11"/>
          <p:cNvSpPr/>
          <p:nvPr/>
        </p:nvSpPr>
        <p:spPr>
          <a:xfrm>
            <a:off x="1828800" y="3090672"/>
            <a:ext cx="292608" cy="292608"/>
          </a:xfrm>
          <a:custGeom>
            <a:avLst/>
            <a:gdLst/>
            <a:ahLst/>
            <a:cxnLst/>
            <a:rect l="l" t="t" r="r" b="b"/>
            <a:pathLst>
              <a:path w="292608" h="292608">
                <a:moveTo>
                  <a:pt x="292608" y="292608"/>
                </a:moveTo>
                <a:lnTo>
                  <a:pt x="291982" y="273471"/>
                </a:lnTo>
                <a:lnTo>
                  <a:pt x="290105" y="254415"/>
                </a:lnTo>
                <a:lnTo>
                  <a:pt x="286986" y="235523"/>
                </a:lnTo>
                <a:lnTo>
                  <a:pt x="282638" y="216875"/>
                </a:lnTo>
                <a:lnTo>
                  <a:pt x="277079" y="198552"/>
                </a:lnTo>
                <a:lnTo>
                  <a:pt x="270335" y="180632"/>
                </a:lnTo>
                <a:lnTo>
                  <a:pt x="262432" y="163191"/>
                </a:lnTo>
                <a:lnTo>
                  <a:pt x="253406" y="146304"/>
                </a:lnTo>
                <a:lnTo>
                  <a:pt x="243295" y="130044"/>
                </a:lnTo>
                <a:lnTo>
                  <a:pt x="232142" y="114480"/>
                </a:lnTo>
                <a:lnTo>
                  <a:pt x="219994" y="99678"/>
                </a:lnTo>
                <a:lnTo>
                  <a:pt x="206905" y="85703"/>
                </a:lnTo>
                <a:lnTo>
                  <a:pt x="192930" y="72614"/>
                </a:lnTo>
                <a:lnTo>
                  <a:pt x="178128" y="60466"/>
                </a:lnTo>
                <a:lnTo>
                  <a:pt x="162564" y="49313"/>
                </a:lnTo>
                <a:lnTo>
                  <a:pt x="146304" y="39202"/>
                </a:lnTo>
                <a:lnTo>
                  <a:pt x="129417" y="30176"/>
                </a:lnTo>
                <a:lnTo>
                  <a:pt x="111976" y="22273"/>
                </a:lnTo>
                <a:lnTo>
                  <a:pt x="94056" y="15529"/>
                </a:lnTo>
                <a:lnTo>
                  <a:pt x="75733" y="9970"/>
                </a:lnTo>
                <a:lnTo>
                  <a:pt x="57085" y="5622"/>
                </a:lnTo>
                <a:lnTo>
                  <a:pt x="38193" y="2503"/>
                </a:lnTo>
                <a:lnTo>
                  <a:pt x="19137" y="626"/>
                </a:lnTo>
                <a:lnTo>
                  <a:pt x="0" y="0"/>
                </a:lnTo>
              </a:path>
            </a:pathLst>
          </a:custGeom>
          <a:solidFill>
            <a:srgbClr val="FFFFFF">
              <a:alpha val="0"/>
            </a:srgbClr>
          </a:solidFill>
          <a:ln w="31750">
            <a:solidFill>
              <a:srgbClr val="2E6E44"/>
            </a:solidFill>
            <a:prstDash val="solid"/>
          </a:ln>
        </p:spPr>
      </p:sp>
      <p:sp>
        <p:nvSpPr>
          <p:cNvPr id="14" name="Text 12"/>
          <p:cNvSpPr/>
          <p:nvPr/>
        </p:nvSpPr>
        <p:spPr>
          <a:xfrm>
            <a:off x="1889782" y="2810234"/>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90°</a:t>
            </a:r>
            <a:endParaRPr lang="en-US" sz="1200" dirty="0"/>
          </a:p>
        </p:txBody>
      </p:sp>
      <p:sp>
        <p:nvSpPr>
          <p:cNvPr id="15" name="Text 13"/>
          <p:cNvSpPr/>
          <p:nvPr/>
        </p:nvSpPr>
        <p:spPr>
          <a:xfrm>
            <a:off x="2377440" y="86868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5 cm</a:t>
            </a:r>
            <a:endParaRPr lang="en-US" sz="1200" dirty="0"/>
          </a:p>
        </p:txBody>
      </p:sp>
      <p:sp>
        <p:nvSpPr>
          <p:cNvPr id="16" name="Text 14"/>
          <p:cNvSpPr/>
          <p:nvPr/>
        </p:nvSpPr>
        <p:spPr>
          <a:xfrm>
            <a:off x="3703320" y="219456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5 cm</a:t>
            </a:r>
            <a:endParaRPr lang="en-US" sz="1200" dirty="0"/>
          </a:p>
        </p:txBody>
      </p:sp>
      <p:sp>
        <p:nvSpPr>
          <p:cNvPr id="17" name="Text 15"/>
          <p:cNvSpPr/>
          <p:nvPr/>
        </p:nvSpPr>
        <p:spPr>
          <a:xfrm>
            <a:off x="2377440" y="352044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5 cm</a:t>
            </a:r>
            <a:endParaRPr lang="en-US" sz="1200" dirty="0"/>
          </a:p>
        </p:txBody>
      </p:sp>
      <p:sp>
        <p:nvSpPr>
          <p:cNvPr id="18" name="Text 16"/>
          <p:cNvSpPr/>
          <p:nvPr/>
        </p:nvSpPr>
        <p:spPr>
          <a:xfrm>
            <a:off x="1051560" y="219456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5 cm</a:t>
            </a:r>
            <a:endParaRPr lang="en-US" sz="1200" dirty="0"/>
          </a:p>
        </p:txBody>
      </p:sp>
      <p:sp>
        <p:nvSpPr>
          <p:cNvPr id="19" name="Shape 17"/>
          <p:cNvSpPr/>
          <p:nvPr/>
        </p:nvSpPr>
        <p:spPr>
          <a:xfrm>
            <a:off x="1783080" y="1234440"/>
            <a:ext cx="91440" cy="91440"/>
          </a:xfrm>
          <a:prstGeom prst="ellipse">
            <a:avLst/>
          </a:prstGeom>
          <a:solidFill>
            <a:srgbClr val="1B2A4A"/>
          </a:solidFill>
          <a:ln w="9525">
            <a:solidFill>
              <a:srgbClr val="FFFFFF"/>
            </a:solidFill>
            <a:prstDash val="solid"/>
          </a:ln>
        </p:spPr>
      </p:sp>
      <p:sp>
        <p:nvSpPr>
          <p:cNvPr id="20" name="Shape 18"/>
          <p:cNvSpPr/>
          <p:nvPr/>
        </p:nvSpPr>
        <p:spPr>
          <a:xfrm>
            <a:off x="3886200" y="1234440"/>
            <a:ext cx="91440" cy="91440"/>
          </a:xfrm>
          <a:prstGeom prst="ellipse">
            <a:avLst/>
          </a:prstGeom>
          <a:solidFill>
            <a:srgbClr val="1B2A4A"/>
          </a:solidFill>
          <a:ln w="9525">
            <a:solidFill>
              <a:srgbClr val="FFFFFF"/>
            </a:solidFill>
            <a:prstDash val="solid"/>
          </a:ln>
        </p:spPr>
      </p:sp>
      <p:sp>
        <p:nvSpPr>
          <p:cNvPr id="21" name="Shape 19"/>
          <p:cNvSpPr/>
          <p:nvPr/>
        </p:nvSpPr>
        <p:spPr>
          <a:xfrm>
            <a:off x="3886200" y="3337560"/>
            <a:ext cx="91440" cy="91440"/>
          </a:xfrm>
          <a:prstGeom prst="ellipse">
            <a:avLst/>
          </a:prstGeom>
          <a:solidFill>
            <a:srgbClr val="1B2A4A"/>
          </a:solidFill>
          <a:ln w="9525">
            <a:solidFill>
              <a:srgbClr val="FFFFFF"/>
            </a:solidFill>
            <a:prstDash val="solid"/>
          </a:ln>
        </p:spPr>
      </p:sp>
      <p:sp>
        <p:nvSpPr>
          <p:cNvPr id="22" name="Shape 20"/>
          <p:cNvSpPr/>
          <p:nvPr/>
        </p:nvSpPr>
        <p:spPr>
          <a:xfrm>
            <a:off x="1783080" y="3337560"/>
            <a:ext cx="91440" cy="91440"/>
          </a:xfrm>
          <a:prstGeom prst="ellipse">
            <a:avLst/>
          </a:prstGeom>
          <a:solidFill>
            <a:srgbClr val="1B2A4A"/>
          </a:solidFill>
          <a:ln w="9525">
            <a:solidFill>
              <a:srgbClr val="FFFFFF"/>
            </a:solidFill>
            <a:prstDash val="solid"/>
          </a:ln>
        </p:spPr>
      </p:sp>
      <p:sp>
        <p:nvSpPr>
          <p:cNvPr id="23" name="Shape 21"/>
          <p:cNvSpPr/>
          <p:nvPr/>
        </p:nvSpPr>
        <p:spPr>
          <a:xfrm>
            <a:off x="4663440" y="1188720"/>
            <a:ext cx="3749040" cy="3063240"/>
          </a:xfrm>
          <a:prstGeom prst="roundRect">
            <a:avLst>
              <a:gd name="adj" fmla="val 2985"/>
            </a:avLst>
          </a:prstGeom>
          <a:solidFill>
            <a:srgbClr val="FFFFFF"/>
          </a:solidFill>
          <a:ln w="6350">
            <a:solidFill>
              <a:srgbClr val="DDDDEE"/>
            </a:solidFill>
            <a:prstDash val="solid"/>
          </a:ln>
        </p:spPr>
      </p:sp>
      <p:sp>
        <p:nvSpPr>
          <p:cNvPr id="24" name="Text 22"/>
          <p:cNvSpPr/>
          <p:nvPr/>
        </p:nvSpPr>
        <p:spPr>
          <a:xfrm>
            <a:off x="4892040" y="1280160"/>
            <a:ext cx="3291840" cy="320040"/>
          </a:xfrm>
          <a:prstGeom prst="rect">
            <a:avLst/>
          </a:prstGeom>
          <a:noFill/>
          <a:ln/>
        </p:spPr>
        <p:txBody>
          <a:bodyPr wrap="square" lIns="0" tIns="0" rIns="0" bIns="0" rtlCol="0" anchor="ctr"/>
          <a:lstStyle/>
          <a:p>
            <a:pPr indent="0" marL="0">
              <a:buNone/>
            </a:pPr>
            <a:r>
              <a:rPr lang="en-US" sz="1400" b="1" dirty="0">
                <a:solidFill>
                  <a:srgbClr val="4A3D8F"/>
                </a:solidFill>
              </a:rPr>
              <a:t>Property Checklist</a:t>
            </a:r>
            <a:endParaRPr lang="en-US" sz="1400" dirty="0"/>
          </a:p>
        </p:txBody>
      </p:sp>
      <p:sp>
        <p:nvSpPr>
          <p:cNvPr id="25" name="Text 23"/>
          <p:cNvSpPr/>
          <p:nvPr/>
        </p:nvSpPr>
        <p:spPr>
          <a:xfrm>
            <a:off x="4892040" y="1691640"/>
            <a:ext cx="3291840" cy="530352"/>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  Four right angles — each one measures 90°.</a:t>
            </a:r>
            <a:endParaRPr lang="en-US" sz="1300" dirty="0"/>
          </a:p>
        </p:txBody>
      </p:sp>
      <p:sp>
        <p:nvSpPr>
          <p:cNvPr id="26" name="Text 24"/>
          <p:cNvSpPr/>
          <p:nvPr/>
        </p:nvSpPr>
        <p:spPr>
          <a:xfrm>
            <a:off x="4892040" y="2258568"/>
            <a:ext cx="3291840" cy="530352"/>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  Four equal sides — each one measures 5 cm.</a:t>
            </a:r>
            <a:endParaRPr lang="en-US" sz="1300" dirty="0"/>
          </a:p>
        </p:txBody>
      </p:sp>
      <p:sp>
        <p:nvSpPr>
          <p:cNvPr id="27" name="Text 25"/>
          <p:cNvSpPr/>
          <p:nvPr/>
        </p:nvSpPr>
        <p:spPr>
          <a:xfrm>
            <a:off x="4892040" y="2825496"/>
            <a:ext cx="3291840" cy="530352"/>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  Opposite sides are parallel.</a:t>
            </a:r>
            <a:endParaRPr lang="en-US" sz="1300" dirty="0"/>
          </a:p>
        </p:txBody>
      </p:sp>
      <p:sp>
        <p:nvSpPr>
          <p:cNvPr id="28" name="Text 26"/>
          <p:cNvSpPr/>
          <p:nvPr/>
        </p:nvSpPr>
        <p:spPr>
          <a:xfrm>
            <a:off x="4892040" y="3520440"/>
            <a:ext cx="3291840" cy="685800"/>
          </a:xfrm>
          <a:prstGeom prst="rect">
            <a:avLst/>
          </a:prstGeom>
          <a:noFill/>
          <a:ln/>
        </p:spPr>
        <p:txBody>
          <a:bodyPr wrap="square" lIns="0" tIns="0" rIns="0" bIns="0" rtlCol="0" anchor="ctr"/>
          <a:lstStyle/>
          <a:p>
            <a:pPr indent="0" marL="0">
              <a:buNone/>
            </a:pPr>
            <a:r>
              <a:rPr lang="en-US" sz="1250" b="1" dirty="0">
                <a:solidFill>
                  <a:srgbClr val="2E6E44"/>
                </a:solidFill>
                <a:latin typeface="Cambria" pitchFamily="34" charset="0"/>
                <a:ea typeface="Cambria" pitchFamily="34" charset="-122"/>
                <a:cs typeface="Cambria" pitchFamily="34" charset="-120"/>
              </a:rPr>
              <a:t>This quadrilateral is a square — it has every rectangle property AND every rhombus property at once.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Five Members of One Family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365760" y="932688"/>
            <a:ext cx="1682496" cy="292608"/>
          </a:xfrm>
          <a:prstGeom prst="rect">
            <a:avLst/>
          </a:prstGeom>
          <a:noFill/>
          <a:ln/>
        </p:spPr>
        <p:txBody>
          <a:bodyPr wrap="square" lIns="0" tIns="0" rIns="0" bIns="0" rtlCol="0" anchor="ctr"/>
          <a:lstStyle/>
          <a:p>
            <a:pPr algn="ctr" indent="0" marL="0">
              <a:buNone/>
            </a:pPr>
            <a:r>
              <a:rPr lang="en-US" sz="1150" b="1" dirty="0">
                <a:solidFill>
                  <a:srgbClr val="A66E10"/>
                </a:solidFill>
              </a:rPr>
              <a:t>Trapezoid</a:t>
            </a:r>
            <a:endParaRPr lang="en-US" sz="1150" dirty="0"/>
          </a:p>
        </p:txBody>
      </p:sp>
      <p:sp>
        <p:nvSpPr>
          <p:cNvPr id="7" name="Shape 5"/>
          <p:cNvSpPr/>
          <p:nvPr/>
        </p:nvSpPr>
        <p:spPr>
          <a:xfrm>
            <a:off x="660197" y="1490472"/>
            <a:ext cx="1093622" cy="950976"/>
          </a:xfrm>
          <a:custGeom>
            <a:avLst/>
            <a:gdLst/>
            <a:ahLst/>
            <a:cxnLst/>
            <a:rect l="l" t="t" r="r" b="b"/>
            <a:pathLst>
              <a:path w="1093622" h="950976">
                <a:moveTo>
                  <a:pt x="285293" y="0"/>
                </a:moveTo>
                <a:lnTo>
                  <a:pt x="808330" y="0"/>
                </a:lnTo>
                <a:lnTo>
                  <a:pt x="1093622" y="950976"/>
                </a:lnTo>
                <a:lnTo>
                  <a:pt x="0" y="950976"/>
                </a:lnTo>
                <a:close/>
              </a:path>
            </a:pathLst>
          </a:custGeom>
          <a:solidFill>
            <a:srgbClr val="FEF6E4"/>
          </a:solidFill>
          <a:ln w="34925">
            <a:solidFill>
              <a:srgbClr val="1B2A4A"/>
            </a:solidFill>
            <a:prstDash val="solid"/>
          </a:ln>
        </p:spPr>
      </p:sp>
      <p:sp>
        <p:nvSpPr>
          <p:cNvPr id="8" name="Shape 6"/>
          <p:cNvSpPr/>
          <p:nvPr/>
        </p:nvSpPr>
        <p:spPr>
          <a:xfrm>
            <a:off x="861409" y="1490472"/>
            <a:ext cx="376688" cy="292556"/>
          </a:xfrm>
          <a:custGeom>
            <a:avLst/>
            <a:gdLst/>
            <a:ahLst/>
            <a:cxnLst/>
            <a:rect l="l" t="t" r="r" b="b"/>
            <a:pathLst>
              <a:path w="376688" h="292556">
                <a:moveTo>
                  <a:pt x="0" y="280268"/>
                </a:moveTo>
                <a:lnTo>
                  <a:pt x="21978" y="285942"/>
                </a:lnTo>
                <a:lnTo>
                  <a:pt x="44330" y="289895"/>
                </a:lnTo>
                <a:lnTo>
                  <a:pt x="66921" y="292104"/>
                </a:lnTo>
                <a:lnTo>
                  <a:pt x="89616" y="292556"/>
                </a:lnTo>
                <a:lnTo>
                  <a:pt x="112277" y="291246"/>
                </a:lnTo>
                <a:lnTo>
                  <a:pt x="134768" y="288184"/>
                </a:lnTo>
                <a:lnTo>
                  <a:pt x="156955" y="283388"/>
                </a:lnTo>
                <a:lnTo>
                  <a:pt x="178702" y="276886"/>
                </a:lnTo>
                <a:lnTo>
                  <a:pt x="199881" y="268719"/>
                </a:lnTo>
                <a:lnTo>
                  <a:pt x="220362" y="258934"/>
                </a:lnTo>
                <a:lnTo>
                  <a:pt x="240024" y="247590"/>
                </a:lnTo>
                <a:lnTo>
                  <a:pt x="258747" y="234757"/>
                </a:lnTo>
                <a:lnTo>
                  <a:pt x="276419" y="220512"/>
                </a:lnTo>
                <a:lnTo>
                  <a:pt x="292933" y="204939"/>
                </a:lnTo>
                <a:lnTo>
                  <a:pt x="308191" y="188133"/>
                </a:lnTo>
                <a:lnTo>
                  <a:pt x="322100" y="170194"/>
                </a:lnTo>
                <a:lnTo>
                  <a:pt x="334576" y="151232"/>
                </a:lnTo>
                <a:lnTo>
                  <a:pt x="345546" y="131359"/>
                </a:lnTo>
                <a:lnTo>
                  <a:pt x="354941" y="110696"/>
                </a:lnTo>
                <a:lnTo>
                  <a:pt x="362707" y="89367"/>
                </a:lnTo>
                <a:lnTo>
                  <a:pt x="368796" y="67500"/>
                </a:lnTo>
                <a:lnTo>
                  <a:pt x="373172" y="45227"/>
                </a:lnTo>
                <a:lnTo>
                  <a:pt x="375808" y="22682"/>
                </a:lnTo>
                <a:lnTo>
                  <a:pt x="376688" y="0"/>
                </a:lnTo>
              </a:path>
            </a:pathLst>
          </a:custGeom>
          <a:solidFill>
            <a:srgbClr val="FFFFFF">
              <a:alpha val="0"/>
            </a:srgbClr>
          </a:solidFill>
          <a:ln w="31750">
            <a:solidFill>
              <a:srgbClr val="A66E10"/>
            </a:solidFill>
            <a:prstDash val="solid"/>
          </a:ln>
        </p:spPr>
      </p:sp>
      <p:sp>
        <p:nvSpPr>
          <p:cNvPr id="9" name="Shape 7"/>
          <p:cNvSpPr/>
          <p:nvPr/>
        </p:nvSpPr>
        <p:spPr>
          <a:xfrm>
            <a:off x="1175918" y="1490472"/>
            <a:ext cx="376688" cy="292556"/>
          </a:xfrm>
          <a:custGeom>
            <a:avLst/>
            <a:gdLst/>
            <a:ahLst/>
            <a:cxnLst/>
            <a:rect l="l" t="t" r="r" b="b"/>
            <a:pathLst>
              <a:path w="376688" h="292556">
                <a:moveTo>
                  <a:pt x="0" y="0"/>
                </a:moveTo>
                <a:lnTo>
                  <a:pt x="880" y="22682"/>
                </a:lnTo>
                <a:lnTo>
                  <a:pt x="3516" y="45227"/>
                </a:lnTo>
                <a:lnTo>
                  <a:pt x="7892" y="67500"/>
                </a:lnTo>
                <a:lnTo>
                  <a:pt x="13981" y="89367"/>
                </a:lnTo>
                <a:lnTo>
                  <a:pt x="21747" y="110696"/>
                </a:lnTo>
                <a:lnTo>
                  <a:pt x="31143" y="131359"/>
                </a:lnTo>
                <a:lnTo>
                  <a:pt x="42112" y="151232"/>
                </a:lnTo>
                <a:lnTo>
                  <a:pt x="54588" y="170194"/>
                </a:lnTo>
                <a:lnTo>
                  <a:pt x="68497" y="188133"/>
                </a:lnTo>
                <a:lnTo>
                  <a:pt x="83755" y="204939"/>
                </a:lnTo>
                <a:lnTo>
                  <a:pt x="100269" y="220512"/>
                </a:lnTo>
                <a:lnTo>
                  <a:pt x="117941" y="234757"/>
                </a:lnTo>
                <a:lnTo>
                  <a:pt x="136664" y="247590"/>
                </a:lnTo>
                <a:lnTo>
                  <a:pt x="156326" y="258934"/>
                </a:lnTo>
                <a:lnTo>
                  <a:pt x="176807" y="268719"/>
                </a:lnTo>
                <a:lnTo>
                  <a:pt x="197986" y="276886"/>
                </a:lnTo>
                <a:lnTo>
                  <a:pt x="219734" y="283388"/>
                </a:lnTo>
                <a:lnTo>
                  <a:pt x="241920" y="288184"/>
                </a:lnTo>
                <a:lnTo>
                  <a:pt x="264411" y="291246"/>
                </a:lnTo>
                <a:lnTo>
                  <a:pt x="287073" y="292556"/>
                </a:lnTo>
                <a:lnTo>
                  <a:pt x="309767" y="292104"/>
                </a:lnTo>
                <a:lnTo>
                  <a:pt x="332358" y="289895"/>
                </a:lnTo>
                <a:lnTo>
                  <a:pt x="354710" y="285942"/>
                </a:lnTo>
                <a:lnTo>
                  <a:pt x="376688" y="280268"/>
                </a:lnTo>
              </a:path>
            </a:pathLst>
          </a:custGeom>
          <a:solidFill>
            <a:srgbClr val="FFFFFF">
              <a:alpha val="0"/>
            </a:srgbClr>
          </a:solidFill>
          <a:ln w="31750">
            <a:solidFill>
              <a:srgbClr val="A66E10"/>
            </a:solidFill>
            <a:prstDash val="solid"/>
          </a:ln>
        </p:spPr>
      </p:sp>
      <p:sp>
        <p:nvSpPr>
          <p:cNvPr id="10" name="Shape 8"/>
          <p:cNvSpPr/>
          <p:nvPr/>
        </p:nvSpPr>
        <p:spPr>
          <a:xfrm>
            <a:off x="1461211" y="2161180"/>
            <a:ext cx="208528" cy="280268"/>
          </a:xfrm>
          <a:custGeom>
            <a:avLst/>
            <a:gdLst/>
            <a:ahLst/>
            <a:cxnLst/>
            <a:rect l="l" t="t" r="r" b="b"/>
            <a:pathLst>
              <a:path w="208528" h="280268">
                <a:moveTo>
                  <a:pt x="208528" y="0"/>
                </a:moveTo>
                <a:lnTo>
                  <a:pt x="193714" y="4878"/>
                </a:lnTo>
                <a:lnTo>
                  <a:pt x="179182" y="10538"/>
                </a:lnTo>
                <a:lnTo>
                  <a:pt x="164972" y="16965"/>
                </a:lnTo>
                <a:lnTo>
                  <a:pt x="151124" y="24139"/>
                </a:lnTo>
                <a:lnTo>
                  <a:pt x="137678" y="32041"/>
                </a:lnTo>
                <a:lnTo>
                  <a:pt x="124673" y="40649"/>
                </a:lnTo>
                <a:lnTo>
                  <a:pt x="112144" y="49937"/>
                </a:lnTo>
                <a:lnTo>
                  <a:pt x="100128" y="59879"/>
                </a:lnTo>
                <a:lnTo>
                  <a:pt x="88659" y="70448"/>
                </a:lnTo>
                <a:lnTo>
                  <a:pt x="77770" y="81612"/>
                </a:lnTo>
                <a:lnTo>
                  <a:pt x="67490" y="93341"/>
                </a:lnTo>
                <a:lnTo>
                  <a:pt x="57851" y="105601"/>
                </a:lnTo>
                <a:lnTo>
                  <a:pt x="48878" y="118357"/>
                </a:lnTo>
                <a:lnTo>
                  <a:pt x="40597" y="131573"/>
                </a:lnTo>
                <a:lnTo>
                  <a:pt x="33033" y="145212"/>
                </a:lnTo>
                <a:lnTo>
                  <a:pt x="26206" y="159234"/>
                </a:lnTo>
                <a:lnTo>
                  <a:pt x="20135" y="173600"/>
                </a:lnTo>
                <a:lnTo>
                  <a:pt x="14839" y="188269"/>
                </a:lnTo>
                <a:lnTo>
                  <a:pt x="10332" y="203199"/>
                </a:lnTo>
                <a:lnTo>
                  <a:pt x="6626" y="218348"/>
                </a:lnTo>
                <a:lnTo>
                  <a:pt x="3734" y="233674"/>
                </a:lnTo>
                <a:lnTo>
                  <a:pt x="1661" y="249131"/>
                </a:lnTo>
                <a:lnTo>
                  <a:pt x="416" y="264677"/>
                </a:lnTo>
                <a:lnTo>
                  <a:pt x="0" y="280268"/>
                </a:lnTo>
              </a:path>
            </a:pathLst>
          </a:custGeom>
          <a:solidFill>
            <a:srgbClr val="FFFFFF">
              <a:alpha val="0"/>
            </a:srgbClr>
          </a:solidFill>
          <a:ln w="31750">
            <a:solidFill>
              <a:srgbClr val="A66E10"/>
            </a:solidFill>
            <a:prstDash val="solid"/>
          </a:ln>
        </p:spPr>
      </p:sp>
      <p:sp>
        <p:nvSpPr>
          <p:cNvPr id="11" name="Shape 9"/>
          <p:cNvSpPr/>
          <p:nvPr/>
        </p:nvSpPr>
        <p:spPr>
          <a:xfrm>
            <a:off x="744277" y="2161180"/>
            <a:ext cx="208528" cy="280268"/>
          </a:xfrm>
          <a:custGeom>
            <a:avLst/>
            <a:gdLst/>
            <a:ahLst/>
            <a:cxnLst/>
            <a:rect l="l" t="t" r="r" b="b"/>
            <a:pathLst>
              <a:path w="208528" h="280268">
                <a:moveTo>
                  <a:pt x="208528" y="280268"/>
                </a:moveTo>
                <a:lnTo>
                  <a:pt x="208112" y="264677"/>
                </a:lnTo>
                <a:lnTo>
                  <a:pt x="206866" y="249131"/>
                </a:lnTo>
                <a:lnTo>
                  <a:pt x="204794" y="233674"/>
                </a:lnTo>
                <a:lnTo>
                  <a:pt x="201901" y="218348"/>
                </a:lnTo>
                <a:lnTo>
                  <a:pt x="198196" y="203199"/>
                </a:lnTo>
                <a:lnTo>
                  <a:pt x="193689" y="188269"/>
                </a:lnTo>
                <a:lnTo>
                  <a:pt x="188392" y="173600"/>
                </a:lnTo>
                <a:lnTo>
                  <a:pt x="182322" y="159234"/>
                </a:lnTo>
                <a:lnTo>
                  <a:pt x="175495" y="145212"/>
                </a:lnTo>
                <a:lnTo>
                  <a:pt x="167930" y="131573"/>
                </a:lnTo>
                <a:lnTo>
                  <a:pt x="159650" y="118357"/>
                </a:lnTo>
                <a:lnTo>
                  <a:pt x="150677" y="105601"/>
                </a:lnTo>
                <a:lnTo>
                  <a:pt x="141037" y="93341"/>
                </a:lnTo>
                <a:lnTo>
                  <a:pt x="130758" y="81612"/>
                </a:lnTo>
                <a:lnTo>
                  <a:pt x="119868" y="70448"/>
                </a:lnTo>
                <a:lnTo>
                  <a:pt x="108399" y="59879"/>
                </a:lnTo>
                <a:lnTo>
                  <a:pt x="96383" y="49937"/>
                </a:lnTo>
                <a:lnTo>
                  <a:pt x="83855" y="40649"/>
                </a:lnTo>
                <a:lnTo>
                  <a:pt x="70849" y="32041"/>
                </a:lnTo>
                <a:lnTo>
                  <a:pt x="57404" y="24139"/>
                </a:lnTo>
                <a:lnTo>
                  <a:pt x="43556" y="16965"/>
                </a:lnTo>
                <a:lnTo>
                  <a:pt x="29346" y="10538"/>
                </a:lnTo>
                <a:lnTo>
                  <a:pt x="14813" y="4878"/>
                </a:lnTo>
                <a:lnTo>
                  <a:pt x="0" y="0"/>
                </a:lnTo>
              </a:path>
            </a:pathLst>
          </a:custGeom>
          <a:solidFill>
            <a:srgbClr val="FFFFFF">
              <a:alpha val="0"/>
            </a:srgbClr>
          </a:solidFill>
          <a:ln w="31750">
            <a:solidFill>
              <a:srgbClr val="A66E10"/>
            </a:solidFill>
            <a:prstDash val="solid"/>
          </a:ln>
        </p:spPr>
      </p:sp>
      <p:sp>
        <p:nvSpPr>
          <p:cNvPr id="12" name="Shape 10"/>
          <p:cNvSpPr/>
          <p:nvPr/>
        </p:nvSpPr>
        <p:spPr>
          <a:xfrm>
            <a:off x="899770" y="1444752"/>
            <a:ext cx="91440" cy="91440"/>
          </a:xfrm>
          <a:prstGeom prst="ellipse">
            <a:avLst/>
          </a:prstGeom>
          <a:solidFill>
            <a:srgbClr val="1B2A4A"/>
          </a:solidFill>
          <a:ln w="9525">
            <a:solidFill>
              <a:srgbClr val="FFFFFF"/>
            </a:solidFill>
            <a:prstDash val="solid"/>
          </a:ln>
        </p:spPr>
      </p:sp>
      <p:sp>
        <p:nvSpPr>
          <p:cNvPr id="13" name="Shape 11"/>
          <p:cNvSpPr/>
          <p:nvPr/>
        </p:nvSpPr>
        <p:spPr>
          <a:xfrm>
            <a:off x="1422806" y="1444752"/>
            <a:ext cx="91440" cy="91440"/>
          </a:xfrm>
          <a:prstGeom prst="ellipse">
            <a:avLst/>
          </a:prstGeom>
          <a:solidFill>
            <a:srgbClr val="1B2A4A"/>
          </a:solidFill>
          <a:ln w="9525">
            <a:solidFill>
              <a:srgbClr val="FFFFFF"/>
            </a:solidFill>
            <a:prstDash val="solid"/>
          </a:ln>
        </p:spPr>
      </p:sp>
      <p:sp>
        <p:nvSpPr>
          <p:cNvPr id="14" name="Shape 12"/>
          <p:cNvSpPr/>
          <p:nvPr/>
        </p:nvSpPr>
        <p:spPr>
          <a:xfrm>
            <a:off x="1708099" y="2395728"/>
            <a:ext cx="91440" cy="91440"/>
          </a:xfrm>
          <a:prstGeom prst="ellipse">
            <a:avLst/>
          </a:prstGeom>
          <a:solidFill>
            <a:srgbClr val="1B2A4A"/>
          </a:solidFill>
          <a:ln w="9525">
            <a:solidFill>
              <a:srgbClr val="FFFFFF"/>
            </a:solidFill>
            <a:prstDash val="solid"/>
          </a:ln>
        </p:spPr>
      </p:sp>
      <p:sp>
        <p:nvSpPr>
          <p:cNvPr id="15" name="Shape 13"/>
          <p:cNvSpPr/>
          <p:nvPr/>
        </p:nvSpPr>
        <p:spPr>
          <a:xfrm>
            <a:off x="614477" y="2395728"/>
            <a:ext cx="91440" cy="91440"/>
          </a:xfrm>
          <a:prstGeom prst="ellipse">
            <a:avLst/>
          </a:prstGeom>
          <a:solidFill>
            <a:srgbClr val="1B2A4A"/>
          </a:solidFill>
          <a:ln w="9525">
            <a:solidFill>
              <a:srgbClr val="FFFFFF"/>
            </a:solidFill>
            <a:prstDash val="solid"/>
          </a:ln>
        </p:spPr>
      </p:sp>
      <p:sp>
        <p:nvSpPr>
          <p:cNvPr id="16" name="Text 14"/>
          <p:cNvSpPr/>
          <p:nvPr/>
        </p:nvSpPr>
        <p:spPr>
          <a:xfrm>
            <a:off x="228600" y="2926080"/>
            <a:ext cx="1956816" cy="640080"/>
          </a:xfrm>
          <a:prstGeom prst="rect">
            <a:avLst/>
          </a:prstGeom>
          <a:noFill/>
          <a:ln/>
        </p:spPr>
        <p:txBody>
          <a:bodyPr wrap="square" lIns="0" tIns="0" rIns="0" bIns="0" rtlCol="0" anchor="t"/>
          <a:lstStyle/>
          <a:p>
            <a:pPr algn="ctr" indent="0" marL="0">
              <a:buNone/>
            </a:pPr>
            <a:r>
              <a:rPr lang="en-US" sz="1100" dirty="0">
                <a:solidFill>
                  <a:srgbClr val="1A1A2E"/>
                </a:solidFill>
                <a:latin typeface="Cambria" pitchFamily="34" charset="0"/>
                <a:ea typeface="Cambria" pitchFamily="34" charset="-122"/>
                <a:cs typeface="Cambria" pitchFamily="34" charset="-120"/>
              </a:rPr>
              <a:t>Exactly one pair</a:t>
            </a:r>
            <a:endParaRPr lang="en-US" sz="1100" dirty="0"/>
          </a:p>
          <a:p>
            <a:pPr algn="ctr" indent="0" marL="0">
              <a:buNone/>
            </a:pPr>
            <a:r>
              <a:rPr lang="en-US" sz="1100" dirty="0">
                <a:solidFill>
                  <a:srgbClr val="1A1A2E"/>
                </a:solidFill>
                <a:latin typeface="Cambria" pitchFamily="34" charset="0"/>
                <a:ea typeface="Cambria" pitchFamily="34" charset="-122"/>
                <a:cs typeface="Cambria" pitchFamily="34" charset="-120"/>
              </a:rPr>
              <a:t>of parallel sides</a:t>
            </a:r>
            <a:endParaRPr lang="en-US" sz="1100" dirty="0"/>
          </a:p>
        </p:txBody>
      </p:sp>
      <p:sp>
        <p:nvSpPr>
          <p:cNvPr id="17" name="Text 15"/>
          <p:cNvSpPr/>
          <p:nvPr/>
        </p:nvSpPr>
        <p:spPr>
          <a:xfrm>
            <a:off x="2048256" y="932688"/>
            <a:ext cx="1682496" cy="292608"/>
          </a:xfrm>
          <a:prstGeom prst="rect">
            <a:avLst/>
          </a:prstGeom>
          <a:noFill/>
          <a:ln/>
        </p:spPr>
        <p:txBody>
          <a:bodyPr wrap="square" lIns="0" tIns="0" rIns="0" bIns="0" rtlCol="0" anchor="ctr"/>
          <a:lstStyle/>
          <a:p>
            <a:pPr algn="ctr" indent="0" marL="0">
              <a:buNone/>
            </a:pPr>
            <a:r>
              <a:rPr lang="en-US" sz="1150" b="1" dirty="0">
                <a:solidFill>
                  <a:srgbClr val="4A3D8F"/>
                </a:solidFill>
              </a:rPr>
              <a:t>Parallelogram</a:t>
            </a:r>
            <a:endParaRPr lang="en-US" sz="1150" dirty="0"/>
          </a:p>
        </p:txBody>
      </p:sp>
      <p:sp>
        <p:nvSpPr>
          <p:cNvPr id="18" name="Shape 16"/>
          <p:cNvSpPr/>
          <p:nvPr/>
        </p:nvSpPr>
        <p:spPr>
          <a:xfrm>
            <a:off x="2366467" y="1490472"/>
            <a:ext cx="1046074" cy="950976"/>
          </a:xfrm>
          <a:custGeom>
            <a:avLst/>
            <a:gdLst/>
            <a:ahLst/>
            <a:cxnLst/>
            <a:rect l="l" t="t" r="r" b="b"/>
            <a:pathLst>
              <a:path w="1046074" h="950976">
                <a:moveTo>
                  <a:pt x="285293" y="0"/>
                </a:moveTo>
                <a:lnTo>
                  <a:pt x="1046074" y="0"/>
                </a:lnTo>
                <a:lnTo>
                  <a:pt x="760781" y="950976"/>
                </a:lnTo>
                <a:lnTo>
                  <a:pt x="0" y="950976"/>
                </a:lnTo>
                <a:close/>
              </a:path>
            </a:pathLst>
          </a:custGeom>
          <a:solidFill>
            <a:srgbClr val="EAE8F5"/>
          </a:solidFill>
          <a:ln w="34925">
            <a:solidFill>
              <a:srgbClr val="1B2A4A"/>
            </a:solidFill>
            <a:prstDash val="solid"/>
          </a:ln>
        </p:spPr>
      </p:sp>
      <p:sp>
        <p:nvSpPr>
          <p:cNvPr id="19" name="Shape 17"/>
          <p:cNvSpPr/>
          <p:nvPr/>
        </p:nvSpPr>
        <p:spPr>
          <a:xfrm>
            <a:off x="2567680" y="1490472"/>
            <a:ext cx="376688" cy="292556"/>
          </a:xfrm>
          <a:custGeom>
            <a:avLst/>
            <a:gdLst/>
            <a:ahLst/>
            <a:cxnLst/>
            <a:rect l="l" t="t" r="r" b="b"/>
            <a:pathLst>
              <a:path w="376688" h="292556">
                <a:moveTo>
                  <a:pt x="0" y="280268"/>
                </a:moveTo>
                <a:lnTo>
                  <a:pt x="21978" y="285942"/>
                </a:lnTo>
                <a:lnTo>
                  <a:pt x="44330" y="289895"/>
                </a:lnTo>
                <a:lnTo>
                  <a:pt x="66921" y="292104"/>
                </a:lnTo>
                <a:lnTo>
                  <a:pt x="89616" y="292556"/>
                </a:lnTo>
                <a:lnTo>
                  <a:pt x="112277" y="291246"/>
                </a:lnTo>
                <a:lnTo>
                  <a:pt x="134768" y="288184"/>
                </a:lnTo>
                <a:lnTo>
                  <a:pt x="156955" y="283388"/>
                </a:lnTo>
                <a:lnTo>
                  <a:pt x="178702" y="276886"/>
                </a:lnTo>
                <a:lnTo>
                  <a:pt x="199881" y="268719"/>
                </a:lnTo>
                <a:lnTo>
                  <a:pt x="220362" y="258934"/>
                </a:lnTo>
                <a:lnTo>
                  <a:pt x="240024" y="247590"/>
                </a:lnTo>
                <a:lnTo>
                  <a:pt x="258747" y="234757"/>
                </a:lnTo>
                <a:lnTo>
                  <a:pt x="276419" y="220512"/>
                </a:lnTo>
                <a:lnTo>
                  <a:pt x="292933" y="204939"/>
                </a:lnTo>
                <a:lnTo>
                  <a:pt x="308191" y="188133"/>
                </a:lnTo>
                <a:lnTo>
                  <a:pt x="322100" y="170194"/>
                </a:lnTo>
                <a:lnTo>
                  <a:pt x="334576" y="151232"/>
                </a:lnTo>
                <a:lnTo>
                  <a:pt x="345546" y="131359"/>
                </a:lnTo>
                <a:lnTo>
                  <a:pt x="354941" y="110696"/>
                </a:lnTo>
                <a:lnTo>
                  <a:pt x="362707" y="89367"/>
                </a:lnTo>
                <a:lnTo>
                  <a:pt x="368796" y="67500"/>
                </a:lnTo>
                <a:lnTo>
                  <a:pt x="373172" y="45227"/>
                </a:lnTo>
                <a:lnTo>
                  <a:pt x="375808" y="22682"/>
                </a:lnTo>
                <a:lnTo>
                  <a:pt x="376688" y="0"/>
                </a:lnTo>
              </a:path>
            </a:pathLst>
          </a:custGeom>
          <a:solidFill>
            <a:srgbClr val="FFFFFF">
              <a:alpha val="0"/>
            </a:srgbClr>
          </a:solidFill>
          <a:ln w="31750">
            <a:solidFill>
              <a:srgbClr val="4A3D8F"/>
            </a:solidFill>
            <a:prstDash val="solid"/>
          </a:ln>
        </p:spPr>
      </p:sp>
      <p:sp>
        <p:nvSpPr>
          <p:cNvPr id="20" name="Shape 18"/>
          <p:cNvSpPr/>
          <p:nvPr/>
        </p:nvSpPr>
        <p:spPr>
          <a:xfrm>
            <a:off x="3119933" y="1490472"/>
            <a:ext cx="208528" cy="280268"/>
          </a:xfrm>
          <a:custGeom>
            <a:avLst/>
            <a:gdLst/>
            <a:ahLst/>
            <a:cxnLst/>
            <a:rect l="l" t="t" r="r" b="b"/>
            <a:pathLst>
              <a:path w="208528" h="280268">
                <a:moveTo>
                  <a:pt x="0" y="0"/>
                </a:moveTo>
                <a:lnTo>
                  <a:pt x="416" y="15590"/>
                </a:lnTo>
                <a:lnTo>
                  <a:pt x="1661" y="31136"/>
                </a:lnTo>
                <a:lnTo>
                  <a:pt x="3734" y="46594"/>
                </a:lnTo>
                <a:lnTo>
                  <a:pt x="6626" y="61919"/>
                </a:lnTo>
                <a:lnTo>
                  <a:pt x="10332" y="77068"/>
                </a:lnTo>
                <a:lnTo>
                  <a:pt x="14839" y="91999"/>
                </a:lnTo>
                <a:lnTo>
                  <a:pt x="20135" y="106668"/>
                </a:lnTo>
                <a:lnTo>
                  <a:pt x="26206" y="121034"/>
                </a:lnTo>
                <a:lnTo>
                  <a:pt x="33033" y="135056"/>
                </a:lnTo>
                <a:lnTo>
                  <a:pt x="40597" y="148694"/>
                </a:lnTo>
                <a:lnTo>
                  <a:pt x="48878" y="161911"/>
                </a:lnTo>
                <a:lnTo>
                  <a:pt x="57851" y="174667"/>
                </a:lnTo>
                <a:lnTo>
                  <a:pt x="67490" y="186927"/>
                </a:lnTo>
                <a:lnTo>
                  <a:pt x="77770" y="198655"/>
                </a:lnTo>
                <a:lnTo>
                  <a:pt x="88659" y="209820"/>
                </a:lnTo>
                <a:lnTo>
                  <a:pt x="100128" y="220388"/>
                </a:lnTo>
                <a:lnTo>
                  <a:pt x="112144" y="230331"/>
                </a:lnTo>
                <a:lnTo>
                  <a:pt x="124673" y="239619"/>
                </a:lnTo>
                <a:lnTo>
                  <a:pt x="137678" y="248226"/>
                </a:lnTo>
                <a:lnTo>
                  <a:pt x="151124" y="256128"/>
                </a:lnTo>
                <a:lnTo>
                  <a:pt x="164972" y="263303"/>
                </a:lnTo>
                <a:lnTo>
                  <a:pt x="179182" y="269729"/>
                </a:lnTo>
                <a:lnTo>
                  <a:pt x="193714" y="275390"/>
                </a:lnTo>
                <a:lnTo>
                  <a:pt x="208528" y="280268"/>
                </a:lnTo>
              </a:path>
            </a:pathLst>
          </a:custGeom>
          <a:solidFill>
            <a:srgbClr val="FFFFFF">
              <a:alpha val="0"/>
            </a:srgbClr>
          </a:solidFill>
          <a:ln w="31750">
            <a:solidFill>
              <a:srgbClr val="4A3D8F"/>
            </a:solidFill>
            <a:prstDash val="solid"/>
          </a:ln>
        </p:spPr>
      </p:sp>
      <p:sp>
        <p:nvSpPr>
          <p:cNvPr id="21" name="Shape 19"/>
          <p:cNvSpPr/>
          <p:nvPr/>
        </p:nvSpPr>
        <p:spPr>
          <a:xfrm>
            <a:off x="2834640" y="2148892"/>
            <a:ext cx="376688" cy="292556"/>
          </a:xfrm>
          <a:custGeom>
            <a:avLst/>
            <a:gdLst/>
            <a:ahLst/>
            <a:cxnLst/>
            <a:rect l="l" t="t" r="r" b="b"/>
            <a:pathLst>
              <a:path w="376688" h="292556">
                <a:moveTo>
                  <a:pt x="376688" y="12288"/>
                </a:moveTo>
                <a:lnTo>
                  <a:pt x="354710" y="6614"/>
                </a:lnTo>
                <a:lnTo>
                  <a:pt x="332358" y="2660"/>
                </a:lnTo>
                <a:lnTo>
                  <a:pt x="309767" y="451"/>
                </a:lnTo>
                <a:lnTo>
                  <a:pt x="287073" y="0"/>
                </a:lnTo>
                <a:lnTo>
                  <a:pt x="264411" y="1309"/>
                </a:lnTo>
                <a:lnTo>
                  <a:pt x="241920" y="4371"/>
                </a:lnTo>
                <a:lnTo>
                  <a:pt x="219734" y="9168"/>
                </a:lnTo>
                <a:lnTo>
                  <a:pt x="197986" y="15669"/>
                </a:lnTo>
                <a:lnTo>
                  <a:pt x="176807" y="23837"/>
                </a:lnTo>
                <a:lnTo>
                  <a:pt x="156326" y="33622"/>
                </a:lnTo>
                <a:lnTo>
                  <a:pt x="136664" y="44965"/>
                </a:lnTo>
                <a:lnTo>
                  <a:pt x="117941" y="57798"/>
                </a:lnTo>
                <a:lnTo>
                  <a:pt x="100269" y="72044"/>
                </a:lnTo>
                <a:lnTo>
                  <a:pt x="83755" y="87617"/>
                </a:lnTo>
                <a:lnTo>
                  <a:pt x="68497" y="104423"/>
                </a:lnTo>
                <a:lnTo>
                  <a:pt x="54588" y="122361"/>
                </a:lnTo>
                <a:lnTo>
                  <a:pt x="42112" y="141324"/>
                </a:lnTo>
                <a:lnTo>
                  <a:pt x="31143" y="161196"/>
                </a:lnTo>
                <a:lnTo>
                  <a:pt x="21747" y="181859"/>
                </a:lnTo>
                <a:lnTo>
                  <a:pt x="13981" y="203188"/>
                </a:lnTo>
                <a:lnTo>
                  <a:pt x="7892" y="225055"/>
                </a:lnTo>
                <a:lnTo>
                  <a:pt x="3516" y="247329"/>
                </a:lnTo>
                <a:lnTo>
                  <a:pt x="880" y="269874"/>
                </a:lnTo>
                <a:lnTo>
                  <a:pt x="0" y="292556"/>
                </a:lnTo>
              </a:path>
            </a:pathLst>
          </a:custGeom>
          <a:solidFill>
            <a:srgbClr val="FFFFFF">
              <a:alpha val="0"/>
            </a:srgbClr>
          </a:solidFill>
          <a:ln w="31750">
            <a:solidFill>
              <a:srgbClr val="4A3D8F"/>
            </a:solidFill>
            <a:prstDash val="solid"/>
          </a:ln>
        </p:spPr>
      </p:sp>
      <p:sp>
        <p:nvSpPr>
          <p:cNvPr id="22" name="Shape 20"/>
          <p:cNvSpPr/>
          <p:nvPr/>
        </p:nvSpPr>
        <p:spPr>
          <a:xfrm>
            <a:off x="2450547" y="2161180"/>
            <a:ext cx="208528" cy="280268"/>
          </a:xfrm>
          <a:custGeom>
            <a:avLst/>
            <a:gdLst/>
            <a:ahLst/>
            <a:cxnLst/>
            <a:rect l="l" t="t" r="r" b="b"/>
            <a:pathLst>
              <a:path w="208528" h="280268">
                <a:moveTo>
                  <a:pt x="208528" y="280268"/>
                </a:moveTo>
                <a:lnTo>
                  <a:pt x="208112" y="264677"/>
                </a:lnTo>
                <a:lnTo>
                  <a:pt x="206866" y="249131"/>
                </a:lnTo>
                <a:lnTo>
                  <a:pt x="204794" y="233674"/>
                </a:lnTo>
                <a:lnTo>
                  <a:pt x="201901" y="218348"/>
                </a:lnTo>
                <a:lnTo>
                  <a:pt x="198196" y="203199"/>
                </a:lnTo>
                <a:lnTo>
                  <a:pt x="193689" y="188269"/>
                </a:lnTo>
                <a:lnTo>
                  <a:pt x="188392" y="173600"/>
                </a:lnTo>
                <a:lnTo>
                  <a:pt x="182322" y="159234"/>
                </a:lnTo>
                <a:lnTo>
                  <a:pt x="175495" y="145212"/>
                </a:lnTo>
                <a:lnTo>
                  <a:pt x="167930" y="131573"/>
                </a:lnTo>
                <a:lnTo>
                  <a:pt x="159650" y="118357"/>
                </a:lnTo>
                <a:lnTo>
                  <a:pt x="150677" y="105601"/>
                </a:lnTo>
                <a:lnTo>
                  <a:pt x="141037" y="93341"/>
                </a:lnTo>
                <a:lnTo>
                  <a:pt x="130758" y="81612"/>
                </a:lnTo>
                <a:lnTo>
                  <a:pt x="119868" y="70448"/>
                </a:lnTo>
                <a:lnTo>
                  <a:pt x="108399" y="59879"/>
                </a:lnTo>
                <a:lnTo>
                  <a:pt x="96383" y="49937"/>
                </a:lnTo>
                <a:lnTo>
                  <a:pt x="83855" y="40649"/>
                </a:lnTo>
                <a:lnTo>
                  <a:pt x="70849" y="32041"/>
                </a:lnTo>
                <a:lnTo>
                  <a:pt x="57404" y="24139"/>
                </a:lnTo>
                <a:lnTo>
                  <a:pt x="43556" y="16965"/>
                </a:lnTo>
                <a:lnTo>
                  <a:pt x="29346" y="10538"/>
                </a:lnTo>
                <a:lnTo>
                  <a:pt x="14813" y="4878"/>
                </a:lnTo>
                <a:lnTo>
                  <a:pt x="0" y="0"/>
                </a:lnTo>
              </a:path>
            </a:pathLst>
          </a:custGeom>
          <a:solidFill>
            <a:srgbClr val="FFFFFF">
              <a:alpha val="0"/>
            </a:srgbClr>
          </a:solidFill>
          <a:ln w="31750">
            <a:solidFill>
              <a:srgbClr val="4A3D8F"/>
            </a:solidFill>
            <a:prstDash val="solid"/>
          </a:ln>
        </p:spPr>
      </p:sp>
      <p:sp>
        <p:nvSpPr>
          <p:cNvPr id="23" name="Shape 21"/>
          <p:cNvSpPr/>
          <p:nvPr/>
        </p:nvSpPr>
        <p:spPr>
          <a:xfrm>
            <a:off x="2606040" y="1444752"/>
            <a:ext cx="91440" cy="91440"/>
          </a:xfrm>
          <a:prstGeom prst="ellipse">
            <a:avLst/>
          </a:prstGeom>
          <a:solidFill>
            <a:srgbClr val="1B2A4A"/>
          </a:solidFill>
          <a:ln w="9525">
            <a:solidFill>
              <a:srgbClr val="FFFFFF"/>
            </a:solidFill>
            <a:prstDash val="solid"/>
          </a:ln>
        </p:spPr>
      </p:sp>
      <p:sp>
        <p:nvSpPr>
          <p:cNvPr id="24" name="Shape 22"/>
          <p:cNvSpPr/>
          <p:nvPr/>
        </p:nvSpPr>
        <p:spPr>
          <a:xfrm>
            <a:off x="3366821" y="1444752"/>
            <a:ext cx="91440" cy="91440"/>
          </a:xfrm>
          <a:prstGeom prst="ellipse">
            <a:avLst/>
          </a:prstGeom>
          <a:solidFill>
            <a:srgbClr val="1B2A4A"/>
          </a:solidFill>
          <a:ln w="9525">
            <a:solidFill>
              <a:srgbClr val="FFFFFF"/>
            </a:solidFill>
            <a:prstDash val="solid"/>
          </a:ln>
        </p:spPr>
      </p:sp>
      <p:sp>
        <p:nvSpPr>
          <p:cNvPr id="25" name="Shape 23"/>
          <p:cNvSpPr/>
          <p:nvPr/>
        </p:nvSpPr>
        <p:spPr>
          <a:xfrm>
            <a:off x="3081528" y="2395728"/>
            <a:ext cx="91440" cy="91440"/>
          </a:xfrm>
          <a:prstGeom prst="ellipse">
            <a:avLst/>
          </a:prstGeom>
          <a:solidFill>
            <a:srgbClr val="1B2A4A"/>
          </a:solidFill>
          <a:ln w="9525">
            <a:solidFill>
              <a:srgbClr val="FFFFFF"/>
            </a:solidFill>
            <a:prstDash val="solid"/>
          </a:ln>
        </p:spPr>
      </p:sp>
      <p:sp>
        <p:nvSpPr>
          <p:cNvPr id="26" name="Shape 24"/>
          <p:cNvSpPr/>
          <p:nvPr/>
        </p:nvSpPr>
        <p:spPr>
          <a:xfrm>
            <a:off x="2320747" y="2395728"/>
            <a:ext cx="91440" cy="91440"/>
          </a:xfrm>
          <a:prstGeom prst="ellipse">
            <a:avLst/>
          </a:prstGeom>
          <a:solidFill>
            <a:srgbClr val="1B2A4A"/>
          </a:solidFill>
          <a:ln w="9525">
            <a:solidFill>
              <a:srgbClr val="FFFFFF"/>
            </a:solidFill>
            <a:prstDash val="solid"/>
          </a:ln>
        </p:spPr>
      </p:sp>
      <p:sp>
        <p:nvSpPr>
          <p:cNvPr id="27" name="Text 25"/>
          <p:cNvSpPr/>
          <p:nvPr/>
        </p:nvSpPr>
        <p:spPr>
          <a:xfrm>
            <a:off x="1911096" y="2926080"/>
            <a:ext cx="1956816" cy="640080"/>
          </a:xfrm>
          <a:prstGeom prst="rect">
            <a:avLst/>
          </a:prstGeom>
          <a:noFill/>
          <a:ln/>
        </p:spPr>
        <p:txBody>
          <a:bodyPr wrap="square" lIns="0" tIns="0" rIns="0" bIns="0" rtlCol="0" anchor="t"/>
          <a:lstStyle/>
          <a:p>
            <a:pPr algn="ctr" indent="0" marL="0">
              <a:buNone/>
            </a:pPr>
            <a:r>
              <a:rPr lang="en-US" sz="1100" dirty="0">
                <a:solidFill>
                  <a:srgbClr val="1A1A2E"/>
                </a:solidFill>
                <a:latin typeface="Cambria" pitchFamily="34" charset="0"/>
                <a:ea typeface="Cambria" pitchFamily="34" charset="-122"/>
                <a:cs typeface="Cambria" pitchFamily="34" charset="-120"/>
              </a:rPr>
              <a:t>Two pairs of</a:t>
            </a:r>
            <a:endParaRPr lang="en-US" sz="1100" dirty="0"/>
          </a:p>
          <a:p>
            <a:pPr algn="ctr" indent="0" marL="0">
              <a:buNone/>
            </a:pPr>
            <a:r>
              <a:rPr lang="en-US" sz="1100" dirty="0">
                <a:solidFill>
                  <a:srgbClr val="1A1A2E"/>
                </a:solidFill>
                <a:latin typeface="Cambria" pitchFamily="34" charset="0"/>
                <a:ea typeface="Cambria" pitchFamily="34" charset="-122"/>
                <a:cs typeface="Cambria" pitchFamily="34" charset="-120"/>
              </a:rPr>
              <a:t>parallel sides</a:t>
            </a:r>
            <a:endParaRPr lang="en-US" sz="1100" dirty="0"/>
          </a:p>
        </p:txBody>
      </p:sp>
      <p:sp>
        <p:nvSpPr>
          <p:cNvPr id="28" name="Text 26"/>
          <p:cNvSpPr/>
          <p:nvPr/>
        </p:nvSpPr>
        <p:spPr>
          <a:xfrm>
            <a:off x="3730752" y="932688"/>
            <a:ext cx="1682496" cy="292608"/>
          </a:xfrm>
          <a:prstGeom prst="rect">
            <a:avLst/>
          </a:prstGeom>
          <a:noFill/>
          <a:ln/>
        </p:spPr>
        <p:txBody>
          <a:bodyPr wrap="square" lIns="0" tIns="0" rIns="0" bIns="0" rtlCol="0" anchor="ctr"/>
          <a:lstStyle/>
          <a:p>
            <a:pPr algn="ctr" indent="0" marL="0">
              <a:buNone/>
            </a:pPr>
            <a:r>
              <a:rPr lang="en-US" sz="1150" b="1" dirty="0">
                <a:solidFill>
                  <a:srgbClr val="2E6E44"/>
                </a:solidFill>
              </a:rPr>
              <a:t>Rectangle</a:t>
            </a:r>
            <a:endParaRPr lang="en-US" sz="1150" dirty="0"/>
          </a:p>
        </p:txBody>
      </p:sp>
      <p:sp>
        <p:nvSpPr>
          <p:cNvPr id="29" name="Shape 27"/>
          <p:cNvSpPr/>
          <p:nvPr/>
        </p:nvSpPr>
        <p:spPr>
          <a:xfrm>
            <a:off x="4025189" y="1609344"/>
            <a:ext cx="1093622" cy="713232"/>
          </a:xfrm>
          <a:custGeom>
            <a:avLst/>
            <a:gdLst/>
            <a:ahLst/>
            <a:cxnLst/>
            <a:rect l="l" t="t" r="r" b="b"/>
            <a:pathLst>
              <a:path w="1093622" h="713232">
                <a:moveTo>
                  <a:pt x="0" y="0"/>
                </a:moveTo>
                <a:lnTo>
                  <a:pt x="1093622" y="0"/>
                </a:lnTo>
                <a:lnTo>
                  <a:pt x="1093622" y="713232"/>
                </a:lnTo>
                <a:lnTo>
                  <a:pt x="0" y="713232"/>
                </a:lnTo>
                <a:close/>
              </a:path>
            </a:pathLst>
          </a:custGeom>
          <a:solidFill>
            <a:srgbClr val="E6F2EA"/>
          </a:solidFill>
          <a:ln w="34925">
            <a:solidFill>
              <a:srgbClr val="1B2A4A"/>
            </a:solidFill>
            <a:prstDash val="solid"/>
          </a:ln>
        </p:spPr>
      </p:sp>
      <p:sp>
        <p:nvSpPr>
          <p:cNvPr id="30" name="Shape 28"/>
          <p:cNvSpPr/>
          <p:nvPr/>
        </p:nvSpPr>
        <p:spPr>
          <a:xfrm>
            <a:off x="4025189" y="1609344"/>
            <a:ext cx="292608" cy="292608"/>
          </a:xfrm>
          <a:custGeom>
            <a:avLst/>
            <a:gdLst/>
            <a:ahLst/>
            <a:cxnLst/>
            <a:rect l="l" t="t" r="r" b="b"/>
            <a:pathLst>
              <a:path w="292608" h="292608">
                <a:moveTo>
                  <a:pt x="0" y="292608"/>
                </a:moveTo>
                <a:lnTo>
                  <a:pt x="19137" y="291982"/>
                </a:lnTo>
                <a:lnTo>
                  <a:pt x="38193" y="290105"/>
                </a:lnTo>
                <a:lnTo>
                  <a:pt x="57085" y="286986"/>
                </a:lnTo>
                <a:lnTo>
                  <a:pt x="75733" y="282638"/>
                </a:lnTo>
                <a:lnTo>
                  <a:pt x="94056" y="277079"/>
                </a:lnTo>
                <a:lnTo>
                  <a:pt x="111976" y="270335"/>
                </a:lnTo>
                <a:lnTo>
                  <a:pt x="129417" y="262432"/>
                </a:lnTo>
                <a:lnTo>
                  <a:pt x="146304" y="253406"/>
                </a:lnTo>
                <a:lnTo>
                  <a:pt x="162564" y="243295"/>
                </a:lnTo>
                <a:lnTo>
                  <a:pt x="178128" y="232142"/>
                </a:lnTo>
                <a:lnTo>
                  <a:pt x="192930" y="219994"/>
                </a:lnTo>
                <a:lnTo>
                  <a:pt x="206905" y="206905"/>
                </a:lnTo>
                <a:lnTo>
                  <a:pt x="219994" y="192930"/>
                </a:lnTo>
                <a:lnTo>
                  <a:pt x="232142" y="178128"/>
                </a:lnTo>
                <a:lnTo>
                  <a:pt x="243295" y="162564"/>
                </a:lnTo>
                <a:lnTo>
                  <a:pt x="253406" y="146304"/>
                </a:lnTo>
                <a:lnTo>
                  <a:pt x="262432" y="129417"/>
                </a:lnTo>
                <a:lnTo>
                  <a:pt x="270335" y="111976"/>
                </a:lnTo>
                <a:lnTo>
                  <a:pt x="277079" y="94056"/>
                </a:lnTo>
                <a:lnTo>
                  <a:pt x="282638" y="75733"/>
                </a:lnTo>
                <a:lnTo>
                  <a:pt x="286986" y="57085"/>
                </a:lnTo>
                <a:lnTo>
                  <a:pt x="290105" y="38193"/>
                </a:lnTo>
                <a:lnTo>
                  <a:pt x="291982" y="19137"/>
                </a:lnTo>
                <a:lnTo>
                  <a:pt x="292608" y="0"/>
                </a:lnTo>
              </a:path>
            </a:pathLst>
          </a:custGeom>
          <a:solidFill>
            <a:srgbClr val="FFFFFF">
              <a:alpha val="0"/>
            </a:srgbClr>
          </a:solidFill>
          <a:ln w="31750">
            <a:solidFill>
              <a:srgbClr val="2E6E44"/>
            </a:solidFill>
            <a:prstDash val="solid"/>
          </a:ln>
        </p:spPr>
      </p:sp>
      <p:sp>
        <p:nvSpPr>
          <p:cNvPr id="31" name="Shape 29"/>
          <p:cNvSpPr/>
          <p:nvPr/>
        </p:nvSpPr>
        <p:spPr>
          <a:xfrm>
            <a:off x="4826203" y="1609344"/>
            <a:ext cx="292608" cy="292608"/>
          </a:xfrm>
          <a:custGeom>
            <a:avLst/>
            <a:gdLst/>
            <a:ahLst/>
            <a:cxnLst/>
            <a:rect l="l" t="t" r="r" b="b"/>
            <a:pathLst>
              <a:path w="292608" h="292608">
                <a:moveTo>
                  <a:pt x="0" y="0"/>
                </a:moveTo>
                <a:lnTo>
                  <a:pt x="626" y="19137"/>
                </a:lnTo>
                <a:lnTo>
                  <a:pt x="2503" y="38193"/>
                </a:lnTo>
                <a:lnTo>
                  <a:pt x="5622" y="57085"/>
                </a:lnTo>
                <a:lnTo>
                  <a:pt x="9970" y="75733"/>
                </a:lnTo>
                <a:lnTo>
                  <a:pt x="15529" y="94056"/>
                </a:lnTo>
                <a:lnTo>
                  <a:pt x="22273" y="111976"/>
                </a:lnTo>
                <a:lnTo>
                  <a:pt x="30176" y="129417"/>
                </a:lnTo>
                <a:lnTo>
                  <a:pt x="39202" y="146304"/>
                </a:lnTo>
                <a:lnTo>
                  <a:pt x="49313" y="162564"/>
                </a:lnTo>
                <a:lnTo>
                  <a:pt x="60466" y="178128"/>
                </a:lnTo>
                <a:lnTo>
                  <a:pt x="72614" y="192930"/>
                </a:lnTo>
                <a:lnTo>
                  <a:pt x="85703" y="206905"/>
                </a:lnTo>
                <a:lnTo>
                  <a:pt x="99678" y="219994"/>
                </a:lnTo>
                <a:lnTo>
                  <a:pt x="114480" y="232142"/>
                </a:lnTo>
                <a:lnTo>
                  <a:pt x="130044" y="243295"/>
                </a:lnTo>
                <a:lnTo>
                  <a:pt x="146304" y="253406"/>
                </a:lnTo>
                <a:lnTo>
                  <a:pt x="163191" y="262432"/>
                </a:lnTo>
                <a:lnTo>
                  <a:pt x="180632" y="270335"/>
                </a:lnTo>
                <a:lnTo>
                  <a:pt x="198552" y="277079"/>
                </a:lnTo>
                <a:lnTo>
                  <a:pt x="216875" y="282638"/>
                </a:lnTo>
                <a:lnTo>
                  <a:pt x="235523" y="286986"/>
                </a:lnTo>
                <a:lnTo>
                  <a:pt x="254415" y="290105"/>
                </a:lnTo>
                <a:lnTo>
                  <a:pt x="273471" y="291982"/>
                </a:lnTo>
                <a:lnTo>
                  <a:pt x="292608" y="292608"/>
                </a:lnTo>
              </a:path>
            </a:pathLst>
          </a:custGeom>
          <a:solidFill>
            <a:srgbClr val="FFFFFF">
              <a:alpha val="0"/>
            </a:srgbClr>
          </a:solidFill>
          <a:ln w="31750">
            <a:solidFill>
              <a:srgbClr val="2E6E44"/>
            </a:solidFill>
            <a:prstDash val="solid"/>
          </a:ln>
        </p:spPr>
      </p:sp>
      <p:sp>
        <p:nvSpPr>
          <p:cNvPr id="32" name="Shape 30"/>
          <p:cNvSpPr/>
          <p:nvPr/>
        </p:nvSpPr>
        <p:spPr>
          <a:xfrm>
            <a:off x="4826203" y="2029968"/>
            <a:ext cx="292608" cy="292608"/>
          </a:xfrm>
          <a:custGeom>
            <a:avLst/>
            <a:gdLst/>
            <a:ahLst/>
            <a:cxnLst/>
            <a:rect l="l" t="t" r="r" b="b"/>
            <a:pathLst>
              <a:path w="292608" h="292608">
                <a:moveTo>
                  <a:pt x="292608" y="0"/>
                </a:moveTo>
                <a:lnTo>
                  <a:pt x="273471" y="626"/>
                </a:lnTo>
                <a:lnTo>
                  <a:pt x="254415" y="2503"/>
                </a:lnTo>
                <a:lnTo>
                  <a:pt x="235523" y="5622"/>
                </a:lnTo>
                <a:lnTo>
                  <a:pt x="216875" y="9970"/>
                </a:lnTo>
                <a:lnTo>
                  <a:pt x="198552" y="15529"/>
                </a:lnTo>
                <a:lnTo>
                  <a:pt x="180632" y="22273"/>
                </a:lnTo>
                <a:lnTo>
                  <a:pt x="163191" y="30176"/>
                </a:lnTo>
                <a:lnTo>
                  <a:pt x="146304" y="39202"/>
                </a:lnTo>
                <a:lnTo>
                  <a:pt x="130044" y="49313"/>
                </a:lnTo>
                <a:lnTo>
                  <a:pt x="114480" y="60466"/>
                </a:lnTo>
                <a:lnTo>
                  <a:pt x="99678" y="72614"/>
                </a:lnTo>
                <a:lnTo>
                  <a:pt x="85703" y="85703"/>
                </a:lnTo>
                <a:lnTo>
                  <a:pt x="72614" y="99678"/>
                </a:lnTo>
                <a:lnTo>
                  <a:pt x="60466" y="114480"/>
                </a:lnTo>
                <a:lnTo>
                  <a:pt x="49313" y="130044"/>
                </a:lnTo>
                <a:lnTo>
                  <a:pt x="39202" y="146304"/>
                </a:lnTo>
                <a:lnTo>
                  <a:pt x="30176" y="163191"/>
                </a:lnTo>
                <a:lnTo>
                  <a:pt x="22273" y="180632"/>
                </a:lnTo>
                <a:lnTo>
                  <a:pt x="15529" y="198552"/>
                </a:lnTo>
                <a:lnTo>
                  <a:pt x="9970" y="216875"/>
                </a:lnTo>
                <a:lnTo>
                  <a:pt x="5622" y="235523"/>
                </a:lnTo>
                <a:lnTo>
                  <a:pt x="2503" y="254415"/>
                </a:lnTo>
                <a:lnTo>
                  <a:pt x="626" y="273471"/>
                </a:lnTo>
                <a:lnTo>
                  <a:pt x="0" y="292608"/>
                </a:lnTo>
              </a:path>
            </a:pathLst>
          </a:custGeom>
          <a:solidFill>
            <a:srgbClr val="FFFFFF">
              <a:alpha val="0"/>
            </a:srgbClr>
          </a:solidFill>
          <a:ln w="31750">
            <a:solidFill>
              <a:srgbClr val="2E6E44"/>
            </a:solidFill>
            <a:prstDash val="solid"/>
          </a:ln>
        </p:spPr>
      </p:sp>
      <p:sp>
        <p:nvSpPr>
          <p:cNvPr id="33" name="Shape 31"/>
          <p:cNvSpPr/>
          <p:nvPr/>
        </p:nvSpPr>
        <p:spPr>
          <a:xfrm>
            <a:off x="4025189" y="2029968"/>
            <a:ext cx="292608" cy="292608"/>
          </a:xfrm>
          <a:custGeom>
            <a:avLst/>
            <a:gdLst/>
            <a:ahLst/>
            <a:cxnLst/>
            <a:rect l="l" t="t" r="r" b="b"/>
            <a:pathLst>
              <a:path w="292608" h="292608">
                <a:moveTo>
                  <a:pt x="292608" y="292608"/>
                </a:moveTo>
                <a:lnTo>
                  <a:pt x="291982" y="273471"/>
                </a:lnTo>
                <a:lnTo>
                  <a:pt x="290105" y="254415"/>
                </a:lnTo>
                <a:lnTo>
                  <a:pt x="286986" y="235523"/>
                </a:lnTo>
                <a:lnTo>
                  <a:pt x="282638" y="216875"/>
                </a:lnTo>
                <a:lnTo>
                  <a:pt x="277079" y="198552"/>
                </a:lnTo>
                <a:lnTo>
                  <a:pt x="270335" y="180632"/>
                </a:lnTo>
                <a:lnTo>
                  <a:pt x="262432" y="163191"/>
                </a:lnTo>
                <a:lnTo>
                  <a:pt x="253406" y="146304"/>
                </a:lnTo>
                <a:lnTo>
                  <a:pt x="243295" y="130044"/>
                </a:lnTo>
                <a:lnTo>
                  <a:pt x="232142" y="114480"/>
                </a:lnTo>
                <a:lnTo>
                  <a:pt x="219994" y="99678"/>
                </a:lnTo>
                <a:lnTo>
                  <a:pt x="206905" y="85703"/>
                </a:lnTo>
                <a:lnTo>
                  <a:pt x="192930" y="72614"/>
                </a:lnTo>
                <a:lnTo>
                  <a:pt x="178128" y="60466"/>
                </a:lnTo>
                <a:lnTo>
                  <a:pt x="162564" y="49313"/>
                </a:lnTo>
                <a:lnTo>
                  <a:pt x="146304" y="39202"/>
                </a:lnTo>
                <a:lnTo>
                  <a:pt x="129417" y="30176"/>
                </a:lnTo>
                <a:lnTo>
                  <a:pt x="111976" y="22273"/>
                </a:lnTo>
                <a:lnTo>
                  <a:pt x="94056" y="15529"/>
                </a:lnTo>
                <a:lnTo>
                  <a:pt x="75733" y="9970"/>
                </a:lnTo>
                <a:lnTo>
                  <a:pt x="57085" y="5622"/>
                </a:lnTo>
                <a:lnTo>
                  <a:pt x="38193" y="2503"/>
                </a:lnTo>
                <a:lnTo>
                  <a:pt x="19137" y="626"/>
                </a:lnTo>
                <a:lnTo>
                  <a:pt x="0" y="0"/>
                </a:lnTo>
              </a:path>
            </a:pathLst>
          </a:custGeom>
          <a:solidFill>
            <a:srgbClr val="FFFFFF">
              <a:alpha val="0"/>
            </a:srgbClr>
          </a:solidFill>
          <a:ln w="31750">
            <a:solidFill>
              <a:srgbClr val="2E6E44"/>
            </a:solidFill>
            <a:prstDash val="solid"/>
          </a:ln>
        </p:spPr>
      </p:sp>
      <p:sp>
        <p:nvSpPr>
          <p:cNvPr id="34" name="Shape 32"/>
          <p:cNvSpPr/>
          <p:nvPr/>
        </p:nvSpPr>
        <p:spPr>
          <a:xfrm>
            <a:off x="3979469" y="1563624"/>
            <a:ext cx="91440" cy="91440"/>
          </a:xfrm>
          <a:prstGeom prst="ellipse">
            <a:avLst/>
          </a:prstGeom>
          <a:solidFill>
            <a:srgbClr val="1B2A4A"/>
          </a:solidFill>
          <a:ln w="9525">
            <a:solidFill>
              <a:srgbClr val="FFFFFF"/>
            </a:solidFill>
            <a:prstDash val="solid"/>
          </a:ln>
        </p:spPr>
      </p:sp>
      <p:sp>
        <p:nvSpPr>
          <p:cNvPr id="35" name="Shape 33"/>
          <p:cNvSpPr/>
          <p:nvPr/>
        </p:nvSpPr>
        <p:spPr>
          <a:xfrm>
            <a:off x="5073091" y="1563624"/>
            <a:ext cx="91440" cy="91440"/>
          </a:xfrm>
          <a:prstGeom prst="ellipse">
            <a:avLst/>
          </a:prstGeom>
          <a:solidFill>
            <a:srgbClr val="1B2A4A"/>
          </a:solidFill>
          <a:ln w="9525">
            <a:solidFill>
              <a:srgbClr val="FFFFFF"/>
            </a:solidFill>
            <a:prstDash val="solid"/>
          </a:ln>
        </p:spPr>
      </p:sp>
      <p:sp>
        <p:nvSpPr>
          <p:cNvPr id="36" name="Shape 34"/>
          <p:cNvSpPr/>
          <p:nvPr/>
        </p:nvSpPr>
        <p:spPr>
          <a:xfrm>
            <a:off x="5073091" y="2276856"/>
            <a:ext cx="91440" cy="91440"/>
          </a:xfrm>
          <a:prstGeom prst="ellipse">
            <a:avLst/>
          </a:prstGeom>
          <a:solidFill>
            <a:srgbClr val="1B2A4A"/>
          </a:solidFill>
          <a:ln w="9525">
            <a:solidFill>
              <a:srgbClr val="FFFFFF"/>
            </a:solidFill>
            <a:prstDash val="solid"/>
          </a:ln>
        </p:spPr>
      </p:sp>
      <p:sp>
        <p:nvSpPr>
          <p:cNvPr id="37" name="Shape 35"/>
          <p:cNvSpPr/>
          <p:nvPr/>
        </p:nvSpPr>
        <p:spPr>
          <a:xfrm>
            <a:off x="3979469" y="2276856"/>
            <a:ext cx="91440" cy="91440"/>
          </a:xfrm>
          <a:prstGeom prst="ellipse">
            <a:avLst/>
          </a:prstGeom>
          <a:solidFill>
            <a:srgbClr val="1B2A4A"/>
          </a:solidFill>
          <a:ln w="9525">
            <a:solidFill>
              <a:srgbClr val="FFFFFF"/>
            </a:solidFill>
            <a:prstDash val="solid"/>
          </a:ln>
        </p:spPr>
      </p:sp>
      <p:sp>
        <p:nvSpPr>
          <p:cNvPr id="38" name="Text 36"/>
          <p:cNvSpPr/>
          <p:nvPr/>
        </p:nvSpPr>
        <p:spPr>
          <a:xfrm>
            <a:off x="3593592" y="2926080"/>
            <a:ext cx="1956816" cy="640080"/>
          </a:xfrm>
          <a:prstGeom prst="rect">
            <a:avLst/>
          </a:prstGeom>
          <a:noFill/>
          <a:ln/>
        </p:spPr>
        <p:txBody>
          <a:bodyPr wrap="square" lIns="0" tIns="0" rIns="0" bIns="0" rtlCol="0" anchor="t"/>
          <a:lstStyle/>
          <a:p>
            <a:pPr algn="ctr" indent="0" marL="0">
              <a:buNone/>
            </a:pPr>
            <a:r>
              <a:rPr lang="en-US" sz="1100" dirty="0">
                <a:solidFill>
                  <a:srgbClr val="1A1A2E"/>
                </a:solidFill>
                <a:latin typeface="Cambria" pitchFamily="34" charset="0"/>
                <a:ea typeface="Cambria" pitchFamily="34" charset="-122"/>
                <a:cs typeface="Cambria" pitchFamily="34" charset="-120"/>
              </a:rPr>
              <a:t>Parallelogram +</a:t>
            </a:r>
            <a:endParaRPr lang="en-US" sz="1100" dirty="0"/>
          </a:p>
          <a:p>
            <a:pPr algn="ctr" indent="0" marL="0">
              <a:buNone/>
            </a:pPr>
            <a:r>
              <a:rPr lang="en-US" sz="1100" dirty="0">
                <a:solidFill>
                  <a:srgbClr val="1A1A2E"/>
                </a:solidFill>
                <a:latin typeface="Cambria" pitchFamily="34" charset="0"/>
                <a:ea typeface="Cambria" pitchFamily="34" charset="-122"/>
                <a:cs typeface="Cambria" pitchFamily="34" charset="-120"/>
              </a:rPr>
              <a:t>four right angles</a:t>
            </a:r>
            <a:endParaRPr lang="en-US" sz="1100" dirty="0"/>
          </a:p>
        </p:txBody>
      </p:sp>
      <p:sp>
        <p:nvSpPr>
          <p:cNvPr id="39" name="Text 37"/>
          <p:cNvSpPr/>
          <p:nvPr/>
        </p:nvSpPr>
        <p:spPr>
          <a:xfrm>
            <a:off x="5413248" y="932688"/>
            <a:ext cx="1682496" cy="292608"/>
          </a:xfrm>
          <a:prstGeom prst="rect">
            <a:avLst/>
          </a:prstGeom>
          <a:noFill/>
          <a:ln/>
        </p:spPr>
        <p:txBody>
          <a:bodyPr wrap="square" lIns="0" tIns="0" rIns="0" bIns="0" rtlCol="0" anchor="ctr"/>
          <a:lstStyle/>
          <a:p>
            <a:pPr algn="ctr" indent="0" marL="0">
              <a:buNone/>
            </a:pPr>
            <a:r>
              <a:rPr lang="en-US" sz="1150" b="1" dirty="0">
                <a:solidFill>
                  <a:srgbClr val="C05818"/>
                </a:solidFill>
              </a:rPr>
              <a:t>Rhombus</a:t>
            </a:r>
            <a:endParaRPr lang="en-US" sz="1150" dirty="0"/>
          </a:p>
        </p:txBody>
      </p:sp>
      <p:sp>
        <p:nvSpPr>
          <p:cNvPr id="40" name="Shape 38"/>
          <p:cNvSpPr/>
          <p:nvPr/>
        </p:nvSpPr>
        <p:spPr>
          <a:xfrm>
            <a:off x="5850331" y="1442923"/>
            <a:ext cx="808330" cy="1046074"/>
          </a:xfrm>
          <a:custGeom>
            <a:avLst/>
            <a:gdLst/>
            <a:ahLst/>
            <a:cxnLst/>
            <a:rect l="l" t="t" r="r" b="b"/>
            <a:pathLst>
              <a:path w="808330" h="1046074">
                <a:moveTo>
                  <a:pt x="404165" y="0"/>
                </a:moveTo>
                <a:lnTo>
                  <a:pt x="808330" y="523037"/>
                </a:lnTo>
                <a:lnTo>
                  <a:pt x="404165" y="1046074"/>
                </a:lnTo>
                <a:lnTo>
                  <a:pt x="0" y="523037"/>
                </a:lnTo>
                <a:close/>
              </a:path>
            </a:pathLst>
          </a:custGeom>
          <a:solidFill>
            <a:srgbClr val="FEF0E6"/>
          </a:solidFill>
          <a:ln w="34925">
            <a:solidFill>
              <a:srgbClr val="1B2A4A"/>
            </a:solidFill>
            <a:prstDash val="solid"/>
          </a:ln>
        </p:spPr>
      </p:sp>
      <p:sp>
        <p:nvSpPr>
          <p:cNvPr id="41" name="Shape 39"/>
          <p:cNvSpPr/>
          <p:nvPr/>
        </p:nvSpPr>
        <p:spPr>
          <a:xfrm>
            <a:off x="6075582" y="1674460"/>
            <a:ext cx="357829" cy="61072"/>
          </a:xfrm>
          <a:custGeom>
            <a:avLst/>
            <a:gdLst/>
            <a:ahLst/>
            <a:cxnLst/>
            <a:rect l="l" t="t" r="r" b="b"/>
            <a:pathLst>
              <a:path w="357829" h="61072">
                <a:moveTo>
                  <a:pt x="0" y="0"/>
                </a:moveTo>
                <a:lnTo>
                  <a:pt x="12956" y="9456"/>
                </a:lnTo>
                <a:lnTo>
                  <a:pt x="26411" y="18188"/>
                </a:lnTo>
                <a:lnTo>
                  <a:pt x="40324" y="26169"/>
                </a:lnTo>
                <a:lnTo>
                  <a:pt x="54654" y="33376"/>
                </a:lnTo>
                <a:lnTo>
                  <a:pt x="69357" y="39787"/>
                </a:lnTo>
                <a:lnTo>
                  <a:pt x="84389" y="45383"/>
                </a:lnTo>
                <a:lnTo>
                  <a:pt x="99705" y="50147"/>
                </a:lnTo>
                <a:lnTo>
                  <a:pt x="115260" y="54064"/>
                </a:lnTo>
                <a:lnTo>
                  <a:pt x="131005" y="57123"/>
                </a:lnTo>
                <a:lnTo>
                  <a:pt x="146895" y="59314"/>
                </a:lnTo>
                <a:lnTo>
                  <a:pt x="162881" y="60632"/>
                </a:lnTo>
                <a:lnTo>
                  <a:pt x="178914" y="61072"/>
                </a:lnTo>
                <a:lnTo>
                  <a:pt x="194948" y="60632"/>
                </a:lnTo>
                <a:lnTo>
                  <a:pt x="210934" y="59314"/>
                </a:lnTo>
                <a:lnTo>
                  <a:pt x="226824" y="57123"/>
                </a:lnTo>
                <a:lnTo>
                  <a:pt x="242569" y="54064"/>
                </a:lnTo>
                <a:lnTo>
                  <a:pt x="258123" y="50147"/>
                </a:lnTo>
                <a:lnTo>
                  <a:pt x="273440" y="45383"/>
                </a:lnTo>
                <a:lnTo>
                  <a:pt x="288472" y="39787"/>
                </a:lnTo>
                <a:lnTo>
                  <a:pt x="303175" y="33376"/>
                </a:lnTo>
                <a:lnTo>
                  <a:pt x="317505" y="26169"/>
                </a:lnTo>
                <a:lnTo>
                  <a:pt x="331418" y="18188"/>
                </a:lnTo>
                <a:lnTo>
                  <a:pt x="344873" y="9456"/>
                </a:lnTo>
                <a:lnTo>
                  <a:pt x="357829" y="0"/>
                </a:lnTo>
              </a:path>
            </a:pathLst>
          </a:custGeom>
          <a:solidFill>
            <a:srgbClr val="FFFFFF">
              <a:alpha val="0"/>
            </a:srgbClr>
          </a:solidFill>
          <a:ln w="31750">
            <a:solidFill>
              <a:srgbClr val="C05818"/>
            </a:solidFill>
            <a:prstDash val="solid"/>
          </a:ln>
        </p:spPr>
      </p:sp>
      <p:sp>
        <p:nvSpPr>
          <p:cNvPr id="42" name="Shape 40"/>
          <p:cNvSpPr/>
          <p:nvPr/>
        </p:nvSpPr>
        <p:spPr>
          <a:xfrm>
            <a:off x="6366053" y="1734424"/>
            <a:ext cx="113694" cy="463073"/>
          </a:xfrm>
          <a:custGeom>
            <a:avLst/>
            <a:gdLst/>
            <a:ahLst/>
            <a:cxnLst/>
            <a:rect l="l" t="t" r="r" b="b"/>
            <a:pathLst>
              <a:path w="113694" h="463073">
                <a:moveTo>
                  <a:pt x="113694" y="0"/>
                </a:moveTo>
                <a:lnTo>
                  <a:pt x="96614" y="14268"/>
                </a:lnTo>
                <a:lnTo>
                  <a:pt x="80668" y="29792"/>
                </a:lnTo>
                <a:lnTo>
                  <a:pt x="65948" y="46483"/>
                </a:lnTo>
                <a:lnTo>
                  <a:pt x="52539" y="64245"/>
                </a:lnTo>
                <a:lnTo>
                  <a:pt x="40519" y="82975"/>
                </a:lnTo>
                <a:lnTo>
                  <a:pt x="29957" y="102564"/>
                </a:lnTo>
                <a:lnTo>
                  <a:pt x="20914" y="122899"/>
                </a:lnTo>
                <a:lnTo>
                  <a:pt x="13444" y="143863"/>
                </a:lnTo>
                <a:lnTo>
                  <a:pt x="7588" y="165334"/>
                </a:lnTo>
                <a:lnTo>
                  <a:pt x="3380" y="187187"/>
                </a:lnTo>
                <a:lnTo>
                  <a:pt x="846" y="209297"/>
                </a:lnTo>
                <a:lnTo>
                  <a:pt x="0" y="231536"/>
                </a:lnTo>
                <a:lnTo>
                  <a:pt x="846" y="253775"/>
                </a:lnTo>
                <a:lnTo>
                  <a:pt x="3380" y="275885"/>
                </a:lnTo>
                <a:lnTo>
                  <a:pt x="7588" y="297739"/>
                </a:lnTo>
                <a:lnTo>
                  <a:pt x="13444" y="319210"/>
                </a:lnTo>
                <a:lnTo>
                  <a:pt x="20914" y="340173"/>
                </a:lnTo>
                <a:lnTo>
                  <a:pt x="29957" y="360509"/>
                </a:lnTo>
                <a:lnTo>
                  <a:pt x="40519" y="380098"/>
                </a:lnTo>
                <a:lnTo>
                  <a:pt x="52539" y="398827"/>
                </a:lnTo>
                <a:lnTo>
                  <a:pt x="65948" y="416589"/>
                </a:lnTo>
                <a:lnTo>
                  <a:pt x="80668" y="433281"/>
                </a:lnTo>
                <a:lnTo>
                  <a:pt x="96614" y="448805"/>
                </a:lnTo>
                <a:lnTo>
                  <a:pt x="113694" y="463073"/>
                </a:lnTo>
              </a:path>
            </a:pathLst>
          </a:custGeom>
          <a:solidFill>
            <a:srgbClr val="FFFFFF">
              <a:alpha val="0"/>
            </a:srgbClr>
          </a:solidFill>
          <a:ln w="31750">
            <a:solidFill>
              <a:srgbClr val="C05818"/>
            </a:solidFill>
            <a:prstDash val="solid"/>
          </a:ln>
        </p:spPr>
      </p:sp>
      <p:sp>
        <p:nvSpPr>
          <p:cNvPr id="43" name="Shape 41"/>
          <p:cNvSpPr/>
          <p:nvPr/>
        </p:nvSpPr>
        <p:spPr>
          <a:xfrm>
            <a:off x="6075582" y="2196389"/>
            <a:ext cx="357829" cy="61072"/>
          </a:xfrm>
          <a:custGeom>
            <a:avLst/>
            <a:gdLst/>
            <a:ahLst/>
            <a:cxnLst/>
            <a:rect l="l" t="t" r="r" b="b"/>
            <a:pathLst>
              <a:path w="357829" h="61072">
                <a:moveTo>
                  <a:pt x="357829" y="61072"/>
                </a:moveTo>
                <a:lnTo>
                  <a:pt x="344873" y="51616"/>
                </a:lnTo>
                <a:lnTo>
                  <a:pt x="331418" y="42884"/>
                </a:lnTo>
                <a:lnTo>
                  <a:pt x="317505" y="34902"/>
                </a:lnTo>
                <a:lnTo>
                  <a:pt x="303175" y="27695"/>
                </a:lnTo>
                <a:lnTo>
                  <a:pt x="288472" y="21284"/>
                </a:lnTo>
                <a:lnTo>
                  <a:pt x="273440" y="15688"/>
                </a:lnTo>
                <a:lnTo>
                  <a:pt x="258123" y="10925"/>
                </a:lnTo>
                <a:lnTo>
                  <a:pt x="242569" y="7008"/>
                </a:lnTo>
                <a:lnTo>
                  <a:pt x="226824" y="3949"/>
                </a:lnTo>
                <a:lnTo>
                  <a:pt x="210934" y="1757"/>
                </a:lnTo>
                <a:lnTo>
                  <a:pt x="194948" y="440"/>
                </a:lnTo>
                <a:lnTo>
                  <a:pt x="178914" y="0"/>
                </a:lnTo>
                <a:lnTo>
                  <a:pt x="162881" y="440"/>
                </a:lnTo>
                <a:lnTo>
                  <a:pt x="146895" y="1757"/>
                </a:lnTo>
                <a:lnTo>
                  <a:pt x="131005" y="3949"/>
                </a:lnTo>
                <a:lnTo>
                  <a:pt x="115260" y="7008"/>
                </a:lnTo>
                <a:lnTo>
                  <a:pt x="99705" y="10925"/>
                </a:lnTo>
                <a:lnTo>
                  <a:pt x="84389" y="15688"/>
                </a:lnTo>
                <a:lnTo>
                  <a:pt x="69357" y="21284"/>
                </a:lnTo>
                <a:lnTo>
                  <a:pt x="54654" y="27695"/>
                </a:lnTo>
                <a:lnTo>
                  <a:pt x="40324" y="34902"/>
                </a:lnTo>
                <a:lnTo>
                  <a:pt x="26411" y="42884"/>
                </a:lnTo>
                <a:lnTo>
                  <a:pt x="12956" y="51616"/>
                </a:lnTo>
                <a:lnTo>
                  <a:pt x="0" y="61072"/>
                </a:lnTo>
              </a:path>
            </a:pathLst>
          </a:custGeom>
          <a:solidFill>
            <a:srgbClr val="FFFFFF">
              <a:alpha val="0"/>
            </a:srgbClr>
          </a:solidFill>
          <a:ln w="31750">
            <a:solidFill>
              <a:srgbClr val="C05818"/>
            </a:solidFill>
            <a:prstDash val="solid"/>
          </a:ln>
        </p:spPr>
      </p:sp>
      <p:sp>
        <p:nvSpPr>
          <p:cNvPr id="44" name="Shape 42"/>
          <p:cNvSpPr/>
          <p:nvPr/>
        </p:nvSpPr>
        <p:spPr>
          <a:xfrm>
            <a:off x="6029246" y="1734424"/>
            <a:ext cx="113694" cy="463073"/>
          </a:xfrm>
          <a:custGeom>
            <a:avLst/>
            <a:gdLst/>
            <a:ahLst/>
            <a:cxnLst/>
            <a:rect l="l" t="t" r="r" b="b"/>
            <a:pathLst>
              <a:path w="113694" h="463073">
                <a:moveTo>
                  <a:pt x="0" y="463073"/>
                </a:moveTo>
                <a:lnTo>
                  <a:pt x="17080" y="448805"/>
                </a:lnTo>
                <a:lnTo>
                  <a:pt x="33026" y="433281"/>
                </a:lnTo>
                <a:lnTo>
                  <a:pt x="47746" y="416589"/>
                </a:lnTo>
                <a:lnTo>
                  <a:pt x="61155" y="398827"/>
                </a:lnTo>
                <a:lnTo>
                  <a:pt x="73175" y="380098"/>
                </a:lnTo>
                <a:lnTo>
                  <a:pt x="83737" y="360509"/>
                </a:lnTo>
                <a:lnTo>
                  <a:pt x="92779" y="340173"/>
                </a:lnTo>
                <a:lnTo>
                  <a:pt x="100250" y="319210"/>
                </a:lnTo>
                <a:lnTo>
                  <a:pt x="106106" y="297739"/>
                </a:lnTo>
                <a:lnTo>
                  <a:pt x="110313" y="275885"/>
                </a:lnTo>
                <a:lnTo>
                  <a:pt x="112847" y="253775"/>
                </a:lnTo>
                <a:lnTo>
                  <a:pt x="113694" y="231536"/>
                </a:lnTo>
                <a:lnTo>
                  <a:pt x="112847" y="209297"/>
                </a:lnTo>
                <a:lnTo>
                  <a:pt x="110313" y="187187"/>
                </a:lnTo>
                <a:lnTo>
                  <a:pt x="106106" y="165334"/>
                </a:lnTo>
                <a:lnTo>
                  <a:pt x="100250" y="143863"/>
                </a:lnTo>
                <a:lnTo>
                  <a:pt x="92779" y="122899"/>
                </a:lnTo>
                <a:lnTo>
                  <a:pt x="83737" y="102564"/>
                </a:lnTo>
                <a:lnTo>
                  <a:pt x="73175" y="82975"/>
                </a:lnTo>
                <a:lnTo>
                  <a:pt x="61155" y="64245"/>
                </a:lnTo>
                <a:lnTo>
                  <a:pt x="47746" y="46483"/>
                </a:lnTo>
                <a:lnTo>
                  <a:pt x="33026" y="29792"/>
                </a:lnTo>
                <a:lnTo>
                  <a:pt x="17080" y="14268"/>
                </a:lnTo>
                <a:lnTo>
                  <a:pt x="0" y="0"/>
                </a:lnTo>
              </a:path>
            </a:pathLst>
          </a:custGeom>
          <a:solidFill>
            <a:srgbClr val="FFFFFF">
              <a:alpha val="0"/>
            </a:srgbClr>
          </a:solidFill>
          <a:ln w="31750">
            <a:solidFill>
              <a:srgbClr val="C05818"/>
            </a:solidFill>
            <a:prstDash val="solid"/>
          </a:ln>
        </p:spPr>
      </p:sp>
      <p:sp>
        <p:nvSpPr>
          <p:cNvPr id="45" name="Shape 43"/>
          <p:cNvSpPr/>
          <p:nvPr/>
        </p:nvSpPr>
        <p:spPr>
          <a:xfrm>
            <a:off x="6208776" y="1397203"/>
            <a:ext cx="91440" cy="91440"/>
          </a:xfrm>
          <a:prstGeom prst="ellipse">
            <a:avLst/>
          </a:prstGeom>
          <a:solidFill>
            <a:srgbClr val="1B2A4A"/>
          </a:solidFill>
          <a:ln w="9525">
            <a:solidFill>
              <a:srgbClr val="FFFFFF"/>
            </a:solidFill>
            <a:prstDash val="solid"/>
          </a:ln>
        </p:spPr>
      </p:sp>
      <p:sp>
        <p:nvSpPr>
          <p:cNvPr id="46" name="Shape 44"/>
          <p:cNvSpPr/>
          <p:nvPr/>
        </p:nvSpPr>
        <p:spPr>
          <a:xfrm>
            <a:off x="6612941" y="1920240"/>
            <a:ext cx="91440" cy="91440"/>
          </a:xfrm>
          <a:prstGeom prst="ellipse">
            <a:avLst/>
          </a:prstGeom>
          <a:solidFill>
            <a:srgbClr val="1B2A4A"/>
          </a:solidFill>
          <a:ln w="9525">
            <a:solidFill>
              <a:srgbClr val="FFFFFF"/>
            </a:solidFill>
            <a:prstDash val="solid"/>
          </a:ln>
        </p:spPr>
      </p:sp>
      <p:sp>
        <p:nvSpPr>
          <p:cNvPr id="47" name="Shape 45"/>
          <p:cNvSpPr/>
          <p:nvPr/>
        </p:nvSpPr>
        <p:spPr>
          <a:xfrm>
            <a:off x="6208776" y="2443277"/>
            <a:ext cx="91440" cy="91440"/>
          </a:xfrm>
          <a:prstGeom prst="ellipse">
            <a:avLst/>
          </a:prstGeom>
          <a:solidFill>
            <a:srgbClr val="1B2A4A"/>
          </a:solidFill>
          <a:ln w="9525">
            <a:solidFill>
              <a:srgbClr val="FFFFFF"/>
            </a:solidFill>
            <a:prstDash val="solid"/>
          </a:ln>
        </p:spPr>
      </p:sp>
      <p:sp>
        <p:nvSpPr>
          <p:cNvPr id="48" name="Shape 46"/>
          <p:cNvSpPr/>
          <p:nvPr/>
        </p:nvSpPr>
        <p:spPr>
          <a:xfrm>
            <a:off x="5804611" y="1920240"/>
            <a:ext cx="91440" cy="91440"/>
          </a:xfrm>
          <a:prstGeom prst="ellipse">
            <a:avLst/>
          </a:prstGeom>
          <a:solidFill>
            <a:srgbClr val="1B2A4A"/>
          </a:solidFill>
          <a:ln w="9525">
            <a:solidFill>
              <a:srgbClr val="FFFFFF"/>
            </a:solidFill>
            <a:prstDash val="solid"/>
          </a:ln>
        </p:spPr>
      </p:sp>
      <p:sp>
        <p:nvSpPr>
          <p:cNvPr id="49" name="Text 47"/>
          <p:cNvSpPr/>
          <p:nvPr/>
        </p:nvSpPr>
        <p:spPr>
          <a:xfrm>
            <a:off x="5276088" y="2926080"/>
            <a:ext cx="1956816" cy="640080"/>
          </a:xfrm>
          <a:prstGeom prst="rect">
            <a:avLst/>
          </a:prstGeom>
          <a:noFill/>
          <a:ln/>
        </p:spPr>
        <p:txBody>
          <a:bodyPr wrap="square" lIns="0" tIns="0" rIns="0" bIns="0" rtlCol="0" anchor="t"/>
          <a:lstStyle/>
          <a:p>
            <a:pPr algn="ctr" indent="0" marL="0">
              <a:buNone/>
            </a:pPr>
            <a:r>
              <a:rPr lang="en-US" sz="1100" dirty="0">
                <a:solidFill>
                  <a:srgbClr val="1A1A2E"/>
                </a:solidFill>
                <a:latin typeface="Cambria" pitchFamily="34" charset="0"/>
                <a:ea typeface="Cambria" pitchFamily="34" charset="-122"/>
                <a:cs typeface="Cambria" pitchFamily="34" charset="-120"/>
              </a:rPr>
              <a:t>Parallelogram +</a:t>
            </a:r>
            <a:endParaRPr lang="en-US" sz="1100" dirty="0"/>
          </a:p>
          <a:p>
            <a:pPr algn="ctr" indent="0" marL="0">
              <a:buNone/>
            </a:pPr>
            <a:r>
              <a:rPr lang="en-US" sz="1100" dirty="0">
                <a:solidFill>
                  <a:srgbClr val="1A1A2E"/>
                </a:solidFill>
                <a:latin typeface="Cambria" pitchFamily="34" charset="0"/>
                <a:ea typeface="Cambria" pitchFamily="34" charset="-122"/>
                <a:cs typeface="Cambria" pitchFamily="34" charset="-120"/>
              </a:rPr>
              <a:t>four equal sides</a:t>
            </a:r>
            <a:endParaRPr lang="en-US" sz="1100" dirty="0"/>
          </a:p>
        </p:txBody>
      </p:sp>
      <p:sp>
        <p:nvSpPr>
          <p:cNvPr id="50" name="Text 48"/>
          <p:cNvSpPr/>
          <p:nvPr/>
        </p:nvSpPr>
        <p:spPr>
          <a:xfrm>
            <a:off x="7095744" y="932688"/>
            <a:ext cx="1682496" cy="292608"/>
          </a:xfrm>
          <a:prstGeom prst="rect">
            <a:avLst/>
          </a:prstGeom>
          <a:noFill/>
          <a:ln/>
        </p:spPr>
        <p:txBody>
          <a:bodyPr wrap="square" lIns="0" tIns="0" rIns="0" bIns="0" rtlCol="0" anchor="ctr"/>
          <a:lstStyle/>
          <a:p>
            <a:pPr algn="ctr" indent="0" marL="0">
              <a:buNone/>
            </a:pPr>
            <a:r>
              <a:rPr lang="en-US" sz="1150" b="1" dirty="0">
                <a:solidFill>
                  <a:srgbClr val="1B2A4A"/>
                </a:solidFill>
              </a:rPr>
              <a:t>Square</a:t>
            </a:r>
            <a:endParaRPr lang="en-US" sz="1150" dirty="0"/>
          </a:p>
        </p:txBody>
      </p:sp>
      <p:sp>
        <p:nvSpPr>
          <p:cNvPr id="51" name="Shape 49"/>
          <p:cNvSpPr/>
          <p:nvPr/>
        </p:nvSpPr>
        <p:spPr>
          <a:xfrm>
            <a:off x="7461504" y="1490472"/>
            <a:ext cx="950976" cy="950976"/>
          </a:xfrm>
          <a:custGeom>
            <a:avLst/>
            <a:gdLst/>
            <a:ahLst/>
            <a:cxnLst/>
            <a:rect l="l" t="t" r="r" b="b"/>
            <a:pathLst>
              <a:path w="950976" h="950976">
                <a:moveTo>
                  <a:pt x="0" y="0"/>
                </a:moveTo>
                <a:lnTo>
                  <a:pt x="950976" y="0"/>
                </a:lnTo>
                <a:lnTo>
                  <a:pt x="950976" y="950976"/>
                </a:lnTo>
                <a:lnTo>
                  <a:pt x="0" y="950976"/>
                </a:lnTo>
                <a:close/>
              </a:path>
            </a:pathLst>
          </a:custGeom>
          <a:solidFill>
            <a:srgbClr val="E8EAF2"/>
          </a:solidFill>
          <a:ln w="34925">
            <a:solidFill>
              <a:srgbClr val="1B2A4A"/>
            </a:solidFill>
            <a:prstDash val="solid"/>
          </a:ln>
        </p:spPr>
      </p:sp>
      <p:sp>
        <p:nvSpPr>
          <p:cNvPr id="52" name="Shape 50"/>
          <p:cNvSpPr/>
          <p:nvPr/>
        </p:nvSpPr>
        <p:spPr>
          <a:xfrm>
            <a:off x="7461504" y="1490472"/>
            <a:ext cx="292608" cy="292608"/>
          </a:xfrm>
          <a:custGeom>
            <a:avLst/>
            <a:gdLst/>
            <a:ahLst/>
            <a:cxnLst/>
            <a:rect l="l" t="t" r="r" b="b"/>
            <a:pathLst>
              <a:path w="292608" h="292608">
                <a:moveTo>
                  <a:pt x="0" y="292608"/>
                </a:moveTo>
                <a:lnTo>
                  <a:pt x="19137" y="291982"/>
                </a:lnTo>
                <a:lnTo>
                  <a:pt x="38193" y="290105"/>
                </a:lnTo>
                <a:lnTo>
                  <a:pt x="57085" y="286986"/>
                </a:lnTo>
                <a:lnTo>
                  <a:pt x="75733" y="282638"/>
                </a:lnTo>
                <a:lnTo>
                  <a:pt x="94056" y="277079"/>
                </a:lnTo>
                <a:lnTo>
                  <a:pt x="111976" y="270335"/>
                </a:lnTo>
                <a:lnTo>
                  <a:pt x="129417" y="262432"/>
                </a:lnTo>
                <a:lnTo>
                  <a:pt x="146304" y="253406"/>
                </a:lnTo>
                <a:lnTo>
                  <a:pt x="162564" y="243295"/>
                </a:lnTo>
                <a:lnTo>
                  <a:pt x="178128" y="232142"/>
                </a:lnTo>
                <a:lnTo>
                  <a:pt x="192930" y="219994"/>
                </a:lnTo>
                <a:lnTo>
                  <a:pt x="206905" y="206905"/>
                </a:lnTo>
                <a:lnTo>
                  <a:pt x="219994" y="192930"/>
                </a:lnTo>
                <a:lnTo>
                  <a:pt x="232142" y="178128"/>
                </a:lnTo>
                <a:lnTo>
                  <a:pt x="243295" y="162564"/>
                </a:lnTo>
                <a:lnTo>
                  <a:pt x="253406" y="146304"/>
                </a:lnTo>
                <a:lnTo>
                  <a:pt x="262432" y="129417"/>
                </a:lnTo>
                <a:lnTo>
                  <a:pt x="270335" y="111976"/>
                </a:lnTo>
                <a:lnTo>
                  <a:pt x="277079" y="94056"/>
                </a:lnTo>
                <a:lnTo>
                  <a:pt x="282638" y="75733"/>
                </a:lnTo>
                <a:lnTo>
                  <a:pt x="286986" y="57085"/>
                </a:lnTo>
                <a:lnTo>
                  <a:pt x="290105" y="38193"/>
                </a:lnTo>
                <a:lnTo>
                  <a:pt x="291982" y="19137"/>
                </a:lnTo>
                <a:lnTo>
                  <a:pt x="292608" y="0"/>
                </a:lnTo>
              </a:path>
            </a:pathLst>
          </a:custGeom>
          <a:solidFill>
            <a:srgbClr val="FFFFFF">
              <a:alpha val="0"/>
            </a:srgbClr>
          </a:solidFill>
          <a:ln w="31750">
            <a:solidFill>
              <a:srgbClr val="1B2A4A"/>
            </a:solidFill>
            <a:prstDash val="solid"/>
          </a:ln>
        </p:spPr>
      </p:sp>
      <p:sp>
        <p:nvSpPr>
          <p:cNvPr id="53" name="Shape 51"/>
          <p:cNvSpPr/>
          <p:nvPr/>
        </p:nvSpPr>
        <p:spPr>
          <a:xfrm>
            <a:off x="8119872" y="1490472"/>
            <a:ext cx="292608" cy="292608"/>
          </a:xfrm>
          <a:custGeom>
            <a:avLst/>
            <a:gdLst/>
            <a:ahLst/>
            <a:cxnLst/>
            <a:rect l="l" t="t" r="r" b="b"/>
            <a:pathLst>
              <a:path w="292608" h="292608">
                <a:moveTo>
                  <a:pt x="0" y="0"/>
                </a:moveTo>
                <a:lnTo>
                  <a:pt x="626" y="19137"/>
                </a:lnTo>
                <a:lnTo>
                  <a:pt x="2503" y="38193"/>
                </a:lnTo>
                <a:lnTo>
                  <a:pt x="5622" y="57085"/>
                </a:lnTo>
                <a:lnTo>
                  <a:pt x="9970" y="75733"/>
                </a:lnTo>
                <a:lnTo>
                  <a:pt x="15529" y="94056"/>
                </a:lnTo>
                <a:lnTo>
                  <a:pt x="22273" y="111976"/>
                </a:lnTo>
                <a:lnTo>
                  <a:pt x="30176" y="129417"/>
                </a:lnTo>
                <a:lnTo>
                  <a:pt x="39202" y="146304"/>
                </a:lnTo>
                <a:lnTo>
                  <a:pt x="49313" y="162564"/>
                </a:lnTo>
                <a:lnTo>
                  <a:pt x="60466" y="178128"/>
                </a:lnTo>
                <a:lnTo>
                  <a:pt x="72614" y="192930"/>
                </a:lnTo>
                <a:lnTo>
                  <a:pt x="85703" y="206905"/>
                </a:lnTo>
                <a:lnTo>
                  <a:pt x="99678" y="219994"/>
                </a:lnTo>
                <a:lnTo>
                  <a:pt x="114480" y="232142"/>
                </a:lnTo>
                <a:lnTo>
                  <a:pt x="130044" y="243295"/>
                </a:lnTo>
                <a:lnTo>
                  <a:pt x="146304" y="253406"/>
                </a:lnTo>
                <a:lnTo>
                  <a:pt x="163191" y="262432"/>
                </a:lnTo>
                <a:lnTo>
                  <a:pt x="180632" y="270335"/>
                </a:lnTo>
                <a:lnTo>
                  <a:pt x="198552" y="277079"/>
                </a:lnTo>
                <a:lnTo>
                  <a:pt x="216875" y="282638"/>
                </a:lnTo>
                <a:lnTo>
                  <a:pt x="235523" y="286986"/>
                </a:lnTo>
                <a:lnTo>
                  <a:pt x="254415" y="290105"/>
                </a:lnTo>
                <a:lnTo>
                  <a:pt x="273471" y="291982"/>
                </a:lnTo>
                <a:lnTo>
                  <a:pt x="292608" y="292608"/>
                </a:lnTo>
              </a:path>
            </a:pathLst>
          </a:custGeom>
          <a:solidFill>
            <a:srgbClr val="FFFFFF">
              <a:alpha val="0"/>
            </a:srgbClr>
          </a:solidFill>
          <a:ln w="31750">
            <a:solidFill>
              <a:srgbClr val="1B2A4A"/>
            </a:solidFill>
            <a:prstDash val="solid"/>
          </a:ln>
        </p:spPr>
      </p:sp>
      <p:sp>
        <p:nvSpPr>
          <p:cNvPr id="54" name="Shape 52"/>
          <p:cNvSpPr/>
          <p:nvPr/>
        </p:nvSpPr>
        <p:spPr>
          <a:xfrm>
            <a:off x="8119872" y="2148840"/>
            <a:ext cx="292608" cy="292608"/>
          </a:xfrm>
          <a:custGeom>
            <a:avLst/>
            <a:gdLst/>
            <a:ahLst/>
            <a:cxnLst/>
            <a:rect l="l" t="t" r="r" b="b"/>
            <a:pathLst>
              <a:path w="292608" h="292608">
                <a:moveTo>
                  <a:pt x="292608" y="0"/>
                </a:moveTo>
                <a:lnTo>
                  <a:pt x="273471" y="626"/>
                </a:lnTo>
                <a:lnTo>
                  <a:pt x="254415" y="2503"/>
                </a:lnTo>
                <a:lnTo>
                  <a:pt x="235523" y="5622"/>
                </a:lnTo>
                <a:lnTo>
                  <a:pt x="216875" y="9970"/>
                </a:lnTo>
                <a:lnTo>
                  <a:pt x="198552" y="15529"/>
                </a:lnTo>
                <a:lnTo>
                  <a:pt x="180632" y="22273"/>
                </a:lnTo>
                <a:lnTo>
                  <a:pt x="163191" y="30176"/>
                </a:lnTo>
                <a:lnTo>
                  <a:pt x="146304" y="39202"/>
                </a:lnTo>
                <a:lnTo>
                  <a:pt x="130044" y="49313"/>
                </a:lnTo>
                <a:lnTo>
                  <a:pt x="114480" y="60466"/>
                </a:lnTo>
                <a:lnTo>
                  <a:pt x="99678" y="72614"/>
                </a:lnTo>
                <a:lnTo>
                  <a:pt x="85703" y="85703"/>
                </a:lnTo>
                <a:lnTo>
                  <a:pt x="72614" y="99678"/>
                </a:lnTo>
                <a:lnTo>
                  <a:pt x="60466" y="114480"/>
                </a:lnTo>
                <a:lnTo>
                  <a:pt x="49313" y="130044"/>
                </a:lnTo>
                <a:lnTo>
                  <a:pt x="39202" y="146304"/>
                </a:lnTo>
                <a:lnTo>
                  <a:pt x="30176" y="163191"/>
                </a:lnTo>
                <a:lnTo>
                  <a:pt x="22273" y="180632"/>
                </a:lnTo>
                <a:lnTo>
                  <a:pt x="15529" y="198552"/>
                </a:lnTo>
                <a:lnTo>
                  <a:pt x="9970" y="216875"/>
                </a:lnTo>
                <a:lnTo>
                  <a:pt x="5622" y="235523"/>
                </a:lnTo>
                <a:lnTo>
                  <a:pt x="2503" y="254415"/>
                </a:lnTo>
                <a:lnTo>
                  <a:pt x="626" y="273471"/>
                </a:lnTo>
                <a:lnTo>
                  <a:pt x="0" y="292608"/>
                </a:lnTo>
              </a:path>
            </a:pathLst>
          </a:custGeom>
          <a:solidFill>
            <a:srgbClr val="FFFFFF">
              <a:alpha val="0"/>
            </a:srgbClr>
          </a:solidFill>
          <a:ln w="31750">
            <a:solidFill>
              <a:srgbClr val="1B2A4A"/>
            </a:solidFill>
            <a:prstDash val="solid"/>
          </a:ln>
        </p:spPr>
      </p:sp>
      <p:sp>
        <p:nvSpPr>
          <p:cNvPr id="55" name="Shape 53"/>
          <p:cNvSpPr/>
          <p:nvPr/>
        </p:nvSpPr>
        <p:spPr>
          <a:xfrm>
            <a:off x="7461504" y="2148840"/>
            <a:ext cx="292608" cy="292608"/>
          </a:xfrm>
          <a:custGeom>
            <a:avLst/>
            <a:gdLst/>
            <a:ahLst/>
            <a:cxnLst/>
            <a:rect l="l" t="t" r="r" b="b"/>
            <a:pathLst>
              <a:path w="292608" h="292608">
                <a:moveTo>
                  <a:pt x="292608" y="292608"/>
                </a:moveTo>
                <a:lnTo>
                  <a:pt x="291982" y="273471"/>
                </a:lnTo>
                <a:lnTo>
                  <a:pt x="290105" y="254415"/>
                </a:lnTo>
                <a:lnTo>
                  <a:pt x="286986" y="235523"/>
                </a:lnTo>
                <a:lnTo>
                  <a:pt x="282638" y="216875"/>
                </a:lnTo>
                <a:lnTo>
                  <a:pt x="277079" y="198552"/>
                </a:lnTo>
                <a:lnTo>
                  <a:pt x="270335" y="180632"/>
                </a:lnTo>
                <a:lnTo>
                  <a:pt x="262432" y="163191"/>
                </a:lnTo>
                <a:lnTo>
                  <a:pt x="253406" y="146304"/>
                </a:lnTo>
                <a:lnTo>
                  <a:pt x="243295" y="130044"/>
                </a:lnTo>
                <a:lnTo>
                  <a:pt x="232142" y="114480"/>
                </a:lnTo>
                <a:lnTo>
                  <a:pt x="219994" y="99678"/>
                </a:lnTo>
                <a:lnTo>
                  <a:pt x="206905" y="85703"/>
                </a:lnTo>
                <a:lnTo>
                  <a:pt x="192930" y="72614"/>
                </a:lnTo>
                <a:lnTo>
                  <a:pt x="178128" y="60466"/>
                </a:lnTo>
                <a:lnTo>
                  <a:pt x="162564" y="49313"/>
                </a:lnTo>
                <a:lnTo>
                  <a:pt x="146304" y="39202"/>
                </a:lnTo>
                <a:lnTo>
                  <a:pt x="129417" y="30176"/>
                </a:lnTo>
                <a:lnTo>
                  <a:pt x="111976" y="22273"/>
                </a:lnTo>
                <a:lnTo>
                  <a:pt x="94056" y="15529"/>
                </a:lnTo>
                <a:lnTo>
                  <a:pt x="75733" y="9970"/>
                </a:lnTo>
                <a:lnTo>
                  <a:pt x="57085" y="5622"/>
                </a:lnTo>
                <a:lnTo>
                  <a:pt x="38193" y="2503"/>
                </a:lnTo>
                <a:lnTo>
                  <a:pt x="19137" y="626"/>
                </a:lnTo>
                <a:lnTo>
                  <a:pt x="0" y="0"/>
                </a:lnTo>
              </a:path>
            </a:pathLst>
          </a:custGeom>
          <a:solidFill>
            <a:srgbClr val="FFFFFF">
              <a:alpha val="0"/>
            </a:srgbClr>
          </a:solidFill>
          <a:ln w="31750">
            <a:solidFill>
              <a:srgbClr val="1B2A4A"/>
            </a:solidFill>
            <a:prstDash val="solid"/>
          </a:ln>
        </p:spPr>
      </p:sp>
      <p:sp>
        <p:nvSpPr>
          <p:cNvPr id="56" name="Shape 54"/>
          <p:cNvSpPr/>
          <p:nvPr/>
        </p:nvSpPr>
        <p:spPr>
          <a:xfrm>
            <a:off x="7415784" y="1444752"/>
            <a:ext cx="91440" cy="91440"/>
          </a:xfrm>
          <a:prstGeom prst="ellipse">
            <a:avLst/>
          </a:prstGeom>
          <a:solidFill>
            <a:srgbClr val="1B2A4A"/>
          </a:solidFill>
          <a:ln w="9525">
            <a:solidFill>
              <a:srgbClr val="FFFFFF"/>
            </a:solidFill>
            <a:prstDash val="solid"/>
          </a:ln>
        </p:spPr>
      </p:sp>
      <p:sp>
        <p:nvSpPr>
          <p:cNvPr id="57" name="Shape 55"/>
          <p:cNvSpPr/>
          <p:nvPr/>
        </p:nvSpPr>
        <p:spPr>
          <a:xfrm>
            <a:off x="8366760" y="1444752"/>
            <a:ext cx="91440" cy="91440"/>
          </a:xfrm>
          <a:prstGeom prst="ellipse">
            <a:avLst/>
          </a:prstGeom>
          <a:solidFill>
            <a:srgbClr val="1B2A4A"/>
          </a:solidFill>
          <a:ln w="9525">
            <a:solidFill>
              <a:srgbClr val="FFFFFF"/>
            </a:solidFill>
            <a:prstDash val="solid"/>
          </a:ln>
        </p:spPr>
      </p:sp>
      <p:sp>
        <p:nvSpPr>
          <p:cNvPr id="58" name="Shape 56"/>
          <p:cNvSpPr/>
          <p:nvPr/>
        </p:nvSpPr>
        <p:spPr>
          <a:xfrm>
            <a:off x="8366760" y="2395728"/>
            <a:ext cx="91440" cy="91440"/>
          </a:xfrm>
          <a:prstGeom prst="ellipse">
            <a:avLst/>
          </a:prstGeom>
          <a:solidFill>
            <a:srgbClr val="1B2A4A"/>
          </a:solidFill>
          <a:ln w="9525">
            <a:solidFill>
              <a:srgbClr val="FFFFFF"/>
            </a:solidFill>
            <a:prstDash val="solid"/>
          </a:ln>
        </p:spPr>
      </p:sp>
      <p:sp>
        <p:nvSpPr>
          <p:cNvPr id="59" name="Shape 57"/>
          <p:cNvSpPr/>
          <p:nvPr/>
        </p:nvSpPr>
        <p:spPr>
          <a:xfrm>
            <a:off x="7415784" y="2395728"/>
            <a:ext cx="91440" cy="91440"/>
          </a:xfrm>
          <a:prstGeom prst="ellipse">
            <a:avLst/>
          </a:prstGeom>
          <a:solidFill>
            <a:srgbClr val="1B2A4A"/>
          </a:solidFill>
          <a:ln w="9525">
            <a:solidFill>
              <a:srgbClr val="FFFFFF"/>
            </a:solidFill>
            <a:prstDash val="solid"/>
          </a:ln>
        </p:spPr>
      </p:sp>
      <p:sp>
        <p:nvSpPr>
          <p:cNvPr id="60" name="Text 58"/>
          <p:cNvSpPr/>
          <p:nvPr/>
        </p:nvSpPr>
        <p:spPr>
          <a:xfrm>
            <a:off x="6958584" y="2926080"/>
            <a:ext cx="1956816" cy="640080"/>
          </a:xfrm>
          <a:prstGeom prst="rect">
            <a:avLst/>
          </a:prstGeom>
          <a:noFill/>
          <a:ln/>
        </p:spPr>
        <p:txBody>
          <a:bodyPr wrap="square" lIns="0" tIns="0" rIns="0" bIns="0" rtlCol="0" anchor="t"/>
          <a:lstStyle/>
          <a:p>
            <a:pPr algn="ctr" indent="0" marL="0">
              <a:buNone/>
            </a:pPr>
            <a:r>
              <a:rPr lang="en-US" sz="1100" dirty="0">
                <a:solidFill>
                  <a:srgbClr val="1A1A2E"/>
                </a:solidFill>
                <a:latin typeface="Cambria" pitchFamily="34" charset="0"/>
                <a:ea typeface="Cambria" pitchFamily="34" charset="-122"/>
                <a:cs typeface="Cambria" pitchFamily="34" charset="-120"/>
              </a:rPr>
              <a:t>Rectangle AND</a:t>
            </a:r>
            <a:endParaRPr lang="en-US" sz="1100" dirty="0"/>
          </a:p>
          <a:p>
            <a:pPr algn="ctr" indent="0" marL="0">
              <a:buNone/>
            </a:pPr>
            <a:r>
              <a:rPr lang="en-US" sz="1100" dirty="0">
                <a:solidFill>
                  <a:srgbClr val="1A1A2E"/>
                </a:solidFill>
                <a:latin typeface="Cambria" pitchFamily="34" charset="0"/>
                <a:ea typeface="Cambria" pitchFamily="34" charset="-122"/>
                <a:cs typeface="Cambria" pitchFamily="34" charset="-120"/>
              </a:rPr>
              <a:t>rhombus at once</a:t>
            </a:r>
            <a:endParaRPr lang="en-US" sz="1100" dirty="0"/>
          </a:p>
        </p:txBody>
      </p:sp>
      <p:sp>
        <p:nvSpPr>
          <p:cNvPr id="61" name="Shape 59"/>
          <p:cNvSpPr/>
          <p:nvPr/>
        </p:nvSpPr>
        <p:spPr>
          <a:xfrm>
            <a:off x="1005840" y="3977640"/>
            <a:ext cx="7132320" cy="438912"/>
          </a:xfrm>
          <a:prstGeom prst="roundRect">
            <a:avLst>
              <a:gd name="adj" fmla="val 12500"/>
            </a:avLst>
          </a:prstGeom>
          <a:solidFill>
            <a:srgbClr val="464EB8"/>
          </a:solidFill>
          <a:ln w="12700">
            <a:solidFill>
              <a:srgbClr val="464EB8"/>
            </a:solidFill>
            <a:prstDash val="solid"/>
          </a:ln>
        </p:spPr>
      </p:sp>
      <p:sp>
        <p:nvSpPr>
          <p:cNvPr id="62" name="Text 60"/>
          <p:cNvSpPr/>
          <p:nvPr/>
        </p:nvSpPr>
        <p:spPr>
          <a:xfrm>
            <a:off x="1005840" y="3977640"/>
            <a:ext cx="713232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two shapes on this row could ALSO be called a parallelogram?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State the Hierarchy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51560"/>
            <a:ext cx="8229600" cy="1600200"/>
          </a:xfrm>
          <a:prstGeom prst="roundRect">
            <a:avLst>
              <a:gd name="adj" fmla="val 5714"/>
            </a:avLst>
          </a:prstGeom>
          <a:solidFill>
            <a:srgbClr val="EAE8F5"/>
          </a:solidFill>
          <a:ln w="6350">
            <a:solidFill>
              <a:srgbClr val="DDDDEE"/>
            </a:solidFill>
            <a:prstDash val="solid"/>
          </a:ln>
        </p:spPr>
      </p:sp>
      <p:sp>
        <p:nvSpPr>
          <p:cNvPr id="7" name="Text 5"/>
          <p:cNvSpPr/>
          <p:nvPr/>
        </p:nvSpPr>
        <p:spPr>
          <a:xfrm>
            <a:off x="685800" y="1188720"/>
            <a:ext cx="7772400" cy="1325880"/>
          </a:xfrm>
          <a:prstGeom prst="rect">
            <a:avLst/>
          </a:prstGeom>
          <a:noFill/>
          <a:ln/>
        </p:spPr>
        <p:txBody>
          <a:bodyPr wrap="square" lIns="0" tIns="0" rIns="0" bIns="0" rtlCol="0" anchor="ctr"/>
          <a:lstStyle/>
          <a:p>
            <a:pPr indent="0" marL="0">
              <a:buNone/>
            </a:pPr>
            <a:r>
              <a:rPr lang="en-US" sz="1550" b="1" dirty="0">
                <a:solidFill>
                  <a:srgbClr val="4A3D8F"/>
                </a:solidFill>
                <a:latin typeface="Cambria" pitchFamily="34" charset="0"/>
                <a:ea typeface="Cambria" pitchFamily="34" charset="-122"/>
                <a:cs typeface="Cambria" pitchFamily="34" charset="-120"/>
              </a:rPr>
              <a:t>A parallelogram has two pairs of parallel sides. A rectangle is a parallelogram with four right angles. A rhombus is a parallelogram with four equal sides.</a:t>
            </a:r>
            <a:endParaRPr lang="en-US" sz="1550" dirty="0"/>
          </a:p>
        </p:txBody>
      </p:sp>
      <p:sp>
        <p:nvSpPr>
          <p:cNvPr id="8" name="Shape 6"/>
          <p:cNvSpPr/>
          <p:nvPr/>
        </p:nvSpPr>
        <p:spPr>
          <a:xfrm>
            <a:off x="457200" y="2834640"/>
            <a:ext cx="8229600" cy="1371600"/>
          </a:xfrm>
          <a:prstGeom prst="roundRect">
            <a:avLst>
              <a:gd name="adj" fmla="val 6667"/>
            </a:avLst>
          </a:prstGeom>
          <a:solidFill>
            <a:srgbClr val="E6F2EA"/>
          </a:solidFill>
          <a:ln w="6350">
            <a:solidFill>
              <a:srgbClr val="DDDDEE"/>
            </a:solidFill>
            <a:prstDash val="solid"/>
          </a:ln>
        </p:spPr>
      </p:sp>
      <p:sp>
        <p:nvSpPr>
          <p:cNvPr id="9" name="Text 7"/>
          <p:cNvSpPr/>
          <p:nvPr/>
        </p:nvSpPr>
        <p:spPr>
          <a:xfrm>
            <a:off x="685800" y="2971800"/>
            <a:ext cx="7772400" cy="1097280"/>
          </a:xfrm>
          <a:prstGeom prst="rect">
            <a:avLst/>
          </a:prstGeom>
          <a:noFill/>
          <a:ln/>
        </p:spPr>
        <p:txBody>
          <a:bodyPr wrap="square" lIns="0" tIns="0" rIns="0" bIns="0" rtlCol="0" anchor="ctr"/>
          <a:lstStyle/>
          <a:p>
            <a:pPr indent="0" marL="0">
              <a:buNone/>
            </a:pPr>
            <a:r>
              <a:rPr lang="en-US" sz="1550" b="1" dirty="0">
                <a:solidFill>
                  <a:srgbClr val="2E6E44"/>
                </a:solidFill>
                <a:latin typeface="Cambria" pitchFamily="34" charset="0"/>
                <a:ea typeface="Cambria" pitchFamily="34" charset="-122"/>
                <a:cs typeface="Cambria" pitchFamily="34" charset="-120"/>
              </a:rPr>
              <a:t>A square is both a rectangle and a rhombus at once. A trapezoid has only one pair of parallel sides, so it does not belong to the parallelogram family.</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60120"/>
            <a:ext cx="4069080" cy="1691640"/>
          </a:xfrm>
          <a:prstGeom prst="roundRect">
            <a:avLst>
              <a:gd name="adj" fmla="val 5405"/>
            </a:avLst>
          </a:prstGeom>
          <a:solidFill>
            <a:srgbClr val="EAE8F5"/>
          </a:solidFill>
          <a:ln w="6350">
            <a:solidFill>
              <a:srgbClr val="DDDDEE"/>
            </a:solidFill>
            <a:prstDash val="solid"/>
          </a:ln>
        </p:spPr>
      </p:sp>
      <p:sp>
        <p:nvSpPr>
          <p:cNvPr id="7" name="Text 5"/>
          <p:cNvSpPr/>
          <p:nvPr/>
        </p:nvSpPr>
        <p:spPr>
          <a:xfrm>
            <a:off x="548640" y="1069848"/>
            <a:ext cx="3703320" cy="365760"/>
          </a:xfrm>
          <a:prstGeom prst="rect">
            <a:avLst/>
          </a:prstGeom>
          <a:noFill/>
          <a:ln/>
        </p:spPr>
        <p:txBody>
          <a:bodyPr wrap="square" lIns="0" tIns="0" rIns="0" bIns="0" rtlCol="0" anchor="ctr"/>
          <a:lstStyle/>
          <a:p>
            <a:pPr indent="0" marL="0">
              <a:buNone/>
            </a:pPr>
            <a:r>
              <a:rPr lang="en-US" sz="1500" b="1" dirty="0">
                <a:solidFill>
                  <a:srgbClr val="4A3D8F"/>
                </a:solidFill>
              </a:rPr>
              <a:t>Parallelogram</a:t>
            </a:r>
            <a:endParaRPr lang="en-US" sz="1500" dirty="0"/>
          </a:p>
        </p:txBody>
      </p:sp>
      <p:sp>
        <p:nvSpPr>
          <p:cNvPr id="8" name="Text 6"/>
          <p:cNvSpPr/>
          <p:nvPr/>
        </p:nvSpPr>
        <p:spPr>
          <a:xfrm>
            <a:off x="548640" y="1490472"/>
            <a:ext cx="3703320" cy="10515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 quadrilateral with two pairs of parallel sides.</a:t>
            </a:r>
            <a:endParaRPr lang="en-US" sz="1250" dirty="0"/>
          </a:p>
        </p:txBody>
      </p:sp>
      <p:sp>
        <p:nvSpPr>
          <p:cNvPr id="9" name="Shape 7"/>
          <p:cNvSpPr/>
          <p:nvPr/>
        </p:nvSpPr>
        <p:spPr>
          <a:xfrm>
            <a:off x="4709160" y="960120"/>
            <a:ext cx="4069080" cy="1691640"/>
          </a:xfrm>
          <a:prstGeom prst="roundRect">
            <a:avLst>
              <a:gd name="adj" fmla="val 5405"/>
            </a:avLst>
          </a:prstGeom>
          <a:solidFill>
            <a:srgbClr val="FEF6E4"/>
          </a:solidFill>
          <a:ln w="6350">
            <a:solidFill>
              <a:srgbClr val="DDDDEE"/>
            </a:solidFill>
            <a:prstDash val="solid"/>
          </a:ln>
        </p:spPr>
      </p:sp>
      <p:sp>
        <p:nvSpPr>
          <p:cNvPr id="10" name="Text 8"/>
          <p:cNvSpPr/>
          <p:nvPr/>
        </p:nvSpPr>
        <p:spPr>
          <a:xfrm>
            <a:off x="4892040" y="1069848"/>
            <a:ext cx="3703320" cy="365760"/>
          </a:xfrm>
          <a:prstGeom prst="rect">
            <a:avLst/>
          </a:prstGeom>
          <a:noFill/>
          <a:ln/>
        </p:spPr>
        <p:txBody>
          <a:bodyPr wrap="square" lIns="0" tIns="0" rIns="0" bIns="0" rtlCol="0" anchor="ctr"/>
          <a:lstStyle/>
          <a:p>
            <a:pPr indent="0" marL="0">
              <a:buNone/>
            </a:pPr>
            <a:r>
              <a:rPr lang="en-US" sz="1500" b="1" dirty="0">
                <a:solidFill>
                  <a:srgbClr val="A66E10"/>
                </a:solidFill>
              </a:rPr>
              <a:t>Trapezoid</a:t>
            </a:r>
            <a:endParaRPr lang="en-US" sz="1500" dirty="0"/>
          </a:p>
        </p:txBody>
      </p:sp>
      <p:sp>
        <p:nvSpPr>
          <p:cNvPr id="11" name="Text 9"/>
          <p:cNvSpPr/>
          <p:nvPr/>
        </p:nvSpPr>
        <p:spPr>
          <a:xfrm>
            <a:off x="4892040" y="1490472"/>
            <a:ext cx="3703320" cy="10515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 quadrilateral with exactly one pair of parallel sides.</a:t>
            </a:r>
            <a:endParaRPr lang="en-US" sz="1250" dirty="0"/>
          </a:p>
        </p:txBody>
      </p:sp>
      <p:sp>
        <p:nvSpPr>
          <p:cNvPr id="12" name="Shape 10"/>
          <p:cNvSpPr/>
          <p:nvPr/>
        </p:nvSpPr>
        <p:spPr>
          <a:xfrm>
            <a:off x="365760" y="2788920"/>
            <a:ext cx="4069080" cy="1691640"/>
          </a:xfrm>
          <a:prstGeom prst="roundRect">
            <a:avLst>
              <a:gd name="adj" fmla="val 5405"/>
            </a:avLst>
          </a:prstGeom>
          <a:solidFill>
            <a:srgbClr val="FEF0E6"/>
          </a:solidFill>
          <a:ln w="6350">
            <a:solidFill>
              <a:srgbClr val="DDDDEE"/>
            </a:solidFill>
            <a:prstDash val="solid"/>
          </a:ln>
        </p:spPr>
      </p:sp>
      <p:sp>
        <p:nvSpPr>
          <p:cNvPr id="13" name="Text 11"/>
          <p:cNvSpPr/>
          <p:nvPr/>
        </p:nvSpPr>
        <p:spPr>
          <a:xfrm>
            <a:off x="548640" y="2898648"/>
            <a:ext cx="3703320" cy="365760"/>
          </a:xfrm>
          <a:prstGeom prst="rect">
            <a:avLst/>
          </a:prstGeom>
          <a:noFill/>
          <a:ln/>
        </p:spPr>
        <p:txBody>
          <a:bodyPr wrap="square" lIns="0" tIns="0" rIns="0" bIns="0" rtlCol="0" anchor="ctr"/>
          <a:lstStyle/>
          <a:p>
            <a:pPr indent="0" marL="0">
              <a:buNone/>
            </a:pPr>
            <a:r>
              <a:rPr lang="en-US" sz="1500" b="1" dirty="0">
                <a:solidFill>
                  <a:srgbClr val="C05818"/>
                </a:solidFill>
              </a:rPr>
              <a:t>Rhombus</a:t>
            </a:r>
            <a:endParaRPr lang="en-US" sz="1500" dirty="0"/>
          </a:p>
        </p:txBody>
      </p:sp>
      <p:sp>
        <p:nvSpPr>
          <p:cNvPr id="14" name="Text 12"/>
          <p:cNvSpPr/>
          <p:nvPr/>
        </p:nvSpPr>
        <p:spPr>
          <a:xfrm>
            <a:off x="548640" y="3319272"/>
            <a:ext cx="3703320" cy="10515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 parallelogram with all four sides the same length.</a:t>
            </a:r>
            <a:endParaRPr lang="en-US" sz="1250" dirty="0"/>
          </a:p>
        </p:txBody>
      </p:sp>
      <p:sp>
        <p:nvSpPr>
          <p:cNvPr id="15" name="Shape 13"/>
          <p:cNvSpPr/>
          <p:nvPr/>
        </p:nvSpPr>
        <p:spPr>
          <a:xfrm>
            <a:off x="4709160" y="2788920"/>
            <a:ext cx="4069080" cy="1691640"/>
          </a:xfrm>
          <a:prstGeom prst="roundRect">
            <a:avLst>
              <a:gd name="adj" fmla="val 5405"/>
            </a:avLst>
          </a:prstGeom>
          <a:solidFill>
            <a:srgbClr val="E6F2EA"/>
          </a:solidFill>
          <a:ln w="6350">
            <a:solidFill>
              <a:srgbClr val="DDDDEE"/>
            </a:solidFill>
            <a:prstDash val="solid"/>
          </a:ln>
        </p:spPr>
      </p:sp>
      <p:sp>
        <p:nvSpPr>
          <p:cNvPr id="16" name="Text 14"/>
          <p:cNvSpPr/>
          <p:nvPr/>
        </p:nvSpPr>
        <p:spPr>
          <a:xfrm>
            <a:off x="4892040" y="2898648"/>
            <a:ext cx="3703320" cy="365760"/>
          </a:xfrm>
          <a:prstGeom prst="rect">
            <a:avLst/>
          </a:prstGeom>
          <a:noFill/>
          <a:ln/>
        </p:spPr>
        <p:txBody>
          <a:bodyPr wrap="square" lIns="0" tIns="0" rIns="0" bIns="0" rtlCol="0" anchor="ctr"/>
          <a:lstStyle/>
          <a:p>
            <a:pPr indent="0" marL="0">
              <a:buNone/>
            </a:pPr>
            <a:r>
              <a:rPr lang="en-US" sz="1500" b="1" dirty="0">
                <a:solidFill>
                  <a:srgbClr val="2E6E44"/>
                </a:solidFill>
              </a:rPr>
              <a:t>Parallel Sides</a:t>
            </a:r>
            <a:endParaRPr lang="en-US" sz="1500" dirty="0"/>
          </a:p>
        </p:txBody>
      </p:sp>
      <p:sp>
        <p:nvSpPr>
          <p:cNvPr id="17" name="Text 15"/>
          <p:cNvSpPr/>
          <p:nvPr/>
        </p:nvSpPr>
        <p:spPr>
          <a:xfrm>
            <a:off x="4892040" y="3319272"/>
            <a:ext cx="3703320" cy="10515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Sides that stay the same distance apart and never meet, no matter how far they extend.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Classify by Properties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1371600" y="2103120"/>
            <a:ext cx="1920240" cy="1920240"/>
          </a:xfrm>
          <a:custGeom>
            <a:avLst/>
            <a:gdLst/>
            <a:ahLst/>
            <a:cxnLst/>
            <a:rect l="l" t="t" r="r" b="b"/>
            <a:pathLst>
              <a:path w="1920240" h="1920240">
                <a:moveTo>
                  <a:pt x="0" y="0"/>
                </a:moveTo>
                <a:lnTo>
                  <a:pt x="1920240" y="0"/>
                </a:lnTo>
                <a:lnTo>
                  <a:pt x="1920240" y="1920240"/>
                </a:lnTo>
                <a:lnTo>
                  <a:pt x="0" y="1920240"/>
                </a:lnTo>
                <a:close/>
              </a:path>
            </a:pathLst>
          </a:custGeom>
          <a:solidFill>
            <a:srgbClr val="EAE8F5"/>
          </a:solidFill>
          <a:ln w="34925">
            <a:solidFill>
              <a:srgbClr val="1B2A4A"/>
            </a:solidFill>
            <a:prstDash val="solid"/>
          </a:ln>
        </p:spPr>
      </p:sp>
      <p:sp>
        <p:nvSpPr>
          <p:cNvPr id="9" name="Shape 7"/>
          <p:cNvSpPr/>
          <p:nvPr/>
        </p:nvSpPr>
        <p:spPr>
          <a:xfrm>
            <a:off x="1371600" y="2103120"/>
            <a:ext cx="292608" cy="292608"/>
          </a:xfrm>
          <a:custGeom>
            <a:avLst/>
            <a:gdLst/>
            <a:ahLst/>
            <a:cxnLst/>
            <a:rect l="l" t="t" r="r" b="b"/>
            <a:pathLst>
              <a:path w="292608" h="292608">
                <a:moveTo>
                  <a:pt x="0" y="292608"/>
                </a:moveTo>
                <a:lnTo>
                  <a:pt x="19137" y="291982"/>
                </a:lnTo>
                <a:lnTo>
                  <a:pt x="38193" y="290105"/>
                </a:lnTo>
                <a:lnTo>
                  <a:pt x="57085" y="286986"/>
                </a:lnTo>
                <a:lnTo>
                  <a:pt x="75733" y="282638"/>
                </a:lnTo>
                <a:lnTo>
                  <a:pt x="94056" y="277079"/>
                </a:lnTo>
                <a:lnTo>
                  <a:pt x="111976" y="270335"/>
                </a:lnTo>
                <a:lnTo>
                  <a:pt x="129417" y="262432"/>
                </a:lnTo>
                <a:lnTo>
                  <a:pt x="146304" y="253406"/>
                </a:lnTo>
                <a:lnTo>
                  <a:pt x="162564" y="243295"/>
                </a:lnTo>
                <a:lnTo>
                  <a:pt x="178128" y="232142"/>
                </a:lnTo>
                <a:lnTo>
                  <a:pt x="192930" y="219994"/>
                </a:lnTo>
                <a:lnTo>
                  <a:pt x="206905" y="206905"/>
                </a:lnTo>
                <a:lnTo>
                  <a:pt x="219994" y="192930"/>
                </a:lnTo>
                <a:lnTo>
                  <a:pt x="232142" y="178128"/>
                </a:lnTo>
                <a:lnTo>
                  <a:pt x="243295" y="162564"/>
                </a:lnTo>
                <a:lnTo>
                  <a:pt x="253406" y="146304"/>
                </a:lnTo>
                <a:lnTo>
                  <a:pt x="262432" y="129417"/>
                </a:lnTo>
                <a:lnTo>
                  <a:pt x="270335" y="111976"/>
                </a:lnTo>
                <a:lnTo>
                  <a:pt x="277079" y="94056"/>
                </a:lnTo>
                <a:lnTo>
                  <a:pt x="282638" y="75733"/>
                </a:lnTo>
                <a:lnTo>
                  <a:pt x="286986" y="57085"/>
                </a:lnTo>
                <a:lnTo>
                  <a:pt x="290105" y="38193"/>
                </a:lnTo>
                <a:lnTo>
                  <a:pt x="291982" y="19137"/>
                </a:lnTo>
                <a:lnTo>
                  <a:pt x="292608" y="0"/>
                </a:lnTo>
              </a:path>
            </a:pathLst>
          </a:custGeom>
          <a:solidFill>
            <a:srgbClr val="FFFFFF">
              <a:alpha val="0"/>
            </a:srgbClr>
          </a:solidFill>
          <a:ln w="31750">
            <a:solidFill>
              <a:srgbClr val="2E6E44"/>
            </a:solidFill>
            <a:prstDash val="solid"/>
          </a:ln>
        </p:spPr>
      </p:sp>
      <p:sp>
        <p:nvSpPr>
          <p:cNvPr id="10" name="Text 8"/>
          <p:cNvSpPr/>
          <p:nvPr/>
        </p:nvSpPr>
        <p:spPr>
          <a:xfrm>
            <a:off x="1432582" y="2383558"/>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90°</a:t>
            </a:r>
            <a:endParaRPr lang="en-US" sz="1200" dirty="0"/>
          </a:p>
        </p:txBody>
      </p:sp>
      <p:sp>
        <p:nvSpPr>
          <p:cNvPr id="11" name="Shape 9"/>
          <p:cNvSpPr/>
          <p:nvPr/>
        </p:nvSpPr>
        <p:spPr>
          <a:xfrm>
            <a:off x="2999232" y="2103120"/>
            <a:ext cx="292608" cy="292608"/>
          </a:xfrm>
          <a:custGeom>
            <a:avLst/>
            <a:gdLst/>
            <a:ahLst/>
            <a:cxnLst/>
            <a:rect l="l" t="t" r="r" b="b"/>
            <a:pathLst>
              <a:path w="292608" h="292608">
                <a:moveTo>
                  <a:pt x="0" y="0"/>
                </a:moveTo>
                <a:lnTo>
                  <a:pt x="626" y="19137"/>
                </a:lnTo>
                <a:lnTo>
                  <a:pt x="2503" y="38193"/>
                </a:lnTo>
                <a:lnTo>
                  <a:pt x="5622" y="57085"/>
                </a:lnTo>
                <a:lnTo>
                  <a:pt x="9970" y="75733"/>
                </a:lnTo>
                <a:lnTo>
                  <a:pt x="15529" y="94056"/>
                </a:lnTo>
                <a:lnTo>
                  <a:pt x="22273" y="111976"/>
                </a:lnTo>
                <a:lnTo>
                  <a:pt x="30176" y="129417"/>
                </a:lnTo>
                <a:lnTo>
                  <a:pt x="39202" y="146304"/>
                </a:lnTo>
                <a:lnTo>
                  <a:pt x="49313" y="162564"/>
                </a:lnTo>
                <a:lnTo>
                  <a:pt x="60466" y="178128"/>
                </a:lnTo>
                <a:lnTo>
                  <a:pt x="72614" y="192930"/>
                </a:lnTo>
                <a:lnTo>
                  <a:pt x="85703" y="206905"/>
                </a:lnTo>
                <a:lnTo>
                  <a:pt x="99678" y="219994"/>
                </a:lnTo>
                <a:lnTo>
                  <a:pt x="114480" y="232142"/>
                </a:lnTo>
                <a:lnTo>
                  <a:pt x="130044" y="243295"/>
                </a:lnTo>
                <a:lnTo>
                  <a:pt x="146304" y="253406"/>
                </a:lnTo>
                <a:lnTo>
                  <a:pt x="163191" y="262432"/>
                </a:lnTo>
                <a:lnTo>
                  <a:pt x="180632" y="270335"/>
                </a:lnTo>
                <a:lnTo>
                  <a:pt x="198552" y="277079"/>
                </a:lnTo>
                <a:lnTo>
                  <a:pt x="216875" y="282638"/>
                </a:lnTo>
                <a:lnTo>
                  <a:pt x="235523" y="286986"/>
                </a:lnTo>
                <a:lnTo>
                  <a:pt x="254415" y="290105"/>
                </a:lnTo>
                <a:lnTo>
                  <a:pt x="273471" y="291982"/>
                </a:lnTo>
                <a:lnTo>
                  <a:pt x="292608" y="292608"/>
                </a:lnTo>
              </a:path>
            </a:pathLst>
          </a:custGeom>
          <a:solidFill>
            <a:srgbClr val="FFFFFF">
              <a:alpha val="0"/>
            </a:srgbClr>
          </a:solidFill>
          <a:ln w="31750">
            <a:solidFill>
              <a:srgbClr val="2E6E44"/>
            </a:solidFill>
            <a:prstDash val="solid"/>
          </a:ln>
        </p:spPr>
      </p:sp>
      <p:sp>
        <p:nvSpPr>
          <p:cNvPr id="12" name="Text 10"/>
          <p:cNvSpPr/>
          <p:nvPr/>
        </p:nvSpPr>
        <p:spPr>
          <a:xfrm>
            <a:off x="2499338" y="2383558"/>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90°</a:t>
            </a:r>
            <a:endParaRPr lang="en-US" sz="1200" dirty="0"/>
          </a:p>
        </p:txBody>
      </p:sp>
      <p:sp>
        <p:nvSpPr>
          <p:cNvPr id="13" name="Shape 11"/>
          <p:cNvSpPr/>
          <p:nvPr/>
        </p:nvSpPr>
        <p:spPr>
          <a:xfrm>
            <a:off x="2999232" y="3730752"/>
            <a:ext cx="292608" cy="292608"/>
          </a:xfrm>
          <a:custGeom>
            <a:avLst/>
            <a:gdLst/>
            <a:ahLst/>
            <a:cxnLst/>
            <a:rect l="l" t="t" r="r" b="b"/>
            <a:pathLst>
              <a:path w="292608" h="292608">
                <a:moveTo>
                  <a:pt x="292608" y="0"/>
                </a:moveTo>
                <a:lnTo>
                  <a:pt x="273471" y="626"/>
                </a:lnTo>
                <a:lnTo>
                  <a:pt x="254415" y="2503"/>
                </a:lnTo>
                <a:lnTo>
                  <a:pt x="235523" y="5622"/>
                </a:lnTo>
                <a:lnTo>
                  <a:pt x="216875" y="9970"/>
                </a:lnTo>
                <a:lnTo>
                  <a:pt x="198552" y="15529"/>
                </a:lnTo>
                <a:lnTo>
                  <a:pt x="180632" y="22273"/>
                </a:lnTo>
                <a:lnTo>
                  <a:pt x="163191" y="30176"/>
                </a:lnTo>
                <a:lnTo>
                  <a:pt x="146304" y="39202"/>
                </a:lnTo>
                <a:lnTo>
                  <a:pt x="130044" y="49313"/>
                </a:lnTo>
                <a:lnTo>
                  <a:pt x="114480" y="60466"/>
                </a:lnTo>
                <a:lnTo>
                  <a:pt x="99678" y="72614"/>
                </a:lnTo>
                <a:lnTo>
                  <a:pt x="85703" y="85703"/>
                </a:lnTo>
                <a:lnTo>
                  <a:pt x="72614" y="99678"/>
                </a:lnTo>
                <a:lnTo>
                  <a:pt x="60466" y="114480"/>
                </a:lnTo>
                <a:lnTo>
                  <a:pt x="49313" y="130044"/>
                </a:lnTo>
                <a:lnTo>
                  <a:pt x="39202" y="146304"/>
                </a:lnTo>
                <a:lnTo>
                  <a:pt x="30176" y="163191"/>
                </a:lnTo>
                <a:lnTo>
                  <a:pt x="22273" y="180632"/>
                </a:lnTo>
                <a:lnTo>
                  <a:pt x="15529" y="198552"/>
                </a:lnTo>
                <a:lnTo>
                  <a:pt x="9970" y="216875"/>
                </a:lnTo>
                <a:lnTo>
                  <a:pt x="5622" y="235523"/>
                </a:lnTo>
                <a:lnTo>
                  <a:pt x="2503" y="254415"/>
                </a:lnTo>
                <a:lnTo>
                  <a:pt x="626" y="273471"/>
                </a:lnTo>
                <a:lnTo>
                  <a:pt x="0" y="292608"/>
                </a:lnTo>
              </a:path>
            </a:pathLst>
          </a:custGeom>
          <a:solidFill>
            <a:srgbClr val="FFFFFF">
              <a:alpha val="0"/>
            </a:srgbClr>
          </a:solidFill>
          <a:ln w="31750">
            <a:solidFill>
              <a:srgbClr val="2E6E44"/>
            </a:solidFill>
            <a:prstDash val="solid"/>
          </a:ln>
        </p:spPr>
      </p:sp>
      <p:sp>
        <p:nvSpPr>
          <p:cNvPr id="14" name="Text 12"/>
          <p:cNvSpPr/>
          <p:nvPr/>
        </p:nvSpPr>
        <p:spPr>
          <a:xfrm>
            <a:off x="2499338" y="3450314"/>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90°</a:t>
            </a:r>
            <a:endParaRPr lang="en-US" sz="1200" dirty="0"/>
          </a:p>
        </p:txBody>
      </p:sp>
      <p:sp>
        <p:nvSpPr>
          <p:cNvPr id="15" name="Shape 13"/>
          <p:cNvSpPr/>
          <p:nvPr/>
        </p:nvSpPr>
        <p:spPr>
          <a:xfrm>
            <a:off x="1371600" y="3730752"/>
            <a:ext cx="292608" cy="292608"/>
          </a:xfrm>
          <a:custGeom>
            <a:avLst/>
            <a:gdLst/>
            <a:ahLst/>
            <a:cxnLst/>
            <a:rect l="l" t="t" r="r" b="b"/>
            <a:pathLst>
              <a:path w="292608" h="292608">
                <a:moveTo>
                  <a:pt x="292608" y="292608"/>
                </a:moveTo>
                <a:lnTo>
                  <a:pt x="291982" y="273471"/>
                </a:lnTo>
                <a:lnTo>
                  <a:pt x="290105" y="254415"/>
                </a:lnTo>
                <a:lnTo>
                  <a:pt x="286986" y="235523"/>
                </a:lnTo>
                <a:lnTo>
                  <a:pt x="282638" y="216875"/>
                </a:lnTo>
                <a:lnTo>
                  <a:pt x="277079" y="198552"/>
                </a:lnTo>
                <a:lnTo>
                  <a:pt x="270335" y="180632"/>
                </a:lnTo>
                <a:lnTo>
                  <a:pt x="262432" y="163191"/>
                </a:lnTo>
                <a:lnTo>
                  <a:pt x="253406" y="146304"/>
                </a:lnTo>
                <a:lnTo>
                  <a:pt x="243295" y="130044"/>
                </a:lnTo>
                <a:lnTo>
                  <a:pt x="232142" y="114480"/>
                </a:lnTo>
                <a:lnTo>
                  <a:pt x="219994" y="99678"/>
                </a:lnTo>
                <a:lnTo>
                  <a:pt x="206905" y="85703"/>
                </a:lnTo>
                <a:lnTo>
                  <a:pt x="192930" y="72614"/>
                </a:lnTo>
                <a:lnTo>
                  <a:pt x="178128" y="60466"/>
                </a:lnTo>
                <a:lnTo>
                  <a:pt x="162564" y="49313"/>
                </a:lnTo>
                <a:lnTo>
                  <a:pt x="146304" y="39202"/>
                </a:lnTo>
                <a:lnTo>
                  <a:pt x="129417" y="30176"/>
                </a:lnTo>
                <a:lnTo>
                  <a:pt x="111976" y="22273"/>
                </a:lnTo>
                <a:lnTo>
                  <a:pt x="94056" y="15529"/>
                </a:lnTo>
                <a:lnTo>
                  <a:pt x="75733" y="9970"/>
                </a:lnTo>
                <a:lnTo>
                  <a:pt x="57085" y="5622"/>
                </a:lnTo>
                <a:lnTo>
                  <a:pt x="38193" y="2503"/>
                </a:lnTo>
                <a:lnTo>
                  <a:pt x="19137" y="626"/>
                </a:lnTo>
                <a:lnTo>
                  <a:pt x="0" y="0"/>
                </a:lnTo>
              </a:path>
            </a:pathLst>
          </a:custGeom>
          <a:solidFill>
            <a:srgbClr val="FFFFFF">
              <a:alpha val="0"/>
            </a:srgbClr>
          </a:solidFill>
          <a:ln w="31750">
            <a:solidFill>
              <a:srgbClr val="2E6E44"/>
            </a:solidFill>
            <a:prstDash val="solid"/>
          </a:ln>
        </p:spPr>
      </p:sp>
      <p:sp>
        <p:nvSpPr>
          <p:cNvPr id="16" name="Text 14"/>
          <p:cNvSpPr/>
          <p:nvPr/>
        </p:nvSpPr>
        <p:spPr>
          <a:xfrm>
            <a:off x="1432582" y="3450314"/>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90°</a:t>
            </a:r>
            <a:endParaRPr lang="en-US" sz="1200" dirty="0"/>
          </a:p>
        </p:txBody>
      </p:sp>
      <p:sp>
        <p:nvSpPr>
          <p:cNvPr id="17" name="Text 15"/>
          <p:cNvSpPr/>
          <p:nvPr/>
        </p:nvSpPr>
        <p:spPr>
          <a:xfrm>
            <a:off x="1828800" y="169164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6 cm</a:t>
            </a:r>
            <a:endParaRPr lang="en-US" sz="1200" dirty="0"/>
          </a:p>
        </p:txBody>
      </p:sp>
      <p:sp>
        <p:nvSpPr>
          <p:cNvPr id="18" name="Text 16"/>
          <p:cNvSpPr/>
          <p:nvPr/>
        </p:nvSpPr>
        <p:spPr>
          <a:xfrm>
            <a:off x="3063240" y="292608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6 cm</a:t>
            </a:r>
            <a:endParaRPr lang="en-US" sz="1200" dirty="0"/>
          </a:p>
        </p:txBody>
      </p:sp>
      <p:sp>
        <p:nvSpPr>
          <p:cNvPr id="19" name="Text 17"/>
          <p:cNvSpPr/>
          <p:nvPr/>
        </p:nvSpPr>
        <p:spPr>
          <a:xfrm>
            <a:off x="1828800" y="416052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6 cm</a:t>
            </a:r>
            <a:endParaRPr lang="en-US" sz="1200" dirty="0"/>
          </a:p>
        </p:txBody>
      </p:sp>
      <p:sp>
        <p:nvSpPr>
          <p:cNvPr id="20" name="Text 18"/>
          <p:cNvSpPr/>
          <p:nvPr/>
        </p:nvSpPr>
        <p:spPr>
          <a:xfrm>
            <a:off x="594360" y="292608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6 cm</a:t>
            </a:r>
            <a:endParaRPr lang="en-US" sz="1200" dirty="0"/>
          </a:p>
        </p:txBody>
      </p:sp>
      <p:sp>
        <p:nvSpPr>
          <p:cNvPr id="21" name="Shape 19"/>
          <p:cNvSpPr/>
          <p:nvPr/>
        </p:nvSpPr>
        <p:spPr>
          <a:xfrm>
            <a:off x="1325880" y="2057400"/>
            <a:ext cx="91440" cy="91440"/>
          </a:xfrm>
          <a:prstGeom prst="ellipse">
            <a:avLst/>
          </a:prstGeom>
          <a:solidFill>
            <a:srgbClr val="1B2A4A"/>
          </a:solidFill>
          <a:ln w="9525">
            <a:solidFill>
              <a:srgbClr val="FFFFFF"/>
            </a:solidFill>
            <a:prstDash val="solid"/>
          </a:ln>
        </p:spPr>
      </p:sp>
      <p:sp>
        <p:nvSpPr>
          <p:cNvPr id="22" name="Shape 20"/>
          <p:cNvSpPr/>
          <p:nvPr/>
        </p:nvSpPr>
        <p:spPr>
          <a:xfrm>
            <a:off x="3246120" y="2057400"/>
            <a:ext cx="91440" cy="91440"/>
          </a:xfrm>
          <a:prstGeom prst="ellipse">
            <a:avLst/>
          </a:prstGeom>
          <a:solidFill>
            <a:srgbClr val="1B2A4A"/>
          </a:solidFill>
          <a:ln w="9525">
            <a:solidFill>
              <a:srgbClr val="FFFFFF"/>
            </a:solidFill>
            <a:prstDash val="solid"/>
          </a:ln>
        </p:spPr>
      </p:sp>
      <p:sp>
        <p:nvSpPr>
          <p:cNvPr id="23" name="Shape 21"/>
          <p:cNvSpPr/>
          <p:nvPr/>
        </p:nvSpPr>
        <p:spPr>
          <a:xfrm>
            <a:off x="3246120" y="3977640"/>
            <a:ext cx="91440" cy="91440"/>
          </a:xfrm>
          <a:prstGeom prst="ellipse">
            <a:avLst/>
          </a:prstGeom>
          <a:solidFill>
            <a:srgbClr val="1B2A4A"/>
          </a:solidFill>
          <a:ln w="9525">
            <a:solidFill>
              <a:srgbClr val="FFFFFF"/>
            </a:solidFill>
            <a:prstDash val="solid"/>
          </a:ln>
        </p:spPr>
      </p:sp>
      <p:sp>
        <p:nvSpPr>
          <p:cNvPr id="24" name="Shape 22"/>
          <p:cNvSpPr/>
          <p:nvPr/>
        </p:nvSpPr>
        <p:spPr>
          <a:xfrm>
            <a:off x="1325880" y="3977640"/>
            <a:ext cx="91440" cy="91440"/>
          </a:xfrm>
          <a:prstGeom prst="ellipse">
            <a:avLst/>
          </a:prstGeom>
          <a:solidFill>
            <a:srgbClr val="1B2A4A"/>
          </a:solidFill>
          <a:ln w="9525">
            <a:solidFill>
              <a:srgbClr val="FFFFFF"/>
            </a:solidFill>
            <a:prstDash val="solid"/>
          </a:ln>
        </p:spPr>
      </p:sp>
      <p:sp>
        <p:nvSpPr>
          <p:cNvPr id="25" name="Shape 23"/>
          <p:cNvSpPr/>
          <p:nvPr/>
        </p:nvSpPr>
        <p:spPr>
          <a:xfrm>
            <a:off x="4663440" y="1325880"/>
            <a:ext cx="3931920" cy="2971800"/>
          </a:xfrm>
          <a:prstGeom prst="roundRect">
            <a:avLst>
              <a:gd name="adj" fmla="val 3077"/>
            </a:avLst>
          </a:prstGeom>
          <a:solidFill>
            <a:srgbClr val="FFFFFF"/>
          </a:solidFill>
          <a:ln w="6350">
            <a:solidFill>
              <a:srgbClr val="DDDDEE"/>
            </a:solidFill>
            <a:prstDash val="solid"/>
          </a:ln>
        </p:spPr>
      </p:sp>
      <p:sp>
        <p:nvSpPr>
          <p:cNvPr id="26" name="Text 24"/>
          <p:cNvSpPr/>
          <p:nvPr/>
        </p:nvSpPr>
        <p:spPr>
          <a:xfrm>
            <a:off x="4892040" y="1417320"/>
            <a:ext cx="3474720" cy="86868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A quadrilateral has four right angles and all four sides equal 6 cm. What is its name?</a:t>
            </a:r>
            <a:endParaRPr lang="en-US" sz="1400" dirty="0"/>
          </a:p>
        </p:txBody>
      </p:sp>
      <p:sp>
        <p:nvSpPr>
          <p:cNvPr id="27" name="Text 25"/>
          <p:cNvSpPr/>
          <p:nvPr/>
        </p:nvSpPr>
        <p:spPr>
          <a:xfrm>
            <a:off x="4892040" y="2331720"/>
            <a:ext cx="3474720" cy="4572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Step 1: Four right angles — that matches a rectangle.</a:t>
            </a:r>
            <a:endParaRPr lang="en-US" sz="1250" dirty="0"/>
          </a:p>
        </p:txBody>
      </p:sp>
      <p:sp>
        <p:nvSpPr>
          <p:cNvPr id="28" name="Text 26"/>
          <p:cNvSpPr/>
          <p:nvPr/>
        </p:nvSpPr>
        <p:spPr>
          <a:xfrm>
            <a:off x="4892040" y="2816352"/>
            <a:ext cx="3474720" cy="4572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Step 2: Four equal sides — that matches a rhombus.</a:t>
            </a:r>
            <a:endParaRPr lang="en-US" sz="1250" dirty="0"/>
          </a:p>
        </p:txBody>
      </p:sp>
      <p:sp>
        <p:nvSpPr>
          <p:cNvPr id="29" name="Text 27"/>
          <p:cNvSpPr/>
          <p:nvPr/>
        </p:nvSpPr>
        <p:spPr>
          <a:xfrm>
            <a:off x="4892040" y="3300984"/>
            <a:ext cx="3474720" cy="4572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Step 3: Both checks describe the same shape.</a:t>
            </a:r>
            <a:endParaRPr lang="en-US" sz="1250" dirty="0"/>
          </a:p>
        </p:txBody>
      </p:sp>
      <p:sp>
        <p:nvSpPr>
          <p:cNvPr id="30" name="Text 28"/>
          <p:cNvSpPr/>
          <p:nvPr/>
        </p:nvSpPr>
        <p:spPr>
          <a:xfrm>
            <a:off x="4892040" y="3785616"/>
            <a:ext cx="3474720" cy="4572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This quadrilateral is a square.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Properties and Perimeter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1005840" y="2377440"/>
            <a:ext cx="2834640" cy="1143000"/>
          </a:xfrm>
          <a:custGeom>
            <a:avLst/>
            <a:gdLst/>
            <a:ahLst/>
            <a:cxnLst/>
            <a:rect l="l" t="t" r="r" b="b"/>
            <a:pathLst>
              <a:path w="2834640" h="1143000">
                <a:moveTo>
                  <a:pt x="0" y="0"/>
                </a:moveTo>
                <a:lnTo>
                  <a:pt x="2834640" y="0"/>
                </a:lnTo>
                <a:lnTo>
                  <a:pt x="2834640" y="1143000"/>
                </a:lnTo>
                <a:lnTo>
                  <a:pt x="0" y="1143000"/>
                </a:lnTo>
                <a:close/>
              </a:path>
            </a:pathLst>
          </a:custGeom>
          <a:solidFill>
            <a:srgbClr val="E6F2EA"/>
          </a:solidFill>
          <a:ln w="34925">
            <a:solidFill>
              <a:srgbClr val="1B2A4A"/>
            </a:solidFill>
            <a:prstDash val="solid"/>
          </a:ln>
        </p:spPr>
      </p:sp>
      <p:sp>
        <p:nvSpPr>
          <p:cNvPr id="9" name="Shape 7"/>
          <p:cNvSpPr/>
          <p:nvPr/>
        </p:nvSpPr>
        <p:spPr>
          <a:xfrm>
            <a:off x="1005840" y="2377440"/>
            <a:ext cx="292608" cy="292608"/>
          </a:xfrm>
          <a:custGeom>
            <a:avLst/>
            <a:gdLst/>
            <a:ahLst/>
            <a:cxnLst/>
            <a:rect l="l" t="t" r="r" b="b"/>
            <a:pathLst>
              <a:path w="292608" h="292608">
                <a:moveTo>
                  <a:pt x="0" y="292608"/>
                </a:moveTo>
                <a:lnTo>
                  <a:pt x="19137" y="291982"/>
                </a:lnTo>
                <a:lnTo>
                  <a:pt x="38193" y="290105"/>
                </a:lnTo>
                <a:lnTo>
                  <a:pt x="57085" y="286986"/>
                </a:lnTo>
                <a:lnTo>
                  <a:pt x="75733" y="282638"/>
                </a:lnTo>
                <a:lnTo>
                  <a:pt x="94056" y="277079"/>
                </a:lnTo>
                <a:lnTo>
                  <a:pt x="111976" y="270335"/>
                </a:lnTo>
                <a:lnTo>
                  <a:pt x="129417" y="262432"/>
                </a:lnTo>
                <a:lnTo>
                  <a:pt x="146304" y="253406"/>
                </a:lnTo>
                <a:lnTo>
                  <a:pt x="162564" y="243295"/>
                </a:lnTo>
                <a:lnTo>
                  <a:pt x="178128" y="232142"/>
                </a:lnTo>
                <a:lnTo>
                  <a:pt x="192930" y="219994"/>
                </a:lnTo>
                <a:lnTo>
                  <a:pt x="206905" y="206905"/>
                </a:lnTo>
                <a:lnTo>
                  <a:pt x="219994" y="192930"/>
                </a:lnTo>
                <a:lnTo>
                  <a:pt x="232142" y="178128"/>
                </a:lnTo>
                <a:lnTo>
                  <a:pt x="243295" y="162564"/>
                </a:lnTo>
                <a:lnTo>
                  <a:pt x="253406" y="146304"/>
                </a:lnTo>
                <a:lnTo>
                  <a:pt x="262432" y="129417"/>
                </a:lnTo>
                <a:lnTo>
                  <a:pt x="270335" y="111976"/>
                </a:lnTo>
                <a:lnTo>
                  <a:pt x="277079" y="94056"/>
                </a:lnTo>
                <a:lnTo>
                  <a:pt x="282638" y="75733"/>
                </a:lnTo>
                <a:lnTo>
                  <a:pt x="286986" y="57085"/>
                </a:lnTo>
                <a:lnTo>
                  <a:pt x="290105" y="38193"/>
                </a:lnTo>
                <a:lnTo>
                  <a:pt x="291982" y="19137"/>
                </a:lnTo>
                <a:lnTo>
                  <a:pt x="292608" y="0"/>
                </a:lnTo>
              </a:path>
            </a:pathLst>
          </a:custGeom>
          <a:solidFill>
            <a:srgbClr val="FFFFFF">
              <a:alpha val="0"/>
            </a:srgbClr>
          </a:solidFill>
          <a:ln w="31750">
            <a:solidFill>
              <a:srgbClr val="4A3D8F"/>
            </a:solidFill>
            <a:prstDash val="solid"/>
          </a:ln>
        </p:spPr>
      </p:sp>
      <p:sp>
        <p:nvSpPr>
          <p:cNvPr id="10" name="Text 8"/>
          <p:cNvSpPr/>
          <p:nvPr/>
        </p:nvSpPr>
        <p:spPr>
          <a:xfrm>
            <a:off x="1066822" y="2657878"/>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90°</a:t>
            </a:r>
            <a:endParaRPr lang="en-US" sz="1200" dirty="0"/>
          </a:p>
        </p:txBody>
      </p:sp>
      <p:sp>
        <p:nvSpPr>
          <p:cNvPr id="11" name="Shape 9"/>
          <p:cNvSpPr/>
          <p:nvPr/>
        </p:nvSpPr>
        <p:spPr>
          <a:xfrm>
            <a:off x="3547872" y="2377440"/>
            <a:ext cx="292608" cy="292608"/>
          </a:xfrm>
          <a:custGeom>
            <a:avLst/>
            <a:gdLst/>
            <a:ahLst/>
            <a:cxnLst/>
            <a:rect l="l" t="t" r="r" b="b"/>
            <a:pathLst>
              <a:path w="292608" h="292608">
                <a:moveTo>
                  <a:pt x="0" y="0"/>
                </a:moveTo>
                <a:lnTo>
                  <a:pt x="626" y="19137"/>
                </a:lnTo>
                <a:lnTo>
                  <a:pt x="2503" y="38193"/>
                </a:lnTo>
                <a:lnTo>
                  <a:pt x="5622" y="57085"/>
                </a:lnTo>
                <a:lnTo>
                  <a:pt x="9970" y="75733"/>
                </a:lnTo>
                <a:lnTo>
                  <a:pt x="15529" y="94056"/>
                </a:lnTo>
                <a:lnTo>
                  <a:pt x="22273" y="111976"/>
                </a:lnTo>
                <a:lnTo>
                  <a:pt x="30176" y="129417"/>
                </a:lnTo>
                <a:lnTo>
                  <a:pt x="39202" y="146304"/>
                </a:lnTo>
                <a:lnTo>
                  <a:pt x="49313" y="162564"/>
                </a:lnTo>
                <a:lnTo>
                  <a:pt x="60466" y="178128"/>
                </a:lnTo>
                <a:lnTo>
                  <a:pt x="72614" y="192930"/>
                </a:lnTo>
                <a:lnTo>
                  <a:pt x="85703" y="206905"/>
                </a:lnTo>
                <a:lnTo>
                  <a:pt x="99678" y="219994"/>
                </a:lnTo>
                <a:lnTo>
                  <a:pt x="114480" y="232142"/>
                </a:lnTo>
                <a:lnTo>
                  <a:pt x="130044" y="243295"/>
                </a:lnTo>
                <a:lnTo>
                  <a:pt x="146304" y="253406"/>
                </a:lnTo>
                <a:lnTo>
                  <a:pt x="163191" y="262432"/>
                </a:lnTo>
                <a:lnTo>
                  <a:pt x="180632" y="270335"/>
                </a:lnTo>
                <a:lnTo>
                  <a:pt x="198552" y="277079"/>
                </a:lnTo>
                <a:lnTo>
                  <a:pt x="216875" y="282638"/>
                </a:lnTo>
                <a:lnTo>
                  <a:pt x="235523" y="286986"/>
                </a:lnTo>
                <a:lnTo>
                  <a:pt x="254415" y="290105"/>
                </a:lnTo>
                <a:lnTo>
                  <a:pt x="273471" y="291982"/>
                </a:lnTo>
                <a:lnTo>
                  <a:pt x="292608" y="292608"/>
                </a:lnTo>
              </a:path>
            </a:pathLst>
          </a:custGeom>
          <a:solidFill>
            <a:srgbClr val="FFFFFF">
              <a:alpha val="0"/>
            </a:srgbClr>
          </a:solidFill>
          <a:ln w="31750">
            <a:solidFill>
              <a:srgbClr val="4A3D8F"/>
            </a:solidFill>
            <a:prstDash val="solid"/>
          </a:ln>
        </p:spPr>
      </p:sp>
      <p:sp>
        <p:nvSpPr>
          <p:cNvPr id="12" name="Text 10"/>
          <p:cNvSpPr/>
          <p:nvPr/>
        </p:nvSpPr>
        <p:spPr>
          <a:xfrm>
            <a:off x="3047978" y="2657878"/>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90°</a:t>
            </a:r>
            <a:endParaRPr lang="en-US" sz="1200" dirty="0"/>
          </a:p>
        </p:txBody>
      </p:sp>
      <p:sp>
        <p:nvSpPr>
          <p:cNvPr id="13" name="Shape 11"/>
          <p:cNvSpPr/>
          <p:nvPr/>
        </p:nvSpPr>
        <p:spPr>
          <a:xfrm>
            <a:off x="3547872" y="3227832"/>
            <a:ext cx="292608" cy="292608"/>
          </a:xfrm>
          <a:custGeom>
            <a:avLst/>
            <a:gdLst/>
            <a:ahLst/>
            <a:cxnLst/>
            <a:rect l="l" t="t" r="r" b="b"/>
            <a:pathLst>
              <a:path w="292608" h="292608">
                <a:moveTo>
                  <a:pt x="292608" y="0"/>
                </a:moveTo>
                <a:lnTo>
                  <a:pt x="273471" y="626"/>
                </a:lnTo>
                <a:lnTo>
                  <a:pt x="254415" y="2503"/>
                </a:lnTo>
                <a:lnTo>
                  <a:pt x="235523" y="5622"/>
                </a:lnTo>
                <a:lnTo>
                  <a:pt x="216875" y="9970"/>
                </a:lnTo>
                <a:lnTo>
                  <a:pt x="198552" y="15529"/>
                </a:lnTo>
                <a:lnTo>
                  <a:pt x="180632" y="22273"/>
                </a:lnTo>
                <a:lnTo>
                  <a:pt x="163191" y="30176"/>
                </a:lnTo>
                <a:lnTo>
                  <a:pt x="146304" y="39202"/>
                </a:lnTo>
                <a:lnTo>
                  <a:pt x="130044" y="49313"/>
                </a:lnTo>
                <a:lnTo>
                  <a:pt x="114480" y="60466"/>
                </a:lnTo>
                <a:lnTo>
                  <a:pt x="99678" y="72614"/>
                </a:lnTo>
                <a:lnTo>
                  <a:pt x="85703" y="85703"/>
                </a:lnTo>
                <a:lnTo>
                  <a:pt x="72614" y="99678"/>
                </a:lnTo>
                <a:lnTo>
                  <a:pt x="60466" y="114480"/>
                </a:lnTo>
                <a:lnTo>
                  <a:pt x="49313" y="130044"/>
                </a:lnTo>
                <a:lnTo>
                  <a:pt x="39202" y="146304"/>
                </a:lnTo>
                <a:lnTo>
                  <a:pt x="30176" y="163191"/>
                </a:lnTo>
                <a:lnTo>
                  <a:pt x="22273" y="180632"/>
                </a:lnTo>
                <a:lnTo>
                  <a:pt x="15529" y="198552"/>
                </a:lnTo>
                <a:lnTo>
                  <a:pt x="9970" y="216875"/>
                </a:lnTo>
                <a:lnTo>
                  <a:pt x="5622" y="235523"/>
                </a:lnTo>
                <a:lnTo>
                  <a:pt x="2503" y="254415"/>
                </a:lnTo>
                <a:lnTo>
                  <a:pt x="626" y="273471"/>
                </a:lnTo>
                <a:lnTo>
                  <a:pt x="0" y="292608"/>
                </a:lnTo>
              </a:path>
            </a:pathLst>
          </a:custGeom>
          <a:solidFill>
            <a:srgbClr val="FFFFFF">
              <a:alpha val="0"/>
            </a:srgbClr>
          </a:solidFill>
          <a:ln w="31750">
            <a:solidFill>
              <a:srgbClr val="4A3D8F"/>
            </a:solidFill>
            <a:prstDash val="solid"/>
          </a:ln>
        </p:spPr>
      </p:sp>
      <p:sp>
        <p:nvSpPr>
          <p:cNvPr id="14" name="Text 12"/>
          <p:cNvSpPr/>
          <p:nvPr/>
        </p:nvSpPr>
        <p:spPr>
          <a:xfrm>
            <a:off x="3047978" y="2947394"/>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90°</a:t>
            </a:r>
            <a:endParaRPr lang="en-US" sz="1200" dirty="0"/>
          </a:p>
        </p:txBody>
      </p:sp>
      <p:sp>
        <p:nvSpPr>
          <p:cNvPr id="15" name="Shape 13"/>
          <p:cNvSpPr/>
          <p:nvPr/>
        </p:nvSpPr>
        <p:spPr>
          <a:xfrm>
            <a:off x="1005840" y="3227832"/>
            <a:ext cx="292608" cy="292608"/>
          </a:xfrm>
          <a:custGeom>
            <a:avLst/>
            <a:gdLst/>
            <a:ahLst/>
            <a:cxnLst/>
            <a:rect l="l" t="t" r="r" b="b"/>
            <a:pathLst>
              <a:path w="292608" h="292608">
                <a:moveTo>
                  <a:pt x="292608" y="292608"/>
                </a:moveTo>
                <a:lnTo>
                  <a:pt x="291982" y="273471"/>
                </a:lnTo>
                <a:lnTo>
                  <a:pt x="290105" y="254415"/>
                </a:lnTo>
                <a:lnTo>
                  <a:pt x="286986" y="235523"/>
                </a:lnTo>
                <a:lnTo>
                  <a:pt x="282638" y="216875"/>
                </a:lnTo>
                <a:lnTo>
                  <a:pt x="277079" y="198552"/>
                </a:lnTo>
                <a:lnTo>
                  <a:pt x="270335" y="180632"/>
                </a:lnTo>
                <a:lnTo>
                  <a:pt x="262432" y="163191"/>
                </a:lnTo>
                <a:lnTo>
                  <a:pt x="253406" y="146304"/>
                </a:lnTo>
                <a:lnTo>
                  <a:pt x="243295" y="130044"/>
                </a:lnTo>
                <a:lnTo>
                  <a:pt x="232142" y="114480"/>
                </a:lnTo>
                <a:lnTo>
                  <a:pt x="219994" y="99678"/>
                </a:lnTo>
                <a:lnTo>
                  <a:pt x="206905" y="85703"/>
                </a:lnTo>
                <a:lnTo>
                  <a:pt x="192930" y="72614"/>
                </a:lnTo>
                <a:lnTo>
                  <a:pt x="178128" y="60466"/>
                </a:lnTo>
                <a:lnTo>
                  <a:pt x="162564" y="49313"/>
                </a:lnTo>
                <a:lnTo>
                  <a:pt x="146304" y="39202"/>
                </a:lnTo>
                <a:lnTo>
                  <a:pt x="129417" y="30176"/>
                </a:lnTo>
                <a:lnTo>
                  <a:pt x="111976" y="22273"/>
                </a:lnTo>
                <a:lnTo>
                  <a:pt x="94056" y="15529"/>
                </a:lnTo>
                <a:lnTo>
                  <a:pt x="75733" y="9970"/>
                </a:lnTo>
                <a:lnTo>
                  <a:pt x="57085" y="5622"/>
                </a:lnTo>
                <a:lnTo>
                  <a:pt x="38193" y="2503"/>
                </a:lnTo>
                <a:lnTo>
                  <a:pt x="19137" y="626"/>
                </a:lnTo>
                <a:lnTo>
                  <a:pt x="0" y="0"/>
                </a:lnTo>
              </a:path>
            </a:pathLst>
          </a:custGeom>
          <a:solidFill>
            <a:srgbClr val="FFFFFF">
              <a:alpha val="0"/>
            </a:srgbClr>
          </a:solidFill>
          <a:ln w="31750">
            <a:solidFill>
              <a:srgbClr val="4A3D8F"/>
            </a:solidFill>
            <a:prstDash val="solid"/>
          </a:ln>
        </p:spPr>
      </p:sp>
      <p:sp>
        <p:nvSpPr>
          <p:cNvPr id="16" name="Text 14"/>
          <p:cNvSpPr/>
          <p:nvPr/>
        </p:nvSpPr>
        <p:spPr>
          <a:xfrm>
            <a:off x="1066822" y="2947394"/>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90°</a:t>
            </a:r>
            <a:endParaRPr lang="en-US" sz="1200" dirty="0"/>
          </a:p>
        </p:txBody>
      </p:sp>
      <p:sp>
        <p:nvSpPr>
          <p:cNvPr id="17" name="Text 15"/>
          <p:cNvSpPr/>
          <p:nvPr/>
        </p:nvSpPr>
        <p:spPr>
          <a:xfrm>
            <a:off x="1920240" y="196596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10 cm</a:t>
            </a:r>
            <a:endParaRPr lang="en-US" sz="1200" dirty="0"/>
          </a:p>
        </p:txBody>
      </p:sp>
      <p:sp>
        <p:nvSpPr>
          <p:cNvPr id="18" name="Text 16"/>
          <p:cNvSpPr/>
          <p:nvPr/>
        </p:nvSpPr>
        <p:spPr>
          <a:xfrm>
            <a:off x="3611880" y="281178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19" name="Text 17"/>
          <p:cNvSpPr/>
          <p:nvPr/>
        </p:nvSpPr>
        <p:spPr>
          <a:xfrm>
            <a:off x="1920240" y="365760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10 cm</a:t>
            </a:r>
            <a:endParaRPr lang="en-US" sz="1200" dirty="0"/>
          </a:p>
        </p:txBody>
      </p:sp>
      <p:sp>
        <p:nvSpPr>
          <p:cNvPr id="20" name="Text 18"/>
          <p:cNvSpPr/>
          <p:nvPr/>
        </p:nvSpPr>
        <p:spPr>
          <a:xfrm>
            <a:off x="228600" y="281178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21" name="Shape 19"/>
          <p:cNvSpPr/>
          <p:nvPr/>
        </p:nvSpPr>
        <p:spPr>
          <a:xfrm>
            <a:off x="960120" y="2331720"/>
            <a:ext cx="91440" cy="91440"/>
          </a:xfrm>
          <a:prstGeom prst="ellipse">
            <a:avLst/>
          </a:prstGeom>
          <a:solidFill>
            <a:srgbClr val="1B2A4A"/>
          </a:solidFill>
          <a:ln w="9525">
            <a:solidFill>
              <a:srgbClr val="FFFFFF"/>
            </a:solidFill>
            <a:prstDash val="solid"/>
          </a:ln>
        </p:spPr>
      </p:sp>
      <p:sp>
        <p:nvSpPr>
          <p:cNvPr id="22" name="Shape 20"/>
          <p:cNvSpPr/>
          <p:nvPr/>
        </p:nvSpPr>
        <p:spPr>
          <a:xfrm>
            <a:off x="3794760" y="2331720"/>
            <a:ext cx="91440" cy="91440"/>
          </a:xfrm>
          <a:prstGeom prst="ellipse">
            <a:avLst/>
          </a:prstGeom>
          <a:solidFill>
            <a:srgbClr val="1B2A4A"/>
          </a:solidFill>
          <a:ln w="9525">
            <a:solidFill>
              <a:srgbClr val="FFFFFF"/>
            </a:solidFill>
            <a:prstDash val="solid"/>
          </a:ln>
        </p:spPr>
      </p:sp>
      <p:sp>
        <p:nvSpPr>
          <p:cNvPr id="23" name="Shape 21"/>
          <p:cNvSpPr/>
          <p:nvPr/>
        </p:nvSpPr>
        <p:spPr>
          <a:xfrm>
            <a:off x="3794760" y="3474720"/>
            <a:ext cx="91440" cy="91440"/>
          </a:xfrm>
          <a:prstGeom prst="ellipse">
            <a:avLst/>
          </a:prstGeom>
          <a:solidFill>
            <a:srgbClr val="1B2A4A"/>
          </a:solidFill>
          <a:ln w="9525">
            <a:solidFill>
              <a:srgbClr val="FFFFFF"/>
            </a:solidFill>
            <a:prstDash val="solid"/>
          </a:ln>
        </p:spPr>
      </p:sp>
      <p:sp>
        <p:nvSpPr>
          <p:cNvPr id="24" name="Shape 22"/>
          <p:cNvSpPr/>
          <p:nvPr/>
        </p:nvSpPr>
        <p:spPr>
          <a:xfrm>
            <a:off x="960120" y="3474720"/>
            <a:ext cx="91440" cy="91440"/>
          </a:xfrm>
          <a:prstGeom prst="ellipse">
            <a:avLst/>
          </a:prstGeom>
          <a:solidFill>
            <a:srgbClr val="1B2A4A"/>
          </a:solidFill>
          <a:ln w="9525">
            <a:solidFill>
              <a:srgbClr val="FFFFFF"/>
            </a:solidFill>
            <a:prstDash val="solid"/>
          </a:ln>
        </p:spPr>
      </p:sp>
      <p:sp>
        <p:nvSpPr>
          <p:cNvPr id="25" name="Shape 23"/>
          <p:cNvSpPr/>
          <p:nvPr/>
        </p:nvSpPr>
        <p:spPr>
          <a:xfrm>
            <a:off x="4663440" y="1325880"/>
            <a:ext cx="3931920" cy="2971800"/>
          </a:xfrm>
          <a:prstGeom prst="roundRect">
            <a:avLst>
              <a:gd name="adj" fmla="val 3077"/>
            </a:avLst>
          </a:prstGeom>
          <a:solidFill>
            <a:srgbClr val="FFFFFF"/>
          </a:solidFill>
          <a:ln w="6350">
            <a:solidFill>
              <a:srgbClr val="DDDDEE"/>
            </a:solidFill>
            <a:prstDash val="solid"/>
          </a:ln>
        </p:spPr>
      </p:sp>
      <p:sp>
        <p:nvSpPr>
          <p:cNvPr id="26" name="Text 24"/>
          <p:cNvSpPr/>
          <p:nvPr/>
        </p:nvSpPr>
        <p:spPr>
          <a:xfrm>
            <a:off x="4892040" y="1417320"/>
            <a:ext cx="3474720" cy="914400"/>
          </a:xfrm>
          <a:prstGeom prst="rect">
            <a:avLst/>
          </a:prstGeom>
          <a:noFill/>
          <a:ln/>
        </p:spPr>
        <p:txBody>
          <a:bodyPr wrap="square" lIns="0" tIns="0" rIns="0" bIns="0" rtlCol="0" anchor="ctr"/>
          <a:lstStyle/>
          <a:p>
            <a:pPr indent="0" marL="0">
              <a:buNone/>
            </a:pPr>
            <a:r>
              <a:rPr lang="en-US" sz="1350" b="1" dirty="0">
                <a:solidFill>
                  <a:srgbClr val="1A1A2E"/>
                </a:solidFill>
                <a:latin typeface="Cambria" pitchFamily="34" charset="0"/>
                <a:ea typeface="Cambria" pitchFamily="34" charset="-122"/>
                <a:cs typeface="Cambria" pitchFamily="34" charset="-120"/>
              </a:rPr>
              <a:t>A rectangle has a length of 10 cm and a width of 4 cm. Name two properties and find the perimeter.</a:t>
            </a:r>
            <a:endParaRPr lang="en-US" sz="1350" dirty="0"/>
          </a:p>
        </p:txBody>
      </p:sp>
      <p:sp>
        <p:nvSpPr>
          <p:cNvPr id="27" name="Text 25"/>
          <p:cNvSpPr/>
          <p:nvPr/>
        </p:nvSpPr>
        <p:spPr>
          <a:xfrm>
            <a:off x="4892040" y="2423160"/>
            <a:ext cx="3474720" cy="4572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Properties: four right angles; opposite sides equal and parallel.</a:t>
            </a:r>
            <a:endParaRPr lang="en-US" sz="1250" dirty="0"/>
          </a:p>
        </p:txBody>
      </p:sp>
      <p:sp>
        <p:nvSpPr>
          <p:cNvPr id="28" name="Text 26"/>
          <p:cNvSpPr/>
          <p:nvPr/>
        </p:nvSpPr>
        <p:spPr>
          <a:xfrm>
            <a:off x="4892040" y="2907792"/>
            <a:ext cx="3474720" cy="4572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Perimeter = 2 × (length + width)</a:t>
            </a:r>
            <a:endParaRPr lang="en-US" sz="1250" dirty="0"/>
          </a:p>
        </p:txBody>
      </p:sp>
      <p:sp>
        <p:nvSpPr>
          <p:cNvPr id="29" name="Text 27"/>
          <p:cNvSpPr/>
          <p:nvPr/>
        </p:nvSpPr>
        <p:spPr>
          <a:xfrm>
            <a:off x="4892040" y="3392424"/>
            <a:ext cx="3474720" cy="4572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Perimeter = 2 × (10 + 4) = 2 × 14</a:t>
            </a:r>
            <a:endParaRPr lang="en-US" sz="1250" dirty="0"/>
          </a:p>
        </p:txBody>
      </p:sp>
      <p:sp>
        <p:nvSpPr>
          <p:cNvPr id="30" name="Text 28"/>
          <p:cNvSpPr/>
          <p:nvPr/>
        </p:nvSpPr>
        <p:spPr>
          <a:xfrm>
            <a:off x="4892040" y="3877056"/>
            <a:ext cx="3474720" cy="4572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Perimeter = 28 cm</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Parallelogram vs. Rhombus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Text 6"/>
          <p:cNvSpPr/>
          <p:nvPr/>
        </p:nvSpPr>
        <p:spPr>
          <a:xfrm>
            <a:off x="548640" y="1234440"/>
            <a:ext cx="3566160" cy="320040"/>
          </a:xfrm>
          <a:prstGeom prst="rect">
            <a:avLst/>
          </a:prstGeom>
          <a:noFill/>
          <a:ln/>
        </p:spPr>
        <p:txBody>
          <a:bodyPr wrap="square" lIns="0" tIns="0" rIns="0" bIns="0" rtlCol="0" anchor="ctr"/>
          <a:lstStyle/>
          <a:p>
            <a:pPr algn="ctr" indent="0" marL="0">
              <a:buNone/>
            </a:pPr>
            <a:r>
              <a:rPr lang="en-US" sz="1300" b="1" dirty="0">
                <a:solidFill>
                  <a:srgbClr val="4A3D8F"/>
                </a:solidFill>
              </a:rPr>
              <a:t>Shape A</a:t>
            </a:r>
            <a:endParaRPr lang="en-US" sz="1300" dirty="0"/>
          </a:p>
        </p:txBody>
      </p:sp>
      <p:sp>
        <p:nvSpPr>
          <p:cNvPr id="9" name="Shape 7"/>
          <p:cNvSpPr/>
          <p:nvPr/>
        </p:nvSpPr>
        <p:spPr>
          <a:xfrm>
            <a:off x="822960" y="1783080"/>
            <a:ext cx="2743200" cy="1463040"/>
          </a:xfrm>
          <a:custGeom>
            <a:avLst/>
            <a:gdLst/>
            <a:ahLst/>
            <a:cxnLst/>
            <a:rect l="l" t="t" r="r" b="b"/>
            <a:pathLst>
              <a:path w="2743200" h="1463040">
                <a:moveTo>
                  <a:pt x="640080" y="0"/>
                </a:moveTo>
                <a:lnTo>
                  <a:pt x="2743200" y="0"/>
                </a:lnTo>
                <a:lnTo>
                  <a:pt x="2240280" y="1463040"/>
                </a:lnTo>
                <a:lnTo>
                  <a:pt x="0" y="1463040"/>
                </a:lnTo>
                <a:close/>
              </a:path>
            </a:pathLst>
          </a:custGeom>
          <a:solidFill>
            <a:srgbClr val="EAE8F5"/>
          </a:solidFill>
          <a:ln w="34925">
            <a:solidFill>
              <a:srgbClr val="1B2A4A"/>
            </a:solidFill>
            <a:prstDash val="solid"/>
          </a:ln>
        </p:spPr>
      </p:sp>
      <p:sp>
        <p:nvSpPr>
          <p:cNvPr id="10" name="Shape 8"/>
          <p:cNvSpPr/>
          <p:nvPr/>
        </p:nvSpPr>
        <p:spPr>
          <a:xfrm>
            <a:off x="1345757" y="1783080"/>
            <a:ext cx="409891" cy="292608"/>
          </a:xfrm>
          <a:custGeom>
            <a:avLst/>
            <a:gdLst/>
            <a:ahLst/>
            <a:cxnLst/>
            <a:rect l="l" t="t" r="r" b="b"/>
            <a:pathLst>
              <a:path w="409891" h="292608">
                <a:moveTo>
                  <a:pt x="0" y="268075"/>
                </a:moveTo>
                <a:lnTo>
                  <a:pt x="22527" y="276841"/>
                </a:lnTo>
                <a:lnTo>
                  <a:pt x="45701" y="283717"/>
                </a:lnTo>
                <a:lnTo>
                  <a:pt x="69363" y="288657"/>
                </a:lnTo>
                <a:lnTo>
                  <a:pt x="93352" y="291628"/>
                </a:lnTo>
                <a:lnTo>
                  <a:pt x="117504" y="292608"/>
                </a:lnTo>
                <a:lnTo>
                  <a:pt x="141655" y="291591"/>
                </a:lnTo>
                <a:lnTo>
                  <a:pt x="165640" y="288584"/>
                </a:lnTo>
                <a:lnTo>
                  <a:pt x="189295" y="283608"/>
                </a:lnTo>
                <a:lnTo>
                  <a:pt x="212458" y="276697"/>
                </a:lnTo>
                <a:lnTo>
                  <a:pt x="234972" y="267897"/>
                </a:lnTo>
                <a:lnTo>
                  <a:pt x="256682" y="257269"/>
                </a:lnTo>
                <a:lnTo>
                  <a:pt x="277441" y="244885"/>
                </a:lnTo>
                <a:lnTo>
                  <a:pt x="297108" y="230830"/>
                </a:lnTo>
                <a:lnTo>
                  <a:pt x="315547" y="215200"/>
                </a:lnTo>
                <a:lnTo>
                  <a:pt x="332633" y="198101"/>
                </a:lnTo>
                <a:lnTo>
                  <a:pt x="348249" y="179650"/>
                </a:lnTo>
                <a:lnTo>
                  <a:pt x="362289" y="159973"/>
                </a:lnTo>
                <a:lnTo>
                  <a:pt x="374657" y="139204"/>
                </a:lnTo>
                <a:lnTo>
                  <a:pt x="385269" y="117486"/>
                </a:lnTo>
                <a:lnTo>
                  <a:pt x="394052" y="94966"/>
                </a:lnTo>
                <a:lnTo>
                  <a:pt x="400946" y="71797"/>
                </a:lnTo>
                <a:lnTo>
                  <a:pt x="405904" y="48139"/>
                </a:lnTo>
                <a:lnTo>
                  <a:pt x="408892" y="24152"/>
                </a:lnTo>
                <a:lnTo>
                  <a:pt x="409891" y="0"/>
                </a:lnTo>
              </a:path>
            </a:pathLst>
          </a:custGeom>
          <a:solidFill>
            <a:srgbClr val="FFFFFF">
              <a:alpha val="0"/>
            </a:srgbClr>
          </a:solidFill>
          <a:ln w="31750">
            <a:solidFill>
              <a:srgbClr val="4A3D8F"/>
            </a:solidFill>
            <a:prstDash val="solid"/>
          </a:ln>
        </p:spPr>
      </p:sp>
      <p:sp>
        <p:nvSpPr>
          <p:cNvPr id="11" name="Shape 9"/>
          <p:cNvSpPr/>
          <p:nvPr/>
        </p:nvSpPr>
        <p:spPr>
          <a:xfrm>
            <a:off x="3273552" y="1783080"/>
            <a:ext cx="197487" cy="276715"/>
          </a:xfrm>
          <a:custGeom>
            <a:avLst/>
            <a:gdLst/>
            <a:ahLst/>
            <a:cxnLst/>
            <a:rect l="l" t="t" r="r" b="b"/>
            <a:pathLst>
              <a:path w="197487" h="276715">
                <a:moveTo>
                  <a:pt x="0" y="0"/>
                </a:moveTo>
                <a:lnTo>
                  <a:pt x="390" y="15108"/>
                </a:lnTo>
                <a:lnTo>
                  <a:pt x="1560" y="30175"/>
                </a:lnTo>
                <a:lnTo>
                  <a:pt x="3506" y="45162"/>
                </a:lnTo>
                <a:lnTo>
                  <a:pt x="6224" y="60028"/>
                </a:lnTo>
                <a:lnTo>
                  <a:pt x="9705" y="74735"/>
                </a:lnTo>
                <a:lnTo>
                  <a:pt x="13941" y="89242"/>
                </a:lnTo>
                <a:lnTo>
                  <a:pt x="18920" y="103511"/>
                </a:lnTo>
                <a:lnTo>
                  <a:pt x="24630" y="117503"/>
                </a:lnTo>
                <a:lnTo>
                  <a:pt x="31054" y="131183"/>
                </a:lnTo>
                <a:lnTo>
                  <a:pt x="38176" y="144512"/>
                </a:lnTo>
                <a:lnTo>
                  <a:pt x="45977" y="157456"/>
                </a:lnTo>
                <a:lnTo>
                  <a:pt x="54435" y="169980"/>
                </a:lnTo>
                <a:lnTo>
                  <a:pt x="63529" y="182050"/>
                </a:lnTo>
                <a:lnTo>
                  <a:pt x="73234" y="193635"/>
                </a:lnTo>
                <a:lnTo>
                  <a:pt x="83524" y="204703"/>
                </a:lnTo>
                <a:lnTo>
                  <a:pt x="94372" y="215226"/>
                </a:lnTo>
                <a:lnTo>
                  <a:pt x="105749" y="225174"/>
                </a:lnTo>
                <a:lnTo>
                  <a:pt x="117624" y="234521"/>
                </a:lnTo>
                <a:lnTo>
                  <a:pt x="129966" y="243243"/>
                </a:lnTo>
                <a:lnTo>
                  <a:pt x="142742" y="251316"/>
                </a:lnTo>
                <a:lnTo>
                  <a:pt x="155918" y="258718"/>
                </a:lnTo>
                <a:lnTo>
                  <a:pt x="169458" y="265431"/>
                </a:lnTo>
                <a:lnTo>
                  <a:pt x="183327" y="271435"/>
                </a:lnTo>
                <a:lnTo>
                  <a:pt x="197487" y="276715"/>
                </a:lnTo>
              </a:path>
            </a:pathLst>
          </a:custGeom>
          <a:solidFill>
            <a:srgbClr val="FFFFFF">
              <a:alpha val="0"/>
            </a:srgbClr>
          </a:solidFill>
          <a:ln w="31750">
            <a:solidFill>
              <a:srgbClr val="4A3D8F"/>
            </a:solidFill>
            <a:prstDash val="solid"/>
          </a:ln>
        </p:spPr>
      </p:sp>
      <p:sp>
        <p:nvSpPr>
          <p:cNvPr id="12" name="Shape 10"/>
          <p:cNvSpPr/>
          <p:nvPr/>
        </p:nvSpPr>
        <p:spPr>
          <a:xfrm>
            <a:off x="2770632" y="2953541"/>
            <a:ext cx="387729" cy="292579"/>
          </a:xfrm>
          <a:custGeom>
            <a:avLst/>
            <a:gdLst/>
            <a:ahLst/>
            <a:cxnLst/>
            <a:rect l="l" t="t" r="r" b="b"/>
            <a:pathLst>
              <a:path w="387729" h="292579">
                <a:moveTo>
                  <a:pt x="387729" y="15863"/>
                </a:moveTo>
                <a:lnTo>
                  <a:pt x="365525" y="9202"/>
                </a:lnTo>
                <a:lnTo>
                  <a:pt x="342863" y="4319"/>
                </a:lnTo>
                <a:lnTo>
                  <a:pt x="319886" y="1245"/>
                </a:lnTo>
                <a:lnTo>
                  <a:pt x="296738" y="0"/>
                </a:lnTo>
                <a:lnTo>
                  <a:pt x="273563" y="591"/>
                </a:lnTo>
                <a:lnTo>
                  <a:pt x="250509" y="3015"/>
                </a:lnTo>
                <a:lnTo>
                  <a:pt x="227718" y="7257"/>
                </a:lnTo>
                <a:lnTo>
                  <a:pt x="205335" y="13289"/>
                </a:lnTo>
                <a:lnTo>
                  <a:pt x="183500" y="21074"/>
                </a:lnTo>
                <a:lnTo>
                  <a:pt x="162349" y="30564"/>
                </a:lnTo>
                <a:lnTo>
                  <a:pt x="142016" y="41697"/>
                </a:lnTo>
                <a:lnTo>
                  <a:pt x="122628" y="54406"/>
                </a:lnTo>
                <a:lnTo>
                  <a:pt x="104307" y="68610"/>
                </a:lnTo>
                <a:lnTo>
                  <a:pt x="87168" y="84219"/>
                </a:lnTo>
                <a:lnTo>
                  <a:pt x="71319" y="101136"/>
                </a:lnTo>
                <a:lnTo>
                  <a:pt x="56858" y="119254"/>
                </a:lnTo>
                <a:lnTo>
                  <a:pt x="43877" y="138461"/>
                </a:lnTo>
                <a:lnTo>
                  <a:pt x="32457" y="158635"/>
                </a:lnTo>
                <a:lnTo>
                  <a:pt x="22670" y="179649"/>
                </a:lnTo>
                <a:lnTo>
                  <a:pt x="14578" y="201373"/>
                </a:lnTo>
                <a:lnTo>
                  <a:pt x="8230" y="223669"/>
                </a:lnTo>
                <a:lnTo>
                  <a:pt x="3667" y="246397"/>
                </a:lnTo>
                <a:lnTo>
                  <a:pt x="918" y="269415"/>
                </a:lnTo>
                <a:lnTo>
                  <a:pt x="0" y="292579"/>
                </a:lnTo>
              </a:path>
            </a:pathLst>
          </a:custGeom>
          <a:solidFill>
            <a:srgbClr val="FFFFFF">
              <a:alpha val="0"/>
            </a:srgbClr>
          </a:solidFill>
          <a:ln w="31750">
            <a:solidFill>
              <a:srgbClr val="4A3D8F"/>
            </a:solidFill>
            <a:prstDash val="solid"/>
          </a:ln>
        </p:spPr>
      </p:sp>
      <p:sp>
        <p:nvSpPr>
          <p:cNvPr id="13" name="Shape 11"/>
          <p:cNvSpPr/>
          <p:nvPr/>
        </p:nvSpPr>
        <p:spPr>
          <a:xfrm>
            <a:off x="940243" y="2978045"/>
            <a:ext cx="175325" cy="268075"/>
          </a:xfrm>
          <a:custGeom>
            <a:avLst/>
            <a:gdLst/>
            <a:ahLst/>
            <a:cxnLst/>
            <a:rect l="l" t="t" r="r" b="b"/>
            <a:pathLst>
              <a:path w="175325" h="268075">
                <a:moveTo>
                  <a:pt x="175325" y="268075"/>
                </a:moveTo>
                <a:lnTo>
                  <a:pt x="174984" y="253957"/>
                </a:lnTo>
                <a:lnTo>
                  <a:pt x="173963" y="239873"/>
                </a:lnTo>
                <a:lnTo>
                  <a:pt x="172263" y="225854"/>
                </a:lnTo>
                <a:lnTo>
                  <a:pt x="169889" y="211933"/>
                </a:lnTo>
                <a:lnTo>
                  <a:pt x="166846" y="198143"/>
                </a:lnTo>
                <a:lnTo>
                  <a:pt x="163141" y="184516"/>
                </a:lnTo>
                <a:lnTo>
                  <a:pt x="158783" y="171084"/>
                </a:lnTo>
                <a:lnTo>
                  <a:pt x="153782" y="157877"/>
                </a:lnTo>
                <a:lnTo>
                  <a:pt x="148149" y="144928"/>
                </a:lnTo>
                <a:lnTo>
                  <a:pt x="141899" y="132265"/>
                </a:lnTo>
                <a:lnTo>
                  <a:pt x="135044" y="119918"/>
                </a:lnTo>
                <a:lnTo>
                  <a:pt x="127602" y="107916"/>
                </a:lnTo>
                <a:lnTo>
                  <a:pt x="119590" y="96288"/>
                </a:lnTo>
                <a:lnTo>
                  <a:pt x="111026" y="85059"/>
                </a:lnTo>
                <a:lnTo>
                  <a:pt x="101930" y="74257"/>
                </a:lnTo>
                <a:lnTo>
                  <a:pt x="92323" y="63907"/>
                </a:lnTo>
                <a:lnTo>
                  <a:pt x="82229" y="54031"/>
                </a:lnTo>
                <a:lnTo>
                  <a:pt x="71669" y="44655"/>
                </a:lnTo>
                <a:lnTo>
                  <a:pt x="60670" y="35799"/>
                </a:lnTo>
                <a:lnTo>
                  <a:pt x="49256" y="27483"/>
                </a:lnTo>
                <a:lnTo>
                  <a:pt x="37454" y="19728"/>
                </a:lnTo>
                <a:lnTo>
                  <a:pt x="25292" y="12552"/>
                </a:lnTo>
                <a:lnTo>
                  <a:pt x="12797" y="5971"/>
                </a:lnTo>
                <a:lnTo>
                  <a:pt x="0" y="0"/>
                </a:lnTo>
              </a:path>
            </a:pathLst>
          </a:custGeom>
          <a:solidFill>
            <a:srgbClr val="FFFFFF">
              <a:alpha val="0"/>
            </a:srgbClr>
          </a:solidFill>
          <a:ln w="31750">
            <a:solidFill>
              <a:srgbClr val="4A3D8F"/>
            </a:solidFill>
            <a:prstDash val="solid"/>
          </a:ln>
        </p:spPr>
      </p:sp>
      <p:sp>
        <p:nvSpPr>
          <p:cNvPr id="14" name="Shape 12"/>
          <p:cNvSpPr/>
          <p:nvPr/>
        </p:nvSpPr>
        <p:spPr>
          <a:xfrm>
            <a:off x="1417320" y="1737360"/>
            <a:ext cx="91440" cy="91440"/>
          </a:xfrm>
          <a:prstGeom prst="ellipse">
            <a:avLst/>
          </a:prstGeom>
          <a:solidFill>
            <a:srgbClr val="1B2A4A"/>
          </a:solidFill>
          <a:ln w="9525">
            <a:solidFill>
              <a:srgbClr val="FFFFFF"/>
            </a:solidFill>
            <a:prstDash val="solid"/>
          </a:ln>
        </p:spPr>
      </p:sp>
      <p:sp>
        <p:nvSpPr>
          <p:cNvPr id="15" name="Shape 13"/>
          <p:cNvSpPr/>
          <p:nvPr/>
        </p:nvSpPr>
        <p:spPr>
          <a:xfrm>
            <a:off x="3520440" y="1737360"/>
            <a:ext cx="91440" cy="91440"/>
          </a:xfrm>
          <a:prstGeom prst="ellipse">
            <a:avLst/>
          </a:prstGeom>
          <a:solidFill>
            <a:srgbClr val="1B2A4A"/>
          </a:solidFill>
          <a:ln w="9525">
            <a:solidFill>
              <a:srgbClr val="FFFFFF"/>
            </a:solidFill>
            <a:prstDash val="solid"/>
          </a:ln>
        </p:spPr>
      </p:sp>
      <p:sp>
        <p:nvSpPr>
          <p:cNvPr id="16" name="Shape 14"/>
          <p:cNvSpPr/>
          <p:nvPr/>
        </p:nvSpPr>
        <p:spPr>
          <a:xfrm>
            <a:off x="3017520" y="3200400"/>
            <a:ext cx="91440" cy="91440"/>
          </a:xfrm>
          <a:prstGeom prst="ellipse">
            <a:avLst/>
          </a:prstGeom>
          <a:solidFill>
            <a:srgbClr val="1B2A4A"/>
          </a:solidFill>
          <a:ln w="9525">
            <a:solidFill>
              <a:srgbClr val="FFFFFF"/>
            </a:solidFill>
            <a:prstDash val="solid"/>
          </a:ln>
        </p:spPr>
      </p:sp>
      <p:sp>
        <p:nvSpPr>
          <p:cNvPr id="17" name="Shape 15"/>
          <p:cNvSpPr/>
          <p:nvPr/>
        </p:nvSpPr>
        <p:spPr>
          <a:xfrm>
            <a:off x="777240" y="3200400"/>
            <a:ext cx="91440" cy="91440"/>
          </a:xfrm>
          <a:prstGeom prst="ellipse">
            <a:avLst/>
          </a:prstGeom>
          <a:solidFill>
            <a:srgbClr val="1B2A4A"/>
          </a:solidFill>
          <a:ln w="9525">
            <a:solidFill>
              <a:srgbClr val="FFFFFF"/>
            </a:solidFill>
            <a:prstDash val="solid"/>
          </a:ln>
        </p:spPr>
      </p:sp>
      <p:sp>
        <p:nvSpPr>
          <p:cNvPr id="18" name="Text 16"/>
          <p:cNvSpPr/>
          <p:nvPr/>
        </p:nvSpPr>
        <p:spPr>
          <a:xfrm>
            <a:off x="548640" y="3429000"/>
            <a:ext cx="3566160" cy="777240"/>
          </a:xfrm>
          <a:prstGeom prst="rect">
            <a:avLst/>
          </a:prstGeom>
          <a:noFill/>
          <a:ln/>
        </p:spPr>
        <p:txBody>
          <a:bodyPr wrap="square" lIns="0" tIns="0" rIns="0" bIns="0" rtlCol="0" anchor="ctr"/>
          <a:lstStyle/>
          <a:p>
            <a:pPr algn="ctr" indent="0" marL="0">
              <a:buNone/>
            </a:pPr>
            <a:r>
              <a:rPr lang="en-US" sz="1150" dirty="0">
                <a:solidFill>
                  <a:srgbClr val="1A1A2E"/>
                </a:solidFill>
                <a:latin typeface="Cambria" pitchFamily="34" charset="0"/>
                <a:ea typeface="Cambria" pitchFamily="34" charset="-122"/>
                <a:cs typeface="Cambria" pitchFamily="34" charset="-120"/>
              </a:rPr>
              <a:t>Opposite sides parallel and equal — but no right angles, and the sides are not all equal.</a:t>
            </a:r>
            <a:endParaRPr lang="en-US" sz="1150" dirty="0"/>
          </a:p>
        </p:txBody>
      </p:sp>
      <p:sp>
        <p:nvSpPr>
          <p:cNvPr id="19" name="Text 17"/>
          <p:cNvSpPr/>
          <p:nvPr/>
        </p:nvSpPr>
        <p:spPr>
          <a:xfrm>
            <a:off x="5029200" y="1234440"/>
            <a:ext cx="3566160" cy="320040"/>
          </a:xfrm>
          <a:prstGeom prst="rect">
            <a:avLst/>
          </a:prstGeom>
          <a:noFill/>
          <a:ln/>
        </p:spPr>
        <p:txBody>
          <a:bodyPr wrap="square" lIns="0" tIns="0" rIns="0" bIns="0" rtlCol="0" anchor="ctr"/>
          <a:lstStyle/>
          <a:p>
            <a:pPr algn="ctr" indent="0" marL="0">
              <a:buNone/>
            </a:pPr>
            <a:r>
              <a:rPr lang="en-US" sz="1300" b="1" dirty="0">
                <a:solidFill>
                  <a:srgbClr val="C05818"/>
                </a:solidFill>
              </a:rPr>
              <a:t>Shape B</a:t>
            </a:r>
            <a:endParaRPr lang="en-US" sz="1300" dirty="0"/>
          </a:p>
        </p:txBody>
      </p:sp>
      <p:sp>
        <p:nvSpPr>
          <p:cNvPr id="20" name="Shape 18"/>
          <p:cNvSpPr/>
          <p:nvPr/>
        </p:nvSpPr>
        <p:spPr>
          <a:xfrm>
            <a:off x="5989320" y="1645920"/>
            <a:ext cx="2011680" cy="2103120"/>
          </a:xfrm>
          <a:custGeom>
            <a:avLst/>
            <a:gdLst/>
            <a:ahLst/>
            <a:cxnLst/>
            <a:rect l="l" t="t" r="r" b="b"/>
            <a:pathLst>
              <a:path w="2011680" h="2103120">
                <a:moveTo>
                  <a:pt x="1005840" y="0"/>
                </a:moveTo>
                <a:lnTo>
                  <a:pt x="2011680" y="1051560"/>
                </a:lnTo>
                <a:lnTo>
                  <a:pt x="1005840" y="2103120"/>
                </a:lnTo>
                <a:lnTo>
                  <a:pt x="0" y="1051560"/>
                </a:lnTo>
                <a:close/>
              </a:path>
            </a:pathLst>
          </a:custGeom>
          <a:solidFill>
            <a:srgbClr val="FEF0E6"/>
          </a:solidFill>
          <a:ln w="34925">
            <a:solidFill>
              <a:srgbClr val="1B2A4A"/>
            </a:solidFill>
            <a:prstDash val="solid"/>
          </a:ln>
        </p:spPr>
      </p:sp>
      <p:sp>
        <p:nvSpPr>
          <p:cNvPr id="21" name="Shape 19"/>
          <p:cNvSpPr/>
          <p:nvPr/>
        </p:nvSpPr>
        <p:spPr>
          <a:xfrm>
            <a:off x="6792903" y="1857371"/>
            <a:ext cx="404515" cy="81157"/>
          </a:xfrm>
          <a:custGeom>
            <a:avLst/>
            <a:gdLst/>
            <a:ahLst/>
            <a:cxnLst/>
            <a:rect l="l" t="t" r="r" b="b"/>
            <a:pathLst>
              <a:path w="404515" h="81157">
                <a:moveTo>
                  <a:pt x="0" y="0"/>
                </a:moveTo>
                <a:lnTo>
                  <a:pt x="13848" y="12427"/>
                </a:lnTo>
                <a:lnTo>
                  <a:pt x="28457" y="23949"/>
                </a:lnTo>
                <a:lnTo>
                  <a:pt x="43770" y="34519"/>
                </a:lnTo>
                <a:lnTo>
                  <a:pt x="59723" y="44094"/>
                </a:lnTo>
                <a:lnTo>
                  <a:pt x="76252" y="52637"/>
                </a:lnTo>
                <a:lnTo>
                  <a:pt x="93291" y="60111"/>
                </a:lnTo>
                <a:lnTo>
                  <a:pt x="110771" y="66487"/>
                </a:lnTo>
                <a:lnTo>
                  <a:pt x="128620" y="71740"/>
                </a:lnTo>
                <a:lnTo>
                  <a:pt x="146767" y="75847"/>
                </a:lnTo>
                <a:lnTo>
                  <a:pt x="165139" y="78793"/>
                </a:lnTo>
                <a:lnTo>
                  <a:pt x="183660" y="80566"/>
                </a:lnTo>
                <a:lnTo>
                  <a:pt x="202257" y="81157"/>
                </a:lnTo>
                <a:lnTo>
                  <a:pt x="220854" y="80566"/>
                </a:lnTo>
                <a:lnTo>
                  <a:pt x="239376" y="78793"/>
                </a:lnTo>
                <a:lnTo>
                  <a:pt x="257747" y="75847"/>
                </a:lnTo>
                <a:lnTo>
                  <a:pt x="275894" y="71740"/>
                </a:lnTo>
                <a:lnTo>
                  <a:pt x="293744" y="66487"/>
                </a:lnTo>
                <a:lnTo>
                  <a:pt x="311223" y="60111"/>
                </a:lnTo>
                <a:lnTo>
                  <a:pt x="328262" y="52637"/>
                </a:lnTo>
                <a:lnTo>
                  <a:pt x="344792" y="44094"/>
                </a:lnTo>
                <a:lnTo>
                  <a:pt x="360745" y="34519"/>
                </a:lnTo>
                <a:lnTo>
                  <a:pt x="376057" y="23949"/>
                </a:lnTo>
                <a:lnTo>
                  <a:pt x="390667" y="12427"/>
                </a:lnTo>
                <a:lnTo>
                  <a:pt x="404515" y="0"/>
                </a:lnTo>
              </a:path>
            </a:pathLst>
          </a:custGeom>
          <a:solidFill>
            <a:srgbClr val="FFFFFF">
              <a:alpha val="0"/>
            </a:srgbClr>
          </a:solidFill>
          <a:ln w="31750">
            <a:solidFill>
              <a:srgbClr val="C05818"/>
            </a:solidFill>
            <a:prstDash val="solid"/>
          </a:ln>
        </p:spPr>
      </p:sp>
      <p:sp>
        <p:nvSpPr>
          <p:cNvPr id="22" name="Shape 20"/>
          <p:cNvSpPr/>
          <p:nvPr/>
        </p:nvSpPr>
        <p:spPr>
          <a:xfrm>
            <a:off x="7708392" y="2486029"/>
            <a:ext cx="90351" cy="422902"/>
          </a:xfrm>
          <a:custGeom>
            <a:avLst/>
            <a:gdLst/>
            <a:ahLst/>
            <a:cxnLst/>
            <a:rect l="l" t="t" r="r" b="b"/>
            <a:pathLst>
              <a:path w="90351" h="422902">
                <a:moveTo>
                  <a:pt x="90351" y="0"/>
                </a:moveTo>
                <a:lnTo>
                  <a:pt x="76588" y="14081"/>
                </a:lnTo>
                <a:lnTo>
                  <a:pt x="63804" y="29055"/>
                </a:lnTo>
                <a:lnTo>
                  <a:pt x="52056" y="44855"/>
                </a:lnTo>
                <a:lnTo>
                  <a:pt x="41397" y="61409"/>
                </a:lnTo>
                <a:lnTo>
                  <a:pt x="31875" y="78643"/>
                </a:lnTo>
                <a:lnTo>
                  <a:pt x="23534" y="96478"/>
                </a:lnTo>
                <a:lnTo>
                  <a:pt x="16411" y="114834"/>
                </a:lnTo>
                <a:lnTo>
                  <a:pt x="10539" y="133627"/>
                </a:lnTo>
                <a:lnTo>
                  <a:pt x="5944" y="152773"/>
                </a:lnTo>
                <a:lnTo>
                  <a:pt x="2647" y="172184"/>
                </a:lnTo>
                <a:lnTo>
                  <a:pt x="662" y="191773"/>
                </a:lnTo>
                <a:lnTo>
                  <a:pt x="0" y="211451"/>
                </a:lnTo>
                <a:lnTo>
                  <a:pt x="662" y="231129"/>
                </a:lnTo>
                <a:lnTo>
                  <a:pt x="2647" y="250718"/>
                </a:lnTo>
                <a:lnTo>
                  <a:pt x="5944" y="270129"/>
                </a:lnTo>
                <a:lnTo>
                  <a:pt x="10539" y="289274"/>
                </a:lnTo>
                <a:lnTo>
                  <a:pt x="16411" y="308068"/>
                </a:lnTo>
                <a:lnTo>
                  <a:pt x="23534" y="326423"/>
                </a:lnTo>
                <a:lnTo>
                  <a:pt x="31875" y="344258"/>
                </a:lnTo>
                <a:lnTo>
                  <a:pt x="41397" y="361492"/>
                </a:lnTo>
                <a:lnTo>
                  <a:pt x="52056" y="378047"/>
                </a:lnTo>
                <a:lnTo>
                  <a:pt x="63804" y="393847"/>
                </a:lnTo>
                <a:lnTo>
                  <a:pt x="76588" y="408821"/>
                </a:lnTo>
                <a:lnTo>
                  <a:pt x="90351" y="422902"/>
                </a:lnTo>
              </a:path>
            </a:pathLst>
          </a:custGeom>
          <a:solidFill>
            <a:srgbClr val="FFFFFF">
              <a:alpha val="0"/>
            </a:srgbClr>
          </a:solidFill>
          <a:ln w="31750">
            <a:solidFill>
              <a:srgbClr val="C05818"/>
            </a:solidFill>
            <a:prstDash val="solid"/>
          </a:ln>
        </p:spPr>
      </p:sp>
      <p:sp>
        <p:nvSpPr>
          <p:cNvPr id="23" name="Shape 21"/>
          <p:cNvSpPr/>
          <p:nvPr/>
        </p:nvSpPr>
        <p:spPr>
          <a:xfrm>
            <a:off x="6792903" y="3456432"/>
            <a:ext cx="404515" cy="81157"/>
          </a:xfrm>
          <a:custGeom>
            <a:avLst/>
            <a:gdLst/>
            <a:ahLst/>
            <a:cxnLst/>
            <a:rect l="l" t="t" r="r" b="b"/>
            <a:pathLst>
              <a:path w="404515" h="81157">
                <a:moveTo>
                  <a:pt x="404515" y="81157"/>
                </a:moveTo>
                <a:lnTo>
                  <a:pt x="390667" y="68730"/>
                </a:lnTo>
                <a:lnTo>
                  <a:pt x="376057" y="57208"/>
                </a:lnTo>
                <a:lnTo>
                  <a:pt x="360745" y="46638"/>
                </a:lnTo>
                <a:lnTo>
                  <a:pt x="344792" y="37063"/>
                </a:lnTo>
                <a:lnTo>
                  <a:pt x="328262" y="28521"/>
                </a:lnTo>
                <a:lnTo>
                  <a:pt x="311223" y="21046"/>
                </a:lnTo>
                <a:lnTo>
                  <a:pt x="293744" y="14670"/>
                </a:lnTo>
                <a:lnTo>
                  <a:pt x="275894" y="9417"/>
                </a:lnTo>
                <a:lnTo>
                  <a:pt x="257747" y="5310"/>
                </a:lnTo>
                <a:lnTo>
                  <a:pt x="239376" y="2364"/>
                </a:lnTo>
                <a:lnTo>
                  <a:pt x="220854" y="592"/>
                </a:lnTo>
                <a:lnTo>
                  <a:pt x="202257" y="0"/>
                </a:lnTo>
                <a:lnTo>
                  <a:pt x="183660" y="592"/>
                </a:lnTo>
                <a:lnTo>
                  <a:pt x="165139" y="2364"/>
                </a:lnTo>
                <a:lnTo>
                  <a:pt x="146767" y="5310"/>
                </a:lnTo>
                <a:lnTo>
                  <a:pt x="128620" y="9417"/>
                </a:lnTo>
                <a:lnTo>
                  <a:pt x="110771" y="14670"/>
                </a:lnTo>
                <a:lnTo>
                  <a:pt x="93291" y="21046"/>
                </a:lnTo>
                <a:lnTo>
                  <a:pt x="76252" y="28521"/>
                </a:lnTo>
                <a:lnTo>
                  <a:pt x="59723" y="37063"/>
                </a:lnTo>
                <a:lnTo>
                  <a:pt x="43770" y="46638"/>
                </a:lnTo>
                <a:lnTo>
                  <a:pt x="28457" y="57208"/>
                </a:lnTo>
                <a:lnTo>
                  <a:pt x="13848" y="68730"/>
                </a:lnTo>
                <a:lnTo>
                  <a:pt x="0" y="81157"/>
                </a:lnTo>
              </a:path>
            </a:pathLst>
          </a:custGeom>
          <a:solidFill>
            <a:srgbClr val="FFFFFF">
              <a:alpha val="0"/>
            </a:srgbClr>
          </a:solidFill>
          <a:ln w="31750">
            <a:solidFill>
              <a:srgbClr val="C05818"/>
            </a:solidFill>
            <a:prstDash val="solid"/>
          </a:ln>
        </p:spPr>
      </p:sp>
      <p:sp>
        <p:nvSpPr>
          <p:cNvPr id="24" name="Shape 22"/>
          <p:cNvSpPr/>
          <p:nvPr/>
        </p:nvSpPr>
        <p:spPr>
          <a:xfrm>
            <a:off x="6191577" y="2486029"/>
            <a:ext cx="90351" cy="422902"/>
          </a:xfrm>
          <a:custGeom>
            <a:avLst/>
            <a:gdLst/>
            <a:ahLst/>
            <a:cxnLst/>
            <a:rect l="l" t="t" r="r" b="b"/>
            <a:pathLst>
              <a:path w="90351" h="422902">
                <a:moveTo>
                  <a:pt x="0" y="422902"/>
                </a:moveTo>
                <a:lnTo>
                  <a:pt x="13762" y="408821"/>
                </a:lnTo>
                <a:lnTo>
                  <a:pt x="26547" y="393847"/>
                </a:lnTo>
                <a:lnTo>
                  <a:pt x="38295" y="378047"/>
                </a:lnTo>
                <a:lnTo>
                  <a:pt x="48954" y="361492"/>
                </a:lnTo>
                <a:lnTo>
                  <a:pt x="58476" y="344258"/>
                </a:lnTo>
                <a:lnTo>
                  <a:pt x="66817" y="326423"/>
                </a:lnTo>
                <a:lnTo>
                  <a:pt x="73939" y="308068"/>
                </a:lnTo>
                <a:lnTo>
                  <a:pt x="79812" y="289274"/>
                </a:lnTo>
                <a:lnTo>
                  <a:pt x="84407" y="270129"/>
                </a:lnTo>
                <a:lnTo>
                  <a:pt x="87704" y="250718"/>
                </a:lnTo>
                <a:lnTo>
                  <a:pt x="89688" y="231129"/>
                </a:lnTo>
                <a:lnTo>
                  <a:pt x="90351" y="211451"/>
                </a:lnTo>
                <a:lnTo>
                  <a:pt x="89688" y="191773"/>
                </a:lnTo>
                <a:lnTo>
                  <a:pt x="87704" y="172184"/>
                </a:lnTo>
                <a:lnTo>
                  <a:pt x="84407" y="152773"/>
                </a:lnTo>
                <a:lnTo>
                  <a:pt x="79812" y="133627"/>
                </a:lnTo>
                <a:lnTo>
                  <a:pt x="73939" y="114834"/>
                </a:lnTo>
                <a:lnTo>
                  <a:pt x="66817" y="96478"/>
                </a:lnTo>
                <a:lnTo>
                  <a:pt x="58476" y="78643"/>
                </a:lnTo>
                <a:lnTo>
                  <a:pt x="48954" y="61409"/>
                </a:lnTo>
                <a:lnTo>
                  <a:pt x="38295" y="44855"/>
                </a:lnTo>
                <a:lnTo>
                  <a:pt x="26547" y="29055"/>
                </a:lnTo>
                <a:lnTo>
                  <a:pt x="13762" y="14081"/>
                </a:lnTo>
                <a:lnTo>
                  <a:pt x="0" y="0"/>
                </a:lnTo>
              </a:path>
            </a:pathLst>
          </a:custGeom>
          <a:solidFill>
            <a:srgbClr val="FFFFFF">
              <a:alpha val="0"/>
            </a:srgbClr>
          </a:solidFill>
          <a:ln w="31750">
            <a:solidFill>
              <a:srgbClr val="C05818"/>
            </a:solidFill>
            <a:prstDash val="solid"/>
          </a:ln>
        </p:spPr>
      </p:sp>
      <p:sp>
        <p:nvSpPr>
          <p:cNvPr id="25" name="Text 23"/>
          <p:cNvSpPr/>
          <p:nvPr/>
        </p:nvSpPr>
        <p:spPr>
          <a:xfrm>
            <a:off x="7184776" y="1836305"/>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26" name="Text 24"/>
          <p:cNvSpPr/>
          <p:nvPr/>
        </p:nvSpPr>
        <p:spPr>
          <a:xfrm>
            <a:off x="7184776" y="3284335"/>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27" name="Text 25"/>
          <p:cNvSpPr/>
          <p:nvPr/>
        </p:nvSpPr>
        <p:spPr>
          <a:xfrm>
            <a:off x="5799704" y="3284335"/>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28" name="Text 26"/>
          <p:cNvSpPr/>
          <p:nvPr/>
        </p:nvSpPr>
        <p:spPr>
          <a:xfrm>
            <a:off x="5799704" y="1836305"/>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29" name="Shape 27"/>
          <p:cNvSpPr/>
          <p:nvPr/>
        </p:nvSpPr>
        <p:spPr>
          <a:xfrm>
            <a:off x="6949440" y="1600200"/>
            <a:ext cx="91440" cy="91440"/>
          </a:xfrm>
          <a:prstGeom prst="ellipse">
            <a:avLst/>
          </a:prstGeom>
          <a:solidFill>
            <a:srgbClr val="1B2A4A"/>
          </a:solidFill>
          <a:ln w="9525">
            <a:solidFill>
              <a:srgbClr val="FFFFFF"/>
            </a:solidFill>
            <a:prstDash val="solid"/>
          </a:ln>
        </p:spPr>
      </p:sp>
      <p:sp>
        <p:nvSpPr>
          <p:cNvPr id="30" name="Shape 28"/>
          <p:cNvSpPr/>
          <p:nvPr/>
        </p:nvSpPr>
        <p:spPr>
          <a:xfrm>
            <a:off x="7955280" y="2651760"/>
            <a:ext cx="91440" cy="91440"/>
          </a:xfrm>
          <a:prstGeom prst="ellipse">
            <a:avLst/>
          </a:prstGeom>
          <a:solidFill>
            <a:srgbClr val="1B2A4A"/>
          </a:solidFill>
          <a:ln w="9525">
            <a:solidFill>
              <a:srgbClr val="FFFFFF"/>
            </a:solidFill>
            <a:prstDash val="solid"/>
          </a:ln>
        </p:spPr>
      </p:sp>
      <p:sp>
        <p:nvSpPr>
          <p:cNvPr id="31" name="Shape 29"/>
          <p:cNvSpPr/>
          <p:nvPr/>
        </p:nvSpPr>
        <p:spPr>
          <a:xfrm>
            <a:off x="6949440" y="3703320"/>
            <a:ext cx="91440" cy="91440"/>
          </a:xfrm>
          <a:prstGeom prst="ellipse">
            <a:avLst/>
          </a:prstGeom>
          <a:solidFill>
            <a:srgbClr val="1B2A4A"/>
          </a:solidFill>
          <a:ln w="9525">
            <a:solidFill>
              <a:srgbClr val="FFFFFF"/>
            </a:solidFill>
            <a:prstDash val="solid"/>
          </a:ln>
        </p:spPr>
      </p:sp>
      <p:sp>
        <p:nvSpPr>
          <p:cNvPr id="32" name="Shape 30"/>
          <p:cNvSpPr/>
          <p:nvPr/>
        </p:nvSpPr>
        <p:spPr>
          <a:xfrm>
            <a:off x="5943600" y="2651760"/>
            <a:ext cx="91440" cy="91440"/>
          </a:xfrm>
          <a:prstGeom prst="ellipse">
            <a:avLst/>
          </a:prstGeom>
          <a:solidFill>
            <a:srgbClr val="1B2A4A"/>
          </a:solidFill>
          <a:ln w="9525">
            <a:solidFill>
              <a:srgbClr val="FFFFFF"/>
            </a:solidFill>
            <a:prstDash val="solid"/>
          </a:ln>
        </p:spPr>
      </p:sp>
      <p:sp>
        <p:nvSpPr>
          <p:cNvPr id="33" name="Text 31"/>
          <p:cNvSpPr/>
          <p:nvPr/>
        </p:nvSpPr>
        <p:spPr>
          <a:xfrm>
            <a:off x="5029200" y="3429000"/>
            <a:ext cx="3566160" cy="777240"/>
          </a:xfrm>
          <a:prstGeom prst="rect">
            <a:avLst/>
          </a:prstGeom>
          <a:noFill/>
          <a:ln/>
        </p:spPr>
        <p:txBody>
          <a:bodyPr wrap="square" lIns="0" tIns="0" rIns="0" bIns="0" rtlCol="0" anchor="ctr"/>
          <a:lstStyle/>
          <a:p>
            <a:pPr algn="ctr" indent="0" marL="0">
              <a:buNone/>
            </a:pPr>
            <a:r>
              <a:rPr lang="en-US" sz="1150" dirty="0">
                <a:solidFill>
                  <a:srgbClr val="1A1A2E"/>
                </a:solidFill>
                <a:latin typeface="Cambria" pitchFamily="34" charset="0"/>
                <a:ea typeface="Cambria" pitchFamily="34" charset="-122"/>
                <a:cs typeface="Cambria" pitchFamily="34" charset="-120"/>
              </a:rPr>
              <a:t>All four sides equal AND opposite sides parallel — but still no right angles.</a:t>
            </a:r>
            <a:endParaRPr lang="en-US" sz="1150" dirty="0"/>
          </a:p>
        </p:txBody>
      </p:sp>
      <p:sp>
        <p:nvSpPr>
          <p:cNvPr id="34" name="Shape 32"/>
          <p:cNvSpPr/>
          <p:nvPr/>
        </p:nvSpPr>
        <p:spPr>
          <a:xfrm>
            <a:off x="548640" y="4224528"/>
            <a:ext cx="8046720" cy="502920"/>
          </a:xfrm>
          <a:prstGeom prst="roundRect">
            <a:avLst>
              <a:gd name="adj" fmla="val 18182"/>
            </a:avLst>
          </a:prstGeom>
          <a:solidFill>
            <a:srgbClr val="E6F2EA"/>
          </a:solidFill>
          <a:ln w="6350">
            <a:solidFill>
              <a:srgbClr val="DDDDEE"/>
            </a:solidFill>
            <a:prstDash val="solid"/>
          </a:ln>
        </p:spPr>
      </p:sp>
      <p:sp>
        <p:nvSpPr>
          <p:cNvPr id="35" name="Text 33"/>
          <p:cNvSpPr/>
          <p:nvPr/>
        </p:nvSpPr>
        <p:spPr>
          <a:xfrm>
            <a:off x="731520" y="4224528"/>
            <a:ext cx="7680960" cy="502920"/>
          </a:xfrm>
          <a:prstGeom prst="rect">
            <a:avLst/>
          </a:prstGeom>
          <a:noFill/>
          <a:ln/>
        </p:spPr>
        <p:txBody>
          <a:bodyPr wrap="square" lIns="0" tIns="0" rIns="0" bIns="0" rtlCol="0" anchor="ctr"/>
          <a:lstStyle/>
          <a:p>
            <a:pPr indent="0" marL="0">
              <a:buNone/>
            </a:pPr>
            <a:r>
              <a:rPr lang="en-US" sz="1200" b="1" dirty="0">
                <a:solidFill>
                  <a:srgbClr val="2E6E44"/>
                </a:solidFill>
                <a:latin typeface="Cambria" pitchFamily="34" charset="0"/>
                <a:ea typeface="Cambria" pitchFamily="34" charset="-122"/>
                <a:cs typeface="Cambria" pitchFamily="34" charset="-120"/>
              </a:rPr>
              <a:t>Shape A = parallelogram. Shape B = rhombus — a rhombus is a parallelogram with the extra property of four equal sides.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Trapezoid Area</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822960" y="2011680"/>
            <a:ext cx="2926080" cy="1645920"/>
          </a:xfrm>
          <a:custGeom>
            <a:avLst/>
            <a:gdLst/>
            <a:ahLst/>
            <a:cxnLst/>
            <a:rect l="l" t="t" r="r" b="b"/>
            <a:pathLst>
              <a:path w="2926080" h="1645920">
                <a:moveTo>
                  <a:pt x="548640" y="0"/>
                </a:moveTo>
                <a:lnTo>
                  <a:pt x="2377440" y="0"/>
                </a:lnTo>
                <a:lnTo>
                  <a:pt x="2926080" y="1645920"/>
                </a:lnTo>
                <a:lnTo>
                  <a:pt x="0" y="1645920"/>
                </a:lnTo>
                <a:close/>
              </a:path>
            </a:pathLst>
          </a:custGeom>
          <a:solidFill>
            <a:srgbClr val="FEF6E4"/>
          </a:solidFill>
          <a:ln w="34925">
            <a:solidFill>
              <a:srgbClr val="1B2A4A"/>
            </a:solidFill>
            <a:prstDash val="solid"/>
          </a:ln>
        </p:spPr>
      </p:sp>
      <p:sp>
        <p:nvSpPr>
          <p:cNvPr id="9" name="Shape 7"/>
          <p:cNvSpPr/>
          <p:nvPr/>
        </p:nvSpPr>
        <p:spPr>
          <a:xfrm>
            <a:off x="1279069" y="2011680"/>
            <a:ext cx="385139" cy="292602"/>
          </a:xfrm>
          <a:custGeom>
            <a:avLst/>
            <a:gdLst/>
            <a:ahLst/>
            <a:cxnLst/>
            <a:rect l="l" t="t" r="r" b="b"/>
            <a:pathLst>
              <a:path w="385139" h="292602">
                <a:moveTo>
                  <a:pt x="0" y="277592"/>
                </a:moveTo>
                <a:lnTo>
                  <a:pt x="22155" y="284019"/>
                </a:lnTo>
                <a:lnTo>
                  <a:pt x="44747" y="288680"/>
                </a:lnTo>
                <a:lnTo>
                  <a:pt x="67636" y="291547"/>
                </a:lnTo>
                <a:lnTo>
                  <a:pt x="90680" y="292602"/>
                </a:lnTo>
                <a:lnTo>
                  <a:pt x="113735" y="291839"/>
                </a:lnTo>
                <a:lnTo>
                  <a:pt x="136659" y="289261"/>
                </a:lnTo>
                <a:lnTo>
                  <a:pt x="159308" y="284886"/>
                </a:lnTo>
                <a:lnTo>
                  <a:pt x="181542" y="278741"/>
                </a:lnTo>
                <a:lnTo>
                  <a:pt x="203223" y="270863"/>
                </a:lnTo>
                <a:lnTo>
                  <a:pt x="224216" y="261301"/>
                </a:lnTo>
                <a:lnTo>
                  <a:pt x="244391" y="250116"/>
                </a:lnTo>
                <a:lnTo>
                  <a:pt x="263622" y="237376"/>
                </a:lnTo>
                <a:lnTo>
                  <a:pt x="281789" y="223161"/>
                </a:lnTo>
                <a:lnTo>
                  <a:pt x="298780" y="207559"/>
                </a:lnTo>
                <a:lnTo>
                  <a:pt x="314490" y="190666"/>
                </a:lnTo>
                <a:lnTo>
                  <a:pt x="328820" y="172589"/>
                </a:lnTo>
                <a:lnTo>
                  <a:pt x="341681" y="153439"/>
                </a:lnTo>
                <a:lnTo>
                  <a:pt x="352994" y="133336"/>
                </a:lnTo>
                <a:lnTo>
                  <a:pt x="362688" y="112404"/>
                </a:lnTo>
                <a:lnTo>
                  <a:pt x="370703" y="90773"/>
                </a:lnTo>
                <a:lnTo>
                  <a:pt x="376989" y="68578"/>
                </a:lnTo>
                <a:lnTo>
                  <a:pt x="381507" y="45957"/>
                </a:lnTo>
                <a:lnTo>
                  <a:pt x="384229" y="23050"/>
                </a:lnTo>
                <a:lnTo>
                  <a:pt x="385139" y="0"/>
                </a:lnTo>
              </a:path>
            </a:pathLst>
          </a:custGeom>
          <a:solidFill>
            <a:srgbClr val="FFFFFF">
              <a:alpha val="0"/>
            </a:srgbClr>
          </a:solidFill>
          <a:ln w="31750">
            <a:solidFill>
              <a:srgbClr val="A66E10"/>
            </a:solidFill>
            <a:prstDash val="solid"/>
          </a:ln>
        </p:spPr>
      </p:sp>
      <p:sp>
        <p:nvSpPr>
          <p:cNvPr id="10" name="Shape 8"/>
          <p:cNvSpPr/>
          <p:nvPr/>
        </p:nvSpPr>
        <p:spPr>
          <a:xfrm>
            <a:off x="2907792" y="2011680"/>
            <a:ext cx="385139" cy="292602"/>
          </a:xfrm>
          <a:custGeom>
            <a:avLst/>
            <a:gdLst/>
            <a:ahLst/>
            <a:cxnLst/>
            <a:rect l="l" t="t" r="r" b="b"/>
            <a:pathLst>
              <a:path w="385139" h="292602">
                <a:moveTo>
                  <a:pt x="0" y="0"/>
                </a:moveTo>
                <a:lnTo>
                  <a:pt x="909" y="23050"/>
                </a:lnTo>
                <a:lnTo>
                  <a:pt x="3632" y="45957"/>
                </a:lnTo>
                <a:lnTo>
                  <a:pt x="8150" y="68578"/>
                </a:lnTo>
                <a:lnTo>
                  <a:pt x="14436" y="90773"/>
                </a:lnTo>
                <a:lnTo>
                  <a:pt x="22451" y="112404"/>
                </a:lnTo>
                <a:lnTo>
                  <a:pt x="32145" y="133336"/>
                </a:lnTo>
                <a:lnTo>
                  <a:pt x="43458" y="153439"/>
                </a:lnTo>
                <a:lnTo>
                  <a:pt x="56319" y="172589"/>
                </a:lnTo>
                <a:lnTo>
                  <a:pt x="70649" y="190666"/>
                </a:lnTo>
                <a:lnTo>
                  <a:pt x="86358" y="207559"/>
                </a:lnTo>
                <a:lnTo>
                  <a:pt x="103350" y="223161"/>
                </a:lnTo>
                <a:lnTo>
                  <a:pt x="121517" y="237376"/>
                </a:lnTo>
                <a:lnTo>
                  <a:pt x="140748" y="250116"/>
                </a:lnTo>
                <a:lnTo>
                  <a:pt x="160923" y="261301"/>
                </a:lnTo>
                <a:lnTo>
                  <a:pt x="181916" y="270863"/>
                </a:lnTo>
                <a:lnTo>
                  <a:pt x="203597" y="278741"/>
                </a:lnTo>
                <a:lnTo>
                  <a:pt x="225831" y="284886"/>
                </a:lnTo>
                <a:lnTo>
                  <a:pt x="248480" y="289261"/>
                </a:lnTo>
                <a:lnTo>
                  <a:pt x="271404" y="291839"/>
                </a:lnTo>
                <a:lnTo>
                  <a:pt x="294459" y="292602"/>
                </a:lnTo>
                <a:lnTo>
                  <a:pt x="317503" y="291547"/>
                </a:lnTo>
                <a:lnTo>
                  <a:pt x="340392" y="288680"/>
                </a:lnTo>
                <a:lnTo>
                  <a:pt x="362984" y="284019"/>
                </a:lnTo>
                <a:lnTo>
                  <a:pt x="385139" y="277592"/>
                </a:lnTo>
              </a:path>
            </a:pathLst>
          </a:custGeom>
          <a:solidFill>
            <a:srgbClr val="FFFFFF">
              <a:alpha val="0"/>
            </a:srgbClr>
          </a:solidFill>
          <a:ln w="31750">
            <a:solidFill>
              <a:srgbClr val="A66E10"/>
            </a:solidFill>
            <a:prstDash val="solid"/>
          </a:ln>
        </p:spPr>
      </p:sp>
      <p:sp>
        <p:nvSpPr>
          <p:cNvPr id="11" name="Shape 9"/>
          <p:cNvSpPr/>
          <p:nvPr/>
        </p:nvSpPr>
        <p:spPr>
          <a:xfrm>
            <a:off x="3456432" y="3380008"/>
            <a:ext cx="200077" cy="277592"/>
          </a:xfrm>
          <a:custGeom>
            <a:avLst/>
            <a:gdLst/>
            <a:ahLst/>
            <a:cxnLst/>
            <a:rect l="l" t="t" r="r" b="b"/>
            <a:pathLst>
              <a:path w="200077" h="277592">
                <a:moveTo>
                  <a:pt x="200077" y="0"/>
                </a:moveTo>
                <a:lnTo>
                  <a:pt x="185762" y="5189"/>
                </a:lnTo>
                <a:lnTo>
                  <a:pt x="171736" y="11116"/>
                </a:lnTo>
                <a:lnTo>
                  <a:pt x="158038" y="17765"/>
                </a:lnTo>
                <a:lnTo>
                  <a:pt x="144704" y="25117"/>
                </a:lnTo>
                <a:lnTo>
                  <a:pt x="131770" y="33153"/>
                </a:lnTo>
                <a:lnTo>
                  <a:pt x="119272" y="41851"/>
                </a:lnTo>
                <a:lnTo>
                  <a:pt x="107244" y="51187"/>
                </a:lnTo>
                <a:lnTo>
                  <a:pt x="95717" y="61136"/>
                </a:lnTo>
                <a:lnTo>
                  <a:pt x="84724" y="71671"/>
                </a:lnTo>
                <a:lnTo>
                  <a:pt x="74293" y="82764"/>
                </a:lnTo>
                <a:lnTo>
                  <a:pt x="64454" y="94385"/>
                </a:lnTo>
                <a:lnTo>
                  <a:pt x="55232" y="106501"/>
                </a:lnTo>
                <a:lnTo>
                  <a:pt x="46653" y="119081"/>
                </a:lnTo>
                <a:lnTo>
                  <a:pt x="38741" y="132091"/>
                </a:lnTo>
                <a:lnTo>
                  <a:pt x="31515" y="145494"/>
                </a:lnTo>
                <a:lnTo>
                  <a:pt x="24997" y="159255"/>
                </a:lnTo>
                <a:lnTo>
                  <a:pt x="19203" y="173336"/>
                </a:lnTo>
                <a:lnTo>
                  <a:pt x="14150" y="187700"/>
                </a:lnTo>
                <a:lnTo>
                  <a:pt x="9851" y="202307"/>
                </a:lnTo>
                <a:lnTo>
                  <a:pt x="6317" y="217118"/>
                </a:lnTo>
                <a:lnTo>
                  <a:pt x="3559" y="232093"/>
                </a:lnTo>
                <a:lnTo>
                  <a:pt x="1584" y="247191"/>
                </a:lnTo>
                <a:lnTo>
                  <a:pt x="396" y="262371"/>
                </a:lnTo>
                <a:lnTo>
                  <a:pt x="0" y="277592"/>
                </a:lnTo>
              </a:path>
            </a:pathLst>
          </a:custGeom>
          <a:solidFill>
            <a:srgbClr val="FFFFFF">
              <a:alpha val="0"/>
            </a:srgbClr>
          </a:solidFill>
          <a:ln w="31750">
            <a:solidFill>
              <a:srgbClr val="A66E10"/>
            </a:solidFill>
            <a:prstDash val="solid"/>
          </a:ln>
        </p:spPr>
      </p:sp>
      <p:sp>
        <p:nvSpPr>
          <p:cNvPr id="12" name="Shape 10"/>
          <p:cNvSpPr/>
          <p:nvPr/>
        </p:nvSpPr>
        <p:spPr>
          <a:xfrm>
            <a:off x="915491" y="3380008"/>
            <a:ext cx="200077" cy="277592"/>
          </a:xfrm>
          <a:custGeom>
            <a:avLst/>
            <a:gdLst/>
            <a:ahLst/>
            <a:cxnLst/>
            <a:rect l="l" t="t" r="r" b="b"/>
            <a:pathLst>
              <a:path w="200077" h="277592">
                <a:moveTo>
                  <a:pt x="200077" y="277592"/>
                </a:moveTo>
                <a:lnTo>
                  <a:pt x="199681" y="262371"/>
                </a:lnTo>
                <a:lnTo>
                  <a:pt x="198494" y="247191"/>
                </a:lnTo>
                <a:lnTo>
                  <a:pt x="196518" y="232093"/>
                </a:lnTo>
                <a:lnTo>
                  <a:pt x="193760" y="217118"/>
                </a:lnTo>
                <a:lnTo>
                  <a:pt x="190226" y="202307"/>
                </a:lnTo>
                <a:lnTo>
                  <a:pt x="185927" y="187700"/>
                </a:lnTo>
                <a:lnTo>
                  <a:pt x="180874" y="173336"/>
                </a:lnTo>
                <a:lnTo>
                  <a:pt x="175080" y="159255"/>
                </a:lnTo>
                <a:lnTo>
                  <a:pt x="168562" y="145494"/>
                </a:lnTo>
                <a:lnTo>
                  <a:pt x="161337" y="132091"/>
                </a:lnTo>
                <a:lnTo>
                  <a:pt x="153424" y="119081"/>
                </a:lnTo>
                <a:lnTo>
                  <a:pt x="144845" y="106501"/>
                </a:lnTo>
                <a:lnTo>
                  <a:pt x="135624" y="94385"/>
                </a:lnTo>
                <a:lnTo>
                  <a:pt x="125784" y="82764"/>
                </a:lnTo>
                <a:lnTo>
                  <a:pt x="115354" y="71671"/>
                </a:lnTo>
                <a:lnTo>
                  <a:pt x="104360" y="61136"/>
                </a:lnTo>
                <a:lnTo>
                  <a:pt x="92834" y="51187"/>
                </a:lnTo>
                <a:lnTo>
                  <a:pt x="80805" y="41851"/>
                </a:lnTo>
                <a:lnTo>
                  <a:pt x="68307" y="33153"/>
                </a:lnTo>
                <a:lnTo>
                  <a:pt x="55373" y="25117"/>
                </a:lnTo>
                <a:lnTo>
                  <a:pt x="42039" y="17765"/>
                </a:lnTo>
                <a:lnTo>
                  <a:pt x="28341" y="11116"/>
                </a:lnTo>
                <a:lnTo>
                  <a:pt x="14315" y="5189"/>
                </a:lnTo>
                <a:lnTo>
                  <a:pt x="0" y="0"/>
                </a:lnTo>
              </a:path>
            </a:pathLst>
          </a:custGeom>
          <a:solidFill>
            <a:srgbClr val="FFFFFF">
              <a:alpha val="0"/>
            </a:srgbClr>
          </a:solidFill>
          <a:ln w="31750">
            <a:solidFill>
              <a:srgbClr val="A66E10"/>
            </a:solidFill>
            <a:prstDash val="solid"/>
          </a:ln>
        </p:spPr>
      </p:sp>
      <p:sp>
        <p:nvSpPr>
          <p:cNvPr id="13" name="Text 11"/>
          <p:cNvSpPr/>
          <p:nvPr/>
        </p:nvSpPr>
        <p:spPr>
          <a:xfrm>
            <a:off x="1783080" y="160020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7 cm</a:t>
            </a:r>
            <a:endParaRPr lang="en-US" sz="1200" dirty="0"/>
          </a:p>
        </p:txBody>
      </p:sp>
      <p:sp>
        <p:nvSpPr>
          <p:cNvPr id="14" name="Text 12"/>
          <p:cNvSpPr/>
          <p:nvPr/>
        </p:nvSpPr>
        <p:spPr>
          <a:xfrm>
            <a:off x="1783080" y="379476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12 cm</a:t>
            </a:r>
            <a:endParaRPr lang="en-US" sz="1200" dirty="0"/>
          </a:p>
        </p:txBody>
      </p:sp>
      <p:sp>
        <p:nvSpPr>
          <p:cNvPr id="15" name="Shape 13"/>
          <p:cNvSpPr/>
          <p:nvPr/>
        </p:nvSpPr>
        <p:spPr>
          <a:xfrm>
            <a:off x="1325880" y="1965960"/>
            <a:ext cx="91440" cy="91440"/>
          </a:xfrm>
          <a:prstGeom prst="ellipse">
            <a:avLst/>
          </a:prstGeom>
          <a:solidFill>
            <a:srgbClr val="1B2A4A"/>
          </a:solidFill>
          <a:ln w="9525">
            <a:solidFill>
              <a:srgbClr val="FFFFFF"/>
            </a:solidFill>
            <a:prstDash val="solid"/>
          </a:ln>
        </p:spPr>
      </p:sp>
      <p:sp>
        <p:nvSpPr>
          <p:cNvPr id="16" name="Shape 14"/>
          <p:cNvSpPr/>
          <p:nvPr/>
        </p:nvSpPr>
        <p:spPr>
          <a:xfrm>
            <a:off x="3154680" y="1965960"/>
            <a:ext cx="91440" cy="91440"/>
          </a:xfrm>
          <a:prstGeom prst="ellipse">
            <a:avLst/>
          </a:prstGeom>
          <a:solidFill>
            <a:srgbClr val="1B2A4A"/>
          </a:solidFill>
          <a:ln w="9525">
            <a:solidFill>
              <a:srgbClr val="FFFFFF"/>
            </a:solidFill>
            <a:prstDash val="solid"/>
          </a:ln>
        </p:spPr>
      </p:sp>
      <p:sp>
        <p:nvSpPr>
          <p:cNvPr id="17" name="Shape 15"/>
          <p:cNvSpPr/>
          <p:nvPr/>
        </p:nvSpPr>
        <p:spPr>
          <a:xfrm>
            <a:off x="3703320" y="3611880"/>
            <a:ext cx="91440" cy="91440"/>
          </a:xfrm>
          <a:prstGeom prst="ellipse">
            <a:avLst/>
          </a:prstGeom>
          <a:solidFill>
            <a:srgbClr val="1B2A4A"/>
          </a:solidFill>
          <a:ln w="9525">
            <a:solidFill>
              <a:srgbClr val="FFFFFF"/>
            </a:solidFill>
            <a:prstDash val="solid"/>
          </a:ln>
        </p:spPr>
      </p:sp>
      <p:sp>
        <p:nvSpPr>
          <p:cNvPr id="18" name="Shape 16"/>
          <p:cNvSpPr/>
          <p:nvPr/>
        </p:nvSpPr>
        <p:spPr>
          <a:xfrm>
            <a:off x="777240" y="3611880"/>
            <a:ext cx="91440" cy="91440"/>
          </a:xfrm>
          <a:prstGeom prst="ellipse">
            <a:avLst/>
          </a:prstGeom>
          <a:solidFill>
            <a:srgbClr val="1B2A4A"/>
          </a:solidFill>
          <a:ln w="9525">
            <a:solidFill>
              <a:srgbClr val="FFFFFF"/>
            </a:solidFill>
            <a:prstDash val="solid"/>
          </a:ln>
        </p:spPr>
      </p:sp>
      <p:sp>
        <p:nvSpPr>
          <p:cNvPr id="19" name="Shape 17"/>
          <p:cNvSpPr/>
          <p:nvPr/>
        </p:nvSpPr>
        <p:spPr>
          <a:xfrm>
            <a:off x="2286000" y="2011680"/>
            <a:ext cx="0" cy="1645920"/>
          </a:xfrm>
          <a:prstGeom prst="line">
            <a:avLst/>
          </a:prstGeom>
          <a:noFill/>
          <a:ln w="15875">
            <a:solidFill>
              <a:srgbClr val="1B2A4A"/>
            </a:solidFill>
            <a:prstDash val="dash"/>
          </a:ln>
        </p:spPr>
      </p:sp>
      <p:sp>
        <p:nvSpPr>
          <p:cNvPr id="20" name="Text 18"/>
          <p:cNvSpPr/>
          <p:nvPr/>
        </p:nvSpPr>
        <p:spPr>
          <a:xfrm>
            <a:off x="2423160" y="2697480"/>
            <a:ext cx="1371600" cy="320040"/>
          </a:xfrm>
          <a:prstGeom prst="rect">
            <a:avLst/>
          </a:prstGeom>
          <a:noFill/>
          <a:ln/>
        </p:spPr>
        <p:txBody>
          <a:bodyPr wrap="square" lIns="0" tIns="0" rIns="0" bIns="0" rtlCol="0" anchor="ctr"/>
          <a:lstStyle/>
          <a:p>
            <a:pPr indent="0" marL="0">
              <a:buNone/>
            </a:pPr>
            <a:r>
              <a:rPr lang="en-US" sz="1050" b="1" i="1" dirty="0">
                <a:solidFill>
                  <a:srgbClr val="1B2A4A"/>
                </a:solidFill>
              </a:rPr>
              <a:t>height = 5 cm</a:t>
            </a:r>
            <a:endParaRPr lang="en-US" sz="1050" dirty="0"/>
          </a:p>
        </p:txBody>
      </p:sp>
      <p:sp>
        <p:nvSpPr>
          <p:cNvPr id="21" name="Shape 19"/>
          <p:cNvSpPr/>
          <p:nvPr/>
        </p:nvSpPr>
        <p:spPr>
          <a:xfrm>
            <a:off x="4663440" y="1234440"/>
            <a:ext cx="3931920" cy="3200400"/>
          </a:xfrm>
          <a:prstGeom prst="roundRect">
            <a:avLst>
              <a:gd name="adj" fmla="val 2857"/>
            </a:avLst>
          </a:prstGeom>
          <a:solidFill>
            <a:srgbClr val="FFFFFF"/>
          </a:solidFill>
          <a:ln w="6350">
            <a:solidFill>
              <a:srgbClr val="DDDDEE"/>
            </a:solidFill>
            <a:prstDash val="solid"/>
          </a:ln>
        </p:spPr>
      </p:sp>
      <p:sp>
        <p:nvSpPr>
          <p:cNvPr id="22" name="Text 20"/>
          <p:cNvSpPr/>
          <p:nvPr/>
        </p:nvSpPr>
        <p:spPr>
          <a:xfrm>
            <a:off x="4892040" y="1325880"/>
            <a:ext cx="3474720" cy="105156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A quadrilateral has exactly one pair of parallel sides, 12 cm and 7 cm, with a height of 5 cm. Name the shape and find its area.</a:t>
            </a:r>
            <a:endParaRPr lang="en-US" sz="1300" dirty="0"/>
          </a:p>
        </p:txBody>
      </p:sp>
      <p:sp>
        <p:nvSpPr>
          <p:cNvPr id="23" name="Text 21"/>
          <p:cNvSpPr/>
          <p:nvPr/>
        </p:nvSpPr>
        <p:spPr>
          <a:xfrm>
            <a:off x="4892040" y="2450592"/>
            <a:ext cx="3474720" cy="457200"/>
          </a:xfrm>
          <a:prstGeom prst="rect">
            <a:avLst/>
          </a:prstGeom>
          <a:noFill/>
          <a:ln/>
        </p:spPr>
        <p:txBody>
          <a:bodyPr wrap="square" lIns="0" tIns="0" rIns="0" bIns="0" rtlCol="0" anchor="ctr"/>
          <a:lstStyle/>
          <a:p>
            <a:pPr indent="0" marL="0">
              <a:buNone/>
            </a:pPr>
            <a:r>
              <a:rPr lang="en-US" sz="1180" dirty="0">
                <a:solidFill>
                  <a:srgbClr val="1A1A2E"/>
                </a:solidFill>
                <a:latin typeface="Cambria" pitchFamily="34" charset="0"/>
                <a:ea typeface="Cambria" pitchFamily="34" charset="-122"/>
                <a:cs typeface="Cambria" pitchFamily="34" charset="-120"/>
              </a:rPr>
              <a:t>Step 1: Only one pair of parallel sides — this is a trapezoid.</a:t>
            </a:r>
            <a:endParaRPr lang="en-US" sz="1180" dirty="0"/>
          </a:p>
        </p:txBody>
      </p:sp>
      <p:sp>
        <p:nvSpPr>
          <p:cNvPr id="24" name="Text 22"/>
          <p:cNvSpPr/>
          <p:nvPr/>
        </p:nvSpPr>
        <p:spPr>
          <a:xfrm>
            <a:off x="4892040" y="2935224"/>
            <a:ext cx="3474720" cy="457200"/>
          </a:xfrm>
          <a:prstGeom prst="rect">
            <a:avLst/>
          </a:prstGeom>
          <a:noFill/>
          <a:ln/>
        </p:spPr>
        <p:txBody>
          <a:bodyPr wrap="square" lIns="0" tIns="0" rIns="0" bIns="0" rtlCol="0" anchor="ctr"/>
          <a:lstStyle/>
          <a:p>
            <a:pPr indent="0" marL="0">
              <a:buNone/>
            </a:pPr>
            <a:r>
              <a:rPr lang="en-US" sz="1180" dirty="0">
                <a:solidFill>
                  <a:srgbClr val="1A1A2E"/>
                </a:solidFill>
                <a:latin typeface="Cambria" pitchFamily="34" charset="0"/>
                <a:ea typeface="Cambria" pitchFamily="34" charset="-122"/>
                <a:cs typeface="Cambria" pitchFamily="34" charset="-120"/>
              </a:rPr>
              <a:t>Step 2: Add the parallel sides: 12 + 7 = 19 cm.</a:t>
            </a:r>
            <a:endParaRPr lang="en-US" sz="1180" dirty="0"/>
          </a:p>
        </p:txBody>
      </p:sp>
      <p:sp>
        <p:nvSpPr>
          <p:cNvPr id="25" name="Text 23"/>
          <p:cNvSpPr/>
          <p:nvPr/>
        </p:nvSpPr>
        <p:spPr>
          <a:xfrm>
            <a:off x="4892040" y="3419856"/>
            <a:ext cx="3474720" cy="457200"/>
          </a:xfrm>
          <a:prstGeom prst="rect">
            <a:avLst/>
          </a:prstGeom>
          <a:noFill/>
          <a:ln/>
        </p:spPr>
        <p:txBody>
          <a:bodyPr wrap="square" lIns="0" tIns="0" rIns="0" bIns="0" rtlCol="0" anchor="ctr"/>
          <a:lstStyle/>
          <a:p>
            <a:pPr indent="0" marL="0">
              <a:buNone/>
            </a:pPr>
            <a:r>
              <a:rPr lang="en-US" sz="1180" dirty="0">
                <a:solidFill>
                  <a:srgbClr val="1A1A2E"/>
                </a:solidFill>
                <a:latin typeface="Cambria" pitchFamily="34" charset="0"/>
                <a:ea typeface="Cambria" pitchFamily="34" charset="-122"/>
                <a:cs typeface="Cambria" pitchFamily="34" charset="-120"/>
              </a:rPr>
              <a:t>Step 3: Multiply by the height: 19 × 5 = 95.</a:t>
            </a:r>
            <a:endParaRPr lang="en-US" sz="1180" dirty="0"/>
          </a:p>
        </p:txBody>
      </p:sp>
      <p:sp>
        <p:nvSpPr>
          <p:cNvPr id="26" name="Text 24"/>
          <p:cNvSpPr/>
          <p:nvPr/>
        </p:nvSpPr>
        <p:spPr>
          <a:xfrm>
            <a:off x="4892040" y="3904488"/>
            <a:ext cx="3474720" cy="457200"/>
          </a:xfrm>
          <a:prstGeom prst="rect">
            <a:avLst/>
          </a:prstGeom>
          <a:noFill/>
          <a:ln/>
        </p:spPr>
        <p:txBody>
          <a:bodyPr wrap="square" lIns="0" tIns="0" rIns="0" bIns="0" rtlCol="0" anchor="ctr"/>
          <a:lstStyle/>
          <a:p>
            <a:pPr indent="0" marL="0">
              <a:buNone/>
            </a:pPr>
            <a:r>
              <a:rPr lang="en-US" sz="1180" dirty="0">
                <a:solidFill>
                  <a:srgbClr val="1A1A2E"/>
                </a:solidFill>
                <a:latin typeface="Cambria" pitchFamily="34" charset="0"/>
                <a:ea typeface="Cambria" pitchFamily="34" charset="-122"/>
                <a:cs typeface="Cambria" pitchFamily="34" charset="-120"/>
              </a:rPr>
              <a:t>Step 4: Take half of that product: half of 95 = 47.5 cm².</a:t>
            </a:r>
            <a:endParaRPr lang="en-US" sz="11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Your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2E6E44"/>
          </a:solidFill>
          <a:ln w="12700">
            <a:solidFill>
              <a:srgbClr val="2E6E44"/>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YOUR TURN</a:t>
            </a:r>
            <a:endParaRPr lang="en-US" sz="800" dirty="0"/>
          </a:p>
        </p:txBody>
      </p:sp>
      <p:sp>
        <p:nvSpPr>
          <p:cNvPr id="8" name="Shape 6"/>
          <p:cNvSpPr/>
          <p:nvPr/>
        </p:nvSpPr>
        <p:spPr>
          <a:xfrm>
            <a:off x="1188720" y="1463040"/>
            <a:ext cx="2377440" cy="2377440"/>
          </a:xfrm>
          <a:custGeom>
            <a:avLst/>
            <a:gdLst/>
            <a:ahLst/>
            <a:cxnLst/>
            <a:rect l="l" t="t" r="r" b="b"/>
            <a:pathLst>
              <a:path w="2377440" h="2377440">
                <a:moveTo>
                  <a:pt x="1188720" y="0"/>
                </a:moveTo>
                <a:lnTo>
                  <a:pt x="2377440" y="1188720"/>
                </a:lnTo>
                <a:lnTo>
                  <a:pt x="1188720" y="2377440"/>
                </a:lnTo>
                <a:lnTo>
                  <a:pt x="0" y="1188720"/>
                </a:lnTo>
                <a:close/>
              </a:path>
            </a:pathLst>
          </a:custGeom>
          <a:solidFill>
            <a:srgbClr val="EAE8F5"/>
          </a:solidFill>
          <a:ln w="34925">
            <a:solidFill>
              <a:srgbClr val="1B2A4A"/>
            </a:solidFill>
            <a:prstDash val="solid"/>
          </a:ln>
        </p:spPr>
      </p:sp>
      <p:sp>
        <p:nvSpPr>
          <p:cNvPr id="9" name="Shape 7"/>
          <p:cNvSpPr/>
          <p:nvPr/>
        </p:nvSpPr>
        <p:spPr>
          <a:xfrm>
            <a:off x="2170535" y="1669945"/>
            <a:ext cx="413810" cy="85703"/>
          </a:xfrm>
          <a:custGeom>
            <a:avLst/>
            <a:gdLst/>
            <a:ahLst/>
            <a:cxnLst/>
            <a:rect l="l" t="t" r="r" b="b"/>
            <a:pathLst>
              <a:path w="413810" h="85703">
                <a:moveTo>
                  <a:pt x="0" y="0"/>
                </a:moveTo>
                <a:lnTo>
                  <a:pt x="13975" y="13089"/>
                </a:lnTo>
                <a:lnTo>
                  <a:pt x="28777" y="25236"/>
                </a:lnTo>
                <a:lnTo>
                  <a:pt x="44341" y="36390"/>
                </a:lnTo>
                <a:lnTo>
                  <a:pt x="60601" y="46501"/>
                </a:lnTo>
                <a:lnTo>
                  <a:pt x="77488" y="55527"/>
                </a:lnTo>
                <a:lnTo>
                  <a:pt x="94929" y="63429"/>
                </a:lnTo>
                <a:lnTo>
                  <a:pt x="112849" y="70174"/>
                </a:lnTo>
                <a:lnTo>
                  <a:pt x="131173" y="75733"/>
                </a:lnTo>
                <a:lnTo>
                  <a:pt x="149820" y="80081"/>
                </a:lnTo>
                <a:lnTo>
                  <a:pt x="168712" y="83200"/>
                </a:lnTo>
                <a:lnTo>
                  <a:pt x="187768" y="85076"/>
                </a:lnTo>
                <a:lnTo>
                  <a:pt x="206905" y="85703"/>
                </a:lnTo>
                <a:lnTo>
                  <a:pt x="226043" y="85076"/>
                </a:lnTo>
                <a:lnTo>
                  <a:pt x="245098" y="83200"/>
                </a:lnTo>
                <a:lnTo>
                  <a:pt x="263990" y="80081"/>
                </a:lnTo>
                <a:lnTo>
                  <a:pt x="282638" y="75733"/>
                </a:lnTo>
                <a:lnTo>
                  <a:pt x="300961" y="70174"/>
                </a:lnTo>
                <a:lnTo>
                  <a:pt x="318881" y="63429"/>
                </a:lnTo>
                <a:lnTo>
                  <a:pt x="336322" y="55527"/>
                </a:lnTo>
                <a:lnTo>
                  <a:pt x="353209" y="46501"/>
                </a:lnTo>
                <a:lnTo>
                  <a:pt x="369469" y="36390"/>
                </a:lnTo>
                <a:lnTo>
                  <a:pt x="385034" y="25236"/>
                </a:lnTo>
                <a:lnTo>
                  <a:pt x="399835" y="13089"/>
                </a:lnTo>
                <a:lnTo>
                  <a:pt x="413810" y="0"/>
                </a:lnTo>
              </a:path>
            </a:pathLst>
          </a:custGeom>
          <a:solidFill>
            <a:srgbClr val="FFFFFF">
              <a:alpha val="0"/>
            </a:srgbClr>
          </a:solidFill>
          <a:ln w="31750">
            <a:solidFill>
              <a:srgbClr val="4A3D8F"/>
            </a:solidFill>
            <a:prstDash val="solid"/>
          </a:ln>
        </p:spPr>
      </p:sp>
      <p:sp>
        <p:nvSpPr>
          <p:cNvPr id="10" name="Shape 8"/>
          <p:cNvSpPr/>
          <p:nvPr/>
        </p:nvSpPr>
        <p:spPr>
          <a:xfrm>
            <a:off x="3273552" y="2444855"/>
            <a:ext cx="85703" cy="413810"/>
          </a:xfrm>
          <a:custGeom>
            <a:avLst/>
            <a:gdLst/>
            <a:ahLst/>
            <a:cxnLst/>
            <a:rect l="l" t="t" r="r" b="b"/>
            <a:pathLst>
              <a:path w="85703" h="413810">
                <a:moveTo>
                  <a:pt x="85703" y="0"/>
                </a:moveTo>
                <a:lnTo>
                  <a:pt x="72614" y="13975"/>
                </a:lnTo>
                <a:lnTo>
                  <a:pt x="60466" y="28777"/>
                </a:lnTo>
                <a:lnTo>
                  <a:pt x="49313" y="44341"/>
                </a:lnTo>
                <a:lnTo>
                  <a:pt x="39202" y="60601"/>
                </a:lnTo>
                <a:lnTo>
                  <a:pt x="30176" y="77488"/>
                </a:lnTo>
                <a:lnTo>
                  <a:pt x="22273" y="94929"/>
                </a:lnTo>
                <a:lnTo>
                  <a:pt x="15529" y="112849"/>
                </a:lnTo>
                <a:lnTo>
                  <a:pt x="9970" y="131173"/>
                </a:lnTo>
                <a:lnTo>
                  <a:pt x="5622" y="149820"/>
                </a:lnTo>
                <a:lnTo>
                  <a:pt x="2503" y="168712"/>
                </a:lnTo>
                <a:lnTo>
                  <a:pt x="626" y="187768"/>
                </a:lnTo>
                <a:lnTo>
                  <a:pt x="0" y="206905"/>
                </a:lnTo>
                <a:lnTo>
                  <a:pt x="626" y="226043"/>
                </a:lnTo>
                <a:lnTo>
                  <a:pt x="2503" y="245098"/>
                </a:lnTo>
                <a:lnTo>
                  <a:pt x="5622" y="263990"/>
                </a:lnTo>
                <a:lnTo>
                  <a:pt x="9970" y="282638"/>
                </a:lnTo>
                <a:lnTo>
                  <a:pt x="15529" y="300961"/>
                </a:lnTo>
                <a:lnTo>
                  <a:pt x="22273" y="318881"/>
                </a:lnTo>
                <a:lnTo>
                  <a:pt x="30176" y="336322"/>
                </a:lnTo>
                <a:lnTo>
                  <a:pt x="39202" y="353209"/>
                </a:lnTo>
                <a:lnTo>
                  <a:pt x="49313" y="369469"/>
                </a:lnTo>
                <a:lnTo>
                  <a:pt x="60466" y="385034"/>
                </a:lnTo>
                <a:lnTo>
                  <a:pt x="72614" y="399835"/>
                </a:lnTo>
                <a:lnTo>
                  <a:pt x="85703" y="413810"/>
                </a:lnTo>
              </a:path>
            </a:pathLst>
          </a:custGeom>
          <a:solidFill>
            <a:srgbClr val="FFFFFF">
              <a:alpha val="0"/>
            </a:srgbClr>
          </a:solidFill>
          <a:ln w="31750">
            <a:solidFill>
              <a:srgbClr val="4A3D8F"/>
            </a:solidFill>
            <a:prstDash val="solid"/>
          </a:ln>
        </p:spPr>
      </p:sp>
      <p:sp>
        <p:nvSpPr>
          <p:cNvPr id="11" name="Shape 9"/>
          <p:cNvSpPr/>
          <p:nvPr/>
        </p:nvSpPr>
        <p:spPr>
          <a:xfrm>
            <a:off x="2170535" y="3547872"/>
            <a:ext cx="413810" cy="85703"/>
          </a:xfrm>
          <a:custGeom>
            <a:avLst/>
            <a:gdLst/>
            <a:ahLst/>
            <a:cxnLst/>
            <a:rect l="l" t="t" r="r" b="b"/>
            <a:pathLst>
              <a:path w="413810" h="85703">
                <a:moveTo>
                  <a:pt x="413810" y="85703"/>
                </a:moveTo>
                <a:lnTo>
                  <a:pt x="399835" y="72614"/>
                </a:lnTo>
                <a:lnTo>
                  <a:pt x="385034" y="60466"/>
                </a:lnTo>
                <a:lnTo>
                  <a:pt x="369469" y="49313"/>
                </a:lnTo>
                <a:lnTo>
                  <a:pt x="353209" y="39202"/>
                </a:lnTo>
                <a:lnTo>
                  <a:pt x="336322" y="30176"/>
                </a:lnTo>
                <a:lnTo>
                  <a:pt x="318881" y="22273"/>
                </a:lnTo>
                <a:lnTo>
                  <a:pt x="300961" y="15529"/>
                </a:lnTo>
                <a:lnTo>
                  <a:pt x="282638" y="9970"/>
                </a:lnTo>
                <a:lnTo>
                  <a:pt x="263990" y="5622"/>
                </a:lnTo>
                <a:lnTo>
                  <a:pt x="245098" y="2503"/>
                </a:lnTo>
                <a:lnTo>
                  <a:pt x="226043" y="626"/>
                </a:lnTo>
                <a:lnTo>
                  <a:pt x="206905" y="0"/>
                </a:lnTo>
                <a:lnTo>
                  <a:pt x="187768" y="626"/>
                </a:lnTo>
                <a:lnTo>
                  <a:pt x="168712" y="2503"/>
                </a:lnTo>
                <a:lnTo>
                  <a:pt x="149820" y="5622"/>
                </a:lnTo>
                <a:lnTo>
                  <a:pt x="131173" y="9970"/>
                </a:lnTo>
                <a:lnTo>
                  <a:pt x="112849" y="15529"/>
                </a:lnTo>
                <a:lnTo>
                  <a:pt x="94929" y="22273"/>
                </a:lnTo>
                <a:lnTo>
                  <a:pt x="77488" y="30176"/>
                </a:lnTo>
                <a:lnTo>
                  <a:pt x="60601" y="39202"/>
                </a:lnTo>
                <a:lnTo>
                  <a:pt x="44341" y="49313"/>
                </a:lnTo>
                <a:lnTo>
                  <a:pt x="28777" y="60466"/>
                </a:lnTo>
                <a:lnTo>
                  <a:pt x="13975" y="72614"/>
                </a:lnTo>
                <a:lnTo>
                  <a:pt x="0" y="85703"/>
                </a:lnTo>
              </a:path>
            </a:pathLst>
          </a:custGeom>
          <a:solidFill>
            <a:srgbClr val="FFFFFF">
              <a:alpha val="0"/>
            </a:srgbClr>
          </a:solidFill>
          <a:ln w="31750">
            <a:solidFill>
              <a:srgbClr val="4A3D8F"/>
            </a:solidFill>
            <a:prstDash val="solid"/>
          </a:ln>
        </p:spPr>
      </p:sp>
      <p:sp>
        <p:nvSpPr>
          <p:cNvPr id="12" name="Shape 10"/>
          <p:cNvSpPr/>
          <p:nvPr/>
        </p:nvSpPr>
        <p:spPr>
          <a:xfrm>
            <a:off x="1395625" y="2444855"/>
            <a:ext cx="85703" cy="413810"/>
          </a:xfrm>
          <a:custGeom>
            <a:avLst/>
            <a:gdLst/>
            <a:ahLst/>
            <a:cxnLst/>
            <a:rect l="l" t="t" r="r" b="b"/>
            <a:pathLst>
              <a:path w="85703" h="413810">
                <a:moveTo>
                  <a:pt x="0" y="413810"/>
                </a:moveTo>
                <a:lnTo>
                  <a:pt x="13089" y="399835"/>
                </a:lnTo>
                <a:lnTo>
                  <a:pt x="25236" y="385034"/>
                </a:lnTo>
                <a:lnTo>
                  <a:pt x="36390" y="369469"/>
                </a:lnTo>
                <a:lnTo>
                  <a:pt x="46501" y="353209"/>
                </a:lnTo>
                <a:lnTo>
                  <a:pt x="55527" y="336322"/>
                </a:lnTo>
                <a:lnTo>
                  <a:pt x="63429" y="318881"/>
                </a:lnTo>
                <a:lnTo>
                  <a:pt x="70174" y="300961"/>
                </a:lnTo>
                <a:lnTo>
                  <a:pt x="75733" y="282638"/>
                </a:lnTo>
                <a:lnTo>
                  <a:pt x="80081" y="263990"/>
                </a:lnTo>
                <a:lnTo>
                  <a:pt x="83200" y="245098"/>
                </a:lnTo>
                <a:lnTo>
                  <a:pt x="85076" y="226043"/>
                </a:lnTo>
                <a:lnTo>
                  <a:pt x="85703" y="206905"/>
                </a:lnTo>
                <a:lnTo>
                  <a:pt x="85076" y="187768"/>
                </a:lnTo>
                <a:lnTo>
                  <a:pt x="83200" y="168712"/>
                </a:lnTo>
                <a:lnTo>
                  <a:pt x="80081" y="149820"/>
                </a:lnTo>
                <a:lnTo>
                  <a:pt x="75733" y="131173"/>
                </a:lnTo>
                <a:lnTo>
                  <a:pt x="70174" y="112849"/>
                </a:lnTo>
                <a:lnTo>
                  <a:pt x="63429" y="94929"/>
                </a:lnTo>
                <a:lnTo>
                  <a:pt x="55527" y="77488"/>
                </a:lnTo>
                <a:lnTo>
                  <a:pt x="46501" y="60601"/>
                </a:lnTo>
                <a:lnTo>
                  <a:pt x="36390" y="44341"/>
                </a:lnTo>
                <a:lnTo>
                  <a:pt x="25236" y="28777"/>
                </a:lnTo>
                <a:lnTo>
                  <a:pt x="13089" y="13975"/>
                </a:lnTo>
                <a:lnTo>
                  <a:pt x="0" y="0"/>
                </a:lnTo>
              </a:path>
            </a:pathLst>
          </a:custGeom>
          <a:solidFill>
            <a:srgbClr val="FFFFFF">
              <a:alpha val="0"/>
            </a:srgbClr>
          </a:solidFill>
          <a:ln w="31750">
            <a:solidFill>
              <a:srgbClr val="4A3D8F"/>
            </a:solidFill>
            <a:prstDash val="solid"/>
          </a:ln>
        </p:spPr>
      </p:sp>
      <p:sp>
        <p:nvSpPr>
          <p:cNvPr id="13" name="Text 11"/>
          <p:cNvSpPr/>
          <p:nvPr/>
        </p:nvSpPr>
        <p:spPr>
          <a:xfrm>
            <a:off x="2662854" y="1726266"/>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14" name="Text 12"/>
          <p:cNvSpPr/>
          <p:nvPr/>
        </p:nvSpPr>
        <p:spPr>
          <a:xfrm>
            <a:off x="2662854" y="3302934"/>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15" name="Text 13"/>
          <p:cNvSpPr/>
          <p:nvPr/>
        </p:nvSpPr>
        <p:spPr>
          <a:xfrm>
            <a:off x="1086186" y="3302934"/>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16" name="Text 14"/>
          <p:cNvSpPr/>
          <p:nvPr/>
        </p:nvSpPr>
        <p:spPr>
          <a:xfrm>
            <a:off x="1086186" y="1726266"/>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4 cm</a:t>
            </a:r>
            <a:endParaRPr lang="en-US" sz="1200" dirty="0"/>
          </a:p>
        </p:txBody>
      </p:sp>
      <p:sp>
        <p:nvSpPr>
          <p:cNvPr id="17" name="Shape 15"/>
          <p:cNvSpPr/>
          <p:nvPr/>
        </p:nvSpPr>
        <p:spPr>
          <a:xfrm>
            <a:off x="2331720" y="1417320"/>
            <a:ext cx="91440" cy="91440"/>
          </a:xfrm>
          <a:prstGeom prst="ellipse">
            <a:avLst/>
          </a:prstGeom>
          <a:solidFill>
            <a:srgbClr val="1B2A4A"/>
          </a:solidFill>
          <a:ln w="9525">
            <a:solidFill>
              <a:srgbClr val="FFFFFF"/>
            </a:solidFill>
            <a:prstDash val="solid"/>
          </a:ln>
        </p:spPr>
      </p:sp>
      <p:sp>
        <p:nvSpPr>
          <p:cNvPr id="18" name="Shape 16"/>
          <p:cNvSpPr/>
          <p:nvPr/>
        </p:nvSpPr>
        <p:spPr>
          <a:xfrm>
            <a:off x="3520440" y="2606040"/>
            <a:ext cx="91440" cy="91440"/>
          </a:xfrm>
          <a:prstGeom prst="ellipse">
            <a:avLst/>
          </a:prstGeom>
          <a:solidFill>
            <a:srgbClr val="1B2A4A"/>
          </a:solidFill>
          <a:ln w="9525">
            <a:solidFill>
              <a:srgbClr val="FFFFFF"/>
            </a:solidFill>
            <a:prstDash val="solid"/>
          </a:ln>
        </p:spPr>
      </p:sp>
      <p:sp>
        <p:nvSpPr>
          <p:cNvPr id="19" name="Shape 17"/>
          <p:cNvSpPr/>
          <p:nvPr/>
        </p:nvSpPr>
        <p:spPr>
          <a:xfrm>
            <a:off x="2331720" y="3794760"/>
            <a:ext cx="91440" cy="91440"/>
          </a:xfrm>
          <a:prstGeom prst="ellipse">
            <a:avLst/>
          </a:prstGeom>
          <a:solidFill>
            <a:srgbClr val="1B2A4A"/>
          </a:solidFill>
          <a:ln w="9525">
            <a:solidFill>
              <a:srgbClr val="FFFFFF"/>
            </a:solidFill>
            <a:prstDash val="solid"/>
          </a:ln>
        </p:spPr>
      </p:sp>
      <p:sp>
        <p:nvSpPr>
          <p:cNvPr id="20" name="Shape 18"/>
          <p:cNvSpPr/>
          <p:nvPr/>
        </p:nvSpPr>
        <p:spPr>
          <a:xfrm>
            <a:off x="1143000" y="2606040"/>
            <a:ext cx="91440" cy="91440"/>
          </a:xfrm>
          <a:prstGeom prst="ellipse">
            <a:avLst/>
          </a:prstGeom>
          <a:solidFill>
            <a:srgbClr val="1B2A4A"/>
          </a:solidFill>
          <a:ln w="9525">
            <a:solidFill>
              <a:srgbClr val="FFFFFF"/>
            </a:solidFill>
            <a:prstDash val="solid"/>
          </a:ln>
        </p:spPr>
      </p:sp>
      <p:sp>
        <p:nvSpPr>
          <p:cNvPr id="21" name="Shape 19"/>
          <p:cNvSpPr/>
          <p:nvPr/>
        </p:nvSpPr>
        <p:spPr>
          <a:xfrm>
            <a:off x="4663440" y="1325880"/>
            <a:ext cx="3931920" cy="2834640"/>
          </a:xfrm>
          <a:prstGeom prst="roundRect">
            <a:avLst>
              <a:gd name="adj" fmla="val 3226"/>
            </a:avLst>
          </a:prstGeom>
          <a:solidFill>
            <a:srgbClr val="FFFFFF"/>
          </a:solidFill>
          <a:ln w="6350">
            <a:solidFill>
              <a:srgbClr val="DDDDEE"/>
            </a:solidFill>
            <a:prstDash val="solid"/>
          </a:ln>
        </p:spPr>
      </p:sp>
      <p:sp>
        <p:nvSpPr>
          <p:cNvPr id="22" name="Text 20"/>
          <p:cNvSpPr/>
          <p:nvPr/>
        </p:nvSpPr>
        <p:spPr>
          <a:xfrm>
            <a:off x="4892040" y="1417320"/>
            <a:ext cx="3474720" cy="914400"/>
          </a:xfrm>
          <a:prstGeom prst="rect">
            <a:avLst/>
          </a:prstGeom>
          <a:noFill/>
          <a:ln/>
        </p:spPr>
        <p:txBody>
          <a:bodyPr wrap="square" lIns="0" tIns="0" rIns="0" bIns="0" rtlCol="0" anchor="ctr"/>
          <a:lstStyle/>
          <a:p>
            <a:pPr indent="0" marL="0">
              <a:buNone/>
            </a:pPr>
            <a:r>
              <a:rPr lang="en-US" sz="1350" b="1" dirty="0">
                <a:solidFill>
                  <a:srgbClr val="1A1A2E"/>
                </a:solidFill>
                <a:latin typeface="Cambria" pitchFamily="34" charset="0"/>
                <a:ea typeface="Cambria" pitchFamily="34" charset="-122"/>
                <a:cs typeface="Cambria" pitchFamily="34" charset="-120"/>
              </a:rPr>
              <a:t>A quadrilateral has two pairs of parallel sides, all four sides equal, but no right angles.</a:t>
            </a:r>
            <a:endParaRPr lang="en-US" sz="1350" dirty="0"/>
          </a:p>
        </p:txBody>
      </p:sp>
      <p:sp>
        <p:nvSpPr>
          <p:cNvPr id="23" name="Text 21"/>
          <p:cNvSpPr/>
          <p:nvPr/>
        </p:nvSpPr>
        <p:spPr>
          <a:xfrm>
            <a:off x="4892040" y="2423160"/>
            <a:ext cx="3474720" cy="685800"/>
          </a:xfrm>
          <a:prstGeom prst="rect">
            <a:avLst/>
          </a:prstGeom>
          <a:noFill/>
          <a:ln/>
        </p:spPr>
        <p:txBody>
          <a:bodyPr wrap="square" lIns="0" tIns="0" rIns="0" bIns="0" rtlCol="0" anchor="ctr"/>
          <a:lstStyle/>
          <a:p>
            <a:pPr indent="0" marL="0">
              <a:buNone/>
            </a:pPr>
            <a:r>
              <a:rPr lang="en-US" sz="1250" i="1" dirty="0">
                <a:solidFill>
                  <a:srgbClr val="5A5A7A"/>
                </a:solidFill>
                <a:latin typeface="Cambria" pitchFamily="34" charset="0"/>
                <a:ea typeface="Cambria" pitchFamily="34" charset="-122"/>
                <a:cs typeface="Cambria" pitchFamily="34" charset="-120"/>
              </a:rPr>
              <a:t>Name the shape. Then tell whether it is also a parallelogram, and why.</a:t>
            </a:r>
            <a:endParaRPr lang="en-US" sz="1250" dirty="0"/>
          </a:p>
        </p:txBody>
      </p:sp>
      <p:sp>
        <p:nvSpPr>
          <p:cNvPr id="24" name="Shape 22"/>
          <p:cNvSpPr/>
          <p:nvPr/>
        </p:nvSpPr>
        <p:spPr>
          <a:xfrm>
            <a:off x="502920" y="4251960"/>
            <a:ext cx="8138160" cy="438912"/>
          </a:xfrm>
          <a:prstGeom prst="roundRect">
            <a:avLst>
              <a:gd name="adj" fmla="val 12500"/>
            </a:avLst>
          </a:prstGeom>
          <a:solidFill>
            <a:srgbClr val="464EB8"/>
          </a:solidFill>
          <a:ln w="12700">
            <a:solidFill>
              <a:srgbClr val="464EB8"/>
            </a:solidFill>
            <a:prstDash val="solid"/>
          </a:ln>
        </p:spPr>
      </p:sp>
      <p:sp>
        <p:nvSpPr>
          <p:cNvPr id="25" name="Text 23"/>
          <p:cNvSpPr/>
          <p:nvPr/>
        </p:nvSpPr>
        <p:spPr>
          <a:xfrm>
            <a:off x="502920" y="4251960"/>
            <a:ext cx="81381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shape's name AND yes/no whether it's a parallelogram, with your reason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Reasoning: Is Every Square a Rectangle?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Extend the Rule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97280"/>
            <a:ext cx="8229600" cy="1371600"/>
          </a:xfrm>
          <a:prstGeom prst="roundRect">
            <a:avLst>
              <a:gd name="adj" fmla="val 6667"/>
            </a:avLst>
          </a:prstGeom>
          <a:solidFill>
            <a:srgbClr val="EAE8F5"/>
          </a:solidFill>
          <a:ln w="6350">
            <a:solidFill>
              <a:srgbClr val="DDDDEE"/>
            </a:solidFill>
            <a:prstDash val="solid"/>
          </a:ln>
        </p:spPr>
      </p:sp>
      <p:sp>
        <p:nvSpPr>
          <p:cNvPr id="7" name="Text 5"/>
          <p:cNvSpPr/>
          <p:nvPr/>
        </p:nvSpPr>
        <p:spPr>
          <a:xfrm>
            <a:off x="685800" y="1234440"/>
            <a:ext cx="7772400" cy="1097280"/>
          </a:xfrm>
          <a:prstGeom prst="rect">
            <a:avLst/>
          </a:prstGeom>
          <a:noFill/>
          <a:ln/>
        </p:spPr>
        <p:txBody>
          <a:bodyPr wrap="square" lIns="0" tIns="0" rIns="0" bIns="0" rtlCol="0" anchor="ctr"/>
          <a:lstStyle/>
          <a:p>
            <a:pPr indent="0" marL="0">
              <a:buNone/>
            </a:pPr>
            <a:r>
              <a:rPr lang="en-US" sz="1700" b="1" dirty="0">
                <a:solidFill>
                  <a:srgbClr val="4A3D8F"/>
                </a:solidFill>
                <a:latin typeface="Cambria" pitchFamily="34" charset="0"/>
                <a:ea typeface="Cambria" pitchFamily="34" charset="-122"/>
                <a:cs typeface="Cambria" pitchFamily="34" charset="-120"/>
              </a:rPr>
              <a:t>Sophia says every square is a rectangle, but not every rectangle is a square. Is she correct?</a:t>
            </a:r>
            <a:endParaRPr lang="en-US" sz="1700" dirty="0"/>
          </a:p>
        </p:txBody>
      </p:sp>
      <p:sp>
        <p:nvSpPr>
          <p:cNvPr id="8" name="Shape 6"/>
          <p:cNvSpPr/>
          <p:nvPr/>
        </p:nvSpPr>
        <p:spPr>
          <a:xfrm>
            <a:off x="457200" y="2651760"/>
            <a:ext cx="8229600" cy="1280160"/>
          </a:xfrm>
          <a:prstGeom prst="roundRect">
            <a:avLst>
              <a:gd name="adj" fmla="val 7143"/>
            </a:avLst>
          </a:prstGeom>
          <a:solidFill>
            <a:srgbClr val="FFFFFF"/>
          </a:solidFill>
          <a:ln w="6350">
            <a:solidFill>
              <a:srgbClr val="DDDDEE"/>
            </a:solidFill>
            <a:prstDash val="solid"/>
          </a:ln>
        </p:spPr>
      </p:sp>
      <p:sp>
        <p:nvSpPr>
          <p:cNvPr id="9" name="Text 7"/>
          <p:cNvSpPr/>
          <p:nvPr/>
        </p:nvSpPr>
        <p:spPr>
          <a:xfrm>
            <a:off x="685800" y="2743200"/>
            <a:ext cx="7772400" cy="1097280"/>
          </a:xfrm>
          <a:prstGeom prst="rect">
            <a:avLst/>
          </a:prstGeom>
          <a:noFill/>
          <a:ln/>
        </p:spPr>
        <p:txBody>
          <a:bodyPr wrap="square" lIns="0" tIns="0" rIns="0" bIns="0" rtlCol="0" anchor="ctr"/>
          <a:lstStyle/>
          <a:p>
            <a:pPr indent="0" marL="0">
              <a:buNone/>
            </a:pPr>
            <a:r>
              <a:rPr lang="en-US" sz="1400" i="1" dirty="0">
                <a:solidFill>
                  <a:srgbClr val="5A5A7A"/>
                </a:solidFill>
                <a:latin typeface="Cambria" pitchFamily="34" charset="0"/>
                <a:ea typeface="Cambria" pitchFamily="34" charset="-122"/>
                <a:cs typeface="Cambria" pitchFamily="34" charset="-120"/>
              </a:rPr>
              <a:t>Think about it: a rectangle needs four right angles. A square needs four right angles AND four equal sides. Which shape has more requirements to meet?</a:t>
            </a:r>
            <a:endParaRPr lang="en-US" sz="1400" dirty="0"/>
          </a:p>
        </p:txBody>
      </p:sp>
      <p:sp>
        <p:nvSpPr>
          <p:cNvPr id="10" name="Shape 8"/>
          <p:cNvSpPr/>
          <p:nvPr/>
        </p:nvSpPr>
        <p:spPr>
          <a:xfrm>
            <a:off x="822960" y="4160520"/>
            <a:ext cx="749808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822960" y="4160520"/>
            <a:ext cx="749808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yes or no, plus your reason using the word square or rectangle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What's Next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280160"/>
            <a:ext cx="8229600" cy="2194560"/>
          </a:xfrm>
          <a:prstGeom prst="roundRect">
            <a:avLst>
              <a:gd name="adj" fmla="val 4167"/>
            </a:avLst>
          </a:prstGeom>
          <a:solidFill>
            <a:srgbClr val="EAE8F5"/>
          </a:solidFill>
          <a:ln w="6350">
            <a:solidFill>
              <a:srgbClr val="DDDDEE"/>
            </a:solidFill>
            <a:prstDash val="solid"/>
          </a:ln>
        </p:spPr>
      </p:sp>
      <p:sp>
        <p:nvSpPr>
          <p:cNvPr id="7" name="Text 5"/>
          <p:cNvSpPr/>
          <p:nvPr/>
        </p:nvSpPr>
        <p:spPr>
          <a:xfrm>
            <a:off x="685800" y="1463040"/>
            <a:ext cx="7772400" cy="91440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You can now classify any quadrilateral by counting its parallel sides, equal sides, and right angles.</a:t>
            </a:r>
            <a:endParaRPr lang="en-US" sz="1600" dirty="0"/>
          </a:p>
        </p:txBody>
      </p:sp>
      <p:sp>
        <p:nvSpPr>
          <p:cNvPr id="8" name="Text 6"/>
          <p:cNvSpPr/>
          <p:nvPr/>
        </p:nvSpPr>
        <p:spPr>
          <a:xfrm>
            <a:off x="685800" y="2468880"/>
            <a:ext cx="7772400" cy="9144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Next lesson, you'll look at the angles inside every quadrilateral and discover why they always add up to exactly 360°.</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A quadrilateral has four equal sides and no right angles. What is it?</a:t>
            </a:r>
            <a:endParaRPr lang="en-US" sz="2000" dirty="0"/>
          </a:p>
        </p:txBody>
      </p:sp>
      <p:sp>
        <p:nvSpPr>
          <p:cNvPr id="8" name="Shape 6"/>
          <p:cNvSpPr/>
          <p:nvPr/>
        </p:nvSpPr>
        <p:spPr>
          <a:xfrm>
            <a:off x="548640" y="2103120"/>
            <a:ext cx="182880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5486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Square</a:t>
            </a:r>
            <a:endParaRPr lang="en-US" sz="2000" dirty="0"/>
          </a:p>
        </p:txBody>
      </p:sp>
      <p:sp>
        <p:nvSpPr>
          <p:cNvPr id="10" name="Shape 8"/>
          <p:cNvSpPr/>
          <p:nvPr/>
        </p:nvSpPr>
        <p:spPr>
          <a:xfrm>
            <a:off x="251460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5146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Rectangle</a:t>
            </a:r>
            <a:endParaRPr lang="en-US" sz="2000" dirty="0"/>
          </a:p>
        </p:txBody>
      </p:sp>
      <p:sp>
        <p:nvSpPr>
          <p:cNvPr id="12" name="Shape 10"/>
          <p:cNvSpPr/>
          <p:nvPr/>
        </p:nvSpPr>
        <p:spPr>
          <a:xfrm>
            <a:off x="4480560" y="2103120"/>
            <a:ext cx="182880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48056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Rhombus</a:t>
            </a:r>
            <a:endParaRPr lang="en-US" sz="2000" dirty="0"/>
          </a:p>
        </p:txBody>
      </p:sp>
      <p:sp>
        <p:nvSpPr>
          <p:cNvPr id="14" name="Shape 12"/>
          <p:cNvSpPr/>
          <p:nvPr/>
        </p:nvSpPr>
        <p:spPr>
          <a:xfrm>
            <a:off x="644652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44652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Trapezoid</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 choice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A quadrilateral has four equal sides and no right angles. What is it?</a:t>
            </a:r>
            <a:endParaRPr lang="en-US" sz="2000" dirty="0"/>
          </a:p>
        </p:txBody>
      </p:sp>
      <p:sp>
        <p:nvSpPr>
          <p:cNvPr id="8" name="Shape 6"/>
          <p:cNvSpPr/>
          <p:nvPr/>
        </p:nvSpPr>
        <p:spPr>
          <a:xfrm>
            <a:off x="548640" y="2103120"/>
            <a:ext cx="182880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5486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Square</a:t>
            </a:r>
            <a:endParaRPr lang="en-US" sz="2000" dirty="0"/>
          </a:p>
        </p:txBody>
      </p:sp>
      <p:sp>
        <p:nvSpPr>
          <p:cNvPr id="10" name="Shape 8"/>
          <p:cNvSpPr/>
          <p:nvPr/>
        </p:nvSpPr>
        <p:spPr>
          <a:xfrm>
            <a:off x="251460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5146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Rectangle</a:t>
            </a:r>
            <a:endParaRPr lang="en-US" sz="2000" dirty="0"/>
          </a:p>
        </p:txBody>
      </p:sp>
      <p:sp>
        <p:nvSpPr>
          <p:cNvPr id="12" name="Shape 10"/>
          <p:cNvSpPr/>
          <p:nvPr/>
        </p:nvSpPr>
        <p:spPr>
          <a:xfrm>
            <a:off x="4480560" y="2103120"/>
            <a:ext cx="1828800" cy="822960"/>
          </a:xfrm>
          <a:prstGeom prst="roundRect">
            <a:avLst>
              <a:gd name="adj" fmla="val 8889"/>
            </a:avLst>
          </a:prstGeom>
          <a:solidFill>
            <a:srgbClr val="2E6E44"/>
          </a:solidFill>
          <a:ln w="12700">
            <a:solidFill>
              <a:srgbClr val="2E6E44"/>
            </a:solidFill>
            <a:prstDash val="solid"/>
          </a:ln>
        </p:spPr>
      </p:sp>
      <p:sp>
        <p:nvSpPr>
          <p:cNvPr id="13" name="Text 11"/>
          <p:cNvSpPr/>
          <p:nvPr/>
        </p:nvSpPr>
        <p:spPr>
          <a:xfrm>
            <a:off x="4480560" y="2103120"/>
            <a:ext cx="1828800" cy="822960"/>
          </a:xfrm>
          <a:prstGeom prst="rect">
            <a:avLst/>
          </a:prstGeom>
          <a:noFill/>
          <a:ln/>
        </p:spPr>
        <p:txBody>
          <a:bodyPr wrap="square" lIns="0" tIns="0" rIns="0" bIns="0" rtlCol="0" anchor="ctr"/>
          <a:lstStyle/>
          <a:p>
            <a:pPr algn="ctr" indent="0" marL="0">
              <a:buNone/>
            </a:pPr>
            <a:r>
              <a:rPr lang="en-US" sz="2000" b="1" dirty="0">
                <a:solidFill>
                  <a:srgbClr val="FFFFFF"/>
                </a:solidFill>
              </a:rPr>
              <a:t>Rhombus</a:t>
            </a:r>
            <a:endParaRPr lang="en-US" sz="2000" dirty="0"/>
          </a:p>
        </p:txBody>
      </p:sp>
      <p:sp>
        <p:nvSpPr>
          <p:cNvPr id="14" name="Shape 12"/>
          <p:cNvSpPr/>
          <p:nvPr/>
        </p:nvSpPr>
        <p:spPr>
          <a:xfrm>
            <a:off x="644652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44652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Trapezoid</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All four sides are equal, but without right angles it cannot be a square — that exact combination of properties names a rhombus.</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 choice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number of equal sides and the number of right angles are two separate checks — I count each one on its own before I ever say a shape's name.</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test 'is it a parallelogram' by checking that BOTH pairs of opposite sides are parallel at once — if even one pair fails, it can't be a parallelogram, no matter how it looks.</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a rhombus as a square that got pushed sideways — the four side lengths stay exactly the same, but the square corners disappear.</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words matter here: a square meets every requirement for a rectangle AND every requirement for a rhombus at the same time, so it earns both names.</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for Lesson 5.11.05.</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both Show What You Know checks if you haven't already.</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tomorrow's lesson: Angles of Quadrilaterals, Part 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5.11.05 Classifying Quadrilaterals — Teacher Slides</dc:title>
  <dc:subject>PptxGenJS Presentation</dc:subject>
  <dc:creator>PptxGenJS</dc:creator>
  <cp:lastModifiedBy>PptxGenJS</cp:lastModifiedBy>
  <cp:revision>1</cp:revision>
  <dcterms:created xsi:type="dcterms:W3CDTF">2026-09-24T19:27:33Z</dcterms:created>
  <dcterms:modified xsi:type="dcterms:W3CDTF">2026-09-24T19:27:33Z</dcterms:modified>
</cp:coreProperties>
</file>