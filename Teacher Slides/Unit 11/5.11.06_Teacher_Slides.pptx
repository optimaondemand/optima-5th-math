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equation. Give 60 seconds of silent think time. Ask for a thumbs show (true/false/not sure)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equation. Give 60 seconds of silent think time. Ask for a thumbs show (true/false/not sure)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verified rule. Have 2-3 students paraphrase it out loud before moving on -- keep the chat response to a single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verified rule. Have 2-3 students paraphrase it out loud before moving on -- keep the chat response to a single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Name today's lesson: angles of quadrilaterals. Students just finished classifying quadrilaterals by their sides and angles (Lesson 5) -- today they discover the number the four angles always add up to.
Transition: "Let's see what we're aiming for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NOTE: the source HTML's Fluency Warm-Up section was stale copy-paste from an unrelated fractions lesson (finding a common denominator for pairs of fractions) and the Turn-In Checklist referenced 'place-value words,' which also doesn't belong to this geometry lesson. The Learn-tab content itself (the two visual proofs: diagonal-into-two-triangles, and four angles around a full turn) matched this lesson's real title. This Goal slide and the Warm-Up slide were written fresh from the lesson's own real content, not lifted from the HTML's broken sections.
Read the I Can statement aloud. Emphasize: this works for EVERY quadrilateral, no matter its shape.
Transition: "Before we split any quadrilaterals, let's warm up with what we already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Question 1 reviews Lesson 4's triangle angle sum (180°): 50 + 70 = 120, 180 - 120 = 60. Questions 2-3 review Lesson 5's quadrilateral classification and the fact that quadrilaterals come in many different angle combinations.
Anticipated: 60°; rectangle; false.
Common error: on Q3, students may think 'quadrilateral' implies a square-like shape with equal angles -- remind them a quadrilateral is just any four-sided, four-angled shape.
Transition: "Today we find out something true about the angles in EVERY quadrilateral, no matter the shape."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(1-2 min)
Frame the real-world stakes: surveyors, architects, and builders rely on angle-sum rules to check a shape's last corner without measuring every single one.
Anticipated: mixed guesses -- some students will intuit that three known angles are enough, since they saw this pattern with triangles.
Transition: "Let's find out exactly why three known angles are always enough to find the fourth."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Show a plain quadrilateral with one diagonal drawn (no measures given yet). Ask what students notice about the two triangles, then what they wonder about the quadrilateral's total angle sum.
Anticipated notice: the diagonal makes two triangles; the four original corners are now split between them.
Anticipated wonder: does the quadrilateral's angle sum connect to the 180° they already know from triangles?
Transition: "Let's physically look at those two triangles and add up what they give 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(4-5 min) -- THE KEY MOMENT OF THE LESSON
This is a physical, spatial demonstration, not a stated fact. Draw one diagonal across the quadrilateral and point out it splits into two real triangles -- the violet triangle and the green triangle. Each triangle keeps ALL the interior angle rules from Lesson 4: its three angles always add up to 180 degrees.
Emphasize: the four original corners of the quadrilateral are still all there -- the diagonal just groups them into two triangles, and two of the original corners (where the diagonal lands) each get split between the two triangles.
Anticipated: 'because every quadrilateral has exactly one diagonal you can draw between two corners that aren't already connected by a side.'
Common error: students think splitting the shape changes the total angle amount -- reinforce that nothing was added or removed, the corners were only regrouped into two triangles.
Transition: "Now let's see the same idea drawn as one diagram, with an equation."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(3-4 min)
Same idea, now as a labeled diagram with an equation instead of physical triangles. Three angles are given (100°, 80°, 95°); the fourth is marked with a question mark.
Work the equation together: 100 + 80 + 95 = 275; 360 - 275 = 85.
Anticipated: 85°.
Common error: adding all three given numbers and stopping there, or subtracting from 180° instead of 360°.
Transition: "Let's put that into words as a rule we can use for any quadrilateral."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Name the rule in words -- no letter variables. Have 2-3 students paraphrase it out loud in their own words before moving on.
Common error: some students will want to write it as a formula with letters -- redirect to 'the three known angles' and 'the missing angle,' spelled out.
Transition: "Let's put a few precise words to today's new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card. Point to today's quadrilateral diagram whenever a term applies -- e.g., point to the diagonal line for 'diagonal,' point to one corner arc for 'interior angle.'
Common error: students confuse 'diagonal' with just any slanted side -- a diagonal connects two corners, it is never one of the shape's own sides.
Transition: "Now let's use these words while we solve a few problems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(3 min)
Work this step by step at the board: add the three known angles first (85 + 110 + 95 = 290), then subtract from 360 (360 - 290 = 70).
Anticipated: students who add all four first (including the missing one) will land on 360 automatically once it's included -- use that as a built-in self-check.
Common error: subtracting each angle from 360 separately instead of adding them together first.
Transition: "Now let's try a special quadrilateral where every angle is already the same."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Special case: every angle is already known because a rectangle's definition guarantees four right angles. Same rule still applies -- four 90° angles add up to 360°, so the rule holds even here.
Anticipated: 90° each; 4 × 90° = 360°.
Common error: students think a rectangle is a special exception to the 360° rule instead of realizing it's just one example that fits it perfectly.
Transition: "Now let's try a quadrilateral where the angles aren't all equal, but they still follow a pattern."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C (3-4 min) -- this closes a gap the Independent Practice tests directly.
Different shortcut this time: opposite angles in a parallelogram are always equal, and angles next to each other are always supplementary (they add to 180°). Confirm the total still works: 65 + 115 + 65 + 115 = 360.
Anticipated: 65°, 115°, 65°, 115°.
Common error: assuming ALL four angles are equal, like in a rectangle -- a parallelogram only guarantees opposite angles match.
Transition: "One more special case -- what if the angles are described as multiples of a mystery amount?"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D (3-4 min) -- this closes a second Independent Practice gap.
No letter variables here: describe the angles in words as 'the mystery angle,' 'twice the mystery angle,' and 'three times the mystery angle.' Combine them as 6 total groups of the same mystery amount, then use the 360° rule exactly like before.
Anticipated: mystery angle = 50°; angles are 50°, 100°, 150°, 60°.
Common error: stopping at 300° and forgetting to divide by 6 to find one mystery angle's value.
Transition: "Now it's your turn to try one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independently: 82 + 97 + 104 = 283; 360 - 283 = 77.
Give real think time before revealing. Cold-call 1-2 students to explain their steps out loud and confirm Atlas's shortcut is always true, for any quadrilateral.
Anticipated: 77°; yes, the shortcut always works because all quadrilaterals' angles sum to 360°.
Common error: adding all three given numbers correctly but then forgetting to subtract from 360 as the final step.
Transition: "Let's look ahead to where this idea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Today's quadrilateral angle-sum rule (360°) sets up Lesson 7 (Angles of Quadrilaterals Part 2), which builds on today's idea with more complex missing-angle problems.
Transition: "Let's check what you've got before we wrap 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Give real think time before revealing. This mirrors Guided Practice A's method exactly -- add the three known angles, subtract from 360.
Common error: choosing 280° (the sum of the three given angles, not the missing 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Give real think time before revealing. This mirrors Guided Practice A's method exactly -- add the three known angles, subtract from 360.
Common error: choosing 280° (the sum of the three given angles, not the missing 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Remind students the Independent Practice includes a rectangle case, a parallelogram case, and a mystery-angle case -- all covered today.
End of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5.11.06 · Decimal Division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÷ 0.6 = 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÷ 0.6 asks how many 0.6s fit inside 3.6.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0.6 = 3.6, so exactly 6 groups fit.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a number less than 1 gives an answer larger than 3.6.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expect a small answer since 0.6 looks like a small number.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dividing by less than 1 always makes the result bigger, not smaller.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÷ 0.6 is not 0.6 — that would be dividing in the wrong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you divide by a decimal less than 1, the answer gets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a decimal less than 1 always gives a quotient larger than the number you started with.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÷ 0.8 = 6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— 6 × 0.8 = 4.8, so 6 groups of 0.8 fit inside 4.8.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5.11.06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 of Quadrilaterals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11: Geometry · Lesson 6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MA.5.GR.1.1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a missing angle in a quadrilateral when I know the other three, because the four angles always add up to 360 degrees.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“Split any quadrilateral with one diagonal and you get two triangles -- 180 degrees plus 180 degrees is 360 degrees.”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Quick Review: Triangles and Quadrilaterals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A triangle has angles of 50° and 70°. What is the third angle?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 quadrilateral has two pairs of parallel sides and four right angles. What is it called?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True or false: every quadrilateral has four equal angles.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4343400"/>
            <a:ext cx="62179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3434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answers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Connection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land surveyor measures three corners of a four-sided property lot and needs the fourth angle before filing the paperwork.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do you think three known angles are enough to find the fourth, or does it need to be measured directly?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 is a quadrilateral with one diagonal drawn, splitting it into two triangles.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Split the Shape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051560"/>
            <a:ext cx="3017520" cy="2331720"/>
          </a:xfrm>
          <a:custGeom>
            <a:avLst/>
            <a:gdLst/>
            <a:ahLst/>
            <a:cxnLst/>
            <a:rect l="l" t="t" r="r" b="b"/>
            <a:pathLst>
              <a:path w="3017520" h="2331720">
                <a:moveTo>
                  <a:pt x="0" y="0"/>
                </a:moveTo>
                <a:lnTo>
                  <a:pt x="3017520" y="502920"/>
                </a:lnTo>
                <a:lnTo>
                  <a:pt x="2468880" y="233172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3739" y="1093651"/>
            <a:ext cx="66410" cy="133706"/>
          </a:xfrm>
          <a:custGeom>
            <a:avLst/>
            <a:gdLst/>
            <a:ahLst/>
            <a:cxnLst/>
            <a:rect l="l" t="t" r="r" b="b"/>
            <a:pathLst>
              <a:path w="66410" h="133706">
                <a:moveTo>
                  <a:pt x="0" y="133706"/>
                </a:moveTo>
                <a:lnTo>
                  <a:pt x="4277" y="129064"/>
                </a:lnTo>
                <a:lnTo>
                  <a:pt x="8438" y="124318"/>
                </a:lnTo>
                <a:lnTo>
                  <a:pt x="12481" y="119471"/>
                </a:lnTo>
                <a:lnTo>
                  <a:pt x="16404" y="114526"/>
                </a:lnTo>
                <a:lnTo>
                  <a:pt x="20203" y="109485"/>
                </a:lnTo>
                <a:lnTo>
                  <a:pt x="23877" y="104353"/>
                </a:lnTo>
                <a:lnTo>
                  <a:pt x="27423" y="99131"/>
                </a:lnTo>
                <a:lnTo>
                  <a:pt x="30839" y="93824"/>
                </a:lnTo>
                <a:lnTo>
                  <a:pt x="34124" y="88434"/>
                </a:lnTo>
                <a:lnTo>
                  <a:pt x="37275" y="82964"/>
                </a:lnTo>
                <a:lnTo>
                  <a:pt x="40289" y="77419"/>
                </a:lnTo>
                <a:lnTo>
                  <a:pt x="43167" y="71801"/>
                </a:lnTo>
                <a:lnTo>
                  <a:pt x="45905" y="66114"/>
                </a:lnTo>
                <a:lnTo>
                  <a:pt x="48501" y="60361"/>
                </a:lnTo>
                <a:lnTo>
                  <a:pt x="50956" y="54545"/>
                </a:lnTo>
                <a:lnTo>
                  <a:pt x="53266" y="48671"/>
                </a:lnTo>
                <a:lnTo>
                  <a:pt x="55430" y="42742"/>
                </a:lnTo>
                <a:lnTo>
                  <a:pt x="57448" y="36762"/>
                </a:lnTo>
                <a:lnTo>
                  <a:pt x="59318" y="30733"/>
                </a:lnTo>
                <a:lnTo>
                  <a:pt x="61039" y="24660"/>
                </a:lnTo>
                <a:lnTo>
                  <a:pt x="62609" y="18547"/>
                </a:lnTo>
                <a:lnTo>
                  <a:pt x="64028" y="12396"/>
                </a:lnTo>
                <a:lnTo>
                  <a:pt x="65295" y="6213"/>
                </a:lnTo>
                <a:lnTo>
                  <a:pt x="6641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19118" y="1512389"/>
            <a:ext cx="182431" cy="287326"/>
          </a:xfrm>
          <a:custGeom>
            <a:avLst/>
            <a:gdLst/>
            <a:ahLst/>
            <a:cxnLst/>
            <a:rect l="l" t="t" r="r" b="b"/>
            <a:pathLst>
              <a:path w="182431" h="287326">
                <a:moveTo>
                  <a:pt x="3453" y="0"/>
                </a:moveTo>
                <a:lnTo>
                  <a:pt x="1379" y="15267"/>
                </a:lnTo>
                <a:lnTo>
                  <a:pt x="226" y="30631"/>
                </a:lnTo>
                <a:lnTo>
                  <a:pt x="0" y="46037"/>
                </a:lnTo>
                <a:lnTo>
                  <a:pt x="701" y="61429"/>
                </a:lnTo>
                <a:lnTo>
                  <a:pt x="2326" y="76750"/>
                </a:lnTo>
                <a:lnTo>
                  <a:pt x="4870" y="91946"/>
                </a:lnTo>
                <a:lnTo>
                  <a:pt x="8324" y="106962"/>
                </a:lnTo>
                <a:lnTo>
                  <a:pt x="12674" y="121742"/>
                </a:lnTo>
                <a:lnTo>
                  <a:pt x="17906" y="136234"/>
                </a:lnTo>
                <a:lnTo>
                  <a:pt x="24000" y="150385"/>
                </a:lnTo>
                <a:lnTo>
                  <a:pt x="30934" y="164144"/>
                </a:lnTo>
                <a:lnTo>
                  <a:pt x="38683" y="177461"/>
                </a:lnTo>
                <a:lnTo>
                  <a:pt x="47219" y="190288"/>
                </a:lnTo>
                <a:lnTo>
                  <a:pt x="56511" y="202578"/>
                </a:lnTo>
                <a:lnTo>
                  <a:pt x="66526" y="214287"/>
                </a:lnTo>
                <a:lnTo>
                  <a:pt x="77227" y="225372"/>
                </a:lnTo>
                <a:lnTo>
                  <a:pt x="88575" y="235794"/>
                </a:lnTo>
                <a:lnTo>
                  <a:pt x="100529" y="245514"/>
                </a:lnTo>
                <a:lnTo>
                  <a:pt x="113047" y="254497"/>
                </a:lnTo>
                <a:lnTo>
                  <a:pt x="126082" y="262712"/>
                </a:lnTo>
                <a:lnTo>
                  <a:pt x="139588" y="270127"/>
                </a:lnTo>
                <a:lnTo>
                  <a:pt x="153515" y="276716"/>
                </a:lnTo>
                <a:lnTo>
                  <a:pt x="167814" y="282456"/>
                </a:lnTo>
                <a:lnTo>
                  <a:pt x="182431" y="287326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0341" y="3127277"/>
            <a:ext cx="259709" cy="80205"/>
          </a:xfrm>
          <a:custGeom>
            <a:avLst/>
            <a:gdLst/>
            <a:ahLst/>
            <a:cxnLst/>
            <a:rect l="l" t="t" r="r" b="b"/>
            <a:pathLst>
              <a:path w="259709" h="80205">
                <a:moveTo>
                  <a:pt x="259709" y="10769"/>
                </a:moveTo>
                <a:lnTo>
                  <a:pt x="248340" y="7641"/>
                </a:lnTo>
                <a:lnTo>
                  <a:pt x="236838" y="5041"/>
                </a:lnTo>
                <a:lnTo>
                  <a:pt x="225230" y="2973"/>
                </a:lnTo>
                <a:lnTo>
                  <a:pt x="213538" y="1441"/>
                </a:lnTo>
                <a:lnTo>
                  <a:pt x="201788" y="450"/>
                </a:lnTo>
                <a:lnTo>
                  <a:pt x="190005" y="0"/>
                </a:lnTo>
                <a:lnTo>
                  <a:pt x="178214" y="93"/>
                </a:lnTo>
                <a:lnTo>
                  <a:pt x="166440" y="730"/>
                </a:lnTo>
                <a:lnTo>
                  <a:pt x="154707" y="1907"/>
                </a:lnTo>
                <a:lnTo>
                  <a:pt x="143041" y="3624"/>
                </a:lnTo>
                <a:lnTo>
                  <a:pt x="131466" y="5876"/>
                </a:lnTo>
                <a:lnTo>
                  <a:pt x="120008" y="8659"/>
                </a:lnTo>
                <a:lnTo>
                  <a:pt x="108690" y="11966"/>
                </a:lnTo>
                <a:lnTo>
                  <a:pt x="97536" y="15791"/>
                </a:lnTo>
                <a:lnTo>
                  <a:pt x="86570" y="20125"/>
                </a:lnTo>
                <a:lnTo>
                  <a:pt x="75815" y="24960"/>
                </a:lnTo>
                <a:lnTo>
                  <a:pt x="65294" y="30284"/>
                </a:lnTo>
                <a:lnTo>
                  <a:pt x="55029" y="36088"/>
                </a:lnTo>
                <a:lnTo>
                  <a:pt x="45043" y="42357"/>
                </a:lnTo>
                <a:lnTo>
                  <a:pt x="35356" y="49080"/>
                </a:lnTo>
                <a:lnTo>
                  <a:pt x="25988" y="56242"/>
                </a:lnTo>
                <a:lnTo>
                  <a:pt x="16960" y="63828"/>
                </a:lnTo>
                <a:lnTo>
                  <a:pt x="8292" y="71821"/>
                </a:lnTo>
                <a:lnTo>
                  <a:pt x="0" y="80205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0058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5087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3375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051560"/>
            <a:ext cx="3749040" cy="2331720"/>
          </a:xfrm>
          <a:custGeom>
            <a:avLst/>
            <a:gdLst/>
            <a:ahLst/>
            <a:cxnLst/>
            <a:rect l="l" t="t" r="r" b="b"/>
            <a:pathLst>
              <a:path w="3749040" h="2331720">
                <a:moveTo>
                  <a:pt x="1280160" y="0"/>
                </a:moveTo>
                <a:lnTo>
                  <a:pt x="3749040" y="2331720"/>
                </a:lnTo>
                <a:lnTo>
                  <a:pt x="0" y="2194560"/>
                </a:lnTo>
                <a:close/>
              </a:path>
            </a:pathLst>
          </a:custGeom>
          <a:solidFill>
            <a:srgbClr val="E6F2EA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8593" y="1227358"/>
            <a:ext cx="315146" cy="80156"/>
          </a:xfrm>
          <a:custGeom>
            <a:avLst/>
            <a:gdLst/>
            <a:ahLst/>
            <a:cxnLst/>
            <a:rect l="l" t="t" r="r" b="b"/>
            <a:pathLst>
              <a:path w="315146" h="80156">
                <a:moveTo>
                  <a:pt x="0" y="45357"/>
                </a:moveTo>
                <a:lnTo>
                  <a:pt x="12562" y="52222"/>
                </a:lnTo>
                <a:lnTo>
                  <a:pt x="25488" y="58373"/>
                </a:lnTo>
                <a:lnTo>
                  <a:pt x="38737" y="63793"/>
                </a:lnTo>
                <a:lnTo>
                  <a:pt x="52269" y="68464"/>
                </a:lnTo>
                <a:lnTo>
                  <a:pt x="66040" y="72371"/>
                </a:lnTo>
                <a:lnTo>
                  <a:pt x="80008" y="75502"/>
                </a:lnTo>
                <a:lnTo>
                  <a:pt x="94130" y="77848"/>
                </a:lnTo>
                <a:lnTo>
                  <a:pt x="108360" y="79401"/>
                </a:lnTo>
                <a:lnTo>
                  <a:pt x="122655" y="80156"/>
                </a:lnTo>
                <a:lnTo>
                  <a:pt x="136970" y="80111"/>
                </a:lnTo>
                <a:lnTo>
                  <a:pt x="151260" y="79265"/>
                </a:lnTo>
                <a:lnTo>
                  <a:pt x="165481" y="77623"/>
                </a:lnTo>
                <a:lnTo>
                  <a:pt x="179587" y="75189"/>
                </a:lnTo>
                <a:lnTo>
                  <a:pt x="193536" y="71969"/>
                </a:lnTo>
                <a:lnTo>
                  <a:pt x="207282" y="67976"/>
                </a:lnTo>
                <a:lnTo>
                  <a:pt x="220784" y="63220"/>
                </a:lnTo>
                <a:lnTo>
                  <a:pt x="233999" y="57717"/>
                </a:lnTo>
                <a:lnTo>
                  <a:pt x="246886" y="51484"/>
                </a:lnTo>
                <a:lnTo>
                  <a:pt x="259404" y="44541"/>
                </a:lnTo>
                <a:lnTo>
                  <a:pt x="271515" y="36909"/>
                </a:lnTo>
                <a:lnTo>
                  <a:pt x="283180" y="28612"/>
                </a:lnTo>
                <a:lnTo>
                  <a:pt x="294363" y="19675"/>
                </a:lnTo>
                <a:lnTo>
                  <a:pt x="305030" y="10128"/>
                </a:lnTo>
                <a:lnTo>
                  <a:pt x="315146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619" y="3207482"/>
            <a:ext cx="69722" cy="166437"/>
          </a:xfrm>
          <a:custGeom>
            <a:avLst/>
            <a:gdLst/>
            <a:ahLst/>
            <a:cxnLst/>
            <a:rect l="l" t="t" r="r" b="b"/>
            <a:pathLst>
              <a:path w="69722" h="166437">
                <a:moveTo>
                  <a:pt x="69722" y="0"/>
                </a:moveTo>
                <a:lnTo>
                  <a:pt x="64531" y="5665"/>
                </a:lnTo>
                <a:lnTo>
                  <a:pt x="59512" y="11482"/>
                </a:lnTo>
                <a:lnTo>
                  <a:pt x="54670" y="17448"/>
                </a:lnTo>
                <a:lnTo>
                  <a:pt x="50009" y="23556"/>
                </a:lnTo>
                <a:lnTo>
                  <a:pt x="45533" y="29802"/>
                </a:lnTo>
                <a:lnTo>
                  <a:pt x="41247" y="36179"/>
                </a:lnTo>
                <a:lnTo>
                  <a:pt x="37154" y="42681"/>
                </a:lnTo>
                <a:lnTo>
                  <a:pt x="33259" y="49304"/>
                </a:lnTo>
                <a:lnTo>
                  <a:pt x="29563" y="56041"/>
                </a:lnTo>
                <a:lnTo>
                  <a:pt x="26072" y="62885"/>
                </a:lnTo>
                <a:lnTo>
                  <a:pt x="22787" y="69831"/>
                </a:lnTo>
                <a:lnTo>
                  <a:pt x="19712" y="76872"/>
                </a:lnTo>
                <a:lnTo>
                  <a:pt x="16850" y="84003"/>
                </a:lnTo>
                <a:lnTo>
                  <a:pt x="14203" y="91216"/>
                </a:lnTo>
                <a:lnTo>
                  <a:pt x="11774" y="98506"/>
                </a:lnTo>
                <a:lnTo>
                  <a:pt x="9565" y="105865"/>
                </a:lnTo>
                <a:lnTo>
                  <a:pt x="7577" y="113287"/>
                </a:lnTo>
                <a:lnTo>
                  <a:pt x="5813" y="120765"/>
                </a:lnTo>
                <a:lnTo>
                  <a:pt x="4275" y="128293"/>
                </a:lnTo>
                <a:lnTo>
                  <a:pt x="2962" y="135863"/>
                </a:lnTo>
                <a:lnTo>
                  <a:pt x="1878" y="143470"/>
                </a:lnTo>
                <a:lnTo>
                  <a:pt x="1022" y="151106"/>
                </a:lnTo>
                <a:lnTo>
                  <a:pt x="396" y="158764"/>
                </a:lnTo>
                <a:lnTo>
                  <a:pt x="0" y="166437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06447" y="3024965"/>
            <a:ext cx="127016" cy="230516"/>
          </a:xfrm>
          <a:custGeom>
            <a:avLst/>
            <a:gdLst/>
            <a:ahLst/>
            <a:cxnLst/>
            <a:rect l="l" t="t" r="r" b="b"/>
            <a:pathLst>
              <a:path w="127016" h="230516">
                <a:moveTo>
                  <a:pt x="126854" y="230516"/>
                </a:moveTo>
                <a:lnTo>
                  <a:pt x="127016" y="219004"/>
                </a:lnTo>
                <a:lnTo>
                  <a:pt x="126660" y="207497"/>
                </a:lnTo>
                <a:lnTo>
                  <a:pt x="125788" y="196017"/>
                </a:lnTo>
                <a:lnTo>
                  <a:pt x="124400" y="184588"/>
                </a:lnTo>
                <a:lnTo>
                  <a:pt x="122500" y="173233"/>
                </a:lnTo>
                <a:lnTo>
                  <a:pt x="120091" y="161975"/>
                </a:lnTo>
                <a:lnTo>
                  <a:pt x="117179" y="150836"/>
                </a:lnTo>
                <a:lnTo>
                  <a:pt x="113769" y="139840"/>
                </a:lnTo>
                <a:lnTo>
                  <a:pt x="109868" y="129008"/>
                </a:lnTo>
                <a:lnTo>
                  <a:pt x="105484" y="118363"/>
                </a:lnTo>
                <a:lnTo>
                  <a:pt x="100626" y="107925"/>
                </a:lnTo>
                <a:lnTo>
                  <a:pt x="95303" y="97716"/>
                </a:lnTo>
                <a:lnTo>
                  <a:pt x="89527" y="87757"/>
                </a:lnTo>
                <a:lnTo>
                  <a:pt x="83310" y="78068"/>
                </a:lnTo>
                <a:lnTo>
                  <a:pt x="76662" y="68667"/>
                </a:lnTo>
                <a:lnTo>
                  <a:pt x="69599" y="59576"/>
                </a:lnTo>
                <a:lnTo>
                  <a:pt x="62135" y="50811"/>
                </a:lnTo>
                <a:lnTo>
                  <a:pt x="54284" y="42390"/>
                </a:lnTo>
                <a:lnTo>
                  <a:pt x="46062" y="34331"/>
                </a:lnTo>
                <a:lnTo>
                  <a:pt x="37486" y="26649"/>
                </a:lnTo>
                <a:lnTo>
                  <a:pt x="28574" y="19361"/>
                </a:lnTo>
                <a:lnTo>
                  <a:pt x="19343" y="12481"/>
                </a:lnTo>
                <a:lnTo>
                  <a:pt x="9812" y="6023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0058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3375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3200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178308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180°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66160" y="23774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180°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94560" y="36118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611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180° + 180° = 360°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245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why does splitting the quadrilateral with one diagonal always make exactly two triangles?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Write the Equation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097280"/>
            <a:ext cx="4114800" cy="2286000"/>
          </a:xfrm>
          <a:custGeom>
            <a:avLst/>
            <a:gdLst/>
            <a:ahLst/>
            <a:cxnLst/>
            <a:rect l="l" t="t" r="r" b="b"/>
            <a:pathLst>
              <a:path w="4114800" h="2286000">
                <a:moveTo>
                  <a:pt x="640080" y="0"/>
                </a:moveTo>
                <a:lnTo>
                  <a:pt x="3749040" y="137160"/>
                </a:lnTo>
                <a:lnTo>
                  <a:pt x="4114800" y="2194560"/>
                </a:lnTo>
                <a:lnTo>
                  <a:pt x="0" y="228600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3082" y="1111789"/>
            <a:ext cx="417622" cy="314556"/>
          </a:xfrm>
          <a:custGeom>
            <a:avLst/>
            <a:gdLst/>
            <a:ahLst/>
            <a:cxnLst/>
            <a:rect l="l" t="t" r="r" b="b"/>
            <a:pathLst>
              <a:path w="417622" h="314556">
                <a:moveTo>
                  <a:pt x="0" y="302484"/>
                </a:moveTo>
                <a:lnTo>
                  <a:pt x="23998" y="308242"/>
                </a:lnTo>
                <a:lnTo>
                  <a:pt x="48360" y="312187"/>
                </a:lnTo>
                <a:lnTo>
                  <a:pt x="72949" y="314295"/>
                </a:lnTo>
                <a:lnTo>
                  <a:pt x="97626" y="314556"/>
                </a:lnTo>
                <a:lnTo>
                  <a:pt x="122254" y="312967"/>
                </a:lnTo>
                <a:lnTo>
                  <a:pt x="146694" y="309537"/>
                </a:lnTo>
                <a:lnTo>
                  <a:pt x="170808" y="304286"/>
                </a:lnTo>
                <a:lnTo>
                  <a:pt x="194461" y="297243"/>
                </a:lnTo>
                <a:lnTo>
                  <a:pt x="217519" y="288448"/>
                </a:lnTo>
                <a:lnTo>
                  <a:pt x="239854" y="277950"/>
                </a:lnTo>
                <a:lnTo>
                  <a:pt x="261340" y="265808"/>
                </a:lnTo>
                <a:lnTo>
                  <a:pt x="281856" y="252091"/>
                </a:lnTo>
                <a:lnTo>
                  <a:pt x="301286" y="236875"/>
                </a:lnTo>
                <a:lnTo>
                  <a:pt x="319522" y="220246"/>
                </a:lnTo>
                <a:lnTo>
                  <a:pt x="336461" y="202298"/>
                </a:lnTo>
                <a:lnTo>
                  <a:pt x="352008" y="183132"/>
                </a:lnTo>
                <a:lnTo>
                  <a:pt x="366075" y="162854"/>
                </a:lnTo>
                <a:lnTo>
                  <a:pt x="378583" y="141580"/>
                </a:lnTo>
                <a:lnTo>
                  <a:pt x="389462" y="119428"/>
                </a:lnTo>
                <a:lnTo>
                  <a:pt x="398651" y="96523"/>
                </a:lnTo>
                <a:lnTo>
                  <a:pt x="406099" y="72995"/>
                </a:lnTo>
                <a:lnTo>
                  <a:pt x="411763" y="48974"/>
                </a:lnTo>
                <a:lnTo>
                  <a:pt x="415611" y="24597"/>
                </a:lnTo>
                <a:lnTo>
                  <a:pt x="417622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1548" y="14693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100°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71769" y="1219931"/>
            <a:ext cx="386649" cy="343575"/>
          </a:xfrm>
          <a:custGeom>
            <a:avLst/>
            <a:gdLst/>
            <a:ahLst/>
            <a:cxnLst/>
            <a:rect l="l" t="t" r="r" b="b"/>
            <a:pathLst>
              <a:path w="386649" h="343575">
                <a:moveTo>
                  <a:pt x="167" y="0"/>
                </a:moveTo>
                <a:lnTo>
                  <a:pt x="0" y="24557"/>
                </a:lnTo>
                <a:lnTo>
                  <a:pt x="1665" y="49057"/>
                </a:lnTo>
                <a:lnTo>
                  <a:pt x="5151" y="73366"/>
                </a:lnTo>
                <a:lnTo>
                  <a:pt x="10440" y="97347"/>
                </a:lnTo>
                <a:lnTo>
                  <a:pt x="17502" y="120867"/>
                </a:lnTo>
                <a:lnTo>
                  <a:pt x="26298" y="143795"/>
                </a:lnTo>
                <a:lnTo>
                  <a:pt x="36778" y="166003"/>
                </a:lnTo>
                <a:lnTo>
                  <a:pt x="48885" y="187369"/>
                </a:lnTo>
                <a:lnTo>
                  <a:pt x="62551" y="207772"/>
                </a:lnTo>
                <a:lnTo>
                  <a:pt x="77700" y="227100"/>
                </a:lnTo>
                <a:lnTo>
                  <a:pt x="94248" y="245245"/>
                </a:lnTo>
                <a:lnTo>
                  <a:pt x="112102" y="262106"/>
                </a:lnTo>
                <a:lnTo>
                  <a:pt x="131164" y="277588"/>
                </a:lnTo>
                <a:lnTo>
                  <a:pt x="151327" y="291607"/>
                </a:lnTo>
                <a:lnTo>
                  <a:pt x="172478" y="304083"/>
                </a:lnTo>
                <a:lnTo>
                  <a:pt x="194501" y="314948"/>
                </a:lnTo>
                <a:lnTo>
                  <a:pt x="217273" y="324141"/>
                </a:lnTo>
                <a:lnTo>
                  <a:pt x="240667" y="331611"/>
                </a:lnTo>
                <a:lnTo>
                  <a:pt x="264552" y="337316"/>
                </a:lnTo>
                <a:lnTo>
                  <a:pt x="288796" y="341225"/>
                </a:lnTo>
                <a:lnTo>
                  <a:pt x="313264" y="343315"/>
                </a:lnTo>
                <a:lnTo>
                  <a:pt x="337820" y="343575"/>
                </a:lnTo>
                <a:lnTo>
                  <a:pt x="362327" y="342004"/>
                </a:lnTo>
                <a:lnTo>
                  <a:pt x="386649" y="338611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3235" y="156957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80°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37457" y="2967738"/>
            <a:ext cx="271485" cy="331416"/>
          </a:xfrm>
          <a:custGeom>
            <a:avLst/>
            <a:gdLst/>
            <a:ahLst/>
            <a:cxnLst/>
            <a:rect l="l" t="t" r="r" b="b"/>
            <a:pathLst>
              <a:path w="271485" h="331416">
                <a:moveTo>
                  <a:pt x="271485" y="0"/>
                </a:moveTo>
                <a:lnTo>
                  <a:pt x="252460" y="3965"/>
                </a:lnTo>
                <a:lnTo>
                  <a:pt x="233702" y="9046"/>
                </a:lnTo>
                <a:lnTo>
                  <a:pt x="215276" y="15224"/>
                </a:lnTo>
                <a:lnTo>
                  <a:pt x="197248" y="22479"/>
                </a:lnTo>
                <a:lnTo>
                  <a:pt x="179678" y="30786"/>
                </a:lnTo>
                <a:lnTo>
                  <a:pt x="162630" y="40115"/>
                </a:lnTo>
                <a:lnTo>
                  <a:pt x="146162" y="50433"/>
                </a:lnTo>
                <a:lnTo>
                  <a:pt x="130331" y="61705"/>
                </a:lnTo>
                <a:lnTo>
                  <a:pt x="115194" y="73892"/>
                </a:lnTo>
                <a:lnTo>
                  <a:pt x="100801" y="86951"/>
                </a:lnTo>
                <a:lnTo>
                  <a:pt x="87205" y="100837"/>
                </a:lnTo>
                <a:lnTo>
                  <a:pt x="74451" y="115500"/>
                </a:lnTo>
                <a:lnTo>
                  <a:pt x="62585" y="130891"/>
                </a:lnTo>
                <a:lnTo>
                  <a:pt x="51648" y="146955"/>
                </a:lnTo>
                <a:lnTo>
                  <a:pt x="41678" y="163636"/>
                </a:lnTo>
                <a:lnTo>
                  <a:pt x="32710" y="180877"/>
                </a:lnTo>
                <a:lnTo>
                  <a:pt x="24775" y="198617"/>
                </a:lnTo>
                <a:lnTo>
                  <a:pt x="17900" y="216794"/>
                </a:lnTo>
                <a:lnTo>
                  <a:pt x="12110" y="235345"/>
                </a:lnTo>
                <a:lnTo>
                  <a:pt x="7425" y="254206"/>
                </a:lnTo>
                <a:lnTo>
                  <a:pt x="3861" y="273310"/>
                </a:lnTo>
                <a:lnTo>
                  <a:pt x="1430" y="292591"/>
                </a:lnTo>
                <a:lnTo>
                  <a:pt x="142" y="311982"/>
                </a:lnTo>
                <a:lnTo>
                  <a:pt x="0" y="331416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644" y="273992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95°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0518" y="3066288"/>
            <a:ext cx="240345" cy="309679"/>
          </a:xfrm>
          <a:custGeom>
            <a:avLst/>
            <a:gdLst/>
            <a:ahLst/>
            <a:cxnLst/>
            <a:rect l="l" t="t" r="r" b="b"/>
            <a:pathLst>
              <a:path w="240345" h="309679">
                <a:moveTo>
                  <a:pt x="240345" y="309679"/>
                </a:moveTo>
                <a:lnTo>
                  <a:pt x="239492" y="292206"/>
                </a:lnTo>
                <a:lnTo>
                  <a:pt x="237711" y="274803"/>
                </a:lnTo>
                <a:lnTo>
                  <a:pt x="235009" y="257520"/>
                </a:lnTo>
                <a:lnTo>
                  <a:pt x="231393" y="240404"/>
                </a:lnTo>
                <a:lnTo>
                  <a:pt x="226872" y="223504"/>
                </a:lnTo>
                <a:lnTo>
                  <a:pt x="221460" y="206869"/>
                </a:lnTo>
                <a:lnTo>
                  <a:pt x="215172" y="190545"/>
                </a:lnTo>
                <a:lnTo>
                  <a:pt x="208025" y="174577"/>
                </a:lnTo>
                <a:lnTo>
                  <a:pt x="200040" y="159012"/>
                </a:lnTo>
                <a:lnTo>
                  <a:pt x="191240" y="143893"/>
                </a:lnTo>
                <a:lnTo>
                  <a:pt x="181649" y="129263"/>
                </a:lnTo>
                <a:lnTo>
                  <a:pt x="171294" y="115163"/>
                </a:lnTo>
                <a:lnTo>
                  <a:pt x="160205" y="101633"/>
                </a:lnTo>
                <a:lnTo>
                  <a:pt x="148413" y="88712"/>
                </a:lnTo>
                <a:lnTo>
                  <a:pt x="135951" y="76435"/>
                </a:lnTo>
                <a:lnTo>
                  <a:pt x="122854" y="64837"/>
                </a:lnTo>
                <a:lnTo>
                  <a:pt x="109160" y="53951"/>
                </a:lnTo>
                <a:lnTo>
                  <a:pt x="94907" y="43809"/>
                </a:lnTo>
                <a:lnTo>
                  <a:pt x="80135" y="34437"/>
                </a:lnTo>
                <a:lnTo>
                  <a:pt x="64886" y="25864"/>
                </a:lnTo>
                <a:lnTo>
                  <a:pt x="49203" y="18113"/>
                </a:lnTo>
                <a:lnTo>
                  <a:pt x="33131" y="11206"/>
                </a:lnTo>
                <a:lnTo>
                  <a:pt x="16714" y="5163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1657" y="284453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1887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33375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639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Quadrilateral ABCD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63040" y="3703320"/>
            <a:ext cx="6217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703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100° + 80° + 95° + ___° = 360°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CPA · ABSTRACT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interior angles of any quadrilateral always add up to 360 degrees.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a missing angle: add the three angles you know, then subtract that total from 360 degrees.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54480" y="434340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434340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what a quadrilateral's angles always do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Math Language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quadrilateral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polygon with four sides and four angles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44"/>
                </a:solidFill>
              </a:rPr>
              <a:t>diagonal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segment that connects two corners of a shape that aren't already joined by a side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6E10"/>
                </a:solidFill>
              </a:rPr>
              <a:t>interior angle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angle inside a shape, formed where two sides meet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818"/>
                </a:solidFill>
              </a:rPr>
              <a:t>angle sum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you get when you add angle measures together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 · 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1188720"/>
            <a:ext cx="2194560" cy="2103120"/>
          </a:xfrm>
          <a:custGeom>
            <a:avLst/>
            <a:gdLst/>
            <a:ahLst/>
            <a:cxnLst/>
            <a:rect l="l" t="t" r="r" b="b"/>
            <a:pathLst>
              <a:path w="2194560" h="2103120">
                <a:moveTo>
                  <a:pt x="274320" y="182880"/>
                </a:moveTo>
                <a:lnTo>
                  <a:pt x="2011680" y="0"/>
                </a:lnTo>
                <a:lnTo>
                  <a:pt x="2194560" y="1965960"/>
                </a:lnTo>
                <a:lnTo>
                  <a:pt x="0" y="210312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43818" y="1346712"/>
            <a:ext cx="271265" cy="262621"/>
          </a:xfrm>
          <a:custGeom>
            <a:avLst/>
            <a:gdLst/>
            <a:ahLst/>
            <a:cxnLst/>
            <a:rect l="l" t="t" r="r" b="b"/>
            <a:pathLst>
              <a:path w="271265" h="262621">
                <a:moveTo>
                  <a:pt x="0" y="260243"/>
                </a:moveTo>
                <a:lnTo>
                  <a:pt x="17903" y="262112"/>
                </a:lnTo>
                <a:lnTo>
                  <a:pt x="35897" y="262621"/>
                </a:lnTo>
                <a:lnTo>
                  <a:pt x="53877" y="261768"/>
                </a:lnTo>
                <a:lnTo>
                  <a:pt x="71741" y="259556"/>
                </a:lnTo>
                <a:lnTo>
                  <a:pt x="89387" y="256000"/>
                </a:lnTo>
                <a:lnTo>
                  <a:pt x="106713" y="251118"/>
                </a:lnTo>
                <a:lnTo>
                  <a:pt x="123620" y="244940"/>
                </a:lnTo>
                <a:lnTo>
                  <a:pt x="140011" y="237500"/>
                </a:lnTo>
                <a:lnTo>
                  <a:pt x="155792" y="228841"/>
                </a:lnTo>
                <a:lnTo>
                  <a:pt x="170873" y="219013"/>
                </a:lnTo>
                <a:lnTo>
                  <a:pt x="185167" y="208072"/>
                </a:lnTo>
                <a:lnTo>
                  <a:pt x="198592" y="196081"/>
                </a:lnTo>
                <a:lnTo>
                  <a:pt x="211072" y="183109"/>
                </a:lnTo>
                <a:lnTo>
                  <a:pt x="222534" y="169230"/>
                </a:lnTo>
                <a:lnTo>
                  <a:pt x="232913" y="154523"/>
                </a:lnTo>
                <a:lnTo>
                  <a:pt x="242150" y="139073"/>
                </a:lnTo>
                <a:lnTo>
                  <a:pt x="250192" y="122969"/>
                </a:lnTo>
                <a:lnTo>
                  <a:pt x="256992" y="106302"/>
                </a:lnTo>
                <a:lnTo>
                  <a:pt x="262511" y="89168"/>
                </a:lnTo>
                <a:lnTo>
                  <a:pt x="266719" y="71667"/>
                </a:lnTo>
                <a:lnTo>
                  <a:pt x="269590" y="53896"/>
                </a:lnTo>
                <a:lnTo>
                  <a:pt x="271108" y="35960"/>
                </a:lnTo>
                <a:lnTo>
                  <a:pt x="271265" y="17960"/>
                </a:lnTo>
                <a:lnTo>
                  <a:pt x="27006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2380" y="1620357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85°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78362" y="1213608"/>
            <a:ext cx="258458" cy="212764"/>
          </a:xfrm>
          <a:custGeom>
            <a:avLst/>
            <a:gdLst/>
            <a:ahLst/>
            <a:cxnLst/>
            <a:rect l="l" t="t" r="r" b="b"/>
            <a:pathLst>
              <a:path w="258458" h="212764">
                <a:moveTo>
                  <a:pt x="0" y="0"/>
                </a:moveTo>
                <a:lnTo>
                  <a:pt x="2114" y="15292"/>
                </a:lnTo>
                <a:lnTo>
                  <a:pt x="5215" y="30415"/>
                </a:lnTo>
                <a:lnTo>
                  <a:pt x="9292" y="45304"/>
                </a:lnTo>
                <a:lnTo>
                  <a:pt x="14326" y="59898"/>
                </a:lnTo>
                <a:lnTo>
                  <a:pt x="20297" y="74134"/>
                </a:lnTo>
                <a:lnTo>
                  <a:pt x="27179" y="87953"/>
                </a:lnTo>
                <a:lnTo>
                  <a:pt x="34944" y="101296"/>
                </a:lnTo>
                <a:lnTo>
                  <a:pt x="43558" y="114106"/>
                </a:lnTo>
                <a:lnTo>
                  <a:pt x="52985" y="126331"/>
                </a:lnTo>
                <a:lnTo>
                  <a:pt x="63186" y="137918"/>
                </a:lnTo>
                <a:lnTo>
                  <a:pt x="74117" y="148819"/>
                </a:lnTo>
                <a:lnTo>
                  <a:pt x="85732" y="158987"/>
                </a:lnTo>
                <a:lnTo>
                  <a:pt x="97984" y="168380"/>
                </a:lnTo>
                <a:lnTo>
                  <a:pt x="110818" y="176958"/>
                </a:lnTo>
                <a:lnTo>
                  <a:pt x="124183" y="184685"/>
                </a:lnTo>
                <a:lnTo>
                  <a:pt x="138021" y="191529"/>
                </a:lnTo>
                <a:lnTo>
                  <a:pt x="152273" y="197460"/>
                </a:lnTo>
                <a:lnTo>
                  <a:pt x="166881" y="202453"/>
                </a:lnTo>
                <a:lnTo>
                  <a:pt x="181782" y="206488"/>
                </a:lnTo>
                <a:lnTo>
                  <a:pt x="196913" y="209547"/>
                </a:lnTo>
                <a:lnTo>
                  <a:pt x="212211" y="211618"/>
                </a:lnTo>
                <a:lnTo>
                  <a:pt x="227612" y="212692"/>
                </a:lnTo>
                <a:lnTo>
                  <a:pt x="243049" y="212764"/>
                </a:lnTo>
                <a:lnTo>
                  <a:pt x="258458" y="21183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259" y="14667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110°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59936" y="2917958"/>
            <a:ext cx="215723" cy="251552"/>
          </a:xfrm>
          <a:custGeom>
            <a:avLst/>
            <a:gdLst/>
            <a:ahLst/>
            <a:cxnLst/>
            <a:rect l="l" t="t" r="r" b="b"/>
            <a:pathLst>
              <a:path w="215723" h="251552">
                <a:moveTo>
                  <a:pt x="215723" y="0"/>
                </a:moveTo>
                <a:lnTo>
                  <a:pt x="200585" y="1900"/>
                </a:lnTo>
                <a:lnTo>
                  <a:pt x="185599" y="4767"/>
                </a:lnTo>
                <a:lnTo>
                  <a:pt x="170829" y="8589"/>
                </a:lnTo>
                <a:lnTo>
                  <a:pt x="156334" y="13351"/>
                </a:lnTo>
                <a:lnTo>
                  <a:pt x="142174" y="19033"/>
                </a:lnTo>
                <a:lnTo>
                  <a:pt x="128408" y="25611"/>
                </a:lnTo>
                <a:lnTo>
                  <a:pt x="115092" y="33059"/>
                </a:lnTo>
                <a:lnTo>
                  <a:pt x="102281" y="41345"/>
                </a:lnTo>
                <a:lnTo>
                  <a:pt x="90028" y="50436"/>
                </a:lnTo>
                <a:lnTo>
                  <a:pt x="78384" y="60295"/>
                </a:lnTo>
                <a:lnTo>
                  <a:pt x="67395" y="70880"/>
                </a:lnTo>
                <a:lnTo>
                  <a:pt x="57109" y="82148"/>
                </a:lnTo>
                <a:lnTo>
                  <a:pt x="47566" y="94052"/>
                </a:lnTo>
                <a:lnTo>
                  <a:pt x="38807" y="106544"/>
                </a:lnTo>
                <a:lnTo>
                  <a:pt x="30866" y="119572"/>
                </a:lnTo>
                <a:lnTo>
                  <a:pt x="23778" y="133083"/>
                </a:lnTo>
                <a:lnTo>
                  <a:pt x="17571" y="147021"/>
                </a:lnTo>
                <a:lnTo>
                  <a:pt x="12271" y="161328"/>
                </a:lnTo>
                <a:lnTo>
                  <a:pt x="7899" y="175945"/>
                </a:lnTo>
                <a:lnTo>
                  <a:pt x="4474" y="190813"/>
                </a:lnTo>
                <a:lnTo>
                  <a:pt x="2010" y="205870"/>
                </a:lnTo>
                <a:lnTo>
                  <a:pt x="517" y="221053"/>
                </a:lnTo>
                <a:lnTo>
                  <a:pt x="0" y="236302"/>
                </a:lnTo>
                <a:lnTo>
                  <a:pt x="463" y="251552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5070" y="265166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95°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36742" y="3056485"/>
            <a:ext cx="203659" cy="220524"/>
          </a:xfrm>
          <a:custGeom>
            <a:avLst/>
            <a:gdLst/>
            <a:ahLst/>
            <a:cxnLst/>
            <a:rect l="l" t="t" r="r" b="b"/>
            <a:pathLst>
              <a:path w="203659" h="220524">
                <a:moveTo>
                  <a:pt x="203659" y="220524"/>
                </a:moveTo>
                <a:lnTo>
                  <a:pt x="202431" y="207046"/>
                </a:lnTo>
                <a:lnTo>
                  <a:pt x="200437" y="193659"/>
                </a:lnTo>
                <a:lnTo>
                  <a:pt x="197685" y="180407"/>
                </a:lnTo>
                <a:lnTo>
                  <a:pt x="194183" y="167333"/>
                </a:lnTo>
                <a:lnTo>
                  <a:pt x="189943" y="154480"/>
                </a:lnTo>
                <a:lnTo>
                  <a:pt x="184979" y="141889"/>
                </a:lnTo>
                <a:lnTo>
                  <a:pt x="179306" y="129601"/>
                </a:lnTo>
                <a:lnTo>
                  <a:pt x="172943" y="117655"/>
                </a:lnTo>
                <a:lnTo>
                  <a:pt x="165910" y="106091"/>
                </a:lnTo>
                <a:lnTo>
                  <a:pt x="158231" y="94946"/>
                </a:lnTo>
                <a:lnTo>
                  <a:pt x="149930" y="84256"/>
                </a:lnTo>
                <a:lnTo>
                  <a:pt x="141034" y="74056"/>
                </a:lnTo>
                <a:lnTo>
                  <a:pt x="131573" y="64378"/>
                </a:lnTo>
                <a:lnTo>
                  <a:pt x="121575" y="55255"/>
                </a:lnTo>
                <a:lnTo>
                  <a:pt x="111075" y="46715"/>
                </a:lnTo>
                <a:lnTo>
                  <a:pt x="100106" y="38786"/>
                </a:lnTo>
                <a:lnTo>
                  <a:pt x="88703" y="31495"/>
                </a:lnTo>
                <a:lnTo>
                  <a:pt x="76904" y="24864"/>
                </a:lnTo>
                <a:lnTo>
                  <a:pt x="64747" y="18916"/>
                </a:lnTo>
                <a:lnTo>
                  <a:pt x="52271" y="13669"/>
                </a:lnTo>
                <a:lnTo>
                  <a:pt x="39516" y="9140"/>
                </a:lnTo>
                <a:lnTo>
                  <a:pt x="26525" y="5345"/>
                </a:lnTo>
                <a:lnTo>
                  <a:pt x="13339" y="229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0413" y="27733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13258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11430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31089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17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quadrilateral has three known angles: 85°, 110°, and 95°. Find the fourth angle.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three known angles: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715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85° + 110° + 95° = 290°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099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 from 360°: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4838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 − 290° = 70°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867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fourth angle is 70°.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Rectangle Special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2194560" cy="2011680"/>
          </a:xfrm>
          <a:custGeom>
            <a:avLst/>
            <a:gdLst/>
            <a:ahLst/>
            <a:cxnLst/>
            <a:rect l="l" t="t" r="r" b="b"/>
            <a:pathLst>
              <a:path w="2194560" h="2011680">
                <a:moveTo>
                  <a:pt x="0" y="0"/>
                </a:moveTo>
                <a:lnTo>
                  <a:pt x="2194560" y="0"/>
                </a:lnTo>
                <a:lnTo>
                  <a:pt x="2194560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280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0" y="237744"/>
                </a:moveTo>
                <a:lnTo>
                  <a:pt x="15549" y="237235"/>
                </a:lnTo>
                <a:lnTo>
                  <a:pt x="31032" y="235710"/>
                </a:lnTo>
                <a:lnTo>
                  <a:pt x="46382" y="233176"/>
                </a:lnTo>
                <a:lnTo>
                  <a:pt x="61533" y="229643"/>
                </a:lnTo>
                <a:lnTo>
                  <a:pt x="76420" y="225127"/>
                </a:lnTo>
                <a:lnTo>
                  <a:pt x="90981" y="219647"/>
                </a:lnTo>
                <a:lnTo>
                  <a:pt x="105151" y="213226"/>
                </a:lnTo>
                <a:lnTo>
                  <a:pt x="118872" y="205892"/>
                </a:lnTo>
                <a:lnTo>
                  <a:pt x="132083" y="197677"/>
                </a:lnTo>
                <a:lnTo>
                  <a:pt x="144729" y="188615"/>
                </a:lnTo>
                <a:lnTo>
                  <a:pt x="156756" y="178745"/>
                </a:lnTo>
                <a:lnTo>
                  <a:pt x="168110" y="168110"/>
                </a:lnTo>
                <a:lnTo>
                  <a:pt x="178745" y="156756"/>
                </a:lnTo>
                <a:lnTo>
                  <a:pt x="188615" y="144729"/>
                </a:lnTo>
                <a:lnTo>
                  <a:pt x="197677" y="132083"/>
                </a:lnTo>
                <a:lnTo>
                  <a:pt x="205892" y="118872"/>
                </a:lnTo>
                <a:lnTo>
                  <a:pt x="213226" y="105151"/>
                </a:lnTo>
                <a:lnTo>
                  <a:pt x="219647" y="90981"/>
                </a:lnTo>
                <a:lnTo>
                  <a:pt x="225127" y="76420"/>
                </a:lnTo>
                <a:lnTo>
                  <a:pt x="229643" y="61533"/>
                </a:lnTo>
                <a:lnTo>
                  <a:pt x="233176" y="46382"/>
                </a:lnTo>
                <a:lnTo>
                  <a:pt x="235710" y="31032"/>
                </a:lnTo>
                <a:lnTo>
                  <a:pt x="237235" y="15549"/>
                </a:lnTo>
                <a:lnTo>
                  <a:pt x="237744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5307" y="1521803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90°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1280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0" y="0"/>
                </a:moveTo>
                <a:lnTo>
                  <a:pt x="509" y="15549"/>
                </a:lnTo>
                <a:lnTo>
                  <a:pt x="2034" y="31032"/>
                </a:lnTo>
                <a:lnTo>
                  <a:pt x="4568" y="46382"/>
                </a:lnTo>
                <a:lnTo>
                  <a:pt x="8101" y="61533"/>
                </a:lnTo>
                <a:lnTo>
                  <a:pt x="12617" y="76420"/>
                </a:lnTo>
                <a:lnTo>
                  <a:pt x="18097" y="90981"/>
                </a:lnTo>
                <a:lnTo>
                  <a:pt x="24518" y="105151"/>
                </a:lnTo>
                <a:lnTo>
                  <a:pt x="31852" y="118872"/>
                </a:lnTo>
                <a:lnTo>
                  <a:pt x="40067" y="132083"/>
                </a:lnTo>
                <a:lnTo>
                  <a:pt x="49129" y="144729"/>
                </a:lnTo>
                <a:lnTo>
                  <a:pt x="58999" y="156756"/>
                </a:lnTo>
                <a:lnTo>
                  <a:pt x="69634" y="168110"/>
                </a:lnTo>
                <a:lnTo>
                  <a:pt x="80988" y="178745"/>
                </a:lnTo>
                <a:lnTo>
                  <a:pt x="93015" y="188615"/>
                </a:lnTo>
                <a:lnTo>
                  <a:pt x="105661" y="197677"/>
                </a:lnTo>
                <a:lnTo>
                  <a:pt x="118872" y="205892"/>
                </a:lnTo>
                <a:lnTo>
                  <a:pt x="132593" y="213226"/>
                </a:lnTo>
                <a:lnTo>
                  <a:pt x="146763" y="219647"/>
                </a:lnTo>
                <a:lnTo>
                  <a:pt x="161324" y="225127"/>
                </a:lnTo>
                <a:lnTo>
                  <a:pt x="176211" y="229643"/>
                </a:lnTo>
                <a:lnTo>
                  <a:pt x="191362" y="233176"/>
                </a:lnTo>
                <a:lnTo>
                  <a:pt x="206712" y="235710"/>
                </a:lnTo>
                <a:lnTo>
                  <a:pt x="222195" y="237235"/>
                </a:lnTo>
                <a:lnTo>
                  <a:pt x="237744" y="23774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3973" y="1521803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90°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59936" y="30540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237744" y="0"/>
                </a:moveTo>
                <a:lnTo>
                  <a:pt x="222195" y="509"/>
                </a:lnTo>
                <a:lnTo>
                  <a:pt x="206712" y="2034"/>
                </a:lnTo>
                <a:lnTo>
                  <a:pt x="191362" y="4568"/>
                </a:lnTo>
                <a:lnTo>
                  <a:pt x="176211" y="8101"/>
                </a:lnTo>
                <a:lnTo>
                  <a:pt x="161324" y="12617"/>
                </a:lnTo>
                <a:lnTo>
                  <a:pt x="146763" y="18097"/>
                </a:lnTo>
                <a:lnTo>
                  <a:pt x="132593" y="24518"/>
                </a:lnTo>
                <a:lnTo>
                  <a:pt x="118872" y="31852"/>
                </a:lnTo>
                <a:lnTo>
                  <a:pt x="105661" y="40067"/>
                </a:lnTo>
                <a:lnTo>
                  <a:pt x="93015" y="49129"/>
                </a:lnTo>
                <a:lnTo>
                  <a:pt x="80988" y="58999"/>
                </a:lnTo>
                <a:lnTo>
                  <a:pt x="69634" y="69634"/>
                </a:lnTo>
                <a:lnTo>
                  <a:pt x="58999" y="80988"/>
                </a:lnTo>
                <a:lnTo>
                  <a:pt x="49129" y="93015"/>
                </a:lnTo>
                <a:lnTo>
                  <a:pt x="40067" y="105661"/>
                </a:lnTo>
                <a:lnTo>
                  <a:pt x="31852" y="118872"/>
                </a:lnTo>
                <a:lnTo>
                  <a:pt x="24518" y="132593"/>
                </a:lnTo>
                <a:lnTo>
                  <a:pt x="18097" y="146763"/>
                </a:lnTo>
                <a:lnTo>
                  <a:pt x="12617" y="161324"/>
                </a:lnTo>
                <a:lnTo>
                  <a:pt x="8101" y="176211"/>
                </a:lnTo>
                <a:lnTo>
                  <a:pt x="4568" y="191362"/>
                </a:lnTo>
                <a:lnTo>
                  <a:pt x="2034" y="206712"/>
                </a:lnTo>
                <a:lnTo>
                  <a:pt x="509" y="222195"/>
                </a:lnTo>
                <a:lnTo>
                  <a:pt x="0" y="23774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3973" y="2757589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90°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30540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237744" y="237744"/>
                </a:moveTo>
                <a:lnTo>
                  <a:pt x="237235" y="222195"/>
                </a:lnTo>
                <a:lnTo>
                  <a:pt x="235710" y="206712"/>
                </a:lnTo>
                <a:lnTo>
                  <a:pt x="233176" y="191362"/>
                </a:lnTo>
                <a:lnTo>
                  <a:pt x="229643" y="176211"/>
                </a:lnTo>
                <a:lnTo>
                  <a:pt x="225127" y="161324"/>
                </a:lnTo>
                <a:lnTo>
                  <a:pt x="219647" y="146763"/>
                </a:lnTo>
                <a:lnTo>
                  <a:pt x="213226" y="132593"/>
                </a:lnTo>
                <a:lnTo>
                  <a:pt x="205892" y="118872"/>
                </a:lnTo>
                <a:lnTo>
                  <a:pt x="197677" y="105661"/>
                </a:lnTo>
                <a:lnTo>
                  <a:pt x="188615" y="93015"/>
                </a:lnTo>
                <a:lnTo>
                  <a:pt x="178745" y="80988"/>
                </a:lnTo>
                <a:lnTo>
                  <a:pt x="168110" y="69634"/>
                </a:lnTo>
                <a:lnTo>
                  <a:pt x="156756" y="58999"/>
                </a:lnTo>
                <a:lnTo>
                  <a:pt x="144729" y="49129"/>
                </a:lnTo>
                <a:lnTo>
                  <a:pt x="132083" y="40067"/>
                </a:lnTo>
                <a:lnTo>
                  <a:pt x="118872" y="31852"/>
                </a:lnTo>
                <a:lnTo>
                  <a:pt x="105151" y="24518"/>
                </a:lnTo>
                <a:lnTo>
                  <a:pt x="90981" y="18097"/>
                </a:lnTo>
                <a:lnTo>
                  <a:pt x="76420" y="12617"/>
                </a:lnTo>
                <a:lnTo>
                  <a:pt x="61533" y="8101"/>
                </a:lnTo>
                <a:lnTo>
                  <a:pt x="46382" y="4568"/>
                </a:lnTo>
                <a:lnTo>
                  <a:pt x="31032" y="2034"/>
                </a:lnTo>
                <a:lnTo>
                  <a:pt x="15549" y="50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5307" y="2757589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90°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57400" y="12344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2344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17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rectangle has four angles. Without measuring, what is each angle, and why?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rectangle is DEFINED as having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right angles.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right angle measures 90°.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3328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total: 4 × 90° = 360°.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always works -- no measuring needed.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Parallelogram Special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1188720"/>
            <a:ext cx="2560320" cy="2103120"/>
          </a:xfrm>
          <a:custGeom>
            <a:avLst/>
            <a:gdLst/>
            <a:ahLst/>
            <a:cxnLst/>
            <a:rect l="l" t="t" r="r" b="b"/>
            <a:pathLst>
              <a:path w="2560320" h="2103120">
                <a:moveTo>
                  <a:pt x="457200" y="0"/>
                </a:moveTo>
                <a:lnTo>
                  <a:pt x="25603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6936" y="1188720"/>
            <a:ext cx="288248" cy="237734"/>
          </a:xfrm>
          <a:custGeom>
            <a:avLst/>
            <a:gdLst/>
            <a:ahLst/>
            <a:cxnLst/>
            <a:rect l="l" t="t" r="r" b="b"/>
            <a:pathLst>
              <a:path w="288248" h="237734">
                <a:moveTo>
                  <a:pt x="0" y="232318"/>
                </a:moveTo>
                <a:lnTo>
                  <a:pt x="17401" y="235428"/>
                </a:lnTo>
                <a:lnTo>
                  <a:pt x="34985" y="237237"/>
                </a:lnTo>
                <a:lnTo>
                  <a:pt x="52655" y="237734"/>
                </a:lnTo>
                <a:lnTo>
                  <a:pt x="70312" y="236917"/>
                </a:lnTo>
                <a:lnTo>
                  <a:pt x="87861" y="234791"/>
                </a:lnTo>
                <a:lnTo>
                  <a:pt x="105203" y="231366"/>
                </a:lnTo>
                <a:lnTo>
                  <a:pt x="122242" y="226662"/>
                </a:lnTo>
                <a:lnTo>
                  <a:pt x="138885" y="220706"/>
                </a:lnTo>
                <a:lnTo>
                  <a:pt x="155039" y="213529"/>
                </a:lnTo>
                <a:lnTo>
                  <a:pt x="170615" y="205172"/>
                </a:lnTo>
                <a:lnTo>
                  <a:pt x="185528" y="195680"/>
                </a:lnTo>
                <a:lnTo>
                  <a:pt x="199694" y="185107"/>
                </a:lnTo>
                <a:lnTo>
                  <a:pt x="213035" y="173510"/>
                </a:lnTo>
                <a:lnTo>
                  <a:pt x="225478" y="160955"/>
                </a:lnTo>
                <a:lnTo>
                  <a:pt x="236953" y="147509"/>
                </a:lnTo>
                <a:lnTo>
                  <a:pt x="247398" y="133248"/>
                </a:lnTo>
                <a:lnTo>
                  <a:pt x="256754" y="118251"/>
                </a:lnTo>
                <a:lnTo>
                  <a:pt x="264970" y="102599"/>
                </a:lnTo>
                <a:lnTo>
                  <a:pt x="272000" y="86381"/>
                </a:lnTo>
                <a:lnTo>
                  <a:pt x="277806" y="69685"/>
                </a:lnTo>
                <a:lnTo>
                  <a:pt x="282355" y="52603"/>
                </a:lnTo>
                <a:lnTo>
                  <a:pt x="285623" y="35231"/>
                </a:lnTo>
                <a:lnTo>
                  <a:pt x="287591" y="17665"/>
                </a:lnTo>
                <a:lnTo>
                  <a:pt x="288248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5964" y="146958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65°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2816" y="1188720"/>
            <a:ext cx="187240" cy="232318"/>
          </a:xfrm>
          <a:custGeom>
            <a:avLst/>
            <a:gdLst/>
            <a:ahLst/>
            <a:cxnLst/>
            <a:rect l="l" t="t" r="r" b="b"/>
            <a:pathLst>
              <a:path w="187240" h="232318">
                <a:moveTo>
                  <a:pt x="0" y="0"/>
                </a:moveTo>
                <a:lnTo>
                  <a:pt x="380" y="13433"/>
                </a:lnTo>
                <a:lnTo>
                  <a:pt x="1518" y="26822"/>
                </a:lnTo>
                <a:lnTo>
                  <a:pt x="3411" y="40126"/>
                </a:lnTo>
                <a:lnTo>
                  <a:pt x="6052" y="53302"/>
                </a:lnTo>
                <a:lnTo>
                  <a:pt x="9434" y="66308"/>
                </a:lnTo>
                <a:lnTo>
                  <a:pt x="13545" y="79102"/>
                </a:lnTo>
                <a:lnTo>
                  <a:pt x="18373" y="91643"/>
                </a:lnTo>
                <a:lnTo>
                  <a:pt x="23901" y="103891"/>
                </a:lnTo>
                <a:lnTo>
                  <a:pt x="30112" y="115807"/>
                </a:lnTo>
                <a:lnTo>
                  <a:pt x="36987" y="127353"/>
                </a:lnTo>
                <a:lnTo>
                  <a:pt x="44503" y="138493"/>
                </a:lnTo>
                <a:lnTo>
                  <a:pt x="52637" y="149190"/>
                </a:lnTo>
                <a:lnTo>
                  <a:pt x="61362" y="159410"/>
                </a:lnTo>
                <a:lnTo>
                  <a:pt x="70651" y="169121"/>
                </a:lnTo>
                <a:lnTo>
                  <a:pt x="80473" y="178292"/>
                </a:lnTo>
                <a:lnTo>
                  <a:pt x="90798" y="186893"/>
                </a:lnTo>
                <a:lnTo>
                  <a:pt x="101592" y="194897"/>
                </a:lnTo>
                <a:lnTo>
                  <a:pt x="112821" y="202278"/>
                </a:lnTo>
                <a:lnTo>
                  <a:pt x="124450" y="209013"/>
                </a:lnTo>
                <a:lnTo>
                  <a:pt x="136440" y="215081"/>
                </a:lnTo>
                <a:lnTo>
                  <a:pt x="148754" y="220461"/>
                </a:lnTo>
                <a:lnTo>
                  <a:pt x="161352" y="225137"/>
                </a:lnTo>
                <a:lnTo>
                  <a:pt x="174195" y="229093"/>
                </a:lnTo>
                <a:lnTo>
                  <a:pt x="187240" y="232318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7630" y="13867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115°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3054106"/>
            <a:ext cx="288248" cy="237734"/>
          </a:xfrm>
          <a:custGeom>
            <a:avLst/>
            <a:gdLst/>
            <a:ahLst/>
            <a:cxnLst/>
            <a:rect l="l" t="t" r="r" b="b"/>
            <a:pathLst>
              <a:path w="288248" h="237734">
                <a:moveTo>
                  <a:pt x="288248" y="5416"/>
                </a:moveTo>
                <a:lnTo>
                  <a:pt x="270847" y="2306"/>
                </a:lnTo>
                <a:lnTo>
                  <a:pt x="253263" y="497"/>
                </a:lnTo>
                <a:lnTo>
                  <a:pt x="235593" y="0"/>
                </a:lnTo>
                <a:lnTo>
                  <a:pt x="217935" y="817"/>
                </a:lnTo>
                <a:lnTo>
                  <a:pt x="200387" y="2944"/>
                </a:lnTo>
                <a:lnTo>
                  <a:pt x="183045" y="6368"/>
                </a:lnTo>
                <a:lnTo>
                  <a:pt x="166006" y="11072"/>
                </a:lnTo>
                <a:lnTo>
                  <a:pt x="149363" y="17029"/>
                </a:lnTo>
                <a:lnTo>
                  <a:pt x="133209" y="24205"/>
                </a:lnTo>
                <a:lnTo>
                  <a:pt x="117632" y="32563"/>
                </a:lnTo>
                <a:lnTo>
                  <a:pt x="102720" y="42054"/>
                </a:lnTo>
                <a:lnTo>
                  <a:pt x="88554" y="52627"/>
                </a:lnTo>
                <a:lnTo>
                  <a:pt x="75213" y="64224"/>
                </a:lnTo>
                <a:lnTo>
                  <a:pt x="62770" y="76780"/>
                </a:lnTo>
                <a:lnTo>
                  <a:pt x="51295" y="90225"/>
                </a:lnTo>
                <a:lnTo>
                  <a:pt x="40850" y="104486"/>
                </a:lnTo>
                <a:lnTo>
                  <a:pt x="31494" y="119484"/>
                </a:lnTo>
                <a:lnTo>
                  <a:pt x="23278" y="135135"/>
                </a:lnTo>
                <a:lnTo>
                  <a:pt x="16248" y="151354"/>
                </a:lnTo>
                <a:lnTo>
                  <a:pt x="10442" y="168050"/>
                </a:lnTo>
                <a:lnTo>
                  <a:pt x="5893" y="185131"/>
                </a:lnTo>
                <a:lnTo>
                  <a:pt x="2625" y="202503"/>
                </a:lnTo>
                <a:lnTo>
                  <a:pt x="657" y="220070"/>
                </a:lnTo>
                <a:lnTo>
                  <a:pt x="0" y="23773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3316" y="271836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65°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70744" y="3059522"/>
            <a:ext cx="187240" cy="232318"/>
          </a:xfrm>
          <a:custGeom>
            <a:avLst/>
            <a:gdLst/>
            <a:ahLst/>
            <a:cxnLst/>
            <a:rect l="l" t="t" r="r" b="b"/>
            <a:pathLst>
              <a:path w="187240" h="232318">
                <a:moveTo>
                  <a:pt x="187240" y="232318"/>
                </a:moveTo>
                <a:lnTo>
                  <a:pt x="186860" y="218885"/>
                </a:lnTo>
                <a:lnTo>
                  <a:pt x="185722" y="205495"/>
                </a:lnTo>
                <a:lnTo>
                  <a:pt x="183829" y="192191"/>
                </a:lnTo>
                <a:lnTo>
                  <a:pt x="181188" y="179015"/>
                </a:lnTo>
                <a:lnTo>
                  <a:pt x="177806" y="166010"/>
                </a:lnTo>
                <a:lnTo>
                  <a:pt x="173695" y="153216"/>
                </a:lnTo>
                <a:lnTo>
                  <a:pt x="168868" y="140675"/>
                </a:lnTo>
                <a:lnTo>
                  <a:pt x="163339" y="128427"/>
                </a:lnTo>
                <a:lnTo>
                  <a:pt x="157128" y="116511"/>
                </a:lnTo>
                <a:lnTo>
                  <a:pt x="150253" y="104964"/>
                </a:lnTo>
                <a:lnTo>
                  <a:pt x="142737" y="93825"/>
                </a:lnTo>
                <a:lnTo>
                  <a:pt x="134603" y="83128"/>
                </a:lnTo>
                <a:lnTo>
                  <a:pt x="125878" y="72908"/>
                </a:lnTo>
                <a:lnTo>
                  <a:pt x="116590" y="63197"/>
                </a:lnTo>
                <a:lnTo>
                  <a:pt x="106767" y="54026"/>
                </a:lnTo>
                <a:lnTo>
                  <a:pt x="96442" y="45425"/>
                </a:lnTo>
                <a:lnTo>
                  <a:pt x="85648" y="37421"/>
                </a:lnTo>
                <a:lnTo>
                  <a:pt x="74419" y="30039"/>
                </a:lnTo>
                <a:lnTo>
                  <a:pt x="62790" y="23304"/>
                </a:lnTo>
                <a:lnTo>
                  <a:pt x="50800" y="17237"/>
                </a:lnTo>
                <a:lnTo>
                  <a:pt x="38486" y="11857"/>
                </a:lnTo>
                <a:lnTo>
                  <a:pt x="25888" y="7181"/>
                </a:lnTo>
                <a:lnTo>
                  <a:pt x="13045" y="32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1650" y="28012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115°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11430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1430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parallelogram has two pairs of equal opposite angles. One angle measures 65°. Find all four angles.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Opposite angles are equal: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angle across from 65° is 65° too.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 next to each other on a side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up to 180°: 180° − 65° = 115°.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Angles: 65°, 115°, 65°, 115°.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Mystery-Angle Special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1234440"/>
            <a:ext cx="2377440" cy="2057400"/>
          </a:xfrm>
          <a:custGeom>
            <a:avLst/>
            <a:gdLst/>
            <a:ahLst/>
            <a:cxnLst/>
            <a:rect l="l" t="t" r="r" b="b"/>
            <a:pathLst>
              <a:path w="2377440" h="2057400">
                <a:moveTo>
                  <a:pt x="274320" y="0"/>
                </a:moveTo>
                <a:lnTo>
                  <a:pt x="2377440" y="137160"/>
                </a:lnTo>
                <a:lnTo>
                  <a:pt x="2194560" y="2057400"/>
                </a:lnTo>
                <a:lnTo>
                  <a:pt x="0" y="201168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6349" y="1248722"/>
            <a:ext cx="248642" cy="205174"/>
          </a:xfrm>
          <a:custGeom>
            <a:avLst/>
            <a:gdLst/>
            <a:ahLst/>
            <a:cxnLst/>
            <a:rect l="l" t="t" r="r" b="b"/>
            <a:pathLst>
              <a:path w="248642" h="205174">
                <a:moveTo>
                  <a:pt x="0" y="203162"/>
                </a:moveTo>
                <a:lnTo>
                  <a:pt x="14927" y="204679"/>
                </a:lnTo>
                <a:lnTo>
                  <a:pt x="29923" y="205174"/>
                </a:lnTo>
                <a:lnTo>
                  <a:pt x="44918" y="204642"/>
                </a:lnTo>
                <a:lnTo>
                  <a:pt x="59841" y="203087"/>
                </a:lnTo>
                <a:lnTo>
                  <a:pt x="74624" y="200517"/>
                </a:lnTo>
                <a:lnTo>
                  <a:pt x="89196" y="196942"/>
                </a:lnTo>
                <a:lnTo>
                  <a:pt x="103490" y="192379"/>
                </a:lnTo>
                <a:lnTo>
                  <a:pt x="117438" y="186851"/>
                </a:lnTo>
                <a:lnTo>
                  <a:pt x="130976" y="180382"/>
                </a:lnTo>
                <a:lnTo>
                  <a:pt x="144041" y="173004"/>
                </a:lnTo>
                <a:lnTo>
                  <a:pt x="156571" y="164750"/>
                </a:lnTo>
                <a:lnTo>
                  <a:pt x="168507" y="155659"/>
                </a:lnTo>
                <a:lnTo>
                  <a:pt x="179795" y="145774"/>
                </a:lnTo>
                <a:lnTo>
                  <a:pt x="190381" y="135140"/>
                </a:lnTo>
                <a:lnTo>
                  <a:pt x="200215" y="123808"/>
                </a:lnTo>
                <a:lnTo>
                  <a:pt x="209252" y="111831"/>
                </a:lnTo>
                <a:lnTo>
                  <a:pt x="217450" y="99264"/>
                </a:lnTo>
                <a:lnTo>
                  <a:pt x="224769" y="86167"/>
                </a:lnTo>
                <a:lnTo>
                  <a:pt x="231177" y="72599"/>
                </a:lnTo>
                <a:lnTo>
                  <a:pt x="236643" y="58626"/>
                </a:lnTo>
                <a:lnTo>
                  <a:pt x="241141" y="44312"/>
                </a:lnTo>
                <a:lnTo>
                  <a:pt x="244650" y="29724"/>
                </a:lnTo>
                <a:lnTo>
                  <a:pt x="247154" y="14930"/>
                </a:lnTo>
                <a:lnTo>
                  <a:pt x="248642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5809" y="1498827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mystery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9664" y="1357318"/>
            <a:ext cx="198649" cy="232749"/>
          </a:xfrm>
          <a:custGeom>
            <a:avLst/>
            <a:gdLst/>
            <a:ahLst/>
            <a:cxnLst/>
            <a:rect l="l" t="t" r="r" b="b"/>
            <a:pathLst>
              <a:path w="198649" h="232749">
                <a:moveTo>
                  <a:pt x="465" y="0"/>
                </a:moveTo>
                <a:lnTo>
                  <a:pt x="0" y="14081"/>
                </a:lnTo>
                <a:lnTo>
                  <a:pt x="439" y="28162"/>
                </a:lnTo>
                <a:lnTo>
                  <a:pt x="1781" y="42186"/>
                </a:lnTo>
                <a:lnTo>
                  <a:pt x="4020" y="56095"/>
                </a:lnTo>
                <a:lnTo>
                  <a:pt x="7147" y="69832"/>
                </a:lnTo>
                <a:lnTo>
                  <a:pt x="11149" y="83340"/>
                </a:lnTo>
                <a:lnTo>
                  <a:pt x="16009" y="96563"/>
                </a:lnTo>
                <a:lnTo>
                  <a:pt x="21707" y="109447"/>
                </a:lnTo>
                <a:lnTo>
                  <a:pt x="28221" y="121940"/>
                </a:lnTo>
                <a:lnTo>
                  <a:pt x="35523" y="133988"/>
                </a:lnTo>
                <a:lnTo>
                  <a:pt x="43582" y="145543"/>
                </a:lnTo>
                <a:lnTo>
                  <a:pt x="52367" y="156557"/>
                </a:lnTo>
                <a:lnTo>
                  <a:pt x="61840" y="166985"/>
                </a:lnTo>
                <a:lnTo>
                  <a:pt x="71963" y="176783"/>
                </a:lnTo>
                <a:lnTo>
                  <a:pt x="82693" y="185912"/>
                </a:lnTo>
                <a:lnTo>
                  <a:pt x="93987" y="194333"/>
                </a:lnTo>
                <a:lnTo>
                  <a:pt x="105798" y="202013"/>
                </a:lnTo>
                <a:lnTo>
                  <a:pt x="118078" y="208919"/>
                </a:lnTo>
                <a:lnTo>
                  <a:pt x="130775" y="215022"/>
                </a:lnTo>
                <a:lnTo>
                  <a:pt x="143838" y="220299"/>
                </a:lnTo>
                <a:lnTo>
                  <a:pt x="157213" y="224726"/>
                </a:lnTo>
                <a:lnTo>
                  <a:pt x="170844" y="228286"/>
                </a:lnTo>
                <a:lnTo>
                  <a:pt x="184675" y="230964"/>
                </a:lnTo>
                <a:lnTo>
                  <a:pt x="198649" y="232749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9561" y="1569127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2 × mystery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86832" y="3072461"/>
            <a:ext cx="240215" cy="214808"/>
          </a:xfrm>
          <a:custGeom>
            <a:avLst/>
            <a:gdLst/>
            <a:ahLst/>
            <a:cxnLst/>
            <a:rect l="l" t="t" r="r" b="b"/>
            <a:pathLst>
              <a:path w="240215" h="214808">
                <a:moveTo>
                  <a:pt x="240215" y="912"/>
                </a:moveTo>
                <a:lnTo>
                  <a:pt x="225204" y="0"/>
                </a:lnTo>
                <a:lnTo>
                  <a:pt x="210167" y="118"/>
                </a:lnTo>
                <a:lnTo>
                  <a:pt x="195172" y="1266"/>
                </a:lnTo>
                <a:lnTo>
                  <a:pt x="180292" y="3438"/>
                </a:lnTo>
                <a:lnTo>
                  <a:pt x="165595" y="6624"/>
                </a:lnTo>
                <a:lnTo>
                  <a:pt x="151151" y="10809"/>
                </a:lnTo>
                <a:lnTo>
                  <a:pt x="137027" y="15973"/>
                </a:lnTo>
                <a:lnTo>
                  <a:pt x="123290" y="22092"/>
                </a:lnTo>
                <a:lnTo>
                  <a:pt x="110005" y="29138"/>
                </a:lnTo>
                <a:lnTo>
                  <a:pt x="97233" y="37077"/>
                </a:lnTo>
                <a:lnTo>
                  <a:pt x="85035" y="45872"/>
                </a:lnTo>
                <a:lnTo>
                  <a:pt x="73468" y="55482"/>
                </a:lnTo>
                <a:lnTo>
                  <a:pt x="62586" y="65862"/>
                </a:lnTo>
                <a:lnTo>
                  <a:pt x="52441" y="76962"/>
                </a:lnTo>
                <a:lnTo>
                  <a:pt x="43079" y="88731"/>
                </a:lnTo>
                <a:lnTo>
                  <a:pt x="34546" y="101114"/>
                </a:lnTo>
                <a:lnTo>
                  <a:pt x="26881" y="114051"/>
                </a:lnTo>
                <a:lnTo>
                  <a:pt x="20119" y="127484"/>
                </a:lnTo>
                <a:lnTo>
                  <a:pt x="14294" y="141348"/>
                </a:lnTo>
                <a:lnTo>
                  <a:pt x="9431" y="155578"/>
                </a:lnTo>
                <a:lnTo>
                  <a:pt x="5555" y="170108"/>
                </a:lnTo>
                <a:lnTo>
                  <a:pt x="2683" y="184870"/>
                </a:lnTo>
                <a:lnTo>
                  <a:pt x="828" y="199793"/>
                </a:lnTo>
                <a:lnTo>
                  <a:pt x="0" y="214808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7791" y="274945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3 × mystery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41331" y="3028676"/>
            <a:ext cx="189757" cy="222015"/>
          </a:xfrm>
          <a:custGeom>
            <a:avLst/>
            <a:gdLst/>
            <a:ahLst/>
            <a:cxnLst/>
            <a:rect l="l" t="t" r="r" b="b"/>
            <a:pathLst>
              <a:path w="189757" h="222015">
                <a:moveTo>
                  <a:pt x="189757" y="222015"/>
                </a:moveTo>
                <a:lnTo>
                  <a:pt x="189630" y="208703"/>
                </a:lnTo>
                <a:lnTo>
                  <a:pt x="188697" y="195423"/>
                </a:lnTo>
                <a:lnTo>
                  <a:pt x="186960" y="182224"/>
                </a:lnTo>
                <a:lnTo>
                  <a:pt x="184426" y="169155"/>
                </a:lnTo>
                <a:lnTo>
                  <a:pt x="181104" y="156264"/>
                </a:lnTo>
                <a:lnTo>
                  <a:pt x="177007" y="143597"/>
                </a:lnTo>
                <a:lnTo>
                  <a:pt x="172149" y="131203"/>
                </a:lnTo>
                <a:lnTo>
                  <a:pt x="166549" y="119126"/>
                </a:lnTo>
                <a:lnTo>
                  <a:pt x="160226" y="107410"/>
                </a:lnTo>
                <a:lnTo>
                  <a:pt x="153205" y="96100"/>
                </a:lnTo>
                <a:lnTo>
                  <a:pt x="145511" y="85236"/>
                </a:lnTo>
                <a:lnTo>
                  <a:pt x="137173" y="74858"/>
                </a:lnTo>
                <a:lnTo>
                  <a:pt x="128220" y="65005"/>
                </a:lnTo>
                <a:lnTo>
                  <a:pt x="118687" y="55713"/>
                </a:lnTo>
                <a:lnTo>
                  <a:pt x="108608" y="47017"/>
                </a:lnTo>
                <a:lnTo>
                  <a:pt x="98020" y="38947"/>
                </a:lnTo>
                <a:lnTo>
                  <a:pt x="86962" y="31534"/>
                </a:lnTo>
                <a:lnTo>
                  <a:pt x="75475" y="24806"/>
                </a:lnTo>
                <a:lnTo>
                  <a:pt x="63601" y="18786"/>
                </a:lnTo>
                <a:lnTo>
                  <a:pt x="51385" y="13497"/>
                </a:lnTo>
                <a:lnTo>
                  <a:pt x="38869" y="8959"/>
                </a:lnTo>
                <a:lnTo>
                  <a:pt x="26102" y="5188"/>
                </a:lnTo>
                <a:lnTo>
                  <a:pt x="13130" y="2198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9079" y="275523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60°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11887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3258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3200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2344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3716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quadrilateral's angles are: a mystery angle, twice the mystery angle, three times the mystery angle, and 60°. Find all four angles.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2423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+ 2 + 3 = 6 groups of the mystery angle.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2752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groups + 60° = 360°.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30815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Subtract: 6 groups = 300°.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4107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Divide: 300° ÷ 6 = 50° (the mystery angle).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37398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Angles: 50°, 100°, 150°, 60°.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188720"/>
            <a:ext cx="2468880" cy="2103120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365760" y="91440"/>
                </a:moveTo>
                <a:lnTo>
                  <a:pt x="2468880" y="0"/>
                </a:lnTo>
                <a:lnTo>
                  <a:pt x="2286000" y="2103120"/>
                </a:lnTo>
                <a:lnTo>
                  <a:pt x="0" y="205740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3955" y="1269833"/>
            <a:ext cx="281112" cy="247933"/>
          </a:xfrm>
          <a:custGeom>
            <a:avLst/>
            <a:gdLst/>
            <a:ahLst/>
            <a:cxnLst/>
            <a:rect l="l" t="t" r="r" b="b"/>
            <a:pathLst>
              <a:path w="281112" h="247933">
                <a:moveTo>
                  <a:pt x="0" y="244060"/>
                </a:moveTo>
                <a:lnTo>
                  <a:pt x="17618" y="246660"/>
                </a:lnTo>
                <a:lnTo>
                  <a:pt x="35381" y="247933"/>
                </a:lnTo>
                <a:lnTo>
                  <a:pt x="53190" y="247873"/>
                </a:lnTo>
                <a:lnTo>
                  <a:pt x="70944" y="246480"/>
                </a:lnTo>
                <a:lnTo>
                  <a:pt x="88544" y="243762"/>
                </a:lnTo>
                <a:lnTo>
                  <a:pt x="105891" y="239734"/>
                </a:lnTo>
                <a:lnTo>
                  <a:pt x="122888" y="234419"/>
                </a:lnTo>
                <a:lnTo>
                  <a:pt x="139440" y="227847"/>
                </a:lnTo>
                <a:lnTo>
                  <a:pt x="155453" y="220054"/>
                </a:lnTo>
                <a:lnTo>
                  <a:pt x="170838" y="211084"/>
                </a:lnTo>
                <a:lnTo>
                  <a:pt x="185508" y="200988"/>
                </a:lnTo>
                <a:lnTo>
                  <a:pt x="199382" y="189822"/>
                </a:lnTo>
                <a:lnTo>
                  <a:pt x="212380" y="177649"/>
                </a:lnTo>
                <a:lnTo>
                  <a:pt x="224431" y="164537"/>
                </a:lnTo>
                <a:lnTo>
                  <a:pt x="235467" y="150560"/>
                </a:lnTo>
                <a:lnTo>
                  <a:pt x="245425" y="135796"/>
                </a:lnTo>
                <a:lnTo>
                  <a:pt x="254251" y="120327"/>
                </a:lnTo>
                <a:lnTo>
                  <a:pt x="261893" y="104242"/>
                </a:lnTo>
                <a:lnTo>
                  <a:pt x="268311" y="87630"/>
                </a:lnTo>
                <a:lnTo>
                  <a:pt x="273466" y="70584"/>
                </a:lnTo>
                <a:lnTo>
                  <a:pt x="277332" y="53200"/>
                </a:lnTo>
                <a:lnTo>
                  <a:pt x="279885" y="35575"/>
                </a:lnTo>
                <a:lnTo>
                  <a:pt x="281112" y="17808"/>
                </a:lnTo>
                <a:lnTo>
                  <a:pt x="281005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1441" y="15480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82°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3040" y="1199047"/>
            <a:ext cx="216924" cy="226523"/>
          </a:xfrm>
          <a:custGeom>
            <a:avLst/>
            <a:gdLst/>
            <a:ahLst/>
            <a:cxnLst/>
            <a:rect l="l" t="t" r="r" b="b"/>
            <a:pathLst>
              <a:path w="216924" h="226523">
                <a:moveTo>
                  <a:pt x="0" y="0"/>
                </a:moveTo>
                <a:lnTo>
                  <a:pt x="1047" y="14230"/>
                </a:lnTo>
                <a:lnTo>
                  <a:pt x="2946" y="28372"/>
                </a:lnTo>
                <a:lnTo>
                  <a:pt x="5690" y="42374"/>
                </a:lnTo>
                <a:lnTo>
                  <a:pt x="9269" y="56186"/>
                </a:lnTo>
                <a:lnTo>
                  <a:pt x="13670" y="69759"/>
                </a:lnTo>
                <a:lnTo>
                  <a:pt x="18878" y="83043"/>
                </a:lnTo>
                <a:lnTo>
                  <a:pt x="24873" y="95991"/>
                </a:lnTo>
                <a:lnTo>
                  <a:pt x="31634" y="108556"/>
                </a:lnTo>
                <a:lnTo>
                  <a:pt x="39136" y="120693"/>
                </a:lnTo>
                <a:lnTo>
                  <a:pt x="47353" y="132358"/>
                </a:lnTo>
                <a:lnTo>
                  <a:pt x="56255" y="143509"/>
                </a:lnTo>
                <a:lnTo>
                  <a:pt x="65810" y="154106"/>
                </a:lnTo>
                <a:lnTo>
                  <a:pt x="75984" y="164110"/>
                </a:lnTo>
                <a:lnTo>
                  <a:pt x="86739" y="173487"/>
                </a:lnTo>
                <a:lnTo>
                  <a:pt x="98037" y="182201"/>
                </a:lnTo>
                <a:lnTo>
                  <a:pt x="109838" y="190222"/>
                </a:lnTo>
                <a:lnTo>
                  <a:pt x="122099" y="197520"/>
                </a:lnTo>
                <a:lnTo>
                  <a:pt x="134775" y="204070"/>
                </a:lnTo>
                <a:lnTo>
                  <a:pt x="147822" y="209847"/>
                </a:lnTo>
                <a:lnTo>
                  <a:pt x="161192" y="214831"/>
                </a:lnTo>
                <a:lnTo>
                  <a:pt x="174836" y="219005"/>
                </a:lnTo>
                <a:lnTo>
                  <a:pt x="188706" y="222352"/>
                </a:lnTo>
                <a:lnTo>
                  <a:pt x="202753" y="224861"/>
                </a:lnTo>
                <a:lnTo>
                  <a:pt x="216924" y="226523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8548" y="14218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97°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84" y="3054137"/>
            <a:ext cx="258292" cy="232949"/>
          </a:xfrm>
          <a:custGeom>
            <a:avLst/>
            <a:gdLst/>
            <a:ahLst/>
            <a:cxnLst/>
            <a:rect l="l" t="t" r="r" b="b"/>
            <a:pathLst>
              <a:path w="258292" h="232949">
                <a:moveTo>
                  <a:pt x="258292" y="853"/>
                </a:moveTo>
                <a:lnTo>
                  <a:pt x="242096" y="0"/>
                </a:lnTo>
                <a:lnTo>
                  <a:pt x="225880" y="253"/>
                </a:lnTo>
                <a:lnTo>
                  <a:pt x="209719" y="1611"/>
                </a:lnTo>
                <a:lnTo>
                  <a:pt x="193687" y="4068"/>
                </a:lnTo>
                <a:lnTo>
                  <a:pt x="177861" y="7612"/>
                </a:lnTo>
                <a:lnTo>
                  <a:pt x="162313" y="12227"/>
                </a:lnTo>
                <a:lnTo>
                  <a:pt x="147116" y="17891"/>
                </a:lnTo>
                <a:lnTo>
                  <a:pt x="132341" y="24578"/>
                </a:lnTo>
                <a:lnTo>
                  <a:pt x="118055" y="32257"/>
                </a:lnTo>
                <a:lnTo>
                  <a:pt x="104327" y="40892"/>
                </a:lnTo>
                <a:lnTo>
                  <a:pt x="91219" y="50443"/>
                </a:lnTo>
                <a:lnTo>
                  <a:pt x="78793" y="60865"/>
                </a:lnTo>
                <a:lnTo>
                  <a:pt x="67106" y="72110"/>
                </a:lnTo>
                <a:lnTo>
                  <a:pt x="56213" y="84126"/>
                </a:lnTo>
                <a:lnTo>
                  <a:pt x="46165" y="96856"/>
                </a:lnTo>
                <a:lnTo>
                  <a:pt x="37008" y="110242"/>
                </a:lnTo>
                <a:lnTo>
                  <a:pt x="28785" y="124221"/>
                </a:lnTo>
                <a:lnTo>
                  <a:pt x="21534" y="138728"/>
                </a:lnTo>
                <a:lnTo>
                  <a:pt x="15289" y="153696"/>
                </a:lnTo>
                <a:lnTo>
                  <a:pt x="10079" y="169055"/>
                </a:lnTo>
                <a:lnTo>
                  <a:pt x="5929" y="184733"/>
                </a:lnTo>
                <a:lnTo>
                  <a:pt x="2856" y="200658"/>
                </a:lnTo>
                <a:lnTo>
                  <a:pt x="877" y="216755"/>
                </a:lnTo>
                <a:lnTo>
                  <a:pt x="0" y="232949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5219" y="2737447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104°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5165" y="3012387"/>
            <a:ext cx="194211" cy="238487"/>
          </a:xfrm>
          <a:custGeom>
            <a:avLst/>
            <a:gdLst/>
            <a:ahLst/>
            <a:cxnLst/>
            <a:rect l="l" t="t" r="r" b="b"/>
            <a:pathLst>
              <a:path w="194211" h="238487">
                <a:moveTo>
                  <a:pt x="194211" y="238487"/>
                </a:moveTo>
                <a:lnTo>
                  <a:pt x="194081" y="224554"/>
                </a:lnTo>
                <a:lnTo>
                  <a:pt x="193136" y="210651"/>
                </a:lnTo>
                <a:lnTo>
                  <a:pt x="191377" y="196829"/>
                </a:lnTo>
                <a:lnTo>
                  <a:pt x="188811" y="183133"/>
                </a:lnTo>
                <a:lnTo>
                  <a:pt x="185448" y="169610"/>
                </a:lnTo>
                <a:lnTo>
                  <a:pt x="181298" y="156308"/>
                </a:lnTo>
                <a:lnTo>
                  <a:pt x="176376" y="143272"/>
                </a:lnTo>
                <a:lnTo>
                  <a:pt x="170699" y="130547"/>
                </a:lnTo>
                <a:lnTo>
                  <a:pt x="164286" y="118176"/>
                </a:lnTo>
                <a:lnTo>
                  <a:pt x="157159" y="106202"/>
                </a:lnTo>
                <a:lnTo>
                  <a:pt x="149343" y="94667"/>
                </a:lnTo>
                <a:lnTo>
                  <a:pt x="140864" y="83609"/>
                </a:lnTo>
                <a:lnTo>
                  <a:pt x="131753" y="73066"/>
                </a:lnTo>
                <a:lnTo>
                  <a:pt x="122039" y="63076"/>
                </a:lnTo>
                <a:lnTo>
                  <a:pt x="111757" y="53672"/>
                </a:lnTo>
                <a:lnTo>
                  <a:pt x="100941" y="44886"/>
                </a:lnTo>
                <a:lnTo>
                  <a:pt x="89630" y="36749"/>
                </a:lnTo>
                <a:lnTo>
                  <a:pt x="77861" y="29289"/>
                </a:lnTo>
                <a:lnTo>
                  <a:pt x="65675" y="22531"/>
                </a:lnTo>
                <a:lnTo>
                  <a:pt x="53114" y="16499"/>
                </a:lnTo>
                <a:lnTo>
                  <a:pt x="40221" y="11213"/>
                </a:lnTo>
                <a:lnTo>
                  <a:pt x="27041" y="6691"/>
                </a:lnTo>
                <a:lnTo>
                  <a:pt x="13619" y="294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1342" y="275337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1720" y="12344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1430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3200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2801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1732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says you can always find a quadrilateral's missing angle by subtracting the three known angles from 360°. A quadrilateral has angles 82°, 97°, and 104°. Find the fourth angle and check if Atlas's shortcut works.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missing angle's measure AND whether Atlas's shortcut always works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you will use this same 360° rule to solve quadrilateral problems with more than one missing angle.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quadrilateral has three known angles: 92°, 88°, and 100°. What is the measure of the fourth angle?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70°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80°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280°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quadrilateral has three known angles: 92°, 88°, and 100°. What is the measure of the fourth angle?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70°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80°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280°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92° + 88° + 100° = 280°; 360° − 280° = 80°.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no matter how I stretch or squish a quadrilateral, splitting it with one diagonal always makes two triangles -- and two 180s always make 360.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 my missing-angle answers by adding all four angles back together. If they don't total 360°, I know I made an arithmetic mistake somewhere.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four corners rotating together to spin all the way around one point -- a full turn is 360°, which matches the four angles perfectly.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term is angle sum: the sum of a quadrilateral's four interior angles is always 360 degrees, no matter its shape.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5.11.06.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Complete the Show What You Know checks in the Canvas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Review your Math Journal answers before submitting.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5.11.06 Angles of Quadrilaterals Part 1 — Teacher Slides</dc:title>
  <dc:subject>PptxGenJS Presentation</dc:subject>
  <dc:creator>PptxGenJS</dc:creator>
  <cp:lastModifiedBy>PptxGenJS</cp:lastModifiedBy>
  <cp:revision>1</cp:revision>
  <dcterms:created xsi:type="dcterms:W3CDTF">2026-09-24T19:24:39Z</dcterms:created>
  <dcterms:modified xsi:type="dcterms:W3CDTF">2026-09-24T19:24:39Z</dcterms:modified>
</cp:coreProperties>
</file>