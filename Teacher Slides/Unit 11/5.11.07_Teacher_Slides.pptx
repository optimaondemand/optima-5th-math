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String (5-7 min). Reveal 7×8 first — most students know this fact cold. Reveal 7×80, then 7×800, one at a time, asking what changed each time before confirming.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String (5-7 min). Reveal 7×8 first — most students know this fact cold. Reveal 7×80, then 7×800, one at a time, asking what changed each time before confirming.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pattern: multiplying a factor by 10 multiplies the product by 10 — the digits don't change, only the place value. Try It: 9×6, 9×60, 9×600 — same pattern, new facts. This is unrelated to today's angle content but keeps fact fluency sharp.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pattern: multiplying a factor by 10 multiplies the product by 10 — the digits don't change, only the place value. Try It: 9×6, 9×60, 9×600 — same pattern, new facts. This is unrelated to today's angle content but keeps fact fluency sharp.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Frame the lesson: in Lesson 6 we found a missing angle when three angles were given. Today we use SPECIAL quadrilateral properties — rhombus, trapezoid, kite — to find a missing angle even before all three others are stated as numbers.
Transition: "Let's set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Read the I Can aloud. Point out this goes further than Lesson 6: today the shape's TYPE (rhombus, trapezoid, kite) gives us a shortcut before we even add.
Transition: "Let's warm up the 360° rule from Lesson 6 first."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Quick individual work, then whole-class check. Anticipated: 90, 60, 110.
Common error: forgetting to add the three known angles before subtracting from 360.
Transition: "Today we'll use that same 360° total, plus something new — what the SHAPE tells us about its own angles."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(1-2 min)
Show a real kite image if available. The point: special quadrilaterals hide extra clues in their angles, not just their sides.
Anticipated: mixed guesses — accept all, don't confirm yet.
Transition: "Let's notice and wonder about one of these special shapes."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Let students talk before revealing anything. Someone will likely guess the opposite angle is also 72° by the shape's symmetry.
Anticipated: 'the sides all match so maybe angles match too.'
Transition: "Let's test that with a real cut-and-compare model."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
If possible, hand out paper rhombi and let students physically cut/fold the two violet corners onto each other. They should overlap perfectly.
Anticipated: 'they're the same size!'
Common error: assuming ALL four angles match, not just opposite pairs.
Transition: "Now let's see this and the trapezoid's version drawn out precisely."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
Trace the rhombus's matching colors, then the trapezoid's leg connecting 58° and 122°. Point out: 58 + 122 = 180.
Anticipated: students point to the shared leg as the reason those two are linked.
Common error: pairing the wrong two angles (across the shape instead of along the same leg).
Transition: "Let's state both rules in words."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Read both rules aloud together. Emphasize: these rules are shortcuts BUILT ON TOP of the 360° rule, not replacements for it.
Transition: "Let's name the vocabulary we just used."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
Have students echo each term once. Point back to the pictorial slide's colors as you name each pair.
Transition: "Let's work through a rhombus problem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(4 min)
Model each step aloud, pointing to the diagram's matching colors as you go.
Anticipated: some students try 360-72 = 288 first, then need reminding that's the sum of THREE unknowns, not one.
Common error: dividing 288 by 3 evenly instead of using the equal/supplementary relationships.
Transition: "Now a trapezoid — a different shape, a different rule."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(4 min)
Trace the leg with your finger/pointer so students see WHICH two angles are linked — not the two base angles.
Anticipated: 122°.
Common error: pairing 58° with the angle across the shape instead of the one sharing its leg.
Transition: "One more special shape — a kite."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C (4 min)
Key teaching point: not every special shape gives you a free shortcut for every angle — sometimes you still add and subtract from 360°, like Lesson 6.
Anticipated: 80°.
Common error: assuming the unknown must equal 120° by 'symmetry' without checking the total.
Transition: "Let's stretch this idea one shape further."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STRETCH (2 min)
This connects back to the diagonal-splitting proof from Lesson 6 and extends it. Not required for the exit check, but worth a quick pass.
Anticipated: 4 triangles, 720°.
Transition: "Now try one of today's shapes on your own."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(4 min)
Circulate while students work independently. Anticipated: 65°, 115°, 65°, 115°.
Common error: forgetting the SECOND pair of consecutive angles also needs 180 − 65.
Transition: "Chat your four angles 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— SHARE (2 min)
Cold-call 2-3 students to read their four angles. Confirm: 65°, 115°, 65°, 115° — and that they sum to 360°.
Transition: "Here's where this heads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Brief bridge to Lesson 8: drawing shapes to exact specifications, using today's angle rules to verify the drawing is right.
Transition: "Time for your exit check."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Give real silent think time before revealing. Anticipated correct answer: 70°. Common error: assuming the unknown must match 140° or one of the 75°s by 'symmetry' without checking the 360°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Give real silent think time before revealing. Anticipated correct answer: 70°. Common error: assuming the unknown must match 140° or one of the 75°s by 'symmetry' without checking the 360°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78608" y="164592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78608" y="1645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5.11.07 · Multiplication Fact Fluency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8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Solve the first problem. What strategy did you use?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String Unfolds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String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960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80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560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" y="192024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632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800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5,600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" y="297180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4279392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793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changed each time?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Pattern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one factor gains a zero, the product...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 gains a zero too — the digits 5-6 stay put, only the place value shifts.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pattern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the Next String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× 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× 60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× 600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5.11.07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Angles of Quadrilaterals Part 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11: Geometry · Lesson 7 of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MA.5.GR.1.1   ·   MTR.2.1   ·   MTR.5.1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special angle relationships in rhombuses, trapezoids, and kites — plus the 360° total — to find a missing angle.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“Opposite angles match. Angles next to each other on a straight leg add to 180°. The whole shape always adds to 360°.”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Warm-Up: Remember the 360°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 min · Readiness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Lesson 6 you learned: the four angles of any quadrilateral always add to 360°.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A quadrilateral has angles 90°, 85°, 95°, and an unknown angle. Find the unknown angle.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243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A quadrilateral has angles 100°, 100°, 100°, and an unknown angle. Find the unknown angle.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65576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6557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A quadrilateral has angles 70°, 110°, 70°, and an unknown angle. Find the unknown angle.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43484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three unknown angles, in order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Hook: The Kite on the String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 World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kite-maker only has to measure two of the four corner angles — the shape's symmetry tells her the rest.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338328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832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shape do you think has a shortcut like this — rhombus, trapezoid, or kite?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417320"/>
            <a:ext cx="2468880" cy="2743200"/>
          </a:xfrm>
          <a:custGeom>
            <a:avLst/>
            <a:gdLst/>
            <a:ahLst/>
            <a:cxnLst/>
            <a:rect l="l" t="t" r="r" b="b"/>
            <a:pathLst>
              <a:path w="2468880" h="2743200">
                <a:moveTo>
                  <a:pt x="1234440" y="0"/>
                </a:moveTo>
                <a:lnTo>
                  <a:pt x="2468880" y="1371600"/>
                </a:lnTo>
                <a:lnTo>
                  <a:pt x="1234440" y="2743200"/>
                </a:lnTo>
                <a:lnTo>
                  <a:pt x="0" y="137160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90256" y="1634814"/>
            <a:ext cx="391489" cy="75114"/>
          </a:xfrm>
          <a:custGeom>
            <a:avLst/>
            <a:gdLst/>
            <a:ahLst/>
            <a:cxnLst/>
            <a:rect l="l" t="t" r="r" b="b"/>
            <a:pathLst>
              <a:path w="391489" h="75114">
                <a:moveTo>
                  <a:pt x="0" y="0"/>
                </a:moveTo>
                <a:lnTo>
                  <a:pt x="13639" y="11541"/>
                </a:lnTo>
                <a:lnTo>
                  <a:pt x="27956" y="22228"/>
                </a:lnTo>
                <a:lnTo>
                  <a:pt x="42899" y="32021"/>
                </a:lnTo>
                <a:lnTo>
                  <a:pt x="58412" y="40884"/>
                </a:lnTo>
                <a:lnTo>
                  <a:pt x="74437" y="48784"/>
                </a:lnTo>
                <a:lnTo>
                  <a:pt x="90914" y="55691"/>
                </a:lnTo>
                <a:lnTo>
                  <a:pt x="107781" y="61580"/>
                </a:lnTo>
                <a:lnTo>
                  <a:pt x="124977" y="66428"/>
                </a:lnTo>
                <a:lnTo>
                  <a:pt x="142437" y="70217"/>
                </a:lnTo>
                <a:lnTo>
                  <a:pt x="160095" y="72934"/>
                </a:lnTo>
                <a:lnTo>
                  <a:pt x="177887" y="74569"/>
                </a:lnTo>
                <a:lnTo>
                  <a:pt x="195744" y="75114"/>
                </a:lnTo>
                <a:lnTo>
                  <a:pt x="213602" y="74569"/>
                </a:lnTo>
                <a:lnTo>
                  <a:pt x="231394" y="72934"/>
                </a:lnTo>
                <a:lnTo>
                  <a:pt x="249052" y="70217"/>
                </a:lnTo>
                <a:lnTo>
                  <a:pt x="266512" y="66428"/>
                </a:lnTo>
                <a:lnTo>
                  <a:pt x="283707" y="61580"/>
                </a:lnTo>
                <a:lnTo>
                  <a:pt x="300575" y="55691"/>
                </a:lnTo>
                <a:lnTo>
                  <a:pt x="317052" y="48784"/>
                </a:lnTo>
                <a:lnTo>
                  <a:pt x="333077" y="40884"/>
                </a:lnTo>
                <a:lnTo>
                  <a:pt x="348590" y="32021"/>
                </a:lnTo>
                <a:lnTo>
                  <a:pt x="363533" y="22228"/>
                </a:lnTo>
                <a:lnTo>
                  <a:pt x="377850" y="11541"/>
                </a:lnTo>
                <a:lnTo>
                  <a:pt x="391489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8745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72°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2571426"/>
            <a:ext cx="96864" cy="434988"/>
          </a:xfrm>
          <a:custGeom>
            <a:avLst/>
            <a:gdLst/>
            <a:ahLst/>
            <a:cxnLst/>
            <a:rect l="l" t="t" r="r" b="b"/>
            <a:pathLst>
              <a:path w="96864" h="434988">
                <a:moveTo>
                  <a:pt x="96864" y="0"/>
                </a:moveTo>
                <a:lnTo>
                  <a:pt x="82165" y="14188"/>
                </a:lnTo>
                <a:lnTo>
                  <a:pt x="68492" y="29367"/>
                </a:lnTo>
                <a:lnTo>
                  <a:pt x="55912" y="45464"/>
                </a:lnTo>
                <a:lnTo>
                  <a:pt x="44485" y="62398"/>
                </a:lnTo>
                <a:lnTo>
                  <a:pt x="34268" y="80089"/>
                </a:lnTo>
                <a:lnTo>
                  <a:pt x="25311" y="98450"/>
                </a:lnTo>
                <a:lnTo>
                  <a:pt x="17656" y="117390"/>
                </a:lnTo>
                <a:lnTo>
                  <a:pt x="11341" y="136819"/>
                </a:lnTo>
                <a:lnTo>
                  <a:pt x="6398" y="156641"/>
                </a:lnTo>
                <a:lnTo>
                  <a:pt x="2849" y="176760"/>
                </a:lnTo>
                <a:lnTo>
                  <a:pt x="713" y="197077"/>
                </a:lnTo>
                <a:lnTo>
                  <a:pt x="0" y="217494"/>
                </a:lnTo>
                <a:lnTo>
                  <a:pt x="713" y="237911"/>
                </a:lnTo>
                <a:lnTo>
                  <a:pt x="2849" y="258228"/>
                </a:lnTo>
                <a:lnTo>
                  <a:pt x="6398" y="278346"/>
                </a:lnTo>
                <a:lnTo>
                  <a:pt x="11341" y="298168"/>
                </a:lnTo>
                <a:lnTo>
                  <a:pt x="17656" y="317597"/>
                </a:lnTo>
                <a:lnTo>
                  <a:pt x="25311" y="336538"/>
                </a:lnTo>
                <a:lnTo>
                  <a:pt x="34268" y="354899"/>
                </a:lnTo>
                <a:lnTo>
                  <a:pt x="44485" y="372589"/>
                </a:lnTo>
                <a:lnTo>
                  <a:pt x="55912" y="389524"/>
                </a:lnTo>
                <a:lnTo>
                  <a:pt x="68492" y="405620"/>
                </a:lnTo>
                <a:lnTo>
                  <a:pt x="82165" y="420799"/>
                </a:lnTo>
                <a:lnTo>
                  <a:pt x="96864" y="434988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5A5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26426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90256" y="3867912"/>
            <a:ext cx="391489" cy="75114"/>
          </a:xfrm>
          <a:custGeom>
            <a:avLst/>
            <a:gdLst/>
            <a:ahLst/>
            <a:cxnLst/>
            <a:rect l="l" t="t" r="r" b="b"/>
            <a:pathLst>
              <a:path w="391489" h="75114">
                <a:moveTo>
                  <a:pt x="391489" y="75114"/>
                </a:moveTo>
                <a:lnTo>
                  <a:pt x="377850" y="63573"/>
                </a:lnTo>
                <a:lnTo>
                  <a:pt x="363533" y="52886"/>
                </a:lnTo>
                <a:lnTo>
                  <a:pt x="348590" y="43093"/>
                </a:lnTo>
                <a:lnTo>
                  <a:pt x="333077" y="34230"/>
                </a:lnTo>
                <a:lnTo>
                  <a:pt x="317052" y="26330"/>
                </a:lnTo>
                <a:lnTo>
                  <a:pt x="300575" y="19423"/>
                </a:lnTo>
                <a:lnTo>
                  <a:pt x="283707" y="13535"/>
                </a:lnTo>
                <a:lnTo>
                  <a:pt x="266512" y="8686"/>
                </a:lnTo>
                <a:lnTo>
                  <a:pt x="249052" y="4897"/>
                </a:lnTo>
                <a:lnTo>
                  <a:pt x="231394" y="2180"/>
                </a:lnTo>
                <a:lnTo>
                  <a:pt x="213602" y="545"/>
                </a:lnTo>
                <a:lnTo>
                  <a:pt x="195744" y="0"/>
                </a:lnTo>
                <a:lnTo>
                  <a:pt x="177887" y="545"/>
                </a:lnTo>
                <a:lnTo>
                  <a:pt x="160095" y="2180"/>
                </a:lnTo>
                <a:lnTo>
                  <a:pt x="142437" y="4897"/>
                </a:lnTo>
                <a:lnTo>
                  <a:pt x="124977" y="8686"/>
                </a:lnTo>
                <a:lnTo>
                  <a:pt x="107781" y="13535"/>
                </a:lnTo>
                <a:lnTo>
                  <a:pt x="90914" y="19423"/>
                </a:lnTo>
                <a:lnTo>
                  <a:pt x="74437" y="26330"/>
                </a:lnTo>
                <a:lnTo>
                  <a:pt x="58412" y="34230"/>
                </a:lnTo>
                <a:lnTo>
                  <a:pt x="42899" y="43093"/>
                </a:lnTo>
                <a:lnTo>
                  <a:pt x="27956" y="52886"/>
                </a:lnTo>
                <a:lnTo>
                  <a:pt x="13639" y="63573"/>
                </a:lnTo>
                <a:lnTo>
                  <a:pt x="0" y="7511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5A5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4107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47304" y="2571426"/>
            <a:ext cx="96864" cy="434988"/>
          </a:xfrm>
          <a:custGeom>
            <a:avLst/>
            <a:gdLst/>
            <a:ahLst/>
            <a:cxnLst/>
            <a:rect l="l" t="t" r="r" b="b"/>
            <a:pathLst>
              <a:path w="96864" h="434988">
                <a:moveTo>
                  <a:pt x="0" y="434988"/>
                </a:moveTo>
                <a:lnTo>
                  <a:pt x="14699" y="420799"/>
                </a:lnTo>
                <a:lnTo>
                  <a:pt x="28371" y="405620"/>
                </a:lnTo>
                <a:lnTo>
                  <a:pt x="40952" y="389524"/>
                </a:lnTo>
                <a:lnTo>
                  <a:pt x="52378" y="372589"/>
                </a:lnTo>
                <a:lnTo>
                  <a:pt x="62595" y="354899"/>
                </a:lnTo>
                <a:lnTo>
                  <a:pt x="71553" y="336538"/>
                </a:lnTo>
                <a:lnTo>
                  <a:pt x="79208" y="317597"/>
                </a:lnTo>
                <a:lnTo>
                  <a:pt x="85522" y="298168"/>
                </a:lnTo>
                <a:lnTo>
                  <a:pt x="90466" y="278346"/>
                </a:lnTo>
                <a:lnTo>
                  <a:pt x="94014" y="258228"/>
                </a:lnTo>
                <a:lnTo>
                  <a:pt x="96150" y="237911"/>
                </a:lnTo>
                <a:lnTo>
                  <a:pt x="96864" y="217494"/>
                </a:lnTo>
                <a:lnTo>
                  <a:pt x="96150" y="197077"/>
                </a:lnTo>
                <a:lnTo>
                  <a:pt x="94014" y="176760"/>
                </a:lnTo>
                <a:lnTo>
                  <a:pt x="90466" y="156641"/>
                </a:lnTo>
                <a:lnTo>
                  <a:pt x="85522" y="136819"/>
                </a:lnTo>
                <a:lnTo>
                  <a:pt x="79208" y="117390"/>
                </a:lnTo>
                <a:lnTo>
                  <a:pt x="71553" y="98450"/>
                </a:lnTo>
                <a:lnTo>
                  <a:pt x="62595" y="80089"/>
                </a:lnTo>
                <a:lnTo>
                  <a:pt x="52378" y="62398"/>
                </a:lnTo>
                <a:lnTo>
                  <a:pt x="40952" y="45464"/>
                </a:lnTo>
                <a:lnTo>
                  <a:pt x="28371" y="29367"/>
                </a:lnTo>
                <a:lnTo>
                  <a:pt x="14699" y="14188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5A5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9304" y="26426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40280" y="13716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7432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0280" y="41148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27432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416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A5A7A"/>
                </a:solidFill>
              </a:rPr>
              <a:t>A rhombus — all four sides equal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960120"/>
            <a:ext cx="4389120" cy="1920240"/>
          </a:xfrm>
          <a:prstGeom prst="roundRect">
            <a:avLst>
              <a:gd name="adj" fmla="val 476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141732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one angle is labeled, and all four sides look the same length.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34840" y="3017520"/>
            <a:ext cx="4389120" cy="1920240"/>
          </a:xfrm>
          <a:prstGeom prst="roundRect">
            <a:avLst>
              <a:gd name="adj" fmla="val 476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108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17720" y="347472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I figure out the other three angles without measuring them?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Cut the Corners and Compare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371600"/>
            <a:ext cx="2560320" cy="3017520"/>
          </a:xfrm>
          <a:custGeom>
            <a:avLst/>
            <a:gdLst/>
            <a:ahLst/>
            <a:cxnLst/>
            <a:rect l="l" t="t" r="r" b="b"/>
            <a:pathLst>
              <a:path w="2560320" h="3017520">
                <a:moveTo>
                  <a:pt x="1280160" y="0"/>
                </a:moveTo>
                <a:lnTo>
                  <a:pt x="2560320" y="1508760"/>
                </a:lnTo>
                <a:lnTo>
                  <a:pt x="1280160" y="3017520"/>
                </a:lnTo>
                <a:lnTo>
                  <a:pt x="0" y="150876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2409" y="1594716"/>
            <a:ext cx="378622" cy="69492"/>
          </a:xfrm>
          <a:custGeom>
            <a:avLst/>
            <a:gdLst/>
            <a:ahLst/>
            <a:cxnLst/>
            <a:rect l="l" t="t" r="r" b="b"/>
            <a:pathLst>
              <a:path w="378622" h="69492">
                <a:moveTo>
                  <a:pt x="0" y="0"/>
                </a:moveTo>
                <a:lnTo>
                  <a:pt x="13400" y="10710"/>
                </a:lnTo>
                <a:lnTo>
                  <a:pt x="27405" y="20617"/>
                </a:lnTo>
                <a:lnTo>
                  <a:pt x="41966" y="29686"/>
                </a:lnTo>
                <a:lnTo>
                  <a:pt x="57034" y="37886"/>
                </a:lnTo>
                <a:lnTo>
                  <a:pt x="72556" y="45189"/>
                </a:lnTo>
                <a:lnTo>
                  <a:pt x="88480" y="51570"/>
                </a:lnTo>
                <a:lnTo>
                  <a:pt x="104750" y="57007"/>
                </a:lnTo>
                <a:lnTo>
                  <a:pt x="121311" y="61481"/>
                </a:lnTo>
                <a:lnTo>
                  <a:pt x="138105" y="64976"/>
                </a:lnTo>
                <a:lnTo>
                  <a:pt x="155076" y="67482"/>
                </a:lnTo>
                <a:lnTo>
                  <a:pt x="172164" y="68989"/>
                </a:lnTo>
                <a:lnTo>
                  <a:pt x="189311" y="69492"/>
                </a:lnTo>
                <a:lnTo>
                  <a:pt x="206458" y="68989"/>
                </a:lnTo>
                <a:lnTo>
                  <a:pt x="223546" y="67482"/>
                </a:lnTo>
                <a:lnTo>
                  <a:pt x="240517" y="64976"/>
                </a:lnTo>
                <a:lnTo>
                  <a:pt x="257311" y="61481"/>
                </a:lnTo>
                <a:lnTo>
                  <a:pt x="273872" y="57007"/>
                </a:lnTo>
                <a:lnTo>
                  <a:pt x="290142" y="51570"/>
                </a:lnTo>
                <a:lnTo>
                  <a:pt x="306065" y="45189"/>
                </a:lnTo>
                <a:lnTo>
                  <a:pt x="321588" y="37886"/>
                </a:lnTo>
                <a:lnTo>
                  <a:pt x="336655" y="29686"/>
                </a:lnTo>
                <a:lnTo>
                  <a:pt x="351217" y="20617"/>
                </a:lnTo>
                <a:lnTo>
                  <a:pt x="365221" y="10710"/>
                </a:lnTo>
                <a:lnTo>
                  <a:pt x="378622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828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72°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9272" y="2657244"/>
            <a:ext cx="103297" cy="446233"/>
          </a:xfrm>
          <a:custGeom>
            <a:avLst/>
            <a:gdLst/>
            <a:ahLst/>
            <a:cxnLst/>
            <a:rect l="l" t="t" r="r" b="b"/>
            <a:pathLst>
              <a:path w="103297" h="446233">
                <a:moveTo>
                  <a:pt x="103297" y="0"/>
                </a:moveTo>
                <a:lnTo>
                  <a:pt x="87682" y="14251"/>
                </a:lnTo>
                <a:lnTo>
                  <a:pt x="73136" y="29592"/>
                </a:lnTo>
                <a:lnTo>
                  <a:pt x="59736" y="45944"/>
                </a:lnTo>
                <a:lnTo>
                  <a:pt x="47552" y="63220"/>
                </a:lnTo>
                <a:lnTo>
                  <a:pt x="36646" y="81331"/>
                </a:lnTo>
                <a:lnTo>
                  <a:pt x="27077" y="100182"/>
                </a:lnTo>
                <a:lnTo>
                  <a:pt x="18894" y="119675"/>
                </a:lnTo>
                <a:lnTo>
                  <a:pt x="12140" y="139708"/>
                </a:lnTo>
                <a:lnTo>
                  <a:pt x="6849" y="160176"/>
                </a:lnTo>
                <a:lnTo>
                  <a:pt x="3051" y="180973"/>
                </a:lnTo>
                <a:lnTo>
                  <a:pt x="764" y="201989"/>
                </a:lnTo>
                <a:lnTo>
                  <a:pt x="0" y="223116"/>
                </a:lnTo>
                <a:lnTo>
                  <a:pt x="764" y="244243"/>
                </a:lnTo>
                <a:lnTo>
                  <a:pt x="3051" y="265260"/>
                </a:lnTo>
                <a:lnTo>
                  <a:pt x="6849" y="286057"/>
                </a:lnTo>
                <a:lnTo>
                  <a:pt x="12140" y="306525"/>
                </a:lnTo>
                <a:lnTo>
                  <a:pt x="18894" y="326558"/>
                </a:lnTo>
                <a:lnTo>
                  <a:pt x="27077" y="346050"/>
                </a:lnTo>
                <a:lnTo>
                  <a:pt x="36646" y="364901"/>
                </a:lnTo>
                <a:lnTo>
                  <a:pt x="47552" y="383012"/>
                </a:lnTo>
                <a:lnTo>
                  <a:pt x="59736" y="400289"/>
                </a:lnTo>
                <a:lnTo>
                  <a:pt x="73136" y="416640"/>
                </a:lnTo>
                <a:lnTo>
                  <a:pt x="87682" y="431982"/>
                </a:lnTo>
                <a:lnTo>
                  <a:pt x="103297" y="446233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42616" y="27340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108°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42409" y="4096512"/>
            <a:ext cx="378622" cy="69492"/>
          </a:xfrm>
          <a:custGeom>
            <a:avLst/>
            <a:gdLst/>
            <a:ahLst/>
            <a:cxnLst/>
            <a:rect l="l" t="t" r="r" b="b"/>
            <a:pathLst>
              <a:path w="378622" h="69492">
                <a:moveTo>
                  <a:pt x="378622" y="69492"/>
                </a:moveTo>
                <a:lnTo>
                  <a:pt x="365221" y="58781"/>
                </a:lnTo>
                <a:lnTo>
                  <a:pt x="351217" y="48875"/>
                </a:lnTo>
                <a:lnTo>
                  <a:pt x="336655" y="39806"/>
                </a:lnTo>
                <a:lnTo>
                  <a:pt x="321588" y="31606"/>
                </a:lnTo>
                <a:lnTo>
                  <a:pt x="306065" y="24303"/>
                </a:lnTo>
                <a:lnTo>
                  <a:pt x="290142" y="17922"/>
                </a:lnTo>
                <a:lnTo>
                  <a:pt x="273872" y="12485"/>
                </a:lnTo>
                <a:lnTo>
                  <a:pt x="257311" y="8011"/>
                </a:lnTo>
                <a:lnTo>
                  <a:pt x="240517" y="4515"/>
                </a:lnTo>
                <a:lnTo>
                  <a:pt x="223546" y="2010"/>
                </a:lnTo>
                <a:lnTo>
                  <a:pt x="206458" y="503"/>
                </a:lnTo>
                <a:lnTo>
                  <a:pt x="189311" y="0"/>
                </a:lnTo>
                <a:lnTo>
                  <a:pt x="172164" y="503"/>
                </a:lnTo>
                <a:lnTo>
                  <a:pt x="155076" y="2010"/>
                </a:lnTo>
                <a:lnTo>
                  <a:pt x="138105" y="4515"/>
                </a:lnTo>
                <a:lnTo>
                  <a:pt x="121311" y="8011"/>
                </a:lnTo>
                <a:lnTo>
                  <a:pt x="104750" y="12485"/>
                </a:lnTo>
                <a:lnTo>
                  <a:pt x="88480" y="17922"/>
                </a:lnTo>
                <a:lnTo>
                  <a:pt x="72556" y="24303"/>
                </a:lnTo>
                <a:lnTo>
                  <a:pt x="57034" y="31606"/>
                </a:lnTo>
                <a:lnTo>
                  <a:pt x="41966" y="39806"/>
                </a:lnTo>
                <a:lnTo>
                  <a:pt x="27405" y="48875"/>
                </a:lnTo>
                <a:lnTo>
                  <a:pt x="13400" y="58781"/>
                </a:lnTo>
                <a:lnTo>
                  <a:pt x="0" y="69492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36393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72°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40871" y="2657244"/>
            <a:ext cx="103297" cy="446233"/>
          </a:xfrm>
          <a:custGeom>
            <a:avLst/>
            <a:gdLst/>
            <a:ahLst/>
            <a:cxnLst/>
            <a:rect l="l" t="t" r="r" b="b"/>
            <a:pathLst>
              <a:path w="103297" h="446233">
                <a:moveTo>
                  <a:pt x="0" y="446233"/>
                </a:moveTo>
                <a:lnTo>
                  <a:pt x="15615" y="431982"/>
                </a:lnTo>
                <a:lnTo>
                  <a:pt x="30161" y="416640"/>
                </a:lnTo>
                <a:lnTo>
                  <a:pt x="43561" y="400289"/>
                </a:lnTo>
                <a:lnTo>
                  <a:pt x="55746" y="383012"/>
                </a:lnTo>
                <a:lnTo>
                  <a:pt x="66651" y="364901"/>
                </a:lnTo>
                <a:lnTo>
                  <a:pt x="76220" y="346050"/>
                </a:lnTo>
                <a:lnTo>
                  <a:pt x="84403" y="326558"/>
                </a:lnTo>
                <a:lnTo>
                  <a:pt x="91158" y="306525"/>
                </a:lnTo>
                <a:lnTo>
                  <a:pt x="96448" y="286057"/>
                </a:lnTo>
                <a:lnTo>
                  <a:pt x="100246" y="265260"/>
                </a:lnTo>
                <a:lnTo>
                  <a:pt x="102534" y="244243"/>
                </a:lnTo>
                <a:lnTo>
                  <a:pt x="103297" y="223116"/>
                </a:lnTo>
                <a:lnTo>
                  <a:pt x="102534" y="201989"/>
                </a:lnTo>
                <a:lnTo>
                  <a:pt x="100246" y="180973"/>
                </a:lnTo>
                <a:lnTo>
                  <a:pt x="96448" y="160176"/>
                </a:lnTo>
                <a:lnTo>
                  <a:pt x="91158" y="139708"/>
                </a:lnTo>
                <a:lnTo>
                  <a:pt x="84403" y="119675"/>
                </a:lnTo>
                <a:lnTo>
                  <a:pt x="76220" y="100182"/>
                </a:lnTo>
                <a:lnTo>
                  <a:pt x="66651" y="81331"/>
                </a:lnTo>
                <a:lnTo>
                  <a:pt x="55746" y="63220"/>
                </a:lnTo>
                <a:lnTo>
                  <a:pt x="43561" y="45944"/>
                </a:lnTo>
                <a:lnTo>
                  <a:pt x="30161" y="29592"/>
                </a:lnTo>
                <a:lnTo>
                  <a:pt x="15615" y="14251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9304" y="27340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108°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13258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283464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43434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283464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6451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A5A7A"/>
                </a:solidFill>
              </a:rPr>
              <a:t>Opposite corners share a color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914400"/>
            <a:ext cx="43434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0058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out the two violet corners and set them side by side: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39666" y="2743200"/>
            <a:ext cx="1556309" cy="0"/>
          </a:xfrm>
          <a:prstGeom prst="line">
            <a:avLst/>
          </a:prstGeom>
          <a:noFill/>
          <a:ln w="15875">
            <a:solidFill>
              <a:srgbClr val="C9C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94806" y="2743200"/>
            <a:ext cx="201168" cy="914"/>
          </a:xfrm>
          <a:prstGeom prst="line">
            <a:avLst/>
          </a:prstGeom>
          <a:noFill/>
          <a:ln w="19050">
            <a:solidFill>
              <a:srgbClr val="9A9A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7686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A8"/>
                </a:solidFill>
              </a:rPr>
              <a:t>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flipV="1">
            <a:off x="6067086" y="2608075"/>
            <a:ext cx="117066" cy="20642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6037343" y="2477056"/>
            <a:ext cx="111703" cy="40657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917505" y="2354123"/>
            <a:ext cx="174217" cy="100584"/>
          </a:xfrm>
          <a:prstGeom prst="line">
            <a:avLst/>
          </a:prstGeom>
          <a:noFill/>
          <a:ln w="19050">
            <a:solidFill>
              <a:srgbClr val="9A9A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9132" y="208894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A8"/>
                </a:solidFill>
              </a:rPr>
              <a:t>30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flipV="1">
            <a:off x="5922860" y="2243012"/>
            <a:ext cx="91061" cy="76409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841599" y="2147099"/>
            <a:ext cx="76409" cy="91061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706313" y="2069299"/>
            <a:ext cx="100584" cy="174217"/>
          </a:xfrm>
          <a:prstGeom prst="line">
            <a:avLst/>
          </a:prstGeom>
          <a:noFill/>
          <a:ln w="19050">
            <a:solidFill>
              <a:srgbClr val="9A9A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0593" y="1710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A8"/>
                </a:solidFill>
              </a:rPr>
              <a:t>60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 flipV="1">
            <a:off x="5643308" y="2011974"/>
            <a:ext cx="40657" cy="111703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532303" y="1976868"/>
            <a:ext cx="20642" cy="117066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417820" y="1965046"/>
            <a:ext cx="914" cy="201168"/>
          </a:xfrm>
          <a:prstGeom prst="line">
            <a:avLst/>
          </a:prstGeom>
          <a:noFill/>
          <a:ln w="19050">
            <a:solidFill>
              <a:srgbClr val="9A9A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3500" y="157185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A8"/>
                </a:solidFill>
              </a:rPr>
              <a:t>90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82695" y="1976868"/>
            <a:ext cx="20642" cy="117066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51676" y="2011974"/>
            <a:ext cx="40657" cy="111703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8743" y="2069299"/>
            <a:ext cx="100584" cy="174217"/>
          </a:xfrm>
          <a:prstGeom prst="line">
            <a:avLst/>
          </a:prstGeom>
          <a:noFill/>
          <a:ln w="19050">
            <a:solidFill>
              <a:srgbClr val="9A9A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26407" y="1710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A8"/>
                </a:solidFill>
              </a:rPr>
              <a:t>120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17632" y="2147099"/>
            <a:ext cx="76409" cy="91061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1719" y="2243012"/>
            <a:ext cx="91061" cy="76409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43919" y="2354123"/>
            <a:ext cx="174217" cy="100584"/>
          </a:xfrm>
          <a:prstGeom prst="line">
            <a:avLst/>
          </a:prstGeom>
          <a:noFill/>
          <a:ln w="19050">
            <a:solidFill>
              <a:srgbClr val="9A9A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47868" y="208894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A8"/>
                </a:solidFill>
              </a:rPr>
              <a:t>150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86594" y="2477056"/>
            <a:ext cx="111703" cy="40657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51488" y="2608075"/>
            <a:ext cx="117066" cy="20642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39666" y="2743200"/>
            <a:ext cx="201168" cy="914"/>
          </a:xfrm>
          <a:prstGeom prst="line">
            <a:avLst/>
          </a:prstGeom>
          <a:noFill/>
          <a:ln w="19050">
            <a:solidFill>
              <a:srgbClr val="9A9A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09314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A8"/>
                </a:solidFill>
              </a:rPr>
              <a:t>180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392292" y="2012020"/>
            <a:ext cx="712880" cy="731180"/>
          </a:xfrm>
          <a:custGeom>
            <a:avLst/>
            <a:gdLst/>
            <a:ahLst/>
            <a:cxnLst/>
            <a:rect l="l" t="t" r="r" b="b"/>
            <a:pathLst>
              <a:path w="712880" h="731180">
                <a:moveTo>
                  <a:pt x="25528" y="731180"/>
                </a:moveTo>
                <a:lnTo>
                  <a:pt x="712880" y="481004"/>
                </a:lnTo>
                <a:lnTo>
                  <a:pt x="695815" y="438339"/>
                </a:lnTo>
                <a:lnTo>
                  <a:pt x="676105" y="396829"/>
                </a:lnTo>
                <a:lnTo>
                  <a:pt x="653827" y="356638"/>
                </a:lnTo>
                <a:lnTo>
                  <a:pt x="629070" y="317926"/>
                </a:lnTo>
                <a:lnTo>
                  <a:pt x="601930" y="280845"/>
                </a:lnTo>
                <a:lnTo>
                  <a:pt x="572516" y="245541"/>
                </a:lnTo>
                <a:lnTo>
                  <a:pt x="540943" y="212154"/>
                </a:lnTo>
                <a:lnTo>
                  <a:pt x="507336" y="180815"/>
                </a:lnTo>
                <a:lnTo>
                  <a:pt x="471828" y="151648"/>
                </a:lnTo>
                <a:lnTo>
                  <a:pt x="434558" y="124768"/>
                </a:lnTo>
                <a:lnTo>
                  <a:pt x="395674" y="100281"/>
                </a:lnTo>
                <a:lnTo>
                  <a:pt x="355329" y="78285"/>
                </a:lnTo>
                <a:lnTo>
                  <a:pt x="313683" y="58864"/>
                </a:lnTo>
                <a:lnTo>
                  <a:pt x="270899" y="42098"/>
                </a:lnTo>
                <a:lnTo>
                  <a:pt x="227147" y="28051"/>
                </a:lnTo>
                <a:lnTo>
                  <a:pt x="182599" y="16778"/>
                </a:lnTo>
                <a:lnTo>
                  <a:pt x="137432" y="8325"/>
                </a:lnTo>
                <a:lnTo>
                  <a:pt x="91822" y="2725"/>
                </a:lnTo>
                <a:lnTo>
                  <a:pt x="45951" y="0"/>
                </a:lnTo>
                <a:lnTo>
                  <a:pt x="0" y="160"/>
                </a:lnTo>
                <a:close/>
              </a:path>
            </a:pathLst>
          </a:cu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07500" y="2447546"/>
            <a:ext cx="288186" cy="194519"/>
          </a:xfrm>
          <a:custGeom>
            <a:avLst/>
            <a:gdLst/>
            <a:ahLst/>
            <a:cxnLst/>
            <a:rect l="l" t="t" r="r" b="b"/>
            <a:pathLst>
              <a:path w="288186" h="194519">
                <a:moveTo>
                  <a:pt x="288186" y="194519"/>
                </a:moveTo>
                <a:lnTo>
                  <a:pt x="282512" y="180115"/>
                </a:lnTo>
                <a:lnTo>
                  <a:pt x="276092" y="166028"/>
                </a:lnTo>
                <a:lnTo>
                  <a:pt x="268944" y="152296"/>
                </a:lnTo>
                <a:lnTo>
                  <a:pt x="261086" y="138957"/>
                </a:lnTo>
                <a:lnTo>
                  <a:pt x="252542" y="126048"/>
                </a:lnTo>
                <a:lnTo>
                  <a:pt x="243333" y="113603"/>
                </a:lnTo>
                <a:lnTo>
                  <a:pt x="233486" y="101658"/>
                </a:lnTo>
                <a:lnTo>
                  <a:pt x="223028" y="90244"/>
                </a:lnTo>
                <a:lnTo>
                  <a:pt x="211986" y="79393"/>
                </a:lnTo>
                <a:lnTo>
                  <a:pt x="200391" y="69135"/>
                </a:lnTo>
                <a:lnTo>
                  <a:pt x="188276" y="59498"/>
                </a:lnTo>
                <a:lnTo>
                  <a:pt x="175672" y="50508"/>
                </a:lnTo>
                <a:lnTo>
                  <a:pt x="162616" y="42190"/>
                </a:lnTo>
                <a:lnTo>
                  <a:pt x="149142" y="34567"/>
                </a:lnTo>
                <a:lnTo>
                  <a:pt x="135287" y="27660"/>
                </a:lnTo>
                <a:lnTo>
                  <a:pt x="121090" y="21487"/>
                </a:lnTo>
                <a:lnTo>
                  <a:pt x="106590" y="16065"/>
                </a:lnTo>
                <a:lnTo>
                  <a:pt x="91825" y="11410"/>
                </a:lnTo>
                <a:lnTo>
                  <a:pt x="76837" y="7534"/>
                </a:lnTo>
                <a:lnTo>
                  <a:pt x="61667" y="4447"/>
                </a:lnTo>
                <a:lnTo>
                  <a:pt x="46356" y="2159"/>
                </a:lnTo>
                <a:lnTo>
                  <a:pt x="30947" y="675"/>
                </a:lnTo>
                <a:lnTo>
                  <a:pt x="15480" y="0"/>
                </a:lnTo>
                <a:lnTo>
                  <a:pt x="0" y="135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4A3D8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5417820" y="2477056"/>
            <a:ext cx="731226" cy="266144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90663" y="1965520"/>
            <a:ext cx="27157" cy="777680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62956" y="2688336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60620" y="2816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Corner 1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376223" y="2011946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76223" y="201194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72°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879946" y="2743200"/>
            <a:ext cx="1556309" cy="0"/>
          </a:xfrm>
          <a:prstGeom prst="line">
            <a:avLst/>
          </a:prstGeom>
          <a:noFill/>
          <a:ln w="15875">
            <a:solidFill>
              <a:srgbClr val="C9C9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35086" y="2743200"/>
            <a:ext cx="201168" cy="914"/>
          </a:xfrm>
          <a:prstGeom prst="line">
            <a:avLst/>
          </a:prstGeom>
          <a:noFill/>
          <a:ln w="19050">
            <a:solidFill>
              <a:srgbClr val="9A9A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7966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A8"/>
                </a:solidFill>
              </a:rPr>
              <a:t>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 flipV="1">
            <a:off x="8307366" y="2608075"/>
            <a:ext cx="117066" cy="20642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8277623" y="2477056"/>
            <a:ext cx="111703" cy="40657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8157785" y="2354123"/>
            <a:ext cx="174217" cy="100584"/>
          </a:xfrm>
          <a:prstGeom prst="line">
            <a:avLst/>
          </a:prstGeom>
          <a:noFill/>
          <a:ln w="19050">
            <a:solidFill>
              <a:srgbClr val="9A9A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79412" y="208894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A8"/>
                </a:solidFill>
              </a:rPr>
              <a:t>30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 flipV="1">
            <a:off x="8163140" y="2243012"/>
            <a:ext cx="91061" cy="76409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8081879" y="2147099"/>
            <a:ext cx="76409" cy="91061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7946593" y="2069299"/>
            <a:ext cx="100584" cy="174217"/>
          </a:xfrm>
          <a:prstGeom prst="line">
            <a:avLst/>
          </a:prstGeom>
          <a:noFill/>
          <a:ln w="19050">
            <a:solidFill>
              <a:srgbClr val="9A9A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00873" y="1710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A8"/>
                </a:solidFill>
              </a:rPr>
              <a:t>60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 flipV="1">
            <a:off x="7883588" y="2011974"/>
            <a:ext cx="40657" cy="111703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7772583" y="1976868"/>
            <a:ext cx="20642" cy="117066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7658100" y="1965046"/>
            <a:ext cx="914" cy="201168"/>
          </a:xfrm>
          <a:prstGeom prst="line">
            <a:avLst/>
          </a:prstGeom>
          <a:noFill/>
          <a:ln w="19050">
            <a:solidFill>
              <a:srgbClr val="9A9A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83780" y="157185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A8"/>
                </a:solidFill>
              </a:rPr>
              <a:t>90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522975" y="1976868"/>
            <a:ext cx="20642" cy="117066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91956" y="2011974"/>
            <a:ext cx="40657" cy="111703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269023" y="2069299"/>
            <a:ext cx="100584" cy="174217"/>
          </a:xfrm>
          <a:prstGeom prst="line">
            <a:avLst/>
          </a:prstGeom>
          <a:noFill/>
          <a:ln w="19050">
            <a:solidFill>
              <a:srgbClr val="9A9A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66687" y="1710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A8"/>
                </a:solidFill>
              </a:rPr>
              <a:t>120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157912" y="2147099"/>
            <a:ext cx="76409" cy="91061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61999" y="2243012"/>
            <a:ext cx="91061" cy="76409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84199" y="2354123"/>
            <a:ext cx="174217" cy="100584"/>
          </a:xfrm>
          <a:prstGeom prst="line">
            <a:avLst/>
          </a:prstGeom>
          <a:noFill/>
          <a:ln w="19050">
            <a:solidFill>
              <a:srgbClr val="9A9AB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88148" y="208894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A8"/>
                </a:solidFill>
              </a:rPr>
              <a:t>150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926874" y="2477056"/>
            <a:ext cx="111703" cy="40657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91768" y="2608075"/>
            <a:ext cx="117066" cy="20642"/>
          </a:xfrm>
          <a:prstGeom prst="line">
            <a:avLst/>
          </a:prstGeom>
          <a:noFill/>
          <a:ln w="9525">
            <a:solidFill>
              <a:srgbClr val="D6D6E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879946" y="2743200"/>
            <a:ext cx="201168" cy="914"/>
          </a:xfrm>
          <a:prstGeom prst="line">
            <a:avLst/>
          </a:prstGeom>
          <a:noFill/>
          <a:ln w="19050">
            <a:solidFill>
              <a:srgbClr val="9A9AB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49594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A8"/>
                </a:solidFill>
              </a:rPr>
              <a:t>180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632572" y="2012020"/>
            <a:ext cx="712880" cy="731180"/>
          </a:xfrm>
          <a:custGeom>
            <a:avLst/>
            <a:gdLst/>
            <a:ahLst/>
            <a:cxnLst/>
            <a:rect l="l" t="t" r="r" b="b"/>
            <a:pathLst>
              <a:path w="712880" h="731180">
                <a:moveTo>
                  <a:pt x="25528" y="731180"/>
                </a:moveTo>
                <a:lnTo>
                  <a:pt x="712880" y="481004"/>
                </a:lnTo>
                <a:lnTo>
                  <a:pt x="695815" y="438339"/>
                </a:lnTo>
                <a:lnTo>
                  <a:pt x="676105" y="396829"/>
                </a:lnTo>
                <a:lnTo>
                  <a:pt x="653827" y="356638"/>
                </a:lnTo>
                <a:lnTo>
                  <a:pt x="629070" y="317926"/>
                </a:lnTo>
                <a:lnTo>
                  <a:pt x="601930" y="280845"/>
                </a:lnTo>
                <a:lnTo>
                  <a:pt x="572516" y="245541"/>
                </a:lnTo>
                <a:lnTo>
                  <a:pt x="540943" y="212154"/>
                </a:lnTo>
                <a:lnTo>
                  <a:pt x="507336" y="180815"/>
                </a:lnTo>
                <a:lnTo>
                  <a:pt x="471828" y="151648"/>
                </a:lnTo>
                <a:lnTo>
                  <a:pt x="434558" y="124768"/>
                </a:lnTo>
                <a:lnTo>
                  <a:pt x="395674" y="100281"/>
                </a:lnTo>
                <a:lnTo>
                  <a:pt x="355329" y="78285"/>
                </a:lnTo>
                <a:lnTo>
                  <a:pt x="313683" y="58864"/>
                </a:lnTo>
                <a:lnTo>
                  <a:pt x="270899" y="42098"/>
                </a:lnTo>
                <a:lnTo>
                  <a:pt x="227147" y="28051"/>
                </a:lnTo>
                <a:lnTo>
                  <a:pt x="182599" y="16778"/>
                </a:lnTo>
                <a:lnTo>
                  <a:pt x="137432" y="8325"/>
                </a:lnTo>
                <a:lnTo>
                  <a:pt x="91822" y="2725"/>
                </a:lnTo>
                <a:lnTo>
                  <a:pt x="45951" y="0"/>
                </a:lnTo>
                <a:lnTo>
                  <a:pt x="0" y="160"/>
                </a:lnTo>
                <a:close/>
              </a:path>
            </a:pathLst>
          </a:cu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47780" y="2447546"/>
            <a:ext cx="288186" cy="194519"/>
          </a:xfrm>
          <a:custGeom>
            <a:avLst/>
            <a:gdLst/>
            <a:ahLst/>
            <a:cxnLst/>
            <a:rect l="l" t="t" r="r" b="b"/>
            <a:pathLst>
              <a:path w="288186" h="194519">
                <a:moveTo>
                  <a:pt x="288186" y="194519"/>
                </a:moveTo>
                <a:lnTo>
                  <a:pt x="282512" y="180115"/>
                </a:lnTo>
                <a:lnTo>
                  <a:pt x="276092" y="166028"/>
                </a:lnTo>
                <a:lnTo>
                  <a:pt x="268944" y="152296"/>
                </a:lnTo>
                <a:lnTo>
                  <a:pt x="261086" y="138957"/>
                </a:lnTo>
                <a:lnTo>
                  <a:pt x="252542" y="126048"/>
                </a:lnTo>
                <a:lnTo>
                  <a:pt x="243333" y="113603"/>
                </a:lnTo>
                <a:lnTo>
                  <a:pt x="233486" y="101658"/>
                </a:lnTo>
                <a:lnTo>
                  <a:pt x="223028" y="90244"/>
                </a:lnTo>
                <a:lnTo>
                  <a:pt x="211986" y="79393"/>
                </a:lnTo>
                <a:lnTo>
                  <a:pt x="200391" y="69135"/>
                </a:lnTo>
                <a:lnTo>
                  <a:pt x="188276" y="59498"/>
                </a:lnTo>
                <a:lnTo>
                  <a:pt x="175672" y="50508"/>
                </a:lnTo>
                <a:lnTo>
                  <a:pt x="162616" y="42190"/>
                </a:lnTo>
                <a:lnTo>
                  <a:pt x="149142" y="34567"/>
                </a:lnTo>
                <a:lnTo>
                  <a:pt x="135287" y="27660"/>
                </a:lnTo>
                <a:lnTo>
                  <a:pt x="121090" y="21487"/>
                </a:lnTo>
                <a:lnTo>
                  <a:pt x="106590" y="16065"/>
                </a:lnTo>
                <a:lnTo>
                  <a:pt x="91825" y="11410"/>
                </a:lnTo>
                <a:lnTo>
                  <a:pt x="76837" y="7534"/>
                </a:lnTo>
                <a:lnTo>
                  <a:pt x="61667" y="4447"/>
                </a:lnTo>
                <a:lnTo>
                  <a:pt x="46356" y="2159"/>
                </a:lnTo>
                <a:lnTo>
                  <a:pt x="30947" y="675"/>
                </a:lnTo>
                <a:lnTo>
                  <a:pt x="15480" y="0"/>
                </a:lnTo>
                <a:lnTo>
                  <a:pt x="0" y="135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4A3D8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7658100" y="2477056"/>
            <a:ext cx="731226" cy="266144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630943" y="1965520"/>
            <a:ext cx="27157" cy="777680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603236" y="2688336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200900" y="2816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Corner 3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7616503" y="2011946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616503" y="201194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72°</a:t>
            </a:r>
            <a:endParaRPr lang="en-US" sz="1500" dirty="0"/>
          </a:p>
        </p:txBody>
      </p:sp>
      <p:sp>
        <p:nvSpPr>
          <p:cNvPr id="93" name="Shape 91"/>
          <p:cNvSpPr/>
          <p:nvPr/>
        </p:nvSpPr>
        <p:spPr>
          <a:xfrm>
            <a:off x="4709160" y="342900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92040" y="35204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openings match exactly — opposite corners of a rhombus are always equal.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Two Special Shapes, Two Rules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2062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371600"/>
            <a:ext cx="2377440" cy="2834640"/>
          </a:xfrm>
          <a:custGeom>
            <a:avLst/>
            <a:gdLst/>
            <a:ahLst/>
            <a:cxnLst/>
            <a:rect l="l" t="t" r="r" b="b"/>
            <a:pathLst>
              <a:path w="2377440" h="2834640">
                <a:moveTo>
                  <a:pt x="1188720" y="0"/>
                </a:moveTo>
                <a:lnTo>
                  <a:pt x="2377440" y="1417320"/>
                </a:lnTo>
                <a:lnTo>
                  <a:pt x="1188720" y="2834640"/>
                </a:lnTo>
                <a:lnTo>
                  <a:pt x="0" y="141732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89407" y="1595794"/>
            <a:ext cx="376067" cy="68414"/>
          </a:xfrm>
          <a:custGeom>
            <a:avLst/>
            <a:gdLst/>
            <a:ahLst/>
            <a:cxnLst/>
            <a:rect l="l" t="t" r="r" b="b"/>
            <a:pathLst>
              <a:path w="376067" h="68414">
                <a:moveTo>
                  <a:pt x="0" y="0"/>
                </a:moveTo>
                <a:lnTo>
                  <a:pt x="13349" y="10551"/>
                </a:lnTo>
                <a:lnTo>
                  <a:pt x="27289" y="20307"/>
                </a:lnTo>
                <a:lnTo>
                  <a:pt x="41773" y="29237"/>
                </a:lnTo>
                <a:lnTo>
                  <a:pt x="56751" y="37310"/>
                </a:lnTo>
                <a:lnTo>
                  <a:pt x="72173" y="44499"/>
                </a:lnTo>
                <a:lnTo>
                  <a:pt x="87987" y="50779"/>
                </a:lnTo>
                <a:lnTo>
                  <a:pt x="104139" y="56130"/>
                </a:lnTo>
                <a:lnTo>
                  <a:pt x="120575" y="60532"/>
                </a:lnTo>
                <a:lnTo>
                  <a:pt x="137239" y="63972"/>
                </a:lnTo>
                <a:lnTo>
                  <a:pt x="154075" y="66437"/>
                </a:lnTo>
                <a:lnTo>
                  <a:pt x="171025" y="67920"/>
                </a:lnTo>
                <a:lnTo>
                  <a:pt x="188033" y="68414"/>
                </a:lnTo>
                <a:lnTo>
                  <a:pt x="205042" y="67920"/>
                </a:lnTo>
                <a:lnTo>
                  <a:pt x="221992" y="66437"/>
                </a:lnTo>
                <a:lnTo>
                  <a:pt x="238828" y="63972"/>
                </a:lnTo>
                <a:lnTo>
                  <a:pt x="255492" y="60532"/>
                </a:lnTo>
                <a:lnTo>
                  <a:pt x="271928" y="56130"/>
                </a:lnTo>
                <a:lnTo>
                  <a:pt x="288080" y="50779"/>
                </a:lnTo>
                <a:lnTo>
                  <a:pt x="303894" y="44499"/>
                </a:lnTo>
                <a:lnTo>
                  <a:pt x="319316" y="37310"/>
                </a:lnTo>
                <a:lnTo>
                  <a:pt x="334294" y="29237"/>
                </a:lnTo>
                <a:lnTo>
                  <a:pt x="348778" y="20307"/>
                </a:lnTo>
                <a:lnTo>
                  <a:pt x="362718" y="10551"/>
                </a:lnTo>
                <a:lnTo>
                  <a:pt x="376067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828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72°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73552" y="2564726"/>
            <a:ext cx="104575" cy="448388"/>
          </a:xfrm>
          <a:custGeom>
            <a:avLst/>
            <a:gdLst/>
            <a:ahLst/>
            <a:cxnLst/>
            <a:rect l="l" t="t" r="r" b="b"/>
            <a:pathLst>
              <a:path w="104575" h="448388">
                <a:moveTo>
                  <a:pt x="104575" y="0"/>
                </a:moveTo>
                <a:lnTo>
                  <a:pt x="88778" y="14259"/>
                </a:lnTo>
                <a:lnTo>
                  <a:pt x="74060" y="29627"/>
                </a:lnTo>
                <a:lnTo>
                  <a:pt x="60497" y="46025"/>
                </a:lnTo>
                <a:lnTo>
                  <a:pt x="48162" y="63366"/>
                </a:lnTo>
                <a:lnTo>
                  <a:pt x="37120" y="81557"/>
                </a:lnTo>
                <a:lnTo>
                  <a:pt x="27429" y="100502"/>
                </a:lnTo>
                <a:lnTo>
                  <a:pt x="19141" y="120101"/>
                </a:lnTo>
                <a:lnTo>
                  <a:pt x="12299" y="140251"/>
                </a:lnTo>
                <a:lnTo>
                  <a:pt x="6940" y="160845"/>
                </a:lnTo>
                <a:lnTo>
                  <a:pt x="3091" y="181775"/>
                </a:lnTo>
                <a:lnTo>
                  <a:pt x="774" y="202928"/>
                </a:lnTo>
                <a:lnTo>
                  <a:pt x="0" y="224194"/>
                </a:lnTo>
                <a:lnTo>
                  <a:pt x="774" y="245460"/>
                </a:lnTo>
                <a:lnTo>
                  <a:pt x="3091" y="266613"/>
                </a:lnTo>
                <a:lnTo>
                  <a:pt x="6940" y="287542"/>
                </a:lnTo>
                <a:lnTo>
                  <a:pt x="12299" y="308136"/>
                </a:lnTo>
                <a:lnTo>
                  <a:pt x="19141" y="328286"/>
                </a:lnTo>
                <a:lnTo>
                  <a:pt x="27429" y="347886"/>
                </a:lnTo>
                <a:lnTo>
                  <a:pt x="37120" y="366831"/>
                </a:lnTo>
                <a:lnTo>
                  <a:pt x="48162" y="385022"/>
                </a:lnTo>
                <a:lnTo>
                  <a:pt x="60497" y="402362"/>
                </a:lnTo>
                <a:lnTo>
                  <a:pt x="74060" y="418760"/>
                </a:lnTo>
                <a:lnTo>
                  <a:pt x="88778" y="434129"/>
                </a:lnTo>
                <a:lnTo>
                  <a:pt x="104575" y="448388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26426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108°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89407" y="3913632"/>
            <a:ext cx="376067" cy="68414"/>
          </a:xfrm>
          <a:custGeom>
            <a:avLst/>
            <a:gdLst/>
            <a:ahLst/>
            <a:cxnLst/>
            <a:rect l="l" t="t" r="r" b="b"/>
            <a:pathLst>
              <a:path w="376067" h="68414">
                <a:moveTo>
                  <a:pt x="376067" y="68414"/>
                </a:moveTo>
                <a:lnTo>
                  <a:pt x="362718" y="57864"/>
                </a:lnTo>
                <a:lnTo>
                  <a:pt x="348778" y="48107"/>
                </a:lnTo>
                <a:lnTo>
                  <a:pt x="334294" y="39177"/>
                </a:lnTo>
                <a:lnTo>
                  <a:pt x="319316" y="31104"/>
                </a:lnTo>
                <a:lnTo>
                  <a:pt x="303894" y="23915"/>
                </a:lnTo>
                <a:lnTo>
                  <a:pt x="288080" y="17635"/>
                </a:lnTo>
                <a:lnTo>
                  <a:pt x="271928" y="12285"/>
                </a:lnTo>
                <a:lnTo>
                  <a:pt x="255492" y="7882"/>
                </a:lnTo>
                <a:lnTo>
                  <a:pt x="238828" y="4442"/>
                </a:lnTo>
                <a:lnTo>
                  <a:pt x="221992" y="1977"/>
                </a:lnTo>
                <a:lnTo>
                  <a:pt x="205042" y="495"/>
                </a:lnTo>
                <a:lnTo>
                  <a:pt x="188033" y="0"/>
                </a:lnTo>
                <a:lnTo>
                  <a:pt x="171025" y="495"/>
                </a:lnTo>
                <a:lnTo>
                  <a:pt x="154075" y="1977"/>
                </a:lnTo>
                <a:lnTo>
                  <a:pt x="137239" y="4442"/>
                </a:lnTo>
                <a:lnTo>
                  <a:pt x="120575" y="7882"/>
                </a:lnTo>
                <a:lnTo>
                  <a:pt x="104139" y="12285"/>
                </a:lnTo>
                <a:lnTo>
                  <a:pt x="87987" y="17635"/>
                </a:lnTo>
                <a:lnTo>
                  <a:pt x="72173" y="23915"/>
                </a:lnTo>
                <a:lnTo>
                  <a:pt x="56751" y="31104"/>
                </a:lnTo>
                <a:lnTo>
                  <a:pt x="41773" y="39177"/>
                </a:lnTo>
                <a:lnTo>
                  <a:pt x="27289" y="48107"/>
                </a:lnTo>
                <a:lnTo>
                  <a:pt x="13349" y="57864"/>
                </a:lnTo>
                <a:lnTo>
                  <a:pt x="0" y="6841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34564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72°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6753" y="2564726"/>
            <a:ext cx="104575" cy="448388"/>
          </a:xfrm>
          <a:custGeom>
            <a:avLst/>
            <a:gdLst/>
            <a:ahLst/>
            <a:cxnLst/>
            <a:rect l="l" t="t" r="r" b="b"/>
            <a:pathLst>
              <a:path w="104575" h="448388">
                <a:moveTo>
                  <a:pt x="0" y="448388"/>
                </a:moveTo>
                <a:lnTo>
                  <a:pt x="15796" y="434129"/>
                </a:lnTo>
                <a:lnTo>
                  <a:pt x="30515" y="418760"/>
                </a:lnTo>
                <a:lnTo>
                  <a:pt x="44077" y="402362"/>
                </a:lnTo>
                <a:lnTo>
                  <a:pt x="56412" y="385022"/>
                </a:lnTo>
                <a:lnTo>
                  <a:pt x="67454" y="366831"/>
                </a:lnTo>
                <a:lnTo>
                  <a:pt x="77145" y="347886"/>
                </a:lnTo>
                <a:lnTo>
                  <a:pt x="85434" y="328286"/>
                </a:lnTo>
                <a:lnTo>
                  <a:pt x="92276" y="308136"/>
                </a:lnTo>
                <a:lnTo>
                  <a:pt x="97635" y="287542"/>
                </a:lnTo>
                <a:lnTo>
                  <a:pt x="101483" y="266613"/>
                </a:lnTo>
                <a:lnTo>
                  <a:pt x="103801" y="245460"/>
                </a:lnTo>
                <a:lnTo>
                  <a:pt x="104575" y="224194"/>
                </a:lnTo>
                <a:lnTo>
                  <a:pt x="103801" y="202928"/>
                </a:lnTo>
                <a:lnTo>
                  <a:pt x="101483" y="181775"/>
                </a:lnTo>
                <a:lnTo>
                  <a:pt x="97635" y="160845"/>
                </a:lnTo>
                <a:lnTo>
                  <a:pt x="92276" y="140251"/>
                </a:lnTo>
                <a:lnTo>
                  <a:pt x="85434" y="120101"/>
                </a:lnTo>
                <a:lnTo>
                  <a:pt x="77145" y="100502"/>
                </a:lnTo>
                <a:lnTo>
                  <a:pt x="67454" y="81557"/>
                </a:lnTo>
                <a:lnTo>
                  <a:pt x="56412" y="63366"/>
                </a:lnTo>
                <a:lnTo>
                  <a:pt x="44077" y="46025"/>
                </a:lnTo>
                <a:lnTo>
                  <a:pt x="30515" y="29627"/>
                </a:lnTo>
                <a:lnTo>
                  <a:pt x="15796" y="1425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26464" y="26426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108°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31720" y="13258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27432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31720" y="41605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27432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622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A5A7A"/>
                </a:solidFill>
              </a:rPr>
              <a:t>Rhombus: opposite = equal, next-to-each-other = supplementary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914400"/>
            <a:ext cx="42062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2103120"/>
            <a:ext cx="2743200" cy="2011680"/>
          </a:xfrm>
          <a:custGeom>
            <a:avLst/>
            <a:gdLst/>
            <a:ahLst/>
            <a:cxnLst/>
            <a:rect l="l" t="t" r="r" b="b"/>
            <a:pathLst>
              <a:path w="2743200" h="2011680">
                <a:moveTo>
                  <a:pt x="0" y="2011680"/>
                </a:moveTo>
                <a:lnTo>
                  <a:pt x="2743200" y="2011680"/>
                </a:lnTo>
                <a:lnTo>
                  <a:pt x="2057400" y="0"/>
                </a:lnTo>
                <a:lnTo>
                  <a:pt x="685800" y="0"/>
                </a:lnTo>
                <a:close/>
              </a:path>
            </a:pathLst>
          </a:custGeom>
          <a:solidFill>
            <a:srgbClr val="E6F2EA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9377" y="3837844"/>
            <a:ext cx="198191" cy="276956"/>
          </a:xfrm>
          <a:custGeom>
            <a:avLst/>
            <a:gdLst/>
            <a:ahLst/>
            <a:cxnLst/>
            <a:rect l="l" t="t" r="r" b="b"/>
            <a:pathLst>
              <a:path w="198191" h="276956">
                <a:moveTo>
                  <a:pt x="0" y="0"/>
                </a:moveTo>
                <a:lnTo>
                  <a:pt x="14202" y="5256"/>
                </a:lnTo>
                <a:lnTo>
                  <a:pt x="28114" y="11239"/>
                </a:lnTo>
                <a:lnTo>
                  <a:pt x="41697" y="17935"/>
                </a:lnTo>
                <a:lnTo>
                  <a:pt x="54916" y="25324"/>
                </a:lnTo>
                <a:lnTo>
                  <a:pt x="67735" y="33387"/>
                </a:lnTo>
                <a:lnTo>
                  <a:pt x="80119" y="42102"/>
                </a:lnTo>
                <a:lnTo>
                  <a:pt x="92036" y="51447"/>
                </a:lnTo>
                <a:lnTo>
                  <a:pt x="103454" y="61395"/>
                </a:lnTo>
                <a:lnTo>
                  <a:pt x="114341" y="71921"/>
                </a:lnTo>
                <a:lnTo>
                  <a:pt x="124669" y="82996"/>
                </a:lnTo>
                <a:lnTo>
                  <a:pt x="134411" y="94591"/>
                </a:lnTo>
                <a:lnTo>
                  <a:pt x="143540" y="106674"/>
                </a:lnTo>
                <a:lnTo>
                  <a:pt x="152031" y="119213"/>
                </a:lnTo>
                <a:lnTo>
                  <a:pt x="159862" y="132175"/>
                </a:lnTo>
                <a:lnTo>
                  <a:pt x="167012" y="145524"/>
                </a:lnTo>
                <a:lnTo>
                  <a:pt x="173462" y="159226"/>
                </a:lnTo>
                <a:lnTo>
                  <a:pt x="179194" y="173243"/>
                </a:lnTo>
                <a:lnTo>
                  <a:pt x="184193" y="187538"/>
                </a:lnTo>
                <a:lnTo>
                  <a:pt x="188446" y="202072"/>
                </a:lnTo>
                <a:lnTo>
                  <a:pt x="191942" y="216807"/>
                </a:lnTo>
                <a:lnTo>
                  <a:pt x="194670" y="231703"/>
                </a:lnTo>
                <a:lnTo>
                  <a:pt x="196625" y="246720"/>
                </a:lnTo>
                <a:lnTo>
                  <a:pt x="197799" y="261818"/>
                </a:lnTo>
                <a:lnTo>
                  <a:pt x="198191" y="276956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9985" y="36172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41A"/>
                </a:solidFill>
              </a:rPr>
              <a:t>58°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45552" y="3837844"/>
            <a:ext cx="198191" cy="276956"/>
          </a:xfrm>
          <a:custGeom>
            <a:avLst/>
            <a:gdLst/>
            <a:ahLst/>
            <a:cxnLst/>
            <a:rect l="l" t="t" r="r" b="b"/>
            <a:pathLst>
              <a:path w="198191" h="276956">
                <a:moveTo>
                  <a:pt x="0" y="276956"/>
                </a:moveTo>
                <a:lnTo>
                  <a:pt x="392" y="261818"/>
                </a:lnTo>
                <a:lnTo>
                  <a:pt x="1566" y="246720"/>
                </a:lnTo>
                <a:lnTo>
                  <a:pt x="3521" y="231703"/>
                </a:lnTo>
                <a:lnTo>
                  <a:pt x="6249" y="216807"/>
                </a:lnTo>
                <a:lnTo>
                  <a:pt x="9745" y="202072"/>
                </a:lnTo>
                <a:lnTo>
                  <a:pt x="13998" y="187538"/>
                </a:lnTo>
                <a:lnTo>
                  <a:pt x="18997" y="173243"/>
                </a:lnTo>
                <a:lnTo>
                  <a:pt x="24729" y="159226"/>
                </a:lnTo>
                <a:lnTo>
                  <a:pt x="31179" y="145524"/>
                </a:lnTo>
                <a:lnTo>
                  <a:pt x="38329" y="132175"/>
                </a:lnTo>
                <a:lnTo>
                  <a:pt x="46160" y="119213"/>
                </a:lnTo>
                <a:lnTo>
                  <a:pt x="54651" y="106674"/>
                </a:lnTo>
                <a:lnTo>
                  <a:pt x="63780" y="94591"/>
                </a:lnTo>
                <a:lnTo>
                  <a:pt x="73522" y="82996"/>
                </a:lnTo>
                <a:lnTo>
                  <a:pt x="83850" y="71921"/>
                </a:lnTo>
                <a:lnTo>
                  <a:pt x="94737" y="61395"/>
                </a:lnTo>
                <a:lnTo>
                  <a:pt x="106155" y="51447"/>
                </a:lnTo>
                <a:lnTo>
                  <a:pt x="118072" y="42102"/>
                </a:lnTo>
                <a:lnTo>
                  <a:pt x="130456" y="33387"/>
                </a:lnTo>
                <a:lnTo>
                  <a:pt x="143275" y="25324"/>
                </a:lnTo>
                <a:lnTo>
                  <a:pt x="156494" y="17935"/>
                </a:lnTo>
                <a:lnTo>
                  <a:pt x="170077" y="11239"/>
                </a:lnTo>
                <a:lnTo>
                  <a:pt x="183989" y="5256"/>
                </a:lnTo>
                <a:lnTo>
                  <a:pt x="198191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5A5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81615" y="36172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59752" y="2103120"/>
            <a:ext cx="387025" cy="292587"/>
          </a:xfrm>
          <a:custGeom>
            <a:avLst/>
            <a:gdLst/>
            <a:ahLst/>
            <a:cxnLst/>
            <a:rect l="l" t="t" r="r" b="b"/>
            <a:pathLst>
              <a:path w="387025" h="292587">
                <a:moveTo>
                  <a:pt x="387025" y="276956"/>
                </a:moveTo>
                <a:lnTo>
                  <a:pt x="364834" y="283554"/>
                </a:lnTo>
                <a:lnTo>
                  <a:pt x="342191" y="288376"/>
                </a:lnTo>
                <a:lnTo>
                  <a:pt x="319238" y="291394"/>
                </a:lnTo>
                <a:lnTo>
                  <a:pt x="296118" y="292587"/>
                </a:lnTo>
                <a:lnTo>
                  <a:pt x="272976" y="291949"/>
                </a:lnTo>
                <a:lnTo>
                  <a:pt x="249957" y="289483"/>
                </a:lnTo>
                <a:lnTo>
                  <a:pt x="227204" y="285205"/>
                </a:lnTo>
                <a:lnTo>
                  <a:pt x="204862" y="279142"/>
                </a:lnTo>
                <a:lnTo>
                  <a:pt x="183068" y="271331"/>
                </a:lnTo>
                <a:lnTo>
                  <a:pt x="161960" y="261822"/>
                </a:lnTo>
                <a:lnTo>
                  <a:pt x="141671" y="250674"/>
                </a:lnTo>
                <a:lnTo>
                  <a:pt x="122325" y="237957"/>
                </a:lnTo>
                <a:lnTo>
                  <a:pt x="104046" y="223750"/>
                </a:lnTo>
                <a:lnTo>
                  <a:pt x="86948" y="208142"/>
                </a:lnTo>
                <a:lnTo>
                  <a:pt x="71136" y="191232"/>
                </a:lnTo>
                <a:lnTo>
                  <a:pt x="56711" y="173124"/>
                </a:lnTo>
                <a:lnTo>
                  <a:pt x="43763" y="153933"/>
                </a:lnTo>
                <a:lnTo>
                  <a:pt x="32372" y="133779"/>
                </a:lnTo>
                <a:lnTo>
                  <a:pt x="22610" y="112786"/>
                </a:lnTo>
                <a:lnTo>
                  <a:pt x="14539" y="91088"/>
                </a:lnTo>
                <a:lnTo>
                  <a:pt x="8208" y="68820"/>
                </a:lnTo>
                <a:lnTo>
                  <a:pt x="3658" y="46121"/>
                </a:lnTo>
                <a:lnTo>
                  <a:pt x="916" y="23133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5A5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35392" y="2447601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86343" y="2103120"/>
            <a:ext cx="387025" cy="292587"/>
          </a:xfrm>
          <a:custGeom>
            <a:avLst/>
            <a:gdLst/>
            <a:ahLst/>
            <a:cxnLst/>
            <a:rect l="l" t="t" r="r" b="b"/>
            <a:pathLst>
              <a:path w="387025" h="292587">
                <a:moveTo>
                  <a:pt x="387025" y="0"/>
                </a:moveTo>
                <a:lnTo>
                  <a:pt x="386109" y="23133"/>
                </a:lnTo>
                <a:lnTo>
                  <a:pt x="383367" y="46121"/>
                </a:lnTo>
                <a:lnTo>
                  <a:pt x="378817" y="68820"/>
                </a:lnTo>
                <a:lnTo>
                  <a:pt x="372486" y="91088"/>
                </a:lnTo>
                <a:lnTo>
                  <a:pt x="364415" y="112786"/>
                </a:lnTo>
                <a:lnTo>
                  <a:pt x="354653" y="133779"/>
                </a:lnTo>
                <a:lnTo>
                  <a:pt x="343262" y="153933"/>
                </a:lnTo>
                <a:lnTo>
                  <a:pt x="330314" y="173124"/>
                </a:lnTo>
                <a:lnTo>
                  <a:pt x="315889" y="191232"/>
                </a:lnTo>
                <a:lnTo>
                  <a:pt x="300077" y="208142"/>
                </a:lnTo>
                <a:lnTo>
                  <a:pt x="282979" y="223750"/>
                </a:lnTo>
                <a:lnTo>
                  <a:pt x="264700" y="237957"/>
                </a:lnTo>
                <a:lnTo>
                  <a:pt x="245354" y="250674"/>
                </a:lnTo>
                <a:lnTo>
                  <a:pt x="225064" y="261822"/>
                </a:lnTo>
                <a:lnTo>
                  <a:pt x="203957" y="271331"/>
                </a:lnTo>
                <a:lnTo>
                  <a:pt x="182163" y="279142"/>
                </a:lnTo>
                <a:lnTo>
                  <a:pt x="159821" y="285205"/>
                </a:lnTo>
                <a:lnTo>
                  <a:pt x="137068" y="289483"/>
                </a:lnTo>
                <a:lnTo>
                  <a:pt x="114049" y="291949"/>
                </a:lnTo>
                <a:lnTo>
                  <a:pt x="90907" y="292587"/>
                </a:lnTo>
                <a:lnTo>
                  <a:pt x="67787" y="291394"/>
                </a:lnTo>
                <a:lnTo>
                  <a:pt x="44834" y="288376"/>
                </a:lnTo>
                <a:lnTo>
                  <a:pt x="22191" y="283554"/>
                </a:lnTo>
                <a:lnTo>
                  <a:pt x="0" y="276956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6208" y="2447601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41A"/>
                </a:solidFill>
              </a:rPr>
              <a:t>122°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49240" y="40690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40690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20574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20574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4370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A5A7A"/>
                </a:solidFill>
              </a:rPr>
              <a:t>Trapezoid: co-interior angles on the same leg are supplementary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Rules in Words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Reminder from Lesson 6: the four angles of any quadrilateral always add to 360°.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Rhombus or parallelogram: opposite angles are equal. Two angles that share a side add to 180° — supplementary.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918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Trapezoid: the two angles that share a leg between the parallel sides — co-interior angles — are supplementary.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opposite angles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two angles across from each other in a quadrilateral, not sharing a side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In the rhombus, the two 72° angles are opposite.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consecutive angles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4356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two angles that share a side, next to each other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72° and 108° next to each other in the rhombus.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80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angles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2644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two angles whose measures add to 180°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58° and 122° in the trapezoid.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80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co-interior angles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32644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two angles on the same leg of a trapezoid, between the parallel sides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886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The two angles sharing the left leg.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Rhombus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WATCH &amp; FOLLOW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3931920" cy="40233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371600"/>
            <a:ext cx="2377440" cy="2926080"/>
          </a:xfrm>
          <a:custGeom>
            <a:avLst/>
            <a:gdLst/>
            <a:ahLst/>
            <a:cxnLst/>
            <a:rect l="l" t="t" r="r" b="b"/>
            <a:pathLst>
              <a:path w="2377440" h="2926080">
                <a:moveTo>
                  <a:pt x="1188720" y="0"/>
                </a:moveTo>
                <a:lnTo>
                  <a:pt x="2377440" y="1463040"/>
                </a:lnTo>
                <a:lnTo>
                  <a:pt x="1188720" y="2926080"/>
                </a:lnTo>
                <a:lnTo>
                  <a:pt x="0" y="146304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5764" y="1598697"/>
            <a:ext cx="369033" cy="65511"/>
          </a:xfrm>
          <a:custGeom>
            <a:avLst/>
            <a:gdLst/>
            <a:ahLst/>
            <a:cxnLst/>
            <a:rect l="l" t="t" r="r" b="b"/>
            <a:pathLst>
              <a:path w="369033" h="65511">
                <a:moveTo>
                  <a:pt x="0" y="0"/>
                </a:moveTo>
                <a:lnTo>
                  <a:pt x="13204" y="10119"/>
                </a:lnTo>
                <a:lnTo>
                  <a:pt x="26962" y="19471"/>
                </a:lnTo>
                <a:lnTo>
                  <a:pt x="41228" y="28026"/>
                </a:lnTo>
                <a:lnTo>
                  <a:pt x="55958" y="35757"/>
                </a:lnTo>
                <a:lnTo>
                  <a:pt x="71104" y="42638"/>
                </a:lnTo>
                <a:lnTo>
                  <a:pt x="86616" y="48647"/>
                </a:lnTo>
                <a:lnTo>
                  <a:pt x="102445" y="53765"/>
                </a:lnTo>
                <a:lnTo>
                  <a:pt x="118538" y="57975"/>
                </a:lnTo>
                <a:lnTo>
                  <a:pt x="134845" y="61264"/>
                </a:lnTo>
                <a:lnTo>
                  <a:pt x="151313" y="63621"/>
                </a:lnTo>
                <a:lnTo>
                  <a:pt x="167888" y="65038"/>
                </a:lnTo>
                <a:lnTo>
                  <a:pt x="184516" y="65511"/>
                </a:lnTo>
                <a:lnTo>
                  <a:pt x="201145" y="65038"/>
                </a:lnTo>
                <a:lnTo>
                  <a:pt x="217720" y="63621"/>
                </a:lnTo>
                <a:lnTo>
                  <a:pt x="234188" y="61264"/>
                </a:lnTo>
                <a:lnTo>
                  <a:pt x="250495" y="57975"/>
                </a:lnTo>
                <a:lnTo>
                  <a:pt x="266588" y="53765"/>
                </a:lnTo>
                <a:lnTo>
                  <a:pt x="282417" y="48647"/>
                </a:lnTo>
                <a:lnTo>
                  <a:pt x="297929" y="42638"/>
                </a:lnTo>
                <a:lnTo>
                  <a:pt x="313074" y="35757"/>
                </a:lnTo>
                <a:lnTo>
                  <a:pt x="327804" y="28026"/>
                </a:lnTo>
                <a:lnTo>
                  <a:pt x="342071" y="19471"/>
                </a:lnTo>
                <a:lnTo>
                  <a:pt x="355829" y="10119"/>
                </a:lnTo>
                <a:lnTo>
                  <a:pt x="369033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828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72°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36392" y="2607543"/>
            <a:ext cx="108092" cy="454194"/>
          </a:xfrm>
          <a:custGeom>
            <a:avLst/>
            <a:gdLst/>
            <a:ahLst/>
            <a:cxnLst/>
            <a:rect l="l" t="t" r="r" b="b"/>
            <a:pathLst>
              <a:path w="108092" h="454194">
                <a:moveTo>
                  <a:pt x="108092" y="0"/>
                </a:moveTo>
                <a:lnTo>
                  <a:pt x="91798" y="14271"/>
                </a:lnTo>
                <a:lnTo>
                  <a:pt x="76605" y="29709"/>
                </a:lnTo>
                <a:lnTo>
                  <a:pt x="62596" y="46228"/>
                </a:lnTo>
                <a:lnTo>
                  <a:pt x="49846" y="63738"/>
                </a:lnTo>
                <a:lnTo>
                  <a:pt x="38427" y="82143"/>
                </a:lnTo>
                <a:lnTo>
                  <a:pt x="28401" y="101343"/>
                </a:lnTo>
                <a:lnTo>
                  <a:pt x="19823" y="121231"/>
                </a:lnTo>
                <a:lnTo>
                  <a:pt x="12739" y="141700"/>
                </a:lnTo>
                <a:lnTo>
                  <a:pt x="7189" y="162636"/>
                </a:lnTo>
                <a:lnTo>
                  <a:pt x="3202" y="183926"/>
                </a:lnTo>
                <a:lnTo>
                  <a:pt x="802" y="205452"/>
                </a:lnTo>
                <a:lnTo>
                  <a:pt x="0" y="227097"/>
                </a:lnTo>
                <a:lnTo>
                  <a:pt x="802" y="248742"/>
                </a:lnTo>
                <a:lnTo>
                  <a:pt x="3202" y="270268"/>
                </a:lnTo>
                <a:lnTo>
                  <a:pt x="7189" y="291558"/>
                </a:lnTo>
                <a:lnTo>
                  <a:pt x="12739" y="312495"/>
                </a:lnTo>
                <a:lnTo>
                  <a:pt x="19823" y="332963"/>
                </a:lnTo>
                <a:lnTo>
                  <a:pt x="28401" y="352852"/>
                </a:lnTo>
                <a:lnTo>
                  <a:pt x="38427" y="372051"/>
                </a:lnTo>
                <a:lnTo>
                  <a:pt x="49846" y="390456"/>
                </a:lnTo>
                <a:lnTo>
                  <a:pt x="62596" y="407967"/>
                </a:lnTo>
                <a:lnTo>
                  <a:pt x="76605" y="424486"/>
                </a:lnTo>
                <a:lnTo>
                  <a:pt x="91798" y="439923"/>
                </a:lnTo>
                <a:lnTo>
                  <a:pt x="108092" y="45419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9736" y="2688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55764" y="4005072"/>
            <a:ext cx="369033" cy="65511"/>
          </a:xfrm>
          <a:custGeom>
            <a:avLst/>
            <a:gdLst/>
            <a:ahLst/>
            <a:cxnLst/>
            <a:rect l="l" t="t" r="r" b="b"/>
            <a:pathLst>
              <a:path w="369033" h="65511">
                <a:moveTo>
                  <a:pt x="369033" y="65511"/>
                </a:moveTo>
                <a:lnTo>
                  <a:pt x="355829" y="55392"/>
                </a:lnTo>
                <a:lnTo>
                  <a:pt x="342071" y="46040"/>
                </a:lnTo>
                <a:lnTo>
                  <a:pt x="327804" y="37485"/>
                </a:lnTo>
                <a:lnTo>
                  <a:pt x="313074" y="29754"/>
                </a:lnTo>
                <a:lnTo>
                  <a:pt x="297929" y="22873"/>
                </a:lnTo>
                <a:lnTo>
                  <a:pt x="282417" y="16864"/>
                </a:lnTo>
                <a:lnTo>
                  <a:pt x="266588" y="11746"/>
                </a:lnTo>
                <a:lnTo>
                  <a:pt x="250495" y="7536"/>
                </a:lnTo>
                <a:lnTo>
                  <a:pt x="234188" y="4247"/>
                </a:lnTo>
                <a:lnTo>
                  <a:pt x="217720" y="1890"/>
                </a:lnTo>
                <a:lnTo>
                  <a:pt x="201145" y="473"/>
                </a:lnTo>
                <a:lnTo>
                  <a:pt x="184516" y="0"/>
                </a:lnTo>
                <a:lnTo>
                  <a:pt x="167888" y="473"/>
                </a:lnTo>
                <a:lnTo>
                  <a:pt x="151313" y="1890"/>
                </a:lnTo>
                <a:lnTo>
                  <a:pt x="134845" y="4247"/>
                </a:lnTo>
                <a:lnTo>
                  <a:pt x="118538" y="7536"/>
                </a:lnTo>
                <a:lnTo>
                  <a:pt x="102445" y="11746"/>
                </a:lnTo>
                <a:lnTo>
                  <a:pt x="86616" y="16864"/>
                </a:lnTo>
                <a:lnTo>
                  <a:pt x="71104" y="22873"/>
                </a:lnTo>
                <a:lnTo>
                  <a:pt x="55958" y="29754"/>
                </a:lnTo>
                <a:lnTo>
                  <a:pt x="41228" y="37485"/>
                </a:lnTo>
                <a:lnTo>
                  <a:pt x="26962" y="46040"/>
                </a:lnTo>
                <a:lnTo>
                  <a:pt x="13204" y="55392"/>
                </a:lnTo>
                <a:lnTo>
                  <a:pt x="0" y="65511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547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36076" y="2607543"/>
            <a:ext cx="108092" cy="454194"/>
          </a:xfrm>
          <a:custGeom>
            <a:avLst/>
            <a:gdLst/>
            <a:ahLst/>
            <a:cxnLst/>
            <a:rect l="l" t="t" r="r" b="b"/>
            <a:pathLst>
              <a:path w="108092" h="454194">
                <a:moveTo>
                  <a:pt x="0" y="454194"/>
                </a:moveTo>
                <a:lnTo>
                  <a:pt x="16293" y="439923"/>
                </a:lnTo>
                <a:lnTo>
                  <a:pt x="31486" y="424486"/>
                </a:lnTo>
                <a:lnTo>
                  <a:pt x="45496" y="407967"/>
                </a:lnTo>
                <a:lnTo>
                  <a:pt x="58245" y="390456"/>
                </a:lnTo>
                <a:lnTo>
                  <a:pt x="69664" y="372051"/>
                </a:lnTo>
                <a:lnTo>
                  <a:pt x="79690" y="352852"/>
                </a:lnTo>
                <a:lnTo>
                  <a:pt x="88269" y="332963"/>
                </a:lnTo>
                <a:lnTo>
                  <a:pt x="95353" y="312495"/>
                </a:lnTo>
                <a:lnTo>
                  <a:pt x="100903" y="291558"/>
                </a:lnTo>
                <a:lnTo>
                  <a:pt x="104889" y="270268"/>
                </a:lnTo>
                <a:lnTo>
                  <a:pt x="107290" y="248742"/>
                </a:lnTo>
                <a:lnTo>
                  <a:pt x="108092" y="227097"/>
                </a:lnTo>
                <a:lnTo>
                  <a:pt x="107290" y="205452"/>
                </a:lnTo>
                <a:lnTo>
                  <a:pt x="104889" y="183926"/>
                </a:lnTo>
                <a:lnTo>
                  <a:pt x="100903" y="162636"/>
                </a:lnTo>
                <a:lnTo>
                  <a:pt x="95353" y="141700"/>
                </a:lnTo>
                <a:lnTo>
                  <a:pt x="88269" y="121231"/>
                </a:lnTo>
                <a:lnTo>
                  <a:pt x="79690" y="101343"/>
                </a:lnTo>
                <a:lnTo>
                  <a:pt x="69664" y="82143"/>
                </a:lnTo>
                <a:lnTo>
                  <a:pt x="58245" y="63738"/>
                </a:lnTo>
                <a:lnTo>
                  <a:pt x="45496" y="46228"/>
                </a:lnTo>
                <a:lnTo>
                  <a:pt x="31486" y="29709"/>
                </a:lnTo>
                <a:lnTo>
                  <a:pt x="16293" y="14271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9304" y="2688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560" y="13258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27889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425196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27889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537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A5A7A"/>
                </a:solidFill>
              </a:rPr>
              <a:t>A rhombus has one angle of 72°.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914400"/>
            <a:ext cx="45262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0515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Opposite angle: 72° (opposite angles are equal).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18288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Consecutive angle: 180° − 72° = 108°.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2606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Its opposite: 108° too.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33832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Check: 72 + 108 + 72 + 108 = 360°. ✓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Trapezoid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WATCH &amp; FOLLOW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3931920" cy="40233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103120"/>
            <a:ext cx="2286000" cy="2103120"/>
          </a:xfrm>
          <a:custGeom>
            <a:avLst/>
            <a:gdLst/>
            <a:ahLst/>
            <a:cxnLst/>
            <a:rect l="l" t="t" r="r" b="b"/>
            <a:pathLst>
              <a:path w="2286000" h="2103120">
                <a:moveTo>
                  <a:pt x="0" y="2103120"/>
                </a:moveTo>
                <a:lnTo>
                  <a:pt x="2286000" y="2103120"/>
                </a:lnTo>
                <a:lnTo>
                  <a:pt x="1783080" y="0"/>
                </a:lnTo>
                <a:lnTo>
                  <a:pt x="502920" y="0"/>
                </a:lnTo>
                <a:close/>
              </a:path>
            </a:pathLst>
          </a:custGeom>
          <a:solidFill>
            <a:srgbClr val="E6F2EA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5333" y="3921656"/>
            <a:ext cx="224555" cy="284584"/>
          </a:xfrm>
          <a:custGeom>
            <a:avLst/>
            <a:gdLst/>
            <a:ahLst/>
            <a:cxnLst/>
            <a:rect l="l" t="t" r="r" b="b"/>
            <a:pathLst>
              <a:path w="224555" h="284584">
                <a:moveTo>
                  <a:pt x="0" y="0"/>
                </a:moveTo>
                <a:lnTo>
                  <a:pt x="15729" y="4227"/>
                </a:lnTo>
                <a:lnTo>
                  <a:pt x="31199" y="9323"/>
                </a:lnTo>
                <a:lnTo>
                  <a:pt x="46361" y="15272"/>
                </a:lnTo>
                <a:lnTo>
                  <a:pt x="61168" y="22056"/>
                </a:lnTo>
                <a:lnTo>
                  <a:pt x="75575" y="29652"/>
                </a:lnTo>
                <a:lnTo>
                  <a:pt x="89538" y="38039"/>
                </a:lnTo>
                <a:lnTo>
                  <a:pt x="103012" y="47189"/>
                </a:lnTo>
                <a:lnTo>
                  <a:pt x="115955" y="57075"/>
                </a:lnTo>
                <a:lnTo>
                  <a:pt x="128329" y="67666"/>
                </a:lnTo>
                <a:lnTo>
                  <a:pt x="140095" y="78929"/>
                </a:lnTo>
                <a:lnTo>
                  <a:pt x="151215" y="90829"/>
                </a:lnTo>
                <a:lnTo>
                  <a:pt x="161656" y="103329"/>
                </a:lnTo>
                <a:lnTo>
                  <a:pt x="171385" y="116392"/>
                </a:lnTo>
                <a:lnTo>
                  <a:pt x="180373" y="129975"/>
                </a:lnTo>
                <a:lnTo>
                  <a:pt x="188591" y="144037"/>
                </a:lnTo>
                <a:lnTo>
                  <a:pt x="196013" y="158534"/>
                </a:lnTo>
                <a:lnTo>
                  <a:pt x="202618" y="173423"/>
                </a:lnTo>
                <a:lnTo>
                  <a:pt x="208384" y="188655"/>
                </a:lnTo>
                <a:lnTo>
                  <a:pt x="213293" y="204185"/>
                </a:lnTo>
                <a:lnTo>
                  <a:pt x="217331" y="219964"/>
                </a:lnTo>
                <a:lnTo>
                  <a:pt x="220484" y="235943"/>
                </a:lnTo>
                <a:lnTo>
                  <a:pt x="222743" y="252073"/>
                </a:lnTo>
                <a:lnTo>
                  <a:pt x="224102" y="268303"/>
                </a:lnTo>
                <a:lnTo>
                  <a:pt x="224555" y="28458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5294" y="368609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41A"/>
                </a:solidFill>
              </a:rPr>
              <a:t>58°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90672" y="3921656"/>
            <a:ext cx="224555" cy="284584"/>
          </a:xfrm>
          <a:custGeom>
            <a:avLst/>
            <a:gdLst/>
            <a:ahLst/>
            <a:cxnLst/>
            <a:rect l="l" t="t" r="r" b="b"/>
            <a:pathLst>
              <a:path w="224555" h="284584">
                <a:moveTo>
                  <a:pt x="0" y="284584"/>
                </a:moveTo>
                <a:lnTo>
                  <a:pt x="453" y="268303"/>
                </a:lnTo>
                <a:lnTo>
                  <a:pt x="1812" y="252073"/>
                </a:lnTo>
                <a:lnTo>
                  <a:pt x="4071" y="235943"/>
                </a:lnTo>
                <a:lnTo>
                  <a:pt x="7225" y="219964"/>
                </a:lnTo>
                <a:lnTo>
                  <a:pt x="11262" y="204185"/>
                </a:lnTo>
                <a:lnTo>
                  <a:pt x="16172" y="188655"/>
                </a:lnTo>
                <a:lnTo>
                  <a:pt x="21938" y="173423"/>
                </a:lnTo>
                <a:lnTo>
                  <a:pt x="28542" y="158534"/>
                </a:lnTo>
                <a:lnTo>
                  <a:pt x="35965" y="144037"/>
                </a:lnTo>
                <a:lnTo>
                  <a:pt x="44182" y="129975"/>
                </a:lnTo>
                <a:lnTo>
                  <a:pt x="53170" y="116392"/>
                </a:lnTo>
                <a:lnTo>
                  <a:pt x="62899" y="103329"/>
                </a:lnTo>
                <a:lnTo>
                  <a:pt x="73340" y="90829"/>
                </a:lnTo>
                <a:lnTo>
                  <a:pt x="84461" y="78929"/>
                </a:lnTo>
                <a:lnTo>
                  <a:pt x="96226" y="67666"/>
                </a:lnTo>
                <a:lnTo>
                  <a:pt x="108600" y="57075"/>
                </a:lnTo>
                <a:lnTo>
                  <a:pt x="121544" y="47189"/>
                </a:lnTo>
                <a:lnTo>
                  <a:pt x="135018" y="38039"/>
                </a:lnTo>
                <a:lnTo>
                  <a:pt x="148980" y="29652"/>
                </a:lnTo>
                <a:lnTo>
                  <a:pt x="163387" y="22056"/>
                </a:lnTo>
                <a:lnTo>
                  <a:pt x="178195" y="15272"/>
                </a:lnTo>
                <a:lnTo>
                  <a:pt x="193357" y="9323"/>
                </a:lnTo>
                <a:lnTo>
                  <a:pt x="208826" y="4227"/>
                </a:lnTo>
                <a:lnTo>
                  <a:pt x="224555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5A5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3746" y="368609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87752" y="2103120"/>
            <a:ext cx="360661" cy="292596"/>
          </a:xfrm>
          <a:custGeom>
            <a:avLst/>
            <a:gdLst/>
            <a:ahLst/>
            <a:cxnLst/>
            <a:rect l="l" t="t" r="r" b="b"/>
            <a:pathLst>
              <a:path w="360661" h="292596">
                <a:moveTo>
                  <a:pt x="360661" y="284584"/>
                </a:moveTo>
                <a:lnTo>
                  <a:pt x="339079" y="288894"/>
                </a:lnTo>
                <a:lnTo>
                  <a:pt x="317235" y="291570"/>
                </a:lnTo>
                <a:lnTo>
                  <a:pt x="295251" y="292596"/>
                </a:lnTo>
                <a:lnTo>
                  <a:pt x="273252" y="291967"/>
                </a:lnTo>
                <a:lnTo>
                  <a:pt x="251363" y="289687"/>
                </a:lnTo>
                <a:lnTo>
                  <a:pt x="229707" y="285767"/>
                </a:lnTo>
                <a:lnTo>
                  <a:pt x="208407" y="280231"/>
                </a:lnTo>
                <a:lnTo>
                  <a:pt x="187583" y="273110"/>
                </a:lnTo>
                <a:lnTo>
                  <a:pt x="167354" y="264444"/>
                </a:lnTo>
                <a:lnTo>
                  <a:pt x="147833" y="254282"/>
                </a:lnTo>
                <a:lnTo>
                  <a:pt x="129130" y="242682"/>
                </a:lnTo>
                <a:lnTo>
                  <a:pt x="111353" y="229709"/>
                </a:lnTo>
                <a:lnTo>
                  <a:pt x="94601" y="215436"/>
                </a:lnTo>
                <a:lnTo>
                  <a:pt x="78969" y="199945"/>
                </a:lnTo>
                <a:lnTo>
                  <a:pt x="64546" y="183322"/>
                </a:lnTo>
                <a:lnTo>
                  <a:pt x="51413" y="165663"/>
                </a:lnTo>
                <a:lnTo>
                  <a:pt x="39644" y="147066"/>
                </a:lnTo>
                <a:lnTo>
                  <a:pt x="29306" y="127638"/>
                </a:lnTo>
                <a:lnTo>
                  <a:pt x="20457" y="107487"/>
                </a:lnTo>
                <a:lnTo>
                  <a:pt x="13149" y="86729"/>
                </a:lnTo>
                <a:lnTo>
                  <a:pt x="7421" y="65479"/>
                </a:lnTo>
                <a:lnTo>
                  <a:pt x="3306" y="43860"/>
                </a:lnTo>
                <a:lnTo>
                  <a:pt x="828" y="21992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5A5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0762" y="243059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32147" y="2103120"/>
            <a:ext cx="360661" cy="292596"/>
          </a:xfrm>
          <a:custGeom>
            <a:avLst/>
            <a:gdLst/>
            <a:ahLst/>
            <a:cxnLst/>
            <a:rect l="l" t="t" r="r" b="b"/>
            <a:pathLst>
              <a:path w="360661" h="292596">
                <a:moveTo>
                  <a:pt x="360661" y="0"/>
                </a:moveTo>
                <a:lnTo>
                  <a:pt x="359833" y="21992"/>
                </a:lnTo>
                <a:lnTo>
                  <a:pt x="357355" y="43860"/>
                </a:lnTo>
                <a:lnTo>
                  <a:pt x="353240" y="65479"/>
                </a:lnTo>
                <a:lnTo>
                  <a:pt x="347512" y="86729"/>
                </a:lnTo>
                <a:lnTo>
                  <a:pt x="340203" y="107487"/>
                </a:lnTo>
                <a:lnTo>
                  <a:pt x="331355" y="127638"/>
                </a:lnTo>
                <a:lnTo>
                  <a:pt x="321017" y="147066"/>
                </a:lnTo>
                <a:lnTo>
                  <a:pt x="309248" y="165663"/>
                </a:lnTo>
                <a:lnTo>
                  <a:pt x="296115" y="183322"/>
                </a:lnTo>
                <a:lnTo>
                  <a:pt x="281692" y="199945"/>
                </a:lnTo>
                <a:lnTo>
                  <a:pt x="266060" y="215436"/>
                </a:lnTo>
                <a:lnTo>
                  <a:pt x="249308" y="229709"/>
                </a:lnTo>
                <a:lnTo>
                  <a:pt x="231530" y="242682"/>
                </a:lnTo>
                <a:lnTo>
                  <a:pt x="212828" y="254282"/>
                </a:lnTo>
                <a:lnTo>
                  <a:pt x="193307" y="264444"/>
                </a:lnTo>
                <a:lnTo>
                  <a:pt x="173077" y="273110"/>
                </a:lnTo>
                <a:lnTo>
                  <a:pt x="152254" y="280231"/>
                </a:lnTo>
                <a:lnTo>
                  <a:pt x="130954" y="285767"/>
                </a:lnTo>
                <a:lnTo>
                  <a:pt x="109298" y="289687"/>
                </a:lnTo>
                <a:lnTo>
                  <a:pt x="87408" y="291967"/>
                </a:lnTo>
                <a:lnTo>
                  <a:pt x="65410" y="292596"/>
                </a:lnTo>
                <a:lnTo>
                  <a:pt x="43426" y="291570"/>
                </a:lnTo>
                <a:lnTo>
                  <a:pt x="21582" y="288894"/>
                </a:lnTo>
                <a:lnTo>
                  <a:pt x="0" y="28458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8278" y="243059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41A"/>
                </a:solidFill>
              </a:rPr>
              <a:t>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1560" y="41605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41605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0574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205740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622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A5A7A"/>
                </a:solidFill>
              </a:rPr>
              <a:t>One base angle is 58°. Find the co-interior angle on the same leg.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914400"/>
            <a:ext cx="45262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0515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Find the angle sharing the LEFT LEG with 58° — that's the co-interior angle.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18288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Co-interior angles are supplementary: they add to 180°.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2606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180° − 58° = 122°.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33832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The angle at the top of that leg is 122°.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Kite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WATCH &amp; FOLLOW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3931920" cy="40233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280160"/>
            <a:ext cx="2011680" cy="3063240"/>
          </a:xfrm>
          <a:custGeom>
            <a:avLst/>
            <a:gdLst/>
            <a:ahLst/>
            <a:cxnLst/>
            <a:rect l="l" t="t" r="r" b="b"/>
            <a:pathLst>
              <a:path w="2011680" h="3063240">
                <a:moveTo>
                  <a:pt x="1005840" y="0"/>
                </a:moveTo>
                <a:lnTo>
                  <a:pt x="2011680" y="1371600"/>
                </a:lnTo>
                <a:lnTo>
                  <a:pt x="1005840" y="3063240"/>
                </a:lnTo>
                <a:lnTo>
                  <a:pt x="0" y="1371600"/>
                </a:lnTo>
                <a:close/>
              </a:path>
            </a:pathLst>
          </a:custGeom>
          <a:solidFill>
            <a:srgbClr val="FEF6E4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67242" y="1516121"/>
            <a:ext cx="346075" cy="56647"/>
          </a:xfrm>
          <a:custGeom>
            <a:avLst/>
            <a:gdLst/>
            <a:ahLst/>
            <a:cxnLst/>
            <a:rect l="l" t="t" r="r" b="b"/>
            <a:pathLst>
              <a:path w="346075" h="56647">
                <a:moveTo>
                  <a:pt x="0" y="0"/>
                </a:moveTo>
                <a:lnTo>
                  <a:pt x="12677" y="8792"/>
                </a:lnTo>
                <a:lnTo>
                  <a:pt x="25799" y="16904"/>
                </a:lnTo>
                <a:lnTo>
                  <a:pt x="39331" y="24312"/>
                </a:lnTo>
                <a:lnTo>
                  <a:pt x="53234" y="30997"/>
                </a:lnTo>
                <a:lnTo>
                  <a:pt x="67471" y="36941"/>
                </a:lnTo>
                <a:lnTo>
                  <a:pt x="82001" y="42125"/>
                </a:lnTo>
                <a:lnTo>
                  <a:pt x="96784" y="46537"/>
                </a:lnTo>
                <a:lnTo>
                  <a:pt x="111779" y="50163"/>
                </a:lnTo>
                <a:lnTo>
                  <a:pt x="126944" y="52994"/>
                </a:lnTo>
                <a:lnTo>
                  <a:pt x="142237" y="55022"/>
                </a:lnTo>
                <a:lnTo>
                  <a:pt x="157616" y="56241"/>
                </a:lnTo>
                <a:lnTo>
                  <a:pt x="173038" y="56647"/>
                </a:lnTo>
                <a:lnTo>
                  <a:pt x="188460" y="56241"/>
                </a:lnTo>
                <a:lnTo>
                  <a:pt x="203838" y="55022"/>
                </a:lnTo>
                <a:lnTo>
                  <a:pt x="219132" y="52994"/>
                </a:lnTo>
                <a:lnTo>
                  <a:pt x="234297" y="50163"/>
                </a:lnTo>
                <a:lnTo>
                  <a:pt x="249292" y="46537"/>
                </a:lnTo>
                <a:lnTo>
                  <a:pt x="264075" y="42125"/>
                </a:lnTo>
                <a:lnTo>
                  <a:pt x="278605" y="36941"/>
                </a:lnTo>
                <a:lnTo>
                  <a:pt x="292841" y="30997"/>
                </a:lnTo>
                <a:lnTo>
                  <a:pt x="306745" y="24312"/>
                </a:lnTo>
                <a:lnTo>
                  <a:pt x="320276" y="16904"/>
                </a:lnTo>
                <a:lnTo>
                  <a:pt x="333399" y="8792"/>
                </a:lnTo>
                <a:lnTo>
                  <a:pt x="346075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7373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80°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53681" y="2415799"/>
            <a:ext cx="142894" cy="487468"/>
          </a:xfrm>
          <a:custGeom>
            <a:avLst/>
            <a:gdLst/>
            <a:ahLst/>
            <a:cxnLst/>
            <a:rect l="l" t="t" r="r" b="b"/>
            <a:pathLst>
              <a:path w="142894" h="487468">
                <a:moveTo>
                  <a:pt x="119401" y="0"/>
                </a:moveTo>
                <a:lnTo>
                  <a:pt x="100615" y="15001"/>
                </a:lnTo>
                <a:lnTo>
                  <a:pt x="83123" y="31494"/>
                </a:lnTo>
                <a:lnTo>
                  <a:pt x="67045" y="49367"/>
                </a:lnTo>
                <a:lnTo>
                  <a:pt x="52488" y="68500"/>
                </a:lnTo>
                <a:lnTo>
                  <a:pt x="39551" y="88763"/>
                </a:lnTo>
                <a:lnTo>
                  <a:pt x="28321" y="110020"/>
                </a:lnTo>
                <a:lnTo>
                  <a:pt x="18873" y="132126"/>
                </a:lnTo>
                <a:lnTo>
                  <a:pt x="11273" y="154934"/>
                </a:lnTo>
                <a:lnTo>
                  <a:pt x="5570" y="178289"/>
                </a:lnTo>
                <a:lnTo>
                  <a:pt x="1804" y="202033"/>
                </a:lnTo>
                <a:lnTo>
                  <a:pt x="0" y="226006"/>
                </a:lnTo>
                <a:lnTo>
                  <a:pt x="170" y="250046"/>
                </a:lnTo>
                <a:lnTo>
                  <a:pt x="2313" y="273991"/>
                </a:lnTo>
                <a:lnTo>
                  <a:pt x="6414" y="297680"/>
                </a:lnTo>
                <a:lnTo>
                  <a:pt x="12446" y="320952"/>
                </a:lnTo>
                <a:lnTo>
                  <a:pt x="20368" y="343650"/>
                </a:lnTo>
                <a:lnTo>
                  <a:pt x="30126" y="365621"/>
                </a:lnTo>
                <a:lnTo>
                  <a:pt x="41656" y="386717"/>
                </a:lnTo>
                <a:lnTo>
                  <a:pt x="54878" y="406795"/>
                </a:lnTo>
                <a:lnTo>
                  <a:pt x="69704" y="425720"/>
                </a:lnTo>
                <a:lnTo>
                  <a:pt x="86033" y="443364"/>
                </a:lnTo>
                <a:lnTo>
                  <a:pt x="103756" y="459608"/>
                </a:lnTo>
                <a:lnTo>
                  <a:pt x="122752" y="474342"/>
                </a:lnTo>
                <a:lnTo>
                  <a:pt x="142894" y="487468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77556" y="25345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80°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90735" y="4050792"/>
            <a:ext cx="299089" cy="41101"/>
          </a:xfrm>
          <a:custGeom>
            <a:avLst/>
            <a:gdLst/>
            <a:ahLst/>
            <a:cxnLst/>
            <a:rect l="l" t="t" r="r" b="b"/>
            <a:pathLst>
              <a:path w="299089" h="41101">
                <a:moveTo>
                  <a:pt x="299089" y="41101"/>
                </a:moveTo>
                <a:lnTo>
                  <a:pt x="287701" y="34669"/>
                </a:lnTo>
                <a:lnTo>
                  <a:pt x="276036" y="28753"/>
                </a:lnTo>
                <a:lnTo>
                  <a:pt x="264118" y="23364"/>
                </a:lnTo>
                <a:lnTo>
                  <a:pt x="251972" y="18513"/>
                </a:lnTo>
                <a:lnTo>
                  <a:pt x="239621" y="14209"/>
                </a:lnTo>
                <a:lnTo>
                  <a:pt x="227090" y="10462"/>
                </a:lnTo>
                <a:lnTo>
                  <a:pt x="214404" y="7279"/>
                </a:lnTo>
                <a:lnTo>
                  <a:pt x="201588" y="4665"/>
                </a:lnTo>
                <a:lnTo>
                  <a:pt x="188669" y="2627"/>
                </a:lnTo>
                <a:lnTo>
                  <a:pt x="175671" y="1169"/>
                </a:lnTo>
                <a:lnTo>
                  <a:pt x="162621" y="292"/>
                </a:lnTo>
                <a:lnTo>
                  <a:pt x="149545" y="0"/>
                </a:lnTo>
                <a:lnTo>
                  <a:pt x="136469" y="292"/>
                </a:lnTo>
                <a:lnTo>
                  <a:pt x="123419" y="1169"/>
                </a:lnTo>
                <a:lnTo>
                  <a:pt x="110421" y="2627"/>
                </a:lnTo>
                <a:lnTo>
                  <a:pt x="97501" y="4665"/>
                </a:lnTo>
                <a:lnTo>
                  <a:pt x="84686" y="7279"/>
                </a:lnTo>
                <a:lnTo>
                  <a:pt x="72000" y="10462"/>
                </a:lnTo>
                <a:lnTo>
                  <a:pt x="59469" y="14209"/>
                </a:lnTo>
                <a:lnTo>
                  <a:pt x="47118" y="18513"/>
                </a:lnTo>
                <a:lnTo>
                  <a:pt x="34971" y="23364"/>
                </a:lnTo>
                <a:lnTo>
                  <a:pt x="23054" y="28753"/>
                </a:lnTo>
                <a:lnTo>
                  <a:pt x="11389" y="34669"/>
                </a:lnTo>
                <a:lnTo>
                  <a:pt x="0" y="41101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5A5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593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83985" y="2415799"/>
            <a:ext cx="142894" cy="487468"/>
          </a:xfrm>
          <a:custGeom>
            <a:avLst/>
            <a:gdLst/>
            <a:ahLst/>
            <a:cxnLst/>
            <a:rect l="l" t="t" r="r" b="b"/>
            <a:pathLst>
              <a:path w="142894" h="487468">
                <a:moveTo>
                  <a:pt x="0" y="487468"/>
                </a:moveTo>
                <a:lnTo>
                  <a:pt x="20142" y="474342"/>
                </a:lnTo>
                <a:lnTo>
                  <a:pt x="39138" y="459608"/>
                </a:lnTo>
                <a:lnTo>
                  <a:pt x="56861" y="443364"/>
                </a:lnTo>
                <a:lnTo>
                  <a:pt x="73190" y="425720"/>
                </a:lnTo>
                <a:lnTo>
                  <a:pt x="88016" y="406795"/>
                </a:lnTo>
                <a:lnTo>
                  <a:pt x="101238" y="386717"/>
                </a:lnTo>
                <a:lnTo>
                  <a:pt x="112767" y="365621"/>
                </a:lnTo>
                <a:lnTo>
                  <a:pt x="122526" y="343650"/>
                </a:lnTo>
                <a:lnTo>
                  <a:pt x="130448" y="320952"/>
                </a:lnTo>
                <a:lnTo>
                  <a:pt x="136480" y="297680"/>
                </a:lnTo>
                <a:lnTo>
                  <a:pt x="140581" y="273991"/>
                </a:lnTo>
                <a:lnTo>
                  <a:pt x="142724" y="250046"/>
                </a:lnTo>
                <a:lnTo>
                  <a:pt x="142894" y="226006"/>
                </a:lnTo>
                <a:lnTo>
                  <a:pt x="141090" y="202033"/>
                </a:lnTo>
                <a:lnTo>
                  <a:pt x="137324" y="178289"/>
                </a:lnTo>
                <a:lnTo>
                  <a:pt x="131621" y="154934"/>
                </a:lnTo>
                <a:lnTo>
                  <a:pt x="124020" y="132126"/>
                </a:lnTo>
                <a:lnTo>
                  <a:pt x="114573" y="110020"/>
                </a:lnTo>
                <a:lnTo>
                  <a:pt x="103343" y="88763"/>
                </a:lnTo>
                <a:lnTo>
                  <a:pt x="90406" y="68500"/>
                </a:lnTo>
                <a:lnTo>
                  <a:pt x="75849" y="49367"/>
                </a:lnTo>
                <a:lnTo>
                  <a:pt x="59771" y="31494"/>
                </a:lnTo>
                <a:lnTo>
                  <a:pt x="42279" y="15001"/>
                </a:lnTo>
                <a:lnTo>
                  <a:pt x="23493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1484" y="25345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120°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560" y="123444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260604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42976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88720" y="260604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599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A5A7A"/>
                </a:solidFill>
              </a:rPr>
              <a:t>A kite has angles 80°, 80°, 120°, and an unknown angle.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914400"/>
            <a:ext cx="45262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0515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A kite doesn't have every angle matching — only ONE pair does, and it's already shown twice.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18288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So this time we fall back on the 360° total, like Lesson 6.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2606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360° − 80° − 80° − 120° = 80°.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33832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The unknown angle is 80°.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Stretch: What About Five Sides?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Reasoning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quadrilateral splits into 2 triangles (2 × 180° = 360°). A pentagon splits into 3 triangles.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triangles × 180° = 540°.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every pentagon's five angles add to 540° — the same diagonal-splitting idea from Lesson 6, just with one more triangle.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402336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02336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how many triangles would a hexagon (6 sides) split into?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Student-Led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3931920" cy="40233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371600"/>
            <a:ext cx="2377440" cy="2926080"/>
          </a:xfrm>
          <a:custGeom>
            <a:avLst/>
            <a:gdLst/>
            <a:ahLst/>
            <a:cxnLst/>
            <a:rect l="l" t="t" r="r" b="b"/>
            <a:pathLst>
              <a:path w="2377440" h="2926080">
                <a:moveTo>
                  <a:pt x="1188720" y="0"/>
                </a:moveTo>
                <a:lnTo>
                  <a:pt x="2377440" y="1463040"/>
                </a:lnTo>
                <a:lnTo>
                  <a:pt x="1188720" y="2926080"/>
                </a:lnTo>
                <a:lnTo>
                  <a:pt x="0" y="1463040"/>
                </a:lnTo>
                <a:close/>
              </a:path>
            </a:pathLst>
          </a:custGeom>
          <a:solidFill>
            <a:srgbClr val="EAE8F5"/>
          </a:solidFill>
          <a:ln w="34925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5764" y="1598697"/>
            <a:ext cx="369033" cy="65511"/>
          </a:xfrm>
          <a:custGeom>
            <a:avLst/>
            <a:gdLst/>
            <a:ahLst/>
            <a:cxnLst/>
            <a:rect l="l" t="t" r="r" b="b"/>
            <a:pathLst>
              <a:path w="369033" h="65511">
                <a:moveTo>
                  <a:pt x="0" y="0"/>
                </a:moveTo>
                <a:lnTo>
                  <a:pt x="13204" y="10119"/>
                </a:lnTo>
                <a:lnTo>
                  <a:pt x="26962" y="19471"/>
                </a:lnTo>
                <a:lnTo>
                  <a:pt x="41228" y="28026"/>
                </a:lnTo>
                <a:lnTo>
                  <a:pt x="55958" y="35757"/>
                </a:lnTo>
                <a:lnTo>
                  <a:pt x="71104" y="42638"/>
                </a:lnTo>
                <a:lnTo>
                  <a:pt x="86616" y="48647"/>
                </a:lnTo>
                <a:lnTo>
                  <a:pt x="102445" y="53765"/>
                </a:lnTo>
                <a:lnTo>
                  <a:pt x="118538" y="57975"/>
                </a:lnTo>
                <a:lnTo>
                  <a:pt x="134845" y="61264"/>
                </a:lnTo>
                <a:lnTo>
                  <a:pt x="151313" y="63621"/>
                </a:lnTo>
                <a:lnTo>
                  <a:pt x="167888" y="65038"/>
                </a:lnTo>
                <a:lnTo>
                  <a:pt x="184516" y="65511"/>
                </a:lnTo>
                <a:lnTo>
                  <a:pt x="201145" y="65038"/>
                </a:lnTo>
                <a:lnTo>
                  <a:pt x="217720" y="63621"/>
                </a:lnTo>
                <a:lnTo>
                  <a:pt x="234188" y="61264"/>
                </a:lnTo>
                <a:lnTo>
                  <a:pt x="250495" y="57975"/>
                </a:lnTo>
                <a:lnTo>
                  <a:pt x="266588" y="53765"/>
                </a:lnTo>
                <a:lnTo>
                  <a:pt x="282417" y="48647"/>
                </a:lnTo>
                <a:lnTo>
                  <a:pt x="297929" y="42638"/>
                </a:lnTo>
                <a:lnTo>
                  <a:pt x="313074" y="35757"/>
                </a:lnTo>
                <a:lnTo>
                  <a:pt x="327804" y="28026"/>
                </a:lnTo>
                <a:lnTo>
                  <a:pt x="342071" y="19471"/>
                </a:lnTo>
                <a:lnTo>
                  <a:pt x="355829" y="10119"/>
                </a:lnTo>
                <a:lnTo>
                  <a:pt x="369033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828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65°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36392" y="2607543"/>
            <a:ext cx="108092" cy="454194"/>
          </a:xfrm>
          <a:custGeom>
            <a:avLst/>
            <a:gdLst/>
            <a:ahLst/>
            <a:cxnLst/>
            <a:rect l="l" t="t" r="r" b="b"/>
            <a:pathLst>
              <a:path w="108092" h="454194">
                <a:moveTo>
                  <a:pt x="108092" y="0"/>
                </a:moveTo>
                <a:lnTo>
                  <a:pt x="91798" y="14271"/>
                </a:lnTo>
                <a:lnTo>
                  <a:pt x="76605" y="29709"/>
                </a:lnTo>
                <a:lnTo>
                  <a:pt x="62596" y="46228"/>
                </a:lnTo>
                <a:lnTo>
                  <a:pt x="49846" y="63738"/>
                </a:lnTo>
                <a:lnTo>
                  <a:pt x="38427" y="82143"/>
                </a:lnTo>
                <a:lnTo>
                  <a:pt x="28401" y="101343"/>
                </a:lnTo>
                <a:lnTo>
                  <a:pt x="19823" y="121231"/>
                </a:lnTo>
                <a:lnTo>
                  <a:pt x="12739" y="141700"/>
                </a:lnTo>
                <a:lnTo>
                  <a:pt x="7189" y="162636"/>
                </a:lnTo>
                <a:lnTo>
                  <a:pt x="3202" y="183926"/>
                </a:lnTo>
                <a:lnTo>
                  <a:pt x="802" y="205452"/>
                </a:lnTo>
                <a:lnTo>
                  <a:pt x="0" y="227097"/>
                </a:lnTo>
                <a:lnTo>
                  <a:pt x="802" y="248742"/>
                </a:lnTo>
                <a:lnTo>
                  <a:pt x="3202" y="270268"/>
                </a:lnTo>
                <a:lnTo>
                  <a:pt x="7189" y="291558"/>
                </a:lnTo>
                <a:lnTo>
                  <a:pt x="12739" y="312495"/>
                </a:lnTo>
                <a:lnTo>
                  <a:pt x="19823" y="332963"/>
                </a:lnTo>
                <a:lnTo>
                  <a:pt x="28401" y="352852"/>
                </a:lnTo>
                <a:lnTo>
                  <a:pt x="38427" y="372051"/>
                </a:lnTo>
                <a:lnTo>
                  <a:pt x="49846" y="390456"/>
                </a:lnTo>
                <a:lnTo>
                  <a:pt x="62596" y="407967"/>
                </a:lnTo>
                <a:lnTo>
                  <a:pt x="76605" y="424486"/>
                </a:lnTo>
                <a:lnTo>
                  <a:pt x="91798" y="439923"/>
                </a:lnTo>
                <a:lnTo>
                  <a:pt x="108092" y="454194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9736" y="2688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55764" y="4005072"/>
            <a:ext cx="369033" cy="65511"/>
          </a:xfrm>
          <a:custGeom>
            <a:avLst/>
            <a:gdLst/>
            <a:ahLst/>
            <a:cxnLst/>
            <a:rect l="l" t="t" r="r" b="b"/>
            <a:pathLst>
              <a:path w="369033" h="65511">
                <a:moveTo>
                  <a:pt x="369033" y="65511"/>
                </a:moveTo>
                <a:lnTo>
                  <a:pt x="355829" y="55392"/>
                </a:lnTo>
                <a:lnTo>
                  <a:pt x="342071" y="46040"/>
                </a:lnTo>
                <a:lnTo>
                  <a:pt x="327804" y="37485"/>
                </a:lnTo>
                <a:lnTo>
                  <a:pt x="313074" y="29754"/>
                </a:lnTo>
                <a:lnTo>
                  <a:pt x="297929" y="22873"/>
                </a:lnTo>
                <a:lnTo>
                  <a:pt x="282417" y="16864"/>
                </a:lnTo>
                <a:lnTo>
                  <a:pt x="266588" y="11746"/>
                </a:lnTo>
                <a:lnTo>
                  <a:pt x="250495" y="7536"/>
                </a:lnTo>
                <a:lnTo>
                  <a:pt x="234188" y="4247"/>
                </a:lnTo>
                <a:lnTo>
                  <a:pt x="217720" y="1890"/>
                </a:lnTo>
                <a:lnTo>
                  <a:pt x="201145" y="473"/>
                </a:lnTo>
                <a:lnTo>
                  <a:pt x="184516" y="0"/>
                </a:lnTo>
                <a:lnTo>
                  <a:pt x="167888" y="473"/>
                </a:lnTo>
                <a:lnTo>
                  <a:pt x="151313" y="1890"/>
                </a:lnTo>
                <a:lnTo>
                  <a:pt x="134845" y="4247"/>
                </a:lnTo>
                <a:lnTo>
                  <a:pt x="118538" y="7536"/>
                </a:lnTo>
                <a:lnTo>
                  <a:pt x="102445" y="11746"/>
                </a:lnTo>
                <a:lnTo>
                  <a:pt x="86616" y="16864"/>
                </a:lnTo>
                <a:lnTo>
                  <a:pt x="71104" y="22873"/>
                </a:lnTo>
                <a:lnTo>
                  <a:pt x="55958" y="29754"/>
                </a:lnTo>
                <a:lnTo>
                  <a:pt x="41228" y="37485"/>
                </a:lnTo>
                <a:lnTo>
                  <a:pt x="26962" y="46040"/>
                </a:lnTo>
                <a:lnTo>
                  <a:pt x="13204" y="55392"/>
                </a:lnTo>
                <a:lnTo>
                  <a:pt x="0" y="65511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4A3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547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36076" y="2607543"/>
            <a:ext cx="108092" cy="454194"/>
          </a:xfrm>
          <a:custGeom>
            <a:avLst/>
            <a:gdLst/>
            <a:ahLst/>
            <a:cxnLst/>
            <a:rect l="l" t="t" r="r" b="b"/>
            <a:pathLst>
              <a:path w="108092" h="454194">
                <a:moveTo>
                  <a:pt x="0" y="454194"/>
                </a:moveTo>
                <a:lnTo>
                  <a:pt x="16293" y="439923"/>
                </a:lnTo>
                <a:lnTo>
                  <a:pt x="31486" y="424486"/>
                </a:lnTo>
                <a:lnTo>
                  <a:pt x="45496" y="407967"/>
                </a:lnTo>
                <a:lnTo>
                  <a:pt x="58245" y="390456"/>
                </a:lnTo>
                <a:lnTo>
                  <a:pt x="69664" y="372051"/>
                </a:lnTo>
                <a:lnTo>
                  <a:pt x="79690" y="352852"/>
                </a:lnTo>
                <a:lnTo>
                  <a:pt x="88269" y="332963"/>
                </a:lnTo>
                <a:lnTo>
                  <a:pt x="95353" y="312495"/>
                </a:lnTo>
                <a:lnTo>
                  <a:pt x="100903" y="291558"/>
                </a:lnTo>
                <a:lnTo>
                  <a:pt x="104889" y="270268"/>
                </a:lnTo>
                <a:lnTo>
                  <a:pt x="107290" y="248742"/>
                </a:lnTo>
                <a:lnTo>
                  <a:pt x="108092" y="227097"/>
                </a:lnTo>
                <a:lnTo>
                  <a:pt x="107290" y="205452"/>
                </a:lnTo>
                <a:lnTo>
                  <a:pt x="104889" y="183926"/>
                </a:lnTo>
                <a:lnTo>
                  <a:pt x="100903" y="162636"/>
                </a:lnTo>
                <a:lnTo>
                  <a:pt x="95353" y="141700"/>
                </a:lnTo>
                <a:lnTo>
                  <a:pt x="88269" y="121231"/>
                </a:lnTo>
                <a:lnTo>
                  <a:pt x="79690" y="101343"/>
                </a:lnTo>
                <a:lnTo>
                  <a:pt x="69664" y="82143"/>
                </a:lnTo>
                <a:lnTo>
                  <a:pt x="58245" y="63738"/>
                </a:lnTo>
                <a:lnTo>
                  <a:pt x="45496" y="46228"/>
                </a:lnTo>
                <a:lnTo>
                  <a:pt x="31486" y="29709"/>
                </a:lnTo>
                <a:lnTo>
                  <a:pt x="16293" y="14271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2E6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9304" y="2688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560" y="132588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27889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425196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2788920"/>
            <a:ext cx="91440" cy="91440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537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A5A7A"/>
                </a:solidFill>
              </a:rPr>
              <a:t>A rhombus has one angle of 65°.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914400"/>
            <a:ext cx="45262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On your own: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14630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all four angles of this rhombus. Use the same steps as the guided rhombus problem.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26280" y="27889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TRY IT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 — Share Out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Student-Led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80160"/>
            <a:ext cx="7680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Rhombus with one angle 65° — what are all four angles?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661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all four angles, in order around the shape (start at the 65° corner)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 Comes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you'll draw triangles and quadrilaterals from given side and angle measurements — the angle relationships you used today will help you check your drawings are correct.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kite has angles 75°, 75°, 140°, and an unknown angle. What is the unknown angle?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70°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75°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80°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140°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AND how you found it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kite has angles 75°, 75°, 140°, and an unknown angle. What is the unknown angle?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70°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75°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80°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140°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360° − 75° − 75° − 140° = 70°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AND how you found it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two angles across from each other in the rhombus matched exactly — 72° and 72°. Then the other two matched too, at 108° each.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adding all four: 72 + 108 + 72 + 108 = 360. If that hadn't worked, I'd know one of my angles was wrong.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trapezoid's leg like a hinge — the two angles leaning against it always straighten out to a flat 180°.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term is co-interior angles when a leg crosses between two parallel sides — that's exactly why they're supplementary, not equal.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member's thinking matches how you solved the rhombus problem?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Show What You Know checks in the Canvas lesson.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Independent Practice: rhombus, trapezoid, and kite angle problems.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Bring your geometry tools next class for Lesson 5.11.08: Drawing Triangles and Quadrilaterals.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5.11.07 Angles of Quadrilaterals Part 2 — Teacher Slides</dc:title>
  <dc:subject>PptxGenJS Presentation</dc:subject>
  <dc:creator>PptxGenJS</dc:creator>
  <cp:lastModifiedBy>PptxGenJS</cp:lastModifiedBy>
  <cp:revision>1</cp:revision>
  <dcterms:created xsi:type="dcterms:W3CDTF">2026-09-24T19:33:51Z</dcterms:created>
  <dcterms:modified xsi:type="dcterms:W3CDTF">2026-09-24T19:33:51Z</dcterms:modified>
</cp:coreProperties>
</file>