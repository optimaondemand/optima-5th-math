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all 4 items. Give a minute of think time -- every number can be defended as the one that doesn't belong, but push students to name the mathematical reason (factors, multiples, perfect squares), not just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all 4 items. Give a minute of think time -- every number can be defended as the one that doesn't belong, but push students to name the mathematical reason (factors, multiples, perfect squares), not just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Connection: tie the discussion to 'precise' -- today's construction work depends on precise measurements, just like these facts depend on precise number relationships. Try It: fresh set of 4 -- 49 is the outlier because it is the only perfect square (18, 24, 30 are all multiples of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Connection: tie the discussion to 'precise' -- today's construction work depends on precise measurements, just like these facts depend on precise number relationships. Try It: fresh set of 4 -- 49 is the outlier because it is the only perfect square (18, 24, 30 are all multiples of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(30 sec)
Name today's lesson: using a ruler and protractor to actually construct triangles and quadrilaterals from given measurements. This is the last lesson of Unit 11 -- everything students have learned about measuring and classifying angles and shapes now becomes a tool for BUILDING them.
Transition: "Let's see what we're aiming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SOURCE-CHECK NOTE: the source HTML's Learn-tab content (Construction Canvas centerpiece: click grid points to place vertices, drag to match a triangle or quadrilateral challenge) genuinely matches this lesson's title -- no title/content mismatch bug found here, unlike the risk flagged for this lesson. The HTML's stale wrapper text (generic 'Build or study the shape' objectives boilerplate) was cleaned up for this Goal slide, matching the pattern already seen in 5.11.01-07.
Read the I Can statement aloud. Emphasize the Big Idea quote: constraints, not appearance, decide whether a drawing is correct.
Transition: "Before we build anything new, let's warm up with the measuring and classifying skills we'll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Question 1 reviews Lesson 4's triangle angle sum: 40 + 90 = 130, 180 - 130 = 50. Question 2 reviews Lesson 1's protractor skill -- students will use that same protractor today to BUILD an angle instead of just reading one. Question 3 reviews Lesson 5's quadrilateral classification.
Anticipated: 50°; a protractor; a parallelogram (or rectangle, square).
Common error: on Q2 students may say 'ruler' -- clarify a ruler measures length, a protractor measures and marks angle openings.
Transition: "Today we use the ruler and protractor together to build shapes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(1-2 min)
Frame the real-world stakes: architects and engineers can't eyeball a shape -- every side length and angle measure must be built to an exact constraint, because the real bridge depends on it.
Anticipated: a ruler, a protractor, maybe a compass.
Transition: "Let's find out exactly how those tools let us build a shape to exact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Show a single ruler-drawn segment with a protractor positioned at its left endpoint, angle not yet marked. Ask what students notice about the tools' placement, then what they wonder about what happens next.
Anticipated notice: the segment has an exact length; the protractor's center sits right on the endpoint.
Anticipated wonder: what angle will be marked, and where will the next side end up?
Transition: "Let's physically build a full triangle from a plan just like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(5 min) -- THE KEY MOMENT OF THE LESSON
This is a genuine physical construction, step by step, not a stated fact. Walk the ruler along the grid to draw the 6 cm base exactly. Then place the protractor's center directly on the left endpoint and mark 50°; repeat at the right endpoint for 70°. Extend both rays with the ruler until they physically cross -- that crossing point IS the third vertex, found by the construction itself, not measured afterward.
Anticipated: the ruler measures/draws straight lengths; the protractor measures/marks angle openings.
Common error: students place the protractor's center off the endpoint, which shifts the whole angle -- emphasize the center hole must sit exactly on the vertex point.
Transition: "Let's see the finished shape this construction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This is the finished shape the construction just produced -- the third angle (60°) came out of the drawing itself, not a separate calculation. Confirm it also matches the triangle angle-sum rule from Lesson 4: 50 + 70 + 60 = 180.
Anticipated: students recognize this is the same triangle from the Concrete step, now labeled.
Common error: thinking the third angle had to be measured with the protractor after the fact -- it is actually fixed automatically by where the two rays cross.
Transition: "Let's write the construction steps as a general procedure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Name the general procedure in words -- no letter variables, spelled-out steps that work for any given side length and two angles. Have 2-3 students paraphrase the steps out loud.
Anticipated: many will say Step 2 or 3 (placing the protractor's center exactly on the endpoint).
Common error: skipping straight to drawing all three sides before marking both angles -- the order matters because the third vertex is found, not chosen.
Transition: "Triangles use two angles and a side -- quadrilaterals need one more piece of information. Let's build one of those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QUADRILATERAL CONSTRUCTION (4 min) -- this closes an Independent Practice gap (IP #2 asks students to draw a parallelogram from two given sides and one given angle).
A quadrilateral needs one more piece of information than a triangle: two side lengths PLUS one angle, because opposite sides of a parallelogram are equal and parallel. Walk through drawing the base, marking the 60° angle, measuring the second side along that ray, then completing the shape with a parallel side.
Anticipated: the triangle needed one side + two angles (3 measurements); this quadrilateral needed two sides + one angle (3 measurements too, but the parallel-side rule replaces the second angle).
Common error: forgetting that the top side must be drawn PARALLEL to the base, not at a new angle.
Transition: "Let's name the tools and terms we've been using all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card. Point to the construction scaffold slides whenever a term applies -- point to the protractor icon for 'protractor,' point to the crossing point for 'vertex.'
Common error: students confuse 'included angle' with any angle in the shape -- it specifically sits between the two sides that are already given.
Transition: "Now let's use these words while we build a few shapes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(3-4 min) -- mirrors IP #1's format (find the third angle, then describe/build the construction) with different numbers.
Find the missing angle first: 65 + 45 = 110, 180 - 110 = 70. Then walk the same 5-step procedure from the Abstract slide: draw the 5 cm base, mark 65° at one end, mark 45° at the other, extend rays to the crossing point.
Anticipated: third angle = 70°.
Common error: trying to construct before finding the third angle -- the third angle isn't needed to draw the shape (it comes out of the construction automatically), but IP problems ask students to state it first.
Transition: "Now let's build a quadrilateral the same careful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(3-4 min) -- mirrors IP #2's parallelogram construction (sides 6 cm and 4 cm, one 70° angle) with different numbers.
Draw the 5 cm base, mark 60° at one endpoint, measure 3 cm along that ray, then complete the parallelogram with a parallel top side. Confirm opposite angles match (60° and 60°) and adjacent angles are supplementary (60° + 120° = 180°).
Anticipated: opposite angle = 60°; adjacent angles = 120°.
Common error: drawing the top side at a new angle instead of parallel to the base -- a parallelogram's defining feature is two pairs of parallel sides.
Transition: "Sometimes you're given a finished shape instead of instructions -- let's classify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C (3-4 min) -- closes an Independent Practice gap (IP #3 asks students to classify a drawn shape from its constraints, working backward from properties instead of building forward from instructions).
All four sides equal narrows it to a square or a rhombus; adding one 90° angle forces every angle to be 90° (opposite angles in this shape must match, and adjacent angles must be supplementary), so it must be a square.
Anticipated: a square.
Common error: stopping at 'rhombus' and forgetting that the right angle forces all four angles to be equal too.
Transition: "Not every set of measurements can actually be built -- let's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D (3-4 min) -- closes an Independent Practice gap (IP #4: the triangle inequality, deciding whether a triangle CAN be constructed at all before attempting to build it).
The two shorter sides must add up to MORE than the longest side, or the rays drawn from each end of the base simply won't reach each other and cross. Here 3 + 4 = 7, which is less than 9, so the triangle is impossible -- no amount of careful construction can fix it.
Anticipated: impossible; 3 + 4 = 7 &lt; 9.
Common error: assuming any three side lengths can form a triangle as long as you're careful with the ruler -- some combinations are mathematically impossible no matter how carefully you draw.
Transition: "Now it's your turn to try a construction problem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(3 min) -- mirrors IP #5 (equilateral triangle, 8 cm sides, cut in half) with a 9 cm triangle.
Students solve independently: an equilateral triangle has three 60° angles; cutting straight down from the top vertex to the midpoint of the base splits the top 60° angle in half (30° each) and creates a new 90° angle where the cut meets the base. Each half-triangle has angles 90°, 60°, 30°.
Give real think time before revealing. Cold-call 1-2 students to explain their reasoning out loud.
Anticipated: 90°, 60°, 30°; yes, it is a right triangle.
Common error: assuming both halves keep a 60° angle at the cut instead of realizing the cut creates a brand-new 90° angle.
Transition: "Let's look ahead to where this construction skill leads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Today's construction skill (placing vertices exactly, by constraint) is the last lesson of Unit 11: Geometry. Unit 12: Data and Graphs opens with plotting precise points on a coordinate graph -- the same careful, exact placement skill students just practiced with a ruler and protractor.
Transition: "Let's check what you've got before we wrap up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Give real think time before revealing. This checks the construction sequence itself, not just the arithmetic.
Common error: choosing an angle-marking step first, before the side that anchors both protractor placements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Give real think time before revealing. This checks the construction sequence itself, not just the arithmetic.
Common error: choosing an angle-marking step first, before the side that anchors both protractor placements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DISMISSAL (1 min)
Remind students the Independent Practice includes constructing a triangle from two angles, constructing a parallelogram, classifying a drawn shape, testing whether a triangle is even possible, and a reasoning problem about cutting an equilateral triangle in half -- all covered today.
This closes out Unit 11: Geometry.
End of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74320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743200"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rPr>
              <a:t>WHICH ONE DOESN'T BELONG</a:t>
            </a:r>
            <a:endParaRPr lang="en-US" sz="800" dirty="0"/>
          </a:p>
        </p:txBody>
      </p:sp>
      <p:sp>
        <p:nvSpPr>
          <p:cNvPr id="5" name="Shape 3"/>
          <p:cNvSpPr/>
          <p:nvPr/>
        </p:nvSpPr>
        <p:spPr>
          <a:xfrm>
            <a:off x="2944368" y="164592"/>
            <a:ext cx="576072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944368" y="164592"/>
            <a:ext cx="5760720" cy="292608"/>
          </a:xfrm>
          <a:prstGeom prst="rect">
            <a:avLst/>
          </a:prstGeom>
          <a:noFill/>
          <a:ln/>
        </p:spPr>
        <p:txBody>
          <a:bodyPr wrap="square" lIns="0" tIns="0" rIns="0" bIns="0" rtlCol="0" anchor="ctr"/>
          <a:lstStyle/>
          <a:p>
            <a:pPr indent="0" marL="0">
              <a:buNone/>
            </a:pPr>
            <a:r>
              <a:rPr lang="en-US" sz="900" dirty="0">
                <a:solidFill>
                  <a:srgbClr val="FFFFFF"/>
                </a:solidFill>
              </a:rPr>
              <a:t>  ·  Warm-Up · Factors and Multiples</a:t>
            </a:r>
            <a:endParaRPr lang="en-US" sz="900" dirty="0"/>
          </a:p>
        </p:txBody>
      </p:sp>
      <p:sp>
        <p:nvSpPr>
          <p:cNvPr id="7" name="Shape 5"/>
          <p:cNvSpPr/>
          <p:nvPr/>
        </p:nvSpPr>
        <p:spPr>
          <a:xfrm>
            <a:off x="914400" y="1188720"/>
            <a:ext cx="3200400" cy="1371600"/>
          </a:xfrm>
          <a:prstGeom prst="roundRect">
            <a:avLst>
              <a:gd name="adj" fmla="val 6667"/>
            </a:avLst>
          </a:prstGeom>
          <a:solidFill>
            <a:srgbClr val="2A3B5A"/>
          </a:solidFill>
          <a:ln w="12700">
            <a:solidFill>
              <a:srgbClr val="4A5B8A"/>
            </a:solidFill>
            <a:prstDash val="solid"/>
          </a:ln>
        </p:spPr>
      </p:sp>
      <p:sp>
        <p:nvSpPr>
          <p:cNvPr id="8" name="Text 6"/>
          <p:cNvSpPr/>
          <p:nvPr/>
        </p:nvSpPr>
        <p:spPr>
          <a:xfrm>
            <a:off x="9144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15</a:t>
            </a:r>
            <a:endParaRPr lang="en-US" sz="2600" dirty="0"/>
          </a:p>
        </p:txBody>
      </p:sp>
      <p:sp>
        <p:nvSpPr>
          <p:cNvPr id="9" name="Shape 7"/>
          <p:cNvSpPr/>
          <p:nvPr/>
        </p:nvSpPr>
        <p:spPr>
          <a:xfrm>
            <a:off x="5029200" y="1188720"/>
            <a:ext cx="3200400" cy="1371600"/>
          </a:xfrm>
          <a:prstGeom prst="roundRect">
            <a:avLst>
              <a:gd name="adj" fmla="val 6667"/>
            </a:avLst>
          </a:prstGeom>
          <a:solidFill>
            <a:srgbClr val="2A3B5A"/>
          </a:solidFill>
          <a:ln w="12700">
            <a:solidFill>
              <a:srgbClr val="4A5B8A"/>
            </a:solidFill>
            <a:prstDash val="solid"/>
          </a:ln>
        </p:spPr>
      </p:sp>
      <p:sp>
        <p:nvSpPr>
          <p:cNvPr id="10" name="Text 8"/>
          <p:cNvSpPr/>
          <p:nvPr/>
        </p:nvSpPr>
        <p:spPr>
          <a:xfrm>
            <a:off x="50292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20</a:t>
            </a:r>
            <a:endParaRPr lang="en-US" sz="2600" dirty="0"/>
          </a:p>
        </p:txBody>
      </p:sp>
      <p:sp>
        <p:nvSpPr>
          <p:cNvPr id="11" name="Shape 9"/>
          <p:cNvSpPr/>
          <p:nvPr/>
        </p:nvSpPr>
        <p:spPr>
          <a:xfrm>
            <a:off x="914400" y="3017520"/>
            <a:ext cx="3200400" cy="1371600"/>
          </a:xfrm>
          <a:prstGeom prst="roundRect">
            <a:avLst>
              <a:gd name="adj" fmla="val 6667"/>
            </a:avLst>
          </a:prstGeom>
          <a:solidFill>
            <a:srgbClr val="2A3B5A"/>
          </a:solidFill>
          <a:ln w="12700">
            <a:solidFill>
              <a:srgbClr val="4A5B8A"/>
            </a:solidFill>
            <a:prstDash val="solid"/>
          </a:ln>
        </p:spPr>
      </p:sp>
      <p:sp>
        <p:nvSpPr>
          <p:cNvPr id="12" name="Text 10"/>
          <p:cNvSpPr/>
          <p:nvPr/>
        </p:nvSpPr>
        <p:spPr>
          <a:xfrm>
            <a:off x="9144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25</a:t>
            </a:r>
            <a:endParaRPr lang="en-US" sz="2600" dirty="0"/>
          </a:p>
        </p:txBody>
      </p:sp>
      <p:sp>
        <p:nvSpPr>
          <p:cNvPr id="13" name="Shape 11"/>
          <p:cNvSpPr/>
          <p:nvPr/>
        </p:nvSpPr>
        <p:spPr>
          <a:xfrm>
            <a:off x="5029200" y="3017520"/>
            <a:ext cx="3200400" cy="1371600"/>
          </a:xfrm>
          <a:prstGeom prst="roundRect">
            <a:avLst>
              <a:gd name="adj" fmla="val 6667"/>
            </a:avLst>
          </a:prstGeom>
          <a:solidFill>
            <a:srgbClr val="2A3B5A"/>
          </a:solidFill>
          <a:ln w="12700">
            <a:solidFill>
              <a:srgbClr val="4A5B8A"/>
            </a:solidFill>
            <a:prstDash val="solid"/>
          </a:ln>
        </p:spPr>
      </p:sp>
      <p:sp>
        <p:nvSpPr>
          <p:cNvPr id="14" name="Text 12"/>
          <p:cNvSpPr/>
          <p:nvPr/>
        </p:nvSpPr>
        <p:spPr>
          <a:xfrm>
            <a:off x="50292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42</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Every Answer Can Be Right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Which Doesn't Belong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60120"/>
            <a:ext cx="4069080" cy="1645920"/>
          </a:xfrm>
          <a:prstGeom prst="roundRect">
            <a:avLst>
              <a:gd name="adj" fmla="val 5556"/>
            </a:avLst>
          </a:prstGeom>
          <a:solidFill>
            <a:srgbClr val="EAE8F5"/>
          </a:solidFill>
          <a:ln w="6350">
            <a:solidFill>
              <a:srgbClr val="DDDDEE"/>
            </a:solidFill>
            <a:prstDash val="solid"/>
          </a:ln>
        </p:spPr>
      </p:sp>
      <p:sp>
        <p:nvSpPr>
          <p:cNvPr id="7" name="Text 5"/>
          <p:cNvSpPr/>
          <p:nvPr/>
        </p:nvSpPr>
        <p:spPr>
          <a:xfrm>
            <a:off x="5029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15</a:t>
            </a:r>
            <a:endParaRPr lang="en-US" sz="1600" dirty="0"/>
          </a:p>
        </p:txBody>
      </p:sp>
      <p:sp>
        <p:nvSpPr>
          <p:cNvPr id="8" name="Text 6"/>
          <p:cNvSpPr/>
          <p:nvPr/>
        </p:nvSpPr>
        <p:spPr>
          <a:xfrm>
            <a:off x="5029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This is the only one that is also a multiple of 3.</a:t>
            </a:r>
            <a:endParaRPr lang="en-US" sz="1200" dirty="0"/>
          </a:p>
        </p:txBody>
      </p:sp>
      <p:sp>
        <p:nvSpPr>
          <p:cNvPr id="9" name="Shape 7"/>
          <p:cNvSpPr/>
          <p:nvPr/>
        </p:nvSpPr>
        <p:spPr>
          <a:xfrm>
            <a:off x="4709160" y="960120"/>
            <a:ext cx="4069080" cy="1645920"/>
          </a:xfrm>
          <a:prstGeom prst="roundRect">
            <a:avLst>
              <a:gd name="adj" fmla="val 5556"/>
            </a:avLst>
          </a:prstGeom>
          <a:solidFill>
            <a:srgbClr val="E6F2EA"/>
          </a:solidFill>
          <a:ln w="6350">
            <a:solidFill>
              <a:srgbClr val="DDDDEE"/>
            </a:solidFill>
            <a:prstDash val="solid"/>
          </a:ln>
        </p:spPr>
      </p:sp>
      <p:sp>
        <p:nvSpPr>
          <p:cNvPr id="10" name="Text 8"/>
          <p:cNvSpPr/>
          <p:nvPr/>
        </p:nvSpPr>
        <p:spPr>
          <a:xfrm>
            <a:off x="48463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20</a:t>
            </a:r>
            <a:endParaRPr lang="en-US" sz="1600" dirty="0"/>
          </a:p>
        </p:txBody>
      </p:sp>
      <p:sp>
        <p:nvSpPr>
          <p:cNvPr id="11" name="Text 9"/>
          <p:cNvSpPr/>
          <p:nvPr/>
        </p:nvSpPr>
        <p:spPr>
          <a:xfrm>
            <a:off x="48463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This is the only one that is a multiple of 4.</a:t>
            </a:r>
            <a:endParaRPr lang="en-US" sz="1200" dirty="0"/>
          </a:p>
        </p:txBody>
      </p:sp>
      <p:sp>
        <p:nvSpPr>
          <p:cNvPr id="12" name="Shape 10"/>
          <p:cNvSpPr/>
          <p:nvPr/>
        </p:nvSpPr>
        <p:spPr>
          <a:xfrm>
            <a:off x="365760" y="2743200"/>
            <a:ext cx="4069080" cy="1645920"/>
          </a:xfrm>
          <a:prstGeom prst="roundRect">
            <a:avLst>
              <a:gd name="adj" fmla="val 5556"/>
            </a:avLst>
          </a:prstGeom>
          <a:solidFill>
            <a:srgbClr val="FEF6E4"/>
          </a:solidFill>
          <a:ln w="6350">
            <a:solidFill>
              <a:srgbClr val="DDDDEE"/>
            </a:solidFill>
            <a:prstDash val="solid"/>
          </a:ln>
        </p:spPr>
      </p:sp>
      <p:sp>
        <p:nvSpPr>
          <p:cNvPr id="13" name="Text 11"/>
          <p:cNvSpPr/>
          <p:nvPr/>
        </p:nvSpPr>
        <p:spPr>
          <a:xfrm>
            <a:off x="5029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25</a:t>
            </a:r>
            <a:endParaRPr lang="en-US" sz="1600" dirty="0"/>
          </a:p>
        </p:txBody>
      </p:sp>
      <p:sp>
        <p:nvSpPr>
          <p:cNvPr id="14" name="Text 12"/>
          <p:cNvSpPr/>
          <p:nvPr/>
        </p:nvSpPr>
        <p:spPr>
          <a:xfrm>
            <a:off x="5029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This is the only one that is a perfect square.</a:t>
            </a:r>
            <a:endParaRPr lang="en-US" sz="1200" dirty="0"/>
          </a:p>
        </p:txBody>
      </p:sp>
      <p:sp>
        <p:nvSpPr>
          <p:cNvPr id="15" name="Shape 13"/>
          <p:cNvSpPr/>
          <p:nvPr/>
        </p:nvSpPr>
        <p:spPr>
          <a:xfrm>
            <a:off x="4709160" y="2743200"/>
            <a:ext cx="4069080" cy="1645920"/>
          </a:xfrm>
          <a:prstGeom prst="roundRect">
            <a:avLst>
              <a:gd name="adj" fmla="val 5556"/>
            </a:avLst>
          </a:prstGeom>
          <a:solidFill>
            <a:srgbClr val="FEF0E6"/>
          </a:solidFill>
          <a:ln w="6350">
            <a:solidFill>
              <a:srgbClr val="DDDDEE"/>
            </a:solidFill>
            <a:prstDash val="solid"/>
          </a:ln>
        </p:spPr>
      </p:sp>
      <p:sp>
        <p:nvSpPr>
          <p:cNvPr id="16" name="Text 14"/>
          <p:cNvSpPr/>
          <p:nvPr/>
        </p:nvSpPr>
        <p:spPr>
          <a:xfrm>
            <a:off x="48463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42</a:t>
            </a:r>
            <a:endParaRPr lang="en-US" sz="1600" dirty="0"/>
          </a:p>
        </p:txBody>
      </p:sp>
      <p:sp>
        <p:nvSpPr>
          <p:cNvPr id="17" name="Text 15"/>
          <p:cNvSpPr/>
          <p:nvPr/>
        </p:nvSpPr>
        <p:spPr>
          <a:xfrm>
            <a:off x="48463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This is the only one that is NOT a multiple of 5.</a:t>
            </a:r>
            <a:endParaRPr lang="en-US" sz="1200" dirty="0"/>
          </a:p>
        </p:txBody>
      </p:sp>
      <p:sp>
        <p:nvSpPr>
          <p:cNvPr id="18" name="Shape 16"/>
          <p:cNvSpPr/>
          <p:nvPr/>
        </p:nvSpPr>
        <p:spPr>
          <a:xfrm>
            <a:off x="1828800" y="4480560"/>
            <a:ext cx="54864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828800" y="44805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100" kern="0" dirty="0">
                <a:solidFill>
                  <a:srgbClr val="FFFFFF"/>
                </a:solidFill>
              </a:rPr>
              <a:t>Vocabulary Connection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54480"/>
            <a:ext cx="8229600" cy="20116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Today's key word is precise — exact, without any room for error. Which number's reason above feels like the most precise, clear-cut fact?</a:t>
            </a:r>
            <a:endParaRPr lang="en-US" sz="2000" dirty="0"/>
          </a:p>
        </p:txBody>
      </p:sp>
      <p:sp>
        <p:nvSpPr>
          <p:cNvPr id="8" name="Shape 6"/>
          <p:cNvSpPr/>
          <p:nvPr/>
        </p:nvSpPr>
        <p:spPr>
          <a:xfrm>
            <a:off x="1188720" y="4343400"/>
            <a:ext cx="676656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188720" y="4343400"/>
            <a:ext cx="67665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item fits the word?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Shape 5"/>
          <p:cNvSpPr/>
          <p:nvPr/>
        </p:nvSpPr>
        <p:spPr>
          <a:xfrm>
            <a:off x="914400" y="1463040"/>
            <a:ext cx="3200400" cy="1280160"/>
          </a:xfrm>
          <a:prstGeom prst="roundRect">
            <a:avLst>
              <a:gd name="adj" fmla="val 7143"/>
            </a:avLst>
          </a:prstGeom>
          <a:solidFill>
            <a:srgbClr val="1A5533"/>
          </a:solidFill>
          <a:ln w="12700">
            <a:solidFill>
              <a:srgbClr val="3A7555"/>
            </a:solidFill>
            <a:prstDash val="solid"/>
          </a:ln>
        </p:spPr>
      </p:sp>
      <p:sp>
        <p:nvSpPr>
          <p:cNvPr id="8" name="Text 6"/>
          <p:cNvSpPr/>
          <p:nvPr/>
        </p:nvSpPr>
        <p:spPr>
          <a:xfrm>
            <a:off x="9144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18</a:t>
            </a:r>
            <a:endParaRPr lang="en-US" sz="2600" dirty="0"/>
          </a:p>
        </p:txBody>
      </p:sp>
      <p:sp>
        <p:nvSpPr>
          <p:cNvPr id="9" name="Shape 7"/>
          <p:cNvSpPr/>
          <p:nvPr/>
        </p:nvSpPr>
        <p:spPr>
          <a:xfrm>
            <a:off x="5029200" y="1463040"/>
            <a:ext cx="3200400" cy="1280160"/>
          </a:xfrm>
          <a:prstGeom prst="roundRect">
            <a:avLst>
              <a:gd name="adj" fmla="val 7143"/>
            </a:avLst>
          </a:prstGeom>
          <a:solidFill>
            <a:srgbClr val="1A5533"/>
          </a:solidFill>
          <a:ln w="12700">
            <a:solidFill>
              <a:srgbClr val="3A7555"/>
            </a:solidFill>
            <a:prstDash val="solid"/>
          </a:ln>
        </p:spPr>
      </p:sp>
      <p:sp>
        <p:nvSpPr>
          <p:cNvPr id="10" name="Text 8"/>
          <p:cNvSpPr/>
          <p:nvPr/>
        </p:nvSpPr>
        <p:spPr>
          <a:xfrm>
            <a:off x="50292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24</a:t>
            </a:r>
            <a:endParaRPr lang="en-US" sz="2600" dirty="0"/>
          </a:p>
        </p:txBody>
      </p:sp>
      <p:sp>
        <p:nvSpPr>
          <p:cNvPr id="11" name="Shape 9"/>
          <p:cNvSpPr/>
          <p:nvPr/>
        </p:nvSpPr>
        <p:spPr>
          <a:xfrm>
            <a:off x="914400" y="3108960"/>
            <a:ext cx="3200400" cy="1280160"/>
          </a:xfrm>
          <a:prstGeom prst="roundRect">
            <a:avLst>
              <a:gd name="adj" fmla="val 7143"/>
            </a:avLst>
          </a:prstGeom>
          <a:solidFill>
            <a:srgbClr val="1A5533"/>
          </a:solidFill>
          <a:ln w="12700">
            <a:solidFill>
              <a:srgbClr val="3A7555"/>
            </a:solidFill>
            <a:prstDash val="solid"/>
          </a:ln>
        </p:spPr>
      </p:sp>
      <p:sp>
        <p:nvSpPr>
          <p:cNvPr id="12" name="Text 10"/>
          <p:cNvSpPr/>
          <p:nvPr/>
        </p:nvSpPr>
        <p:spPr>
          <a:xfrm>
            <a:off x="9144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30</a:t>
            </a:r>
            <a:endParaRPr lang="en-US" sz="2600" dirty="0"/>
          </a:p>
        </p:txBody>
      </p:sp>
      <p:sp>
        <p:nvSpPr>
          <p:cNvPr id="13" name="Shape 11"/>
          <p:cNvSpPr/>
          <p:nvPr/>
        </p:nvSpPr>
        <p:spPr>
          <a:xfrm>
            <a:off x="5029200" y="3108960"/>
            <a:ext cx="3200400" cy="1280160"/>
          </a:xfrm>
          <a:prstGeom prst="roundRect">
            <a:avLst>
              <a:gd name="adj" fmla="val 7143"/>
            </a:avLst>
          </a:prstGeom>
          <a:solidFill>
            <a:srgbClr val="1A5533"/>
          </a:solidFill>
          <a:ln w="12700">
            <a:solidFill>
              <a:srgbClr val="3A7555"/>
            </a:solidFill>
            <a:prstDash val="solid"/>
          </a:ln>
        </p:spPr>
      </p:sp>
      <p:sp>
        <p:nvSpPr>
          <p:cNvPr id="14" name="Text 12"/>
          <p:cNvSpPr/>
          <p:nvPr/>
        </p:nvSpPr>
        <p:spPr>
          <a:xfrm>
            <a:off x="50292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49</a:t>
            </a:r>
            <a:endParaRPr lang="en-US" sz="2600" dirty="0"/>
          </a:p>
        </p:txBody>
      </p:sp>
      <p:sp>
        <p:nvSpPr>
          <p:cNvPr id="15" name="Shape 13"/>
          <p:cNvSpPr/>
          <p:nvPr/>
        </p:nvSpPr>
        <p:spPr>
          <a:xfrm>
            <a:off x="1828800" y="4434840"/>
            <a:ext cx="5486400" cy="438912"/>
          </a:xfrm>
          <a:prstGeom prst="roundRect">
            <a:avLst>
              <a:gd name="adj" fmla="val 12500"/>
            </a:avLst>
          </a:prstGeom>
          <a:solidFill>
            <a:srgbClr val="464EB8"/>
          </a:solidFill>
          <a:ln w="12700">
            <a:solidFill>
              <a:srgbClr val="464EB8"/>
            </a:solidFill>
            <a:prstDash val="solid"/>
          </a:ln>
        </p:spPr>
      </p:sp>
      <p:sp>
        <p:nvSpPr>
          <p:cNvPr id="16" name="Text 14"/>
          <p:cNvSpPr/>
          <p:nvPr/>
        </p:nvSpPr>
        <p:spPr>
          <a:xfrm>
            <a:off x="1828800" y="4434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5.11.08</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Drawing Triangles and Quadrilaterals</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11: Geometry · Lesson 8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MA.5.GR.1.1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draw a triangle or quadrilateral when I am given specific side lengths and angle measures, using a ruler and protractor.</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“A drawing is correct when it matches the given constraints, not when it merely looks nice.”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3200400"/>
          </a:xfrm>
          <a:prstGeom prst="roundRect">
            <a:avLst>
              <a:gd name="adj" fmla="val 2857"/>
            </a:avLst>
          </a:prstGeom>
          <a:solidFill>
            <a:srgbClr val="FFFFFF"/>
          </a:solidFill>
          <a:ln w="6350">
            <a:solidFill>
              <a:srgbClr val="DDDDEE"/>
            </a:solidFill>
            <a:prstDash val="solid"/>
          </a:ln>
        </p:spPr>
      </p:sp>
      <p:sp>
        <p:nvSpPr>
          <p:cNvPr id="7" name="Text 5"/>
          <p:cNvSpPr/>
          <p:nvPr/>
        </p:nvSpPr>
        <p:spPr>
          <a:xfrm>
            <a:off x="685800" y="1097280"/>
            <a:ext cx="7772400" cy="365760"/>
          </a:xfrm>
          <a:prstGeom prst="rect">
            <a:avLst/>
          </a:prstGeom>
          <a:noFill/>
          <a:ln/>
        </p:spPr>
        <p:txBody>
          <a:bodyPr wrap="square" lIns="0" tIns="0" rIns="0" bIns="0" rtlCol="0" anchor="ctr"/>
          <a:lstStyle/>
          <a:p>
            <a:pPr indent="0" marL="0">
              <a:buNone/>
            </a:pPr>
            <a:r>
              <a:rPr lang="en-US" sz="1500" b="1" dirty="0">
                <a:solidFill>
                  <a:srgbClr val="4A3D8F"/>
                </a:solidFill>
              </a:rPr>
              <a:t>Quick Review: Angles and Triangles</a:t>
            </a:r>
            <a:endParaRPr lang="en-US" sz="1500" dirty="0"/>
          </a:p>
        </p:txBody>
      </p:sp>
      <p:sp>
        <p:nvSpPr>
          <p:cNvPr id="8" name="Text 6"/>
          <p:cNvSpPr/>
          <p:nvPr/>
        </p:nvSpPr>
        <p:spPr>
          <a:xfrm>
            <a:off x="822960" y="160020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A triangle has angles of 40° and 90°. What is the third angle?</a:t>
            </a:r>
            <a:endParaRPr lang="en-US" sz="1400" dirty="0"/>
          </a:p>
        </p:txBody>
      </p:sp>
      <p:sp>
        <p:nvSpPr>
          <p:cNvPr id="9" name="Text 7"/>
          <p:cNvSpPr/>
          <p:nvPr/>
        </p:nvSpPr>
        <p:spPr>
          <a:xfrm>
            <a:off x="822960" y="224028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Which tool do you use to measure or mark an exact angle?</a:t>
            </a:r>
            <a:endParaRPr lang="en-US" sz="1400" dirty="0"/>
          </a:p>
        </p:txBody>
      </p:sp>
      <p:sp>
        <p:nvSpPr>
          <p:cNvPr id="10" name="Text 8"/>
          <p:cNvSpPr/>
          <p:nvPr/>
        </p:nvSpPr>
        <p:spPr>
          <a:xfrm>
            <a:off x="822960" y="288036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A quadrilateral has two pairs of parallel sides. What could it be called?</a:t>
            </a:r>
            <a:endParaRPr lang="en-US" sz="1400" dirty="0"/>
          </a:p>
        </p:txBody>
      </p:sp>
      <p:sp>
        <p:nvSpPr>
          <p:cNvPr id="11" name="Shape 9"/>
          <p:cNvSpPr/>
          <p:nvPr/>
        </p:nvSpPr>
        <p:spPr>
          <a:xfrm>
            <a:off x="1463040" y="4343400"/>
            <a:ext cx="6217920" cy="438912"/>
          </a:xfrm>
          <a:prstGeom prst="roundRect">
            <a:avLst>
              <a:gd name="adj" fmla="val 12500"/>
            </a:avLst>
          </a:prstGeom>
          <a:solidFill>
            <a:srgbClr val="464EB8"/>
          </a:solidFill>
          <a:ln w="12700">
            <a:solidFill>
              <a:srgbClr val="464EB8"/>
            </a:solidFill>
            <a:prstDash val="solid"/>
          </a:ln>
        </p:spPr>
      </p:sp>
      <p:sp>
        <p:nvSpPr>
          <p:cNvPr id="12" name="Text 10"/>
          <p:cNvSpPr/>
          <p:nvPr/>
        </p:nvSpPr>
        <p:spPr>
          <a:xfrm>
            <a:off x="1463040" y="4343400"/>
            <a:ext cx="621792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three answers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Connection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2103120"/>
          </a:xfrm>
          <a:prstGeom prst="roundRect">
            <a:avLst>
              <a:gd name="adj" fmla="val 4348"/>
            </a:avLst>
          </a:prstGeom>
          <a:solidFill>
            <a:srgbClr val="EAE8F5"/>
          </a:solidFill>
          <a:ln w="6350">
            <a:solidFill>
              <a:srgbClr val="DDDDEE"/>
            </a:solidFill>
            <a:prstDash val="solid"/>
          </a:ln>
        </p:spPr>
      </p:sp>
      <p:sp>
        <p:nvSpPr>
          <p:cNvPr id="7" name="Text 5"/>
          <p:cNvSpPr/>
          <p:nvPr/>
        </p:nvSpPr>
        <p:spPr>
          <a:xfrm>
            <a:off x="685800" y="1280160"/>
            <a:ext cx="7772400" cy="17373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An architect must draw a support triangle for a bridge with the exact side lengths and angles an engineer specified -- not a triangle that just looks about right.</a:t>
            </a:r>
            <a:endParaRPr lang="en-US" sz="1800" dirty="0"/>
          </a:p>
        </p:txBody>
      </p:sp>
      <p:sp>
        <p:nvSpPr>
          <p:cNvPr id="8" name="Shape 6"/>
          <p:cNvSpPr/>
          <p:nvPr/>
        </p:nvSpPr>
        <p:spPr>
          <a:xfrm>
            <a:off x="548640" y="3474720"/>
            <a:ext cx="804672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548640" y="3474720"/>
            <a:ext cx="804672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tools do you think the architect needs to draw that triangle exactly?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Think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Here is a straight line segment with a protractor placed at one end, ready to mark an angle.</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Build the Triangle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4608576" cy="3246120"/>
          </a:xfrm>
          <a:prstGeom prst="roundRect">
            <a:avLst>
              <a:gd name="adj" fmla="val 2817"/>
            </a:avLst>
          </a:prstGeom>
          <a:solidFill>
            <a:srgbClr val="FFFFFF"/>
          </a:solidFill>
          <a:ln w="6350">
            <a:solidFill>
              <a:srgbClr val="DDDDEE"/>
            </a:solidFill>
            <a:prstDash val="solid"/>
          </a:ln>
        </p:spPr>
      </p:sp>
      <p:sp>
        <p:nvSpPr>
          <p:cNvPr id="7" name="Shape 5"/>
          <p:cNvSpPr/>
          <p:nvPr/>
        </p:nvSpPr>
        <p:spPr>
          <a:xfrm>
            <a:off x="777240" y="960120"/>
            <a:ext cx="0" cy="3246120"/>
          </a:xfrm>
          <a:prstGeom prst="line">
            <a:avLst/>
          </a:prstGeom>
          <a:noFill/>
          <a:ln w="6350">
            <a:solidFill>
              <a:srgbClr val="E6E6F0"/>
            </a:solidFill>
            <a:prstDash val="solid"/>
          </a:ln>
        </p:spPr>
      </p:sp>
      <p:sp>
        <p:nvSpPr>
          <p:cNvPr id="8" name="Shape 6"/>
          <p:cNvSpPr/>
          <p:nvPr/>
        </p:nvSpPr>
        <p:spPr>
          <a:xfrm>
            <a:off x="1097280" y="960120"/>
            <a:ext cx="0" cy="3246120"/>
          </a:xfrm>
          <a:prstGeom prst="line">
            <a:avLst/>
          </a:prstGeom>
          <a:noFill/>
          <a:ln w="6350">
            <a:solidFill>
              <a:srgbClr val="E6E6F0"/>
            </a:solidFill>
            <a:prstDash val="solid"/>
          </a:ln>
        </p:spPr>
      </p:sp>
      <p:sp>
        <p:nvSpPr>
          <p:cNvPr id="9" name="Shape 7"/>
          <p:cNvSpPr/>
          <p:nvPr/>
        </p:nvSpPr>
        <p:spPr>
          <a:xfrm>
            <a:off x="1417320" y="960120"/>
            <a:ext cx="0" cy="3246120"/>
          </a:xfrm>
          <a:prstGeom prst="line">
            <a:avLst/>
          </a:prstGeom>
          <a:noFill/>
          <a:ln w="6350">
            <a:solidFill>
              <a:srgbClr val="E6E6F0"/>
            </a:solidFill>
            <a:prstDash val="solid"/>
          </a:ln>
        </p:spPr>
      </p:sp>
      <p:sp>
        <p:nvSpPr>
          <p:cNvPr id="10" name="Shape 8"/>
          <p:cNvSpPr/>
          <p:nvPr/>
        </p:nvSpPr>
        <p:spPr>
          <a:xfrm>
            <a:off x="1737360" y="960120"/>
            <a:ext cx="0" cy="3246120"/>
          </a:xfrm>
          <a:prstGeom prst="line">
            <a:avLst/>
          </a:prstGeom>
          <a:noFill/>
          <a:ln w="6350">
            <a:solidFill>
              <a:srgbClr val="E6E6F0"/>
            </a:solidFill>
            <a:prstDash val="solid"/>
          </a:ln>
        </p:spPr>
      </p:sp>
      <p:sp>
        <p:nvSpPr>
          <p:cNvPr id="11" name="Shape 9"/>
          <p:cNvSpPr/>
          <p:nvPr/>
        </p:nvSpPr>
        <p:spPr>
          <a:xfrm>
            <a:off x="2057400" y="960120"/>
            <a:ext cx="0" cy="3246120"/>
          </a:xfrm>
          <a:prstGeom prst="line">
            <a:avLst/>
          </a:prstGeom>
          <a:noFill/>
          <a:ln w="6350">
            <a:solidFill>
              <a:srgbClr val="E6E6F0"/>
            </a:solidFill>
            <a:prstDash val="solid"/>
          </a:ln>
        </p:spPr>
      </p:sp>
      <p:sp>
        <p:nvSpPr>
          <p:cNvPr id="12" name="Shape 10"/>
          <p:cNvSpPr/>
          <p:nvPr/>
        </p:nvSpPr>
        <p:spPr>
          <a:xfrm>
            <a:off x="2377440" y="960120"/>
            <a:ext cx="0" cy="3246120"/>
          </a:xfrm>
          <a:prstGeom prst="line">
            <a:avLst/>
          </a:prstGeom>
          <a:noFill/>
          <a:ln w="6350">
            <a:solidFill>
              <a:srgbClr val="E6E6F0"/>
            </a:solidFill>
            <a:prstDash val="solid"/>
          </a:ln>
        </p:spPr>
      </p:sp>
      <p:sp>
        <p:nvSpPr>
          <p:cNvPr id="13" name="Shape 11"/>
          <p:cNvSpPr/>
          <p:nvPr/>
        </p:nvSpPr>
        <p:spPr>
          <a:xfrm>
            <a:off x="2697480" y="960120"/>
            <a:ext cx="0" cy="3246120"/>
          </a:xfrm>
          <a:prstGeom prst="line">
            <a:avLst/>
          </a:prstGeom>
          <a:noFill/>
          <a:ln w="6350">
            <a:solidFill>
              <a:srgbClr val="E6E6F0"/>
            </a:solidFill>
            <a:prstDash val="solid"/>
          </a:ln>
        </p:spPr>
      </p:sp>
      <p:sp>
        <p:nvSpPr>
          <p:cNvPr id="14" name="Shape 12"/>
          <p:cNvSpPr/>
          <p:nvPr/>
        </p:nvSpPr>
        <p:spPr>
          <a:xfrm>
            <a:off x="3017520" y="960120"/>
            <a:ext cx="0" cy="3246120"/>
          </a:xfrm>
          <a:prstGeom prst="line">
            <a:avLst/>
          </a:prstGeom>
          <a:noFill/>
          <a:ln w="6350">
            <a:solidFill>
              <a:srgbClr val="E6E6F0"/>
            </a:solidFill>
            <a:prstDash val="solid"/>
          </a:ln>
        </p:spPr>
      </p:sp>
      <p:sp>
        <p:nvSpPr>
          <p:cNvPr id="15" name="Shape 13"/>
          <p:cNvSpPr/>
          <p:nvPr/>
        </p:nvSpPr>
        <p:spPr>
          <a:xfrm>
            <a:off x="3337560" y="960120"/>
            <a:ext cx="0" cy="3246120"/>
          </a:xfrm>
          <a:prstGeom prst="line">
            <a:avLst/>
          </a:prstGeom>
          <a:noFill/>
          <a:ln w="6350">
            <a:solidFill>
              <a:srgbClr val="E6E6F0"/>
            </a:solidFill>
            <a:prstDash val="solid"/>
          </a:ln>
        </p:spPr>
      </p:sp>
      <p:sp>
        <p:nvSpPr>
          <p:cNvPr id="16" name="Shape 14"/>
          <p:cNvSpPr/>
          <p:nvPr/>
        </p:nvSpPr>
        <p:spPr>
          <a:xfrm>
            <a:off x="3657600" y="960120"/>
            <a:ext cx="0" cy="3246120"/>
          </a:xfrm>
          <a:prstGeom prst="line">
            <a:avLst/>
          </a:prstGeom>
          <a:noFill/>
          <a:ln w="6350">
            <a:solidFill>
              <a:srgbClr val="E6E6F0"/>
            </a:solidFill>
            <a:prstDash val="solid"/>
          </a:ln>
        </p:spPr>
      </p:sp>
      <p:sp>
        <p:nvSpPr>
          <p:cNvPr id="17" name="Shape 15"/>
          <p:cNvSpPr/>
          <p:nvPr/>
        </p:nvSpPr>
        <p:spPr>
          <a:xfrm>
            <a:off x="3977640" y="960120"/>
            <a:ext cx="0" cy="3246120"/>
          </a:xfrm>
          <a:prstGeom prst="line">
            <a:avLst/>
          </a:prstGeom>
          <a:noFill/>
          <a:ln w="6350">
            <a:solidFill>
              <a:srgbClr val="E6E6F0"/>
            </a:solidFill>
            <a:prstDash val="solid"/>
          </a:ln>
        </p:spPr>
      </p:sp>
      <p:sp>
        <p:nvSpPr>
          <p:cNvPr id="18" name="Shape 16"/>
          <p:cNvSpPr/>
          <p:nvPr/>
        </p:nvSpPr>
        <p:spPr>
          <a:xfrm>
            <a:off x="4297680" y="960120"/>
            <a:ext cx="0" cy="3246120"/>
          </a:xfrm>
          <a:prstGeom prst="line">
            <a:avLst/>
          </a:prstGeom>
          <a:noFill/>
          <a:ln w="6350">
            <a:solidFill>
              <a:srgbClr val="E6E6F0"/>
            </a:solidFill>
            <a:prstDash val="solid"/>
          </a:ln>
        </p:spPr>
      </p:sp>
      <p:sp>
        <p:nvSpPr>
          <p:cNvPr id="19" name="Shape 17"/>
          <p:cNvSpPr/>
          <p:nvPr/>
        </p:nvSpPr>
        <p:spPr>
          <a:xfrm>
            <a:off x="4617720" y="960120"/>
            <a:ext cx="0" cy="3246120"/>
          </a:xfrm>
          <a:prstGeom prst="line">
            <a:avLst/>
          </a:prstGeom>
          <a:noFill/>
          <a:ln w="6350">
            <a:solidFill>
              <a:srgbClr val="E6E6F0"/>
            </a:solidFill>
            <a:prstDash val="solid"/>
          </a:ln>
        </p:spPr>
      </p:sp>
      <p:sp>
        <p:nvSpPr>
          <p:cNvPr id="20" name="Shape 18"/>
          <p:cNvSpPr/>
          <p:nvPr/>
        </p:nvSpPr>
        <p:spPr>
          <a:xfrm>
            <a:off x="4937760" y="960120"/>
            <a:ext cx="0" cy="3246120"/>
          </a:xfrm>
          <a:prstGeom prst="line">
            <a:avLst/>
          </a:prstGeom>
          <a:noFill/>
          <a:ln w="6350">
            <a:solidFill>
              <a:srgbClr val="E6E6F0"/>
            </a:solidFill>
            <a:prstDash val="solid"/>
          </a:ln>
        </p:spPr>
      </p:sp>
      <p:sp>
        <p:nvSpPr>
          <p:cNvPr id="21" name="Shape 19"/>
          <p:cNvSpPr/>
          <p:nvPr/>
        </p:nvSpPr>
        <p:spPr>
          <a:xfrm>
            <a:off x="457200" y="1280160"/>
            <a:ext cx="4608576" cy="0"/>
          </a:xfrm>
          <a:prstGeom prst="line">
            <a:avLst/>
          </a:prstGeom>
          <a:noFill/>
          <a:ln w="6350">
            <a:solidFill>
              <a:srgbClr val="E6E6F0"/>
            </a:solidFill>
            <a:prstDash val="solid"/>
          </a:ln>
        </p:spPr>
      </p:sp>
      <p:sp>
        <p:nvSpPr>
          <p:cNvPr id="22" name="Shape 20"/>
          <p:cNvSpPr/>
          <p:nvPr/>
        </p:nvSpPr>
        <p:spPr>
          <a:xfrm>
            <a:off x="457200" y="1600200"/>
            <a:ext cx="4608576" cy="0"/>
          </a:xfrm>
          <a:prstGeom prst="line">
            <a:avLst/>
          </a:prstGeom>
          <a:noFill/>
          <a:ln w="6350">
            <a:solidFill>
              <a:srgbClr val="E6E6F0"/>
            </a:solidFill>
            <a:prstDash val="solid"/>
          </a:ln>
        </p:spPr>
      </p:sp>
      <p:sp>
        <p:nvSpPr>
          <p:cNvPr id="23" name="Shape 21"/>
          <p:cNvSpPr/>
          <p:nvPr/>
        </p:nvSpPr>
        <p:spPr>
          <a:xfrm>
            <a:off x="457200" y="1920240"/>
            <a:ext cx="4608576" cy="0"/>
          </a:xfrm>
          <a:prstGeom prst="line">
            <a:avLst/>
          </a:prstGeom>
          <a:noFill/>
          <a:ln w="6350">
            <a:solidFill>
              <a:srgbClr val="E6E6F0"/>
            </a:solidFill>
            <a:prstDash val="solid"/>
          </a:ln>
        </p:spPr>
      </p:sp>
      <p:sp>
        <p:nvSpPr>
          <p:cNvPr id="24" name="Shape 22"/>
          <p:cNvSpPr/>
          <p:nvPr/>
        </p:nvSpPr>
        <p:spPr>
          <a:xfrm>
            <a:off x="457200" y="2240280"/>
            <a:ext cx="4608576" cy="0"/>
          </a:xfrm>
          <a:prstGeom prst="line">
            <a:avLst/>
          </a:prstGeom>
          <a:noFill/>
          <a:ln w="6350">
            <a:solidFill>
              <a:srgbClr val="E6E6F0"/>
            </a:solidFill>
            <a:prstDash val="solid"/>
          </a:ln>
        </p:spPr>
      </p:sp>
      <p:sp>
        <p:nvSpPr>
          <p:cNvPr id="25" name="Shape 23"/>
          <p:cNvSpPr/>
          <p:nvPr/>
        </p:nvSpPr>
        <p:spPr>
          <a:xfrm>
            <a:off x="457200" y="2560320"/>
            <a:ext cx="4608576" cy="0"/>
          </a:xfrm>
          <a:prstGeom prst="line">
            <a:avLst/>
          </a:prstGeom>
          <a:noFill/>
          <a:ln w="6350">
            <a:solidFill>
              <a:srgbClr val="E6E6F0"/>
            </a:solidFill>
            <a:prstDash val="solid"/>
          </a:ln>
        </p:spPr>
      </p:sp>
      <p:sp>
        <p:nvSpPr>
          <p:cNvPr id="26" name="Shape 24"/>
          <p:cNvSpPr/>
          <p:nvPr/>
        </p:nvSpPr>
        <p:spPr>
          <a:xfrm>
            <a:off x="457200" y="2880360"/>
            <a:ext cx="4608576" cy="0"/>
          </a:xfrm>
          <a:prstGeom prst="line">
            <a:avLst/>
          </a:prstGeom>
          <a:noFill/>
          <a:ln w="6350">
            <a:solidFill>
              <a:srgbClr val="E6E6F0"/>
            </a:solidFill>
            <a:prstDash val="solid"/>
          </a:ln>
        </p:spPr>
      </p:sp>
      <p:sp>
        <p:nvSpPr>
          <p:cNvPr id="27" name="Shape 25"/>
          <p:cNvSpPr/>
          <p:nvPr/>
        </p:nvSpPr>
        <p:spPr>
          <a:xfrm>
            <a:off x="457200" y="3200400"/>
            <a:ext cx="4608576" cy="0"/>
          </a:xfrm>
          <a:prstGeom prst="line">
            <a:avLst/>
          </a:prstGeom>
          <a:noFill/>
          <a:ln w="6350">
            <a:solidFill>
              <a:srgbClr val="E6E6F0"/>
            </a:solidFill>
            <a:prstDash val="solid"/>
          </a:ln>
        </p:spPr>
      </p:sp>
      <p:sp>
        <p:nvSpPr>
          <p:cNvPr id="28" name="Shape 26"/>
          <p:cNvSpPr/>
          <p:nvPr/>
        </p:nvSpPr>
        <p:spPr>
          <a:xfrm>
            <a:off x="457200" y="3520440"/>
            <a:ext cx="4608576" cy="0"/>
          </a:xfrm>
          <a:prstGeom prst="line">
            <a:avLst/>
          </a:prstGeom>
          <a:noFill/>
          <a:ln w="6350">
            <a:solidFill>
              <a:srgbClr val="E6E6F0"/>
            </a:solidFill>
            <a:prstDash val="solid"/>
          </a:ln>
        </p:spPr>
      </p:sp>
      <p:sp>
        <p:nvSpPr>
          <p:cNvPr id="29" name="Shape 27"/>
          <p:cNvSpPr/>
          <p:nvPr/>
        </p:nvSpPr>
        <p:spPr>
          <a:xfrm>
            <a:off x="457200" y="3840480"/>
            <a:ext cx="4608576" cy="0"/>
          </a:xfrm>
          <a:prstGeom prst="line">
            <a:avLst/>
          </a:prstGeom>
          <a:noFill/>
          <a:ln w="6350">
            <a:solidFill>
              <a:srgbClr val="E6E6F0"/>
            </a:solidFill>
            <a:prstDash val="solid"/>
          </a:ln>
        </p:spPr>
      </p:sp>
      <p:sp>
        <p:nvSpPr>
          <p:cNvPr id="30" name="Shape 28"/>
          <p:cNvSpPr/>
          <p:nvPr/>
        </p:nvSpPr>
        <p:spPr>
          <a:xfrm>
            <a:off x="457200" y="4160520"/>
            <a:ext cx="4608576" cy="0"/>
          </a:xfrm>
          <a:prstGeom prst="line">
            <a:avLst/>
          </a:prstGeom>
          <a:noFill/>
          <a:ln w="6350">
            <a:solidFill>
              <a:srgbClr val="E6E6F0"/>
            </a:solidFill>
            <a:prstDash val="solid"/>
          </a:ln>
        </p:spPr>
      </p:sp>
      <p:sp>
        <p:nvSpPr>
          <p:cNvPr id="31" name="Shape 29"/>
          <p:cNvSpPr/>
          <p:nvPr/>
        </p:nvSpPr>
        <p:spPr>
          <a:xfrm>
            <a:off x="594360" y="3913632"/>
            <a:ext cx="4334256" cy="0"/>
          </a:xfrm>
          <a:prstGeom prst="line">
            <a:avLst/>
          </a:prstGeom>
          <a:noFill/>
          <a:ln w="19050">
            <a:solidFill>
              <a:srgbClr val="1B2A4A"/>
            </a:solidFill>
            <a:prstDash val="solid"/>
          </a:ln>
        </p:spPr>
      </p:sp>
      <p:sp>
        <p:nvSpPr>
          <p:cNvPr id="32" name="Shape 30"/>
          <p:cNvSpPr/>
          <p:nvPr/>
        </p:nvSpPr>
        <p:spPr>
          <a:xfrm>
            <a:off x="594360" y="3840480"/>
            <a:ext cx="0" cy="146304"/>
          </a:xfrm>
          <a:prstGeom prst="line">
            <a:avLst/>
          </a:prstGeom>
          <a:noFill/>
          <a:ln w="12700">
            <a:solidFill>
              <a:srgbClr val="1B2A4A"/>
            </a:solidFill>
            <a:prstDash val="solid"/>
          </a:ln>
        </p:spPr>
      </p:sp>
      <p:sp>
        <p:nvSpPr>
          <p:cNvPr id="33" name="Shape 31"/>
          <p:cNvSpPr/>
          <p:nvPr/>
        </p:nvSpPr>
        <p:spPr>
          <a:xfrm>
            <a:off x="914400" y="3840480"/>
            <a:ext cx="0" cy="146304"/>
          </a:xfrm>
          <a:prstGeom prst="line">
            <a:avLst/>
          </a:prstGeom>
          <a:noFill/>
          <a:ln w="12700">
            <a:solidFill>
              <a:srgbClr val="1B2A4A"/>
            </a:solidFill>
            <a:prstDash val="solid"/>
          </a:ln>
        </p:spPr>
      </p:sp>
      <p:sp>
        <p:nvSpPr>
          <p:cNvPr id="34" name="Shape 32"/>
          <p:cNvSpPr/>
          <p:nvPr/>
        </p:nvSpPr>
        <p:spPr>
          <a:xfrm>
            <a:off x="1234440" y="3840480"/>
            <a:ext cx="0" cy="146304"/>
          </a:xfrm>
          <a:prstGeom prst="line">
            <a:avLst/>
          </a:prstGeom>
          <a:noFill/>
          <a:ln w="12700">
            <a:solidFill>
              <a:srgbClr val="1B2A4A"/>
            </a:solidFill>
            <a:prstDash val="solid"/>
          </a:ln>
        </p:spPr>
      </p:sp>
      <p:sp>
        <p:nvSpPr>
          <p:cNvPr id="35" name="Shape 33"/>
          <p:cNvSpPr/>
          <p:nvPr/>
        </p:nvSpPr>
        <p:spPr>
          <a:xfrm>
            <a:off x="1554480" y="3840480"/>
            <a:ext cx="0" cy="146304"/>
          </a:xfrm>
          <a:prstGeom prst="line">
            <a:avLst/>
          </a:prstGeom>
          <a:noFill/>
          <a:ln w="12700">
            <a:solidFill>
              <a:srgbClr val="1B2A4A"/>
            </a:solidFill>
            <a:prstDash val="solid"/>
          </a:ln>
        </p:spPr>
      </p:sp>
      <p:sp>
        <p:nvSpPr>
          <p:cNvPr id="36" name="Shape 34"/>
          <p:cNvSpPr/>
          <p:nvPr/>
        </p:nvSpPr>
        <p:spPr>
          <a:xfrm>
            <a:off x="1874520" y="3840480"/>
            <a:ext cx="0" cy="146304"/>
          </a:xfrm>
          <a:prstGeom prst="line">
            <a:avLst/>
          </a:prstGeom>
          <a:noFill/>
          <a:ln w="12700">
            <a:solidFill>
              <a:srgbClr val="1B2A4A"/>
            </a:solidFill>
            <a:prstDash val="solid"/>
          </a:ln>
        </p:spPr>
      </p:sp>
      <p:sp>
        <p:nvSpPr>
          <p:cNvPr id="37" name="Shape 35"/>
          <p:cNvSpPr/>
          <p:nvPr/>
        </p:nvSpPr>
        <p:spPr>
          <a:xfrm>
            <a:off x="2194560" y="3840480"/>
            <a:ext cx="0" cy="146304"/>
          </a:xfrm>
          <a:prstGeom prst="line">
            <a:avLst/>
          </a:prstGeom>
          <a:noFill/>
          <a:ln w="12700">
            <a:solidFill>
              <a:srgbClr val="1B2A4A"/>
            </a:solidFill>
            <a:prstDash val="solid"/>
          </a:ln>
        </p:spPr>
      </p:sp>
      <p:sp>
        <p:nvSpPr>
          <p:cNvPr id="38" name="Shape 36"/>
          <p:cNvSpPr/>
          <p:nvPr/>
        </p:nvSpPr>
        <p:spPr>
          <a:xfrm>
            <a:off x="2514600" y="3840480"/>
            <a:ext cx="0" cy="146304"/>
          </a:xfrm>
          <a:prstGeom prst="line">
            <a:avLst/>
          </a:prstGeom>
          <a:noFill/>
          <a:ln w="12700">
            <a:solidFill>
              <a:srgbClr val="1B2A4A"/>
            </a:solidFill>
            <a:prstDash val="solid"/>
          </a:ln>
        </p:spPr>
      </p:sp>
      <p:sp>
        <p:nvSpPr>
          <p:cNvPr id="39" name="Shape 37"/>
          <p:cNvSpPr/>
          <p:nvPr/>
        </p:nvSpPr>
        <p:spPr>
          <a:xfrm>
            <a:off x="2834640" y="3840480"/>
            <a:ext cx="0" cy="146304"/>
          </a:xfrm>
          <a:prstGeom prst="line">
            <a:avLst/>
          </a:prstGeom>
          <a:noFill/>
          <a:ln w="12700">
            <a:solidFill>
              <a:srgbClr val="1B2A4A"/>
            </a:solidFill>
            <a:prstDash val="solid"/>
          </a:ln>
        </p:spPr>
      </p:sp>
      <p:sp>
        <p:nvSpPr>
          <p:cNvPr id="40" name="Shape 38"/>
          <p:cNvSpPr/>
          <p:nvPr/>
        </p:nvSpPr>
        <p:spPr>
          <a:xfrm>
            <a:off x="3154680" y="3840480"/>
            <a:ext cx="0" cy="146304"/>
          </a:xfrm>
          <a:prstGeom prst="line">
            <a:avLst/>
          </a:prstGeom>
          <a:noFill/>
          <a:ln w="12700">
            <a:solidFill>
              <a:srgbClr val="1B2A4A"/>
            </a:solidFill>
            <a:prstDash val="solid"/>
          </a:ln>
        </p:spPr>
      </p:sp>
      <p:sp>
        <p:nvSpPr>
          <p:cNvPr id="41" name="Shape 39"/>
          <p:cNvSpPr/>
          <p:nvPr/>
        </p:nvSpPr>
        <p:spPr>
          <a:xfrm>
            <a:off x="3474720" y="3840480"/>
            <a:ext cx="0" cy="146304"/>
          </a:xfrm>
          <a:prstGeom prst="line">
            <a:avLst/>
          </a:prstGeom>
          <a:noFill/>
          <a:ln w="12700">
            <a:solidFill>
              <a:srgbClr val="1B2A4A"/>
            </a:solidFill>
            <a:prstDash val="solid"/>
          </a:ln>
        </p:spPr>
      </p:sp>
      <p:sp>
        <p:nvSpPr>
          <p:cNvPr id="42" name="Shape 40"/>
          <p:cNvSpPr/>
          <p:nvPr/>
        </p:nvSpPr>
        <p:spPr>
          <a:xfrm>
            <a:off x="3794760" y="3840480"/>
            <a:ext cx="0" cy="146304"/>
          </a:xfrm>
          <a:prstGeom prst="line">
            <a:avLst/>
          </a:prstGeom>
          <a:noFill/>
          <a:ln w="12700">
            <a:solidFill>
              <a:srgbClr val="1B2A4A"/>
            </a:solidFill>
            <a:prstDash val="solid"/>
          </a:ln>
        </p:spPr>
      </p:sp>
      <p:sp>
        <p:nvSpPr>
          <p:cNvPr id="43" name="Shape 41"/>
          <p:cNvSpPr/>
          <p:nvPr/>
        </p:nvSpPr>
        <p:spPr>
          <a:xfrm>
            <a:off x="4114800" y="3840480"/>
            <a:ext cx="0" cy="146304"/>
          </a:xfrm>
          <a:prstGeom prst="line">
            <a:avLst/>
          </a:prstGeom>
          <a:noFill/>
          <a:ln w="12700">
            <a:solidFill>
              <a:srgbClr val="1B2A4A"/>
            </a:solidFill>
            <a:prstDash val="solid"/>
          </a:ln>
        </p:spPr>
      </p:sp>
      <p:sp>
        <p:nvSpPr>
          <p:cNvPr id="44" name="Shape 42"/>
          <p:cNvSpPr/>
          <p:nvPr/>
        </p:nvSpPr>
        <p:spPr>
          <a:xfrm>
            <a:off x="4434840" y="3840480"/>
            <a:ext cx="0" cy="146304"/>
          </a:xfrm>
          <a:prstGeom prst="line">
            <a:avLst/>
          </a:prstGeom>
          <a:noFill/>
          <a:ln w="12700">
            <a:solidFill>
              <a:srgbClr val="1B2A4A"/>
            </a:solidFill>
            <a:prstDash val="solid"/>
          </a:ln>
        </p:spPr>
      </p:sp>
      <p:sp>
        <p:nvSpPr>
          <p:cNvPr id="45" name="Shape 43"/>
          <p:cNvSpPr/>
          <p:nvPr/>
        </p:nvSpPr>
        <p:spPr>
          <a:xfrm>
            <a:off x="4754880" y="3840480"/>
            <a:ext cx="0" cy="146304"/>
          </a:xfrm>
          <a:prstGeom prst="line">
            <a:avLst/>
          </a:prstGeom>
          <a:noFill/>
          <a:ln w="12700">
            <a:solidFill>
              <a:srgbClr val="1B2A4A"/>
            </a:solidFill>
            <a:prstDash val="solid"/>
          </a:ln>
        </p:spPr>
      </p:sp>
      <p:sp>
        <p:nvSpPr>
          <p:cNvPr id="46" name="Text 44"/>
          <p:cNvSpPr/>
          <p:nvPr/>
        </p:nvSpPr>
        <p:spPr>
          <a:xfrm>
            <a:off x="594360" y="3968496"/>
            <a:ext cx="2011680" cy="201168"/>
          </a:xfrm>
          <a:prstGeom prst="rect">
            <a:avLst/>
          </a:prstGeom>
          <a:noFill/>
          <a:ln/>
        </p:spPr>
        <p:txBody>
          <a:bodyPr wrap="square" lIns="0" tIns="0" rIns="0" bIns="0" rtlCol="0" anchor="ctr"/>
          <a:lstStyle/>
          <a:p>
            <a:pPr indent="0" marL="0">
              <a:buNone/>
            </a:pPr>
            <a:r>
              <a:rPr lang="en-US" sz="900" i="1" dirty="0">
                <a:solidFill>
                  <a:srgbClr val="5A5A7A"/>
                </a:solidFill>
              </a:rPr>
              <a:t>ruler (cm)</a:t>
            </a:r>
            <a:endParaRPr lang="en-US" sz="900" dirty="0"/>
          </a:p>
        </p:txBody>
      </p:sp>
      <p:sp>
        <p:nvSpPr>
          <p:cNvPr id="47" name="Shape 45"/>
          <p:cNvSpPr/>
          <p:nvPr/>
        </p:nvSpPr>
        <p:spPr>
          <a:xfrm>
            <a:off x="1691640" y="1645920"/>
            <a:ext cx="91440" cy="914"/>
          </a:xfrm>
          <a:prstGeom prst="line">
            <a:avLst/>
          </a:prstGeom>
          <a:noFill/>
          <a:ln w="15875">
            <a:solidFill>
              <a:srgbClr val="4A3D8F"/>
            </a:solidFill>
            <a:prstDash val="solid"/>
          </a:ln>
        </p:spPr>
      </p:sp>
      <p:sp>
        <p:nvSpPr>
          <p:cNvPr id="48" name="Shape 46"/>
          <p:cNvSpPr/>
          <p:nvPr/>
        </p:nvSpPr>
        <p:spPr>
          <a:xfrm flipV="1">
            <a:off x="1630387" y="1371600"/>
            <a:ext cx="79189" cy="45720"/>
          </a:xfrm>
          <a:prstGeom prst="line">
            <a:avLst/>
          </a:prstGeom>
          <a:noFill/>
          <a:ln w="15875">
            <a:solidFill>
              <a:srgbClr val="4A3D8F"/>
            </a:solidFill>
            <a:prstDash val="solid"/>
          </a:ln>
        </p:spPr>
      </p:sp>
      <p:sp>
        <p:nvSpPr>
          <p:cNvPr id="49" name="Shape 47"/>
          <p:cNvSpPr/>
          <p:nvPr/>
        </p:nvSpPr>
        <p:spPr>
          <a:xfrm flipV="1">
            <a:off x="1463040" y="1170784"/>
            <a:ext cx="45720" cy="79189"/>
          </a:xfrm>
          <a:prstGeom prst="line">
            <a:avLst/>
          </a:prstGeom>
          <a:noFill/>
          <a:ln w="15875">
            <a:solidFill>
              <a:srgbClr val="4A3D8F"/>
            </a:solidFill>
            <a:prstDash val="solid"/>
          </a:ln>
        </p:spPr>
      </p:sp>
      <p:sp>
        <p:nvSpPr>
          <p:cNvPr id="50" name="Shape 48"/>
          <p:cNvSpPr/>
          <p:nvPr/>
        </p:nvSpPr>
        <p:spPr>
          <a:xfrm flipV="1">
            <a:off x="1234440" y="1097280"/>
            <a:ext cx="914" cy="91440"/>
          </a:xfrm>
          <a:prstGeom prst="line">
            <a:avLst/>
          </a:prstGeom>
          <a:noFill/>
          <a:ln w="15875">
            <a:solidFill>
              <a:srgbClr val="4A3D8F"/>
            </a:solidFill>
            <a:prstDash val="solid"/>
          </a:ln>
        </p:spPr>
      </p:sp>
      <p:sp>
        <p:nvSpPr>
          <p:cNvPr id="51" name="Shape 49"/>
          <p:cNvSpPr/>
          <p:nvPr/>
        </p:nvSpPr>
        <p:spPr>
          <a:xfrm>
            <a:off x="960120" y="1170784"/>
            <a:ext cx="45720" cy="79189"/>
          </a:xfrm>
          <a:prstGeom prst="line">
            <a:avLst/>
          </a:prstGeom>
          <a:noFill/>
          <a:ln w="15875">
            <a:solidFill>
              <a:srgbClr val="4A3D8F"/>
            </a:solidFill>
            <a:prstDash val="solid"/>
          </a:ln>
        </p:spPr>
      </p:sp>
      <p:sp>
        <p:nvSpPr>
          <p:cNvPr id="52" name="Shape 50"/>
          <p:cNvSpPr/>
          <p:nvPr/>
        </p:nvSpPr>
        <p:spPr>
          <a:xfrm>
            <a:off x="759304" y="1371600"/>
            <a:ext cx="79189" cy="45720"/>
          </a:xfrm>
          <a:prstGeom prst="line">
            <a:avLst/>
          </a:prstGeom>
          <a:noFill/>
          <a:ln w="15875">
            <a:solidFill>
              <a:srgbClr val="4A3D8F"/>
            </a:solidFill>
            <a:prstDash val="solid"/>
          </a:ln>
        </p:spPr>
      </p:sp>
      <p:sp>
        <p:nvSpPr>
          <p:cNvPr id="53" name="Shape 51"/>
          <p:cNvSpPr/>
          <p:nvPr/>
        </p:nvSpPr>
        <p:spPr>
          <a:xfrm>
            <a:off x="685800" y="1645920"/>
            <a:ext cx="91440" cy="914"/>
          </a:xfrm>
          <a:prstGeom prst="line">
            <a:avLst/>
          </a:prstGeom>
          <a:noFill/>
          <a:ln w="15875">
            <a:solidFill>
              <a:srgbClr val="4A3D8F"/>
            </a:solidFill>
            <a:prstDash val="solid"/>
          </a:ln>
        </p:spPr>
      </p:sp>
      <p:sp>
        <p:nvSpPr>
          <p:cNvPr id="54" name="Shape 52"/>
          <p:cNvSpPr/>
          <p:nvPr/>
        </p:nvSpPr>
        <p:spPr>
          <a:xfrm>
            <a:off x="685800" y="1097280"/>
            <a:ext cx="1097280" cy="548640"/>
          </a:xfrm>
          <a:custGeom>
            <a:avLst/>
            <a:gdLst/>
            <a:ahLst/>
            <a:cxnLst/>
            <a:rect l="l" t="t" r="r" b="b"/>
            <a:pathLst>
              <a:path w="1097280" h="548640">
                <a:moveTo>
                  <a:pt x="1097280" y="548640"/>
                </a:moveTo>
                <a:lnTo>
                  <a:pt x="1092586" y="477028"/>
                </a:lnTo>
                <a:lnTo>
                  <a:pt x="1078586" y="406642"/>
                </a:lnTo>
                <a:lnTo>
                  <a:pt x="1055517" y="338685"/>
                </a:lnTo>
                <a:lnTo>
                  <a:pt x="1023776" y="274320"/>
                </a:lnTo>
                <a:lnTo>
                  <a:pt x="983905" y="214649"/>
                </a:lnTo>
                <a:lnTo>
                  <a:pt x="936587" y="160693"/>
                </a:lnTo>
                <a:lnTo>
                  <a:pt x="882631" y="113375"/>
                </a:lnTo>
                <a:lnTo>
                  <a:pt x="822960" y="73504"/>
                </a:lnTo>
                <a:lnTo>
                  <a:pt x="758595" y="41763"/>
                </a:lnTo>
                <a:lnTo>
                  <a:pt x="690638" y="18694"/>
                </a:lnTo>
                <a:lnTo>
                  <a:pt x="620252" y="4694"/>
                </a:lnTo>
                <a:lnTo>
                  <a:pt x="548640" y="0"/>
                </a:lnTo>
                <a:lnTo>
                  <a:pt x="477028" y="4694"/>
                </a:lnTo>
                <a:lnTo>
                  <a:pt x="406642" y="18694"/>
                </a:lnTo>
                <a:lnTo>
                  <a:pt x="338685" y="41763"/>
                </a:lnTo>
                <a:lnTo>
                  <a:pt x="274320" y="73504"/>
                </a:lnTo>
                <a:lnTo>
                  <a:pt x="214649" y="113375"/>
                </a:lnTo>
                <a:lnTo>
                  <a:pt x="160693" y="160693"/>
                </a:lnTo>
                <a:lnTo>
                  <a:pt x="113375" y="214649"/>
                </a:lnTo>
                <a:lnTo>
                  <a:pt x="73504" y="274320"/>
                </a:lnTo>
                <a:lnTo>
                  <a:pt x="41763" y="338685"/>
                </a:lnTo>
                <a:lnTo>
                  <a:pt x="18694" y="406642"/>
                </a:lnTo>
                <a:lnTo>
                  <a:pt x="4694" y="477028"/>
                </a:lnTo>
                <a:lnTo>
                  <a:pt x="0" y="548640"/>
                </a:lnTo>
              </a:path>
            </a:pathLst>
          </a:custGeom>
          <a:solidFill>
            <a:srgbClr val="FFFFFF">
              <a:alpha val="0"/>
            </a:srgbClr>
          </a:solidFill>
          <a:ln w="19050">
            <a:solidFill>
              <a:srgbClr val="4A3D8F"/>
            </a:solidFill>
            <a:prstDash val="solid"/>
          </a:ln>
        </p:spPr>
      </p:sp>
      <p:sp>
        <p:nvSpPr>
          <p:cNvPr id="55" name="Shape 53"/>
          <p:cNvSpPr/>
          <p:nvPr/>
        </p:nvSpPr>
        <p:spPr>
          <a:xfrm>
            <a:off x="685800" y="1645920"/>
            <a:ext cx="1097280" cy="0"/>
          </a:xfrm>
          <a:prstGeom prst="line">
            <a:avLst/>
          </a:prstGeom>
          <a:noFill/>
          <a:ln w="15875">
            <a:solidFill>
              <a:srgbClr val="4A3D8F"/>
            </a:solidFill>
            <a:prstDash val="solid"/>
          </a:ln>
        </p:spPr>
      </p:sp>
      <p:sp>
        <p:nvSpPr>
          <p:cNvPr id="56" name="Text 54"/>
          <p:cNvSpPr/>
          <p:nvPr/>
        </p:nvSpPr>
        <p:spPr>
          <a:xfrm>
            <a:off x="685800" y="1755648"/>
            <a:ext cx="1097280" cy="201168"/>
          </a:xfrm>
          <a:prstGeom prst="rect">
            <a:avLst/>
          </a:prstGeom>
          <a:noFill/>
          <a:ln/>
        </p:spPr>
        <p:txBody>
          <a:bodyPr wrap="square" lIns="0" tIns="0" rIns="0" bIns="0" rtlCol="0" anchor="ctr"/>
          <a:lstStyle/>
          <a:p>
            <a:pPr algn="ctr" indent="0" marL="0">
              <a:buNone/>
            </a:pPr>
            <a:r>
              <a:rPr lang="en-US" sz="900" i="1" dirty="0">
                <a:solidFill>
                  <a:srgbClr val="5A5A7A"/>
                </a:solidFill>
              </a:rPr>
              <a:t>protractor</a:t>
            </a:r>
            <a:endParaRPr lang="en-US" sz="900" dirty="0"/>
          </a:p>
        </p:txBody>
      </p:sp>
      <p:sp>
        <p:nvSpPr>
          <p:cNvPr id="57" name="Shape 55"/>
          <p:cNvSpPr/>
          <p:nvPr/>
        </p:nvSpPr>
        <p:spPr>
          <a:xfrm>
            <a:off x="5340096" y="960120"/>
            <a:ext cx="310896" cy="310896"/>
          </a:xfrm>
          <a:prstGeom prst="ellipse">
            <a:avLst/>
          </a:prstGeom>
          <a:solidFill>
            <a:srgbClr val="4A3D8F"/>
          </a:solidFill>
          <a:ln w="12700">
            <a:solidFill>
              <a:srgbClr val="4A3D8F"/>
            </a:solidFill>
            <a:prstDash val="solid"/>
          </a:ln>
        </p:spPr>
      </p:sp>
      <p:sp>
        <p:nvSpPr>
          <p:cNvPr id="58" name="Text 56"/>
          <p:cNvSpPr/>
          <p:nvPr/>
        </p:nvSpPr>
        <p:spPr>
          <a:xfrm>
            <a:off x="5340096" y="960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9" name="Text 57"/>
          <p:cNvSpPr/>
          <p:nvPr/>
        </p:nvSpPr>
        <p:spPr>
          <a:xfrm>
            <a:off x="5742432" y="91440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Draw a base side 6 cm long using a ruler.</a:t>
            </a:r>
            <a:endParaRPr lang="en-US" sz="1150" dirty="0"/>
          </a:p>
        </p:txBody>
      </p:sp>
      <p:sp>
        <p:nvSpPr>
          <p:cNvPr id="60" name="Shape 58"/>
          <p:cNvSpPr/>
          <p:nvPr/>
        </p:nvSpPr>
        <p:spPr>
          <a:xfrm>
            <a:off x="5340096" y="1783080"/>
            <a:ext cx="310896" cy="310896"/>
          </a:xfrm>
          <a:prstGeom prst="ellipse">
            <a:avLst/>
          </a:prstGeom>
          <a:solidFill>
            <a:srgbClr val="4A3D8F"/>
          </a:solidFill>
          <a:ln w="12700">
            <a:solidFill>
              <a:srgbClr val="4A3D8F"/>
            </a:solidFill>
            <a:prstDash val="solid"/>
          </a:ln>
        </p:spPr>
      </p:sp>
      <p:sp>
        <p:nvSpPr>
          <p:cNvPr id="61" name="Text 59"/>
          <p:cNvSpPr/>
          <p:nvPr/>
        </p:nvSpPr>
        <p:spPr>
          <a:xfrm>
            <a:off x="5340096" y="1783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62" name="Text 60"/>
          <p:cNvSpPr/>
          <p:nvPr/>
        </p:nvSpPr>
        <p:spPr>
          <a:xfrm>
            <a:off x="5742432" y="173736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Place the protractor at the left end and mark 50°. Draw a ray through the mark.</a:t>
            </a:r>
            <a:endParaRPr lang="en-US" sz="1150" dirty="0"/>
          </a:p>
        </p:txBody>
      </p:sp>
      <p:sp>
        <p:nvSpPr>
          <p:cNvPr id="63" name="Shape 61"/>
          <p:cNvSpPr/>
          <p:nvPr/>
        </p:nvSpPr>
        <p:spPr>
          <a:xfrm>
            <a:off x="5340096" y="2606040"/>
            <a:ext cx="310896" cy="310896"/>
          </a:xfrm>
          <a:prstGeom prst="ellipse">
            <a:avLst/>
          </a:prstGeom>
          <a:solidFill>
            <a:srgbClr val="4A3D8F"/>
          </a:solidFill>
          <a:ln w="12700">
            <a:solidFill>
              <a:srgbClr val="4A3D8F"/>
            </a:solidFill>
            <a:prstDash val="solid"/>
          </a:ln>
        </p:spPr>
      </p:sp>
      <p:sp>
        <p:nvSpPr>
          <p:cNvPr id="64" name="Text 62"/>
          <p:cNvSpPr/>
          <p:nvPr/>
        </p:nvSpPr>
        <p:spPr>
          <a:xfrm>
            <a:off x="5340096" y="26060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65" name="Text 63"/>
          <p:cNvSpPr/>
          <p:nvPr/>
        </p:nvSpPr>
        <p:spPr>
          <a:xfrm>
            <a:off x="5742432" y="256032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Place the protractor at the right end and mark 70°. Draw a ray through the mark.</a:t>
            </a:r>
            <a:endParaRPr lang="en-US" sz="1150" dirty="0"/>
          </a:p>
        </p:txBody>
      </p:sp>
      <p:sp>
        <p:nvSpPr>
          <p:cNvPr id="66" name="Shape 64"/>
          <p:cNvSpPr/>
          <p:nvPr/>
        </p:nvSpPr>
        <p:spPr>
          <a:xfrm>
            <a:off x="5340096" y="3429000"/>
            <a:ext cx="310896" cy="310896"/>
          </a:xfrm>
          <a:prstGeom prst="ellipse">
            <a:avLst/>
          </a:prstGeom>
          <a:solidFill>
            <a:srgbClr val="4A3D8F"/>
          </a:solidFill>
          <a:ln w="12700">
            <a:solidFill>
              <a:srgbClr val="4A3D8F"/>
            </a:solidFill>
            <a:prstDash val="solid"/>
          </a:ln>
        </p:spPr>
      </p:sp>
      <p:sp>
        <p:nvSpPr>
          <p:cNvPr id="67" name="Text 65"/>
          <p:cNvSpPr/>
          <p:nvPr/>
        </p:nvSpPr>
        <p:spPr>
          <a:xfrm>
            <a:off x="5340096" y="3429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68" name="Text 66"/>
          <p:cNvSpPr/>
          <p:nvPr/>
        </p:nvSpPr>
        <p:spPr>
          <a:xfrm>
            <a:off x="5742432" y="338328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Extend both rays until they cross -- that crossing point is the third vertex, completing the triangle.</a:t>
            </a:r>
            <a:endParaRPr lang="en-US" sz="1150" dirty="0"/>
          </a:p>
        </p:txBody>
      </p:sp>
      <p:sp>
        <p:nvSpPr>
          <p:cNvPr id="69" name="Shape 67"/>
          <p:cNvSpPr/>
          <p:nvPr/>
        </p:nvSpPr>
        <p:spPr>
          <a:xfrm>
            <a:off x="548640" y="4297680"/>
            <a:ext cx="8046720" cy="438912"/>
          </a:xfrm>
          <a:prstGeom prst="roundRect">
            <a:avLst>
              <a:gd name="adj" fmla="val 12500"/>
            </a:avLst>
          </a:prstGeom>
          <a:solidFill>
            <a:srgbClr val="464EB8"/>
          </a:solidFill>
          <a:ln w="12700">
            <a:solidFill>
              <a:srgbClr val="464EB8"/>
            </a:solidFill>
            <a:prstDash val="solid"/>
          </a:ln>
        </p:spPr>
      </p:sp>
      <p:sp>
        <p:nvSpPr>
          <p:cNvPr id="70" name="Text 68"/>
          <p:cNvSpPr/>
          <p:nvPr/>
        </p:nvSpPr>
        <p:spPr>
          <a:xfrm>
            <a:off x="548640" y="4297680"/>
            <a:ext cx="804672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two tools did we use, and what job does each one do?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The Finished Triangle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743200" y="1188720"/>
            <a:ext cx="3657600" cy="2194560"/>
          </a:xfrm>
          <a:custGeom>
            <a:avLst/>
            <a:gdLst/>
            <a:ahLst/>
            <a:cxnLst/>
            <a:rect l="l" t="t" r="r" b="b"/>
            <a:pathLst>
              <a:path w="3657600" h="2194560">
                <a:moveTo>
                  <a:pt x="0" y="2194560"/>
                </a:moveTo>
                <a:lnTo>
                  <a:pt x="3657600" y="2194560"/>
                </a:lnTo>
                <a:lnTo>
                  <a:pt x="2377440" y="0"/>
                </a:lnTo>
                <a:close/>
              </a:path>
            </a:pathLst>
          </a:custGeom>
          <a:solidFill>
            <a:srgbClr val="EAE8F5"/>
          </a:solidFill>
          <a:ln w="34925">
            <a:solidFill>
              <a:srgbClr val="1B2A4A"/>
            </a:solidFill>
            <a:prstDash val="solid"/>
          </a:ln>
        </p:spPr>
      </p:sp>
      <p:sp>
        <p:nvSpPr>
          <p:cNvPr id="7" name="Shape 5"/>
          <p:cNvSpPr/>
          <p:nvPr/>
        </p:nvSpPr>
        <p:spPr>
          <a:xfrm>
            <a:off x="2971647" y="3172405"/>
            <a:ext cx="82449" cy="210875"/>
          </a:xfrm>
          <a:custGeom>
            <a:avLst/>
            <a:gdLst/>
            <a:ahLst/>
            <a:cxnLst/>
            <a:rect l="l" t="t" r="r" b="b"/>
            <a:pathLst>
              <a:path w="82449" h="210875">
                <a:moveTo>
                  <a:pt x="0" y="0"/>
                </a:moveTo>
                <a:lnTo>
                  <a:pt x="6438" y="7196"/>
                </a:lnTo>
                <a:lnTo>
                  <a:pt x="12650" y="14588"/>
                </a:lnTo>
                <a:lnTo>
                  <a:pt x="18629" y="22170"/>
                </a:lnTo>
                <a:lnTo>
                  <a:pt x="24370" y="29934"/>
                </a:lnTo>
                <a:lnTo>
                  <a:pt x="29867" y="37872"/>
                </a:lnTo>
                <a:lnTo>
                  <a:pt x="35115" y="45977"/>
                </a:lnTo>
                <a:lnTo>
                  <a:pt x="40109" y="54242"/>
                </a:lnTo>
                <a:lnTo>
                  <a:pt x="44843" y="62657"/>
                </a:lnTo>
                <a:lnTo>
                  <a:pt x="49314" y="71215"/>
                </a:lnTo>
                <a:lnTo>
                  <a:pt x="53517" y="79908"/>
                </a:lnTo>
                <a:lnTo>
                  <a:pt x="57448" y="88728"/>
                </a:lnTo>
                <a:lnTo>
                  <a:pt x="61104" y="97665"/>
                </a:lnTo>
                <a:lnTo>
                  <a:pt x="64480" y="106711"/>
                </a:lnTo>
                <a:lnTo>
                  <a:pt x="67573" y="115858"/>
                </a:lnTo>
                <a:lnTo>
                  <a:pt x="70381" y="125096"/>
                </a:lnTo>
                <a:lnTo>
                  <a:pt x="72901" y="134418"/>
                </a:lnTo>
                <a:lnTo>
                  <a:pt x="75130" y="143813"/>
                </a:lnTo>
                <a:lnTo>
                  <a:pt x="77066" y="153272"/>
                </a:lnTo>
                <a:lnTo>
                  <a:pt x="78707" y="162788"/>
                </a:lnTo>
                <a:lnTo>
                  <a:pt x="80052" y="172349"/>
                </a:lnTo>
                <a:lnTo>
                  <a:pt x="81100" y="181948"/>
                </a:lnTo>
                <a:lnTo>
                  <a:pt x="81849" y="191575"/>
                </a:lnTo>
                <a:lnTo>
                  <a:pt x="82299" y="201220"/>
                </a:lnTo>
                <a:lnTo>
                  <a:pt x="82449" y="210875"/>
                </a:lnTo>
              </a:path>
            </a:pathLst>
          </a:custGeom>
          <a:solidFill>
            <a:srgbClr val="FFFFFF">
              <a:alpha val="0"/>
            </a:srgbClr>
          </a:solidFill>
          <a:ln w="31750">
            <a:solidFill>
              <a:srgbClr val="4A3D8F"/>
            </a:solidFill>
            <a:prstDash val="solid"/>
          </a:ln>
        </p:spPr>
      </p:sp>
      <p:sp>
        <p:nvSpPr>
          <p:cNvPr id="8" name="Text 6"/>
          <p:cNvSpPr/>
          <p:nvPr/>
        </p:nvSpPr>
        <p:spPr>
          <a:xfrm>
            <a:off x="2956542" y="3010556"/>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50°</a:t>
            </a:r>
            <a:endParaRPr lang="en-US" sz="1200" dirty="0"/>
          </a:p>
        </p:txBody>
      </p:sp>
      <p:sp>
        <p:nvSpPr>
          <p:cNvPr id="9" name="Shape 7"/>
          <p:cNvSpPr/>
          <p:nvPr/>
        </p:nvSpPr>
        <p:spPr>
          <a:xfrm>
            <a:off x="6089904" y="3114735"/>
            <a:ext cx="154245" cy="268545"/>
          </a:xfrm>
          <a:custGeom>
            <a:avLst/>
            <a:gdLst/>
            <a:ahLst/>
            <a:cxnLst/>
            <a:rect l="l" t="t" r="r" b="b"/>
            <a:pathLst>
              <a:path w="154245" h="268545">
                <a:moveTo>
                  <a:pt x="0" y="268545"/>
                </a:moveTo>
                <a:lnTo>
                  <a:pt x="293" y="255042"/>
                </a:lnTo>
                <a:lnTo>
                  <a:pt x="1173" y="241565"/>
                </a:lnTo>
                <a:lnTo>
                  <a:pt x="2637" y="228138"/>
                </a:lnTo>
                <a:lnTo>
                  <a:pt x="4683" y="214787"/>
                </a:lnTo>
                <a:lnTo>
                  <a:pt x="7307" y="201538"/>
                </a:lnTo>
                <a:lnTo>
                  <a:pt x="10504" y="188416"/>
                </a:lnTo>
                <a:lnTo>
                  <a:pt x="14267" y="175444"/>
                </a:lnTo>
                <a:lnTo>
                  <a:pt x="18591" y="162649"/>
                </a:lnTo>
                <a:lnTo>
                  <a:pt x="23466" y="150053"/>
                </a:lnTo>
                <a:lnTo>
                  <a:pt x="28884" y="137681"/>
                </a:lnTo>
                <a:lnTo>
                  <a:pt x="34834" y="125556"/>
                </a:lnTo>
                <a:lnTo>
                  <a:pt x="41305" y="113700"/>
                </a:lnTo>
                <a:lnTo>
                  <a:pt x="48285" y="102137"/>
                </a:lnTo>
                <a:lnTo>
                  <a:pt x="55760" y="90888"/>
                </a:lnTo>
                <a:lnTo>
                  <a:pt x="63717" y="79975"/>
                </a:lnTo>
                <a:lnTo>
                  <a:pt x="72141" y="69417"/>
                </a:lnTo>
                <a:lnTo>
                  <a:pt x="81015" y="59235"/>
                </a:lnTo>
                <a:lnTo>
                  <a:pt x="90323" y="49448"/>
                </a:lnTo>
                <a:lnTo>
                  <a:pt x="100047" y="40074"/>
                </a:lnTo>
                <a:lnTo>
                  <a:pt x="110169" y="31132"/>
                </a:lnTo>
                <a:lnTo>
                  <a:pt x="120670" y="22638"/>
                </a:lnTo>
                <a:lnTo>
                  <a:pt x="131530" y="14608"/>
                </a:lnTo>
                <a:lnTo>
                  <a:pt x="142729" y="7057"/>
                </a:lnTo>
                <a:lnTo>
                  <a:pt x="154245" y="0"/>
                </a:lnTo>
              </a:path>
            </a:pathLst>
          </a:custGeom>
          <a:solidFill>
            <a:srgbClr val="FFFFFF">
              <a:alpha val="0"/>
            </a:srgbClr>
          </a:solidFill>
          <a:ln w="31750">
            <a:solidFill>
              <a:srgbClr val="2E6E44"/>
            </a:solidFill>
            <a:prstDash val="solid"/>
          </a:ln>
        </p:spPr>
      </p:sp>
      <p:sp>
        <p:nvSpPr>
          <p:cNvPr id="10" name="Text 8"/>
          <p:cNvSpPr/>
          <p:nvPr/>
        </p:nvSpPr>
        <p:spPr>
          <a:xfrm>
            <a:off x="5495858" y="2927286"/>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70°</a:t>
            </a:r>
            <a:endParaRPr lang="en-US" sz="1200" dirty="0"/>
          </a:p>
        </p:txBody>
      </p:sp>
      <p:sp>
        <p:nvSpPr>
          <p:cNvPr id="11" name="Shape 9"/>
          <p:cNvSpPr/>
          <p:nvPr/>
        </p:nvSpPr>
        <p:spPr>
          <a:xfrm>
            <a:off x="4892193" y="1399595"/>
            <a:ext cx="385099" cy="99956"/>
          </a:xfrm>
          <a:custGeom>
            <a:avLst/>
            <a:gdLst/>
            <a:ahLst/>
            <a:cxnLst/>
            <a:rect l="l" t="t" r="r" b="b"/>
            <a:pathLst>
              <a:path w="385099" h="99956">
                <a:moveTo>
                  <a:pt x="385099" y="57671"/>
                </a:moveTo>
                <a:lnTo>
                  <a:pt x="369714" y="66073"/>
                </a:lnTo>
                <a:lnTo>
                  <a:pt x="353879" y="73595"/>
                </a:lnTo>
                <a:lnTo>
                  <a:pt x="337646" y="80213"/>
                </a:lnTo>
                <a:lnTo>
                  <a:pt x="321066" y="85905"/>
                </a:lnTo>
                <a:lnTo>
                  <a:pt x="304191" y="90654"/>
                </a:lnTo>
                <a:lnTo>
                  <a:pt x="287075" y="94444"/>
                </a:lnTo>
                <a:lnTo>
                  <a:pt x="269773" y="97263"/>
                </a:lnTo>
                <a:lnTo>
                  <a:pt x="252339" y="99102"/>
                </a:lnTo>
                <a:lnTo>
                  <a:pt x="234830" y="99956"/>
                </a:lnTo>
                <a:lnTo>
                  <a:pt x="217300" y="99822"/>
                </a:lnTo>
                <a:lnTo>
                  <a:pt x="199806" y="98699"/>
                </a:lnTo>
                <a:lnTo>
                  <a:pt x="182402" y="96593"/>
                </a:lnTo>
                <a:lnTo>
                  <a:pt x="165146" y="93509"/>
                </a:lnTo>
                <a:lnTo>
                  <a:pt x="148090" y="89457"/>
                </a:lnTo>
                <a:lnTo>
                  <a:pt x="131290" y="84450"/>
                </a:lnTo>
                <a:lnTo>
                  <a:pt x="114799" y="78505"/>
                </a:lnTo>
                <a:lnTo>
                  <a:pt x="98669" y="71639"/>
                </a:lnTo>
                <a:lnTo>
                  <a:pt x="82951" y="63875"/>
                </a:lnTo>
                <a:lnTo>
                  <a:pt x="67697" y="55237"/>
                </a:lnTo>
                <a:lnTo>
                  <a:pt x="52953" y="45754"/>
                </a:lnTo>
                <a:lnTo>
                  <a:pt x="38768" y="35454"/>
                </a:lnTo>
                <a:lnTo>
                  <a:pt x="25185" y="24372"/>
                </a:lnTo>
                <a:lnTo>
                  <a:pt x="12249" y="12541"/>
                </a:lnTo>
                <a:lnTo>
                  <a:pt x="0" y="0"/>
                </a:lnTo>
              </a:path>
            </a:pathLst>
          </a:custGeom>
          <a:solidFill>
            <a:srgbClr val="FFFFFF">
              <a:alpha val="0"/>
            </a:srgbClr>
          </a:solidFill>
          <a:ln w="31750">
            <a:solidFill>
              <a:srgbClr val="D9941A"/>
            </a:solidFill>
            <a:prstDash val="solid"/>
          </a:ln>
        </p:spPr>
      </p:sp>
      <p:sp>
        <p:nvSpPr>
          <p:cNvPr id="12" name="Text 10"/>
          <p:cNvSpPr/>
          <p:nvPr/>
        </p:nvSpPr>
        <p:spPr>
          <a:xfrm>
            <a:off x="4662790" y="1657351"/>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60°</a:t>
            </a:r>
            <a:endParaRPr lang="en-US" sz="1200" dirty="0"/>
          </a:p>
        </p:txBody>
      </p:sp>
      <p:sp>
        <p:nvSpPr>
          <p:cNvPr id="13" name="Text 11"/>
          <p:cNvSpPr/>
          <p:nvPr/>
        </p:nvSpPr>
        <p:spPr>
          <a:xfrm>
            <a:off x="4002548" y="3512249"/>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6 cm</a:t>
            </a:r>
            <a:endParaRPr lang="en-US" sz="1200" dirty="0"/>
          </a:p>
        </p:txBody>
      </p:sp>
      <p:sp>
        <p:nvSpPr>
          <p:cNvPr id="14" name="Shape 12"/>
          <p:cNvSpPr/>
          <p:nvPr/>
        </p:nvSpPr>
        <p:spPr>
          <a:xfrm>
            <a:off x="2697480" y="3337560"/>
            <a:ext cx="91440" cy="91440"/>
          </a:xfrm>
          <a:prstGeom prst="ellipse">
            <a:avLst/>
          </a:prstGeom>
          <a:solidFill>
            <a:srgbClr val="1B2A4A"/>
          </a:solidFill>
          <a:ln w="9525">
            <a:solidFill>
              <a:srgbClr val="FFFFFF"/>
            </a:solidFill>
            <a:prstDash val="solid"/>
          </a:ln>
        </p:spPr>
      </p:sp>
      <p:sp>
        <p:nvSpPr>
          <p:cNvPr id="15" name="Shape 13"/>
          <p:cNvSpPr/>
          <p:nvPr/>
        </p:nvSpPr>
        <p:spPr>
          <a:xfrm>
            <a:off x="6355080" y="3337560"/>
            <a:ext cx="91440" cy="91440"/>
          </a:xfrm>
          <a:prstGeom prst="ellipse">
            <a:avLst/>
          </a:prstGeom>
          <a:solidFill>
            <a:srgbClr val="1B2A4A"/>
          </a:solidFill>
          <a:ln w="9525">
            <a:solidFill>
              <a:srgbClr val="FFFFFF"/>
            </a:solidFill>
            <a:prstDash val="solid"/>
          </a:ln>
        </p:spPr>
      </p:sp>
      <p:sp>
        <p:nvSpPr>
          <p:cNvPr id="16" name="Shape 14"/>
          <p:cNvSpPr/>
          <p:nvPr/>
        </p:nvSpPr>
        <p:spPr>
          <a:xfrm>
            <a:off x="5074920" y="1143000"/>
            <a:ext cx="91440" cy="91440"/>
          </a:xfrm>
          <a:prstGeom prst="ellipse">
            <a:avLst/>
          </a:prstGeom>
          <a:solidFill>
            <a:srgbClr val="1B2A4A"/>
          </a:solidFill>
          <a:ln w="9525">
            <a:solidFill>
              <a:srgbClr val="FFFFFF"/>
            </a:solidFill>
            <a:prstDash val="solid"/>
          </a:ln>
        </p:spPr>
      </p:sp>
      <p:sp>
        <p:nvSpPr>
          <p:cNvPr id="17" name="Text 15"/>
          <p:cNvSpPr/>
          <p:nvPr/>
        </p:nvSpPr>
        <p:spPr>
          <a:xfrm>
            <a:off x="2468880" y="3639312"/>
            <a:ext cx="4206240" cy="292608"/>
          </a:xfrm>
          <a:prstGeom prst="rect">
            <a:avLst/>
          </a:prstGeom>
          <a:noFill/>
          <a:ln/>
        </p:spPr>
        <p:txBody>
          <a:bodyPr wrap="square" lIns="0" tIns="0" rIns="0" bIns="0" rtlCol="0" anchor="ctr"/>
          <a:lstStyle/>
          <a:p>
            <a:pPr algn="ctr" indent="0" marL="0">
              <a:buNone/>
            </a:pPr>
            <a:r>
              <a:rPr lang="en-US" sz="1200" b="1" i="1" dirty="0">
                <a:solidFill>
                  <a:srgbClr val="5A5A7A"/>
                </a:solidFill>
              </a:rPr>
              <a:t>Built from a 6 cm base and two given angles</a:t>
            </a:r>
            <a:endParaRPr lang="en-US" sz="1200" dirty="0"/>
          </a:p>
        </p:txBody>
      </p:sp>
      <p:sp>
        <p:nvSpPr>
          <p:cNvPr id="18" name="Shape 16"/>
          <p:cNvSpPr/>
          <p:nvPr/>
        </p:nvSpPr>
        <p:spPr>
          <a:xfrm>
            <a:off x="1463040" y="3977640"/>
            <a:ext cx="6217920" cy="548640"/>
          </a:xfrm>
          <a:prstGeom prst="roundRect">
            <a:avLst>
              <a:gd name="adj" fmla="val 16667"/>
            </a:avLst>
          </a:prstGeom>
          <a:solidFill>
            <a:srgbClr val="FFFFFF"/>
          </a:solidFill>
          <a:ln w="6350">
            <a:solidFill>
              <a:srgbClr val="DDDDEE"/>
            </a:solidFill>
            <a:prstDash val="solid"/>
          </a:ln>
        </p:spPr>
      </p:sp>
      <p:sp>
        <p:nvSpPr>
          <p:cNvPr id="19" name="Text 17"/>
          <p:cNvSpPr/>
          <p:nvPr/>
        </p:nvSpPr>
        <p:spPr>
          <a:xfrm>
            <a:off x="1463040" y="3977640"/>
            <a:ext cx="6217920" cy="548640"/>
          </a:xfrm>
          <a:prstGeom prst="rect">
            <a:avLst/>
          </a:prstGeom>
          <a:noFill/>
          <a:ln/>
        </p:spPr>
        <p:txBody>
          <a:bodyPr wrap="square" lIns="0" tIns="0" rIns="0" bIns="0" rtlCol="0" anchor="ctr"/>
          <a:lstStyle/>
          <a:p>
            <a:pPr algn="ctr" indent="0" marL="0">
              <a:buNone/>
            </a:pPr>
            <a:r>
              <a:rPr lang="en-US" sz="1800" b="1" dirty="0">
                <a:solidFill>
                  <a:srgbClr val="1B2A4A"/>
                </a:solidFill>
                <a:latin typeface="Cambria" pitchFamily="34" charset="0"/>
                <a:ea typeface="Cambria" pitchFamily="34" charset="-122"/>
                <a:cs typeface="Cambria" pitchFamily="34" charset="-120"/>
              </a:rPr>
              <a:t>50° + 70° + 60° = 180°</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CPA · ABSTRACT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Procedure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3035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 Draw the given side to its exact length with a ruler.</a:t>
            </a:r>
            <a:endParaRPr lang="en-US" sz="1500" dirty="0"/>
          </a:p>
        </p:txBody>
      </p:sp>
      <p:sp>
        <p:nvSpPr>
          <p:cNvPr id="8" name="Text 6"/>
          <p:cNvSpPr/>
          <p:nvPr/>
        </p:nvSpPr>
        <p:spPr>
          <a:xfrm>
            <a:off x="457200" y="2075688"/>
            <a:ext cx="8229600" cy="53035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2. Use a protractor at one endpoint to mark the given angle; draw a ray.</a:t>
            </a:r>
            <a:endParaRPr lang="en-US" sz="1500" dirty="0"/>
          </a:p>
        </p:txBody>
      </p:sp>
      <p:sp>
        <p:nvSpPr>
          <p:cNvPr id="9" name="Text 7"/>
          <p:cNvSpPr/>
          <p:nvPr/>
        </p:nvSpPr>
        <p:spPr>
          <a:xfrm>
            <a:off x="457200" y="2642616"/>
            <a:ext cx="8229600" cy="53035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3. Use a protractor at the other endpoint to mark the second given angle; draw a ray.</a:t>
            </a:r>
            <a:endParaRPr lang="en-US" sz="1500" dirty="0"/>
          </a:p>
        </p:txBody>
      </p:sp>
      <p:sp>
        <p:nvSpPr>
          <p:cNvPr id="10" name="Text 8"/>
          <p:cNvSpPr/>
          <p:nvPr/>
        </p:nvSpPr>
        <p:spPr>
          <a:xfrm>
            <a:off x="457200" y="3209544"/>
            <a:ext cx="8229600" cy="53035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4. Extend both rays until they meet -- that meeting point is the third vertex.</a:t>
            </a:r>
            <a:endParaRPr lang="en-US" sz="1500" dirty="0"/>
          </a:p>
        </p:txBody>
      </p:sp>
      <p:sp>
        <p:nvSpPr>
          <p:cNvPr id="11" name="Text 9"/>
          <p:cNvSpPr/>
          <p:nvPr/>
        </p:nvSpPr>
        <p:spPr>
          <a:xfrm>
            <a:off x="457200" y="3776472"/>
            <a:ext cx="8229600" cy="53035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5. Draw straight sides to connect all vertices and complete the shape.</a:t>
            </a:r>
            <a:endParaRPr lang="en-US" sz="1500" dirty="0"/>
          </a:p>
        </p:txBody>
      </p:sp>
      <p:sp>
        <p:nvSpPr>
          <p:cNvPr id="12" name="Shape 10"/>
          <p:cNvSpPr/>
          <p:nvPr/>
        </p:nvSpPr>
        <p:spPr>
          <a:xfrm>
            <a:off x="1371600" y="4480560"/>
            <a:ext cx="6400800" cy="438912"/>
          </a:xfrm>
          <a:prstGeom prst="roundRect">
            <a:avLst>
              <a:gd name="adj" fmla="val 12500"/>
            </a:avLst>
          </a:prstGeom>
          <a:solidFill>
            <a:srgbClr val="464EB8"/>
          </a:solidFill>
          <a:ln w="12700">
            <a:solidFill>
              <a:srgbClr val="464EB8"/>
            </a:solidFill>
            <a:prstDash val="solid"/>
          </a:ln>
        </p:spPr>
      </p:sp>
      <p:sp>
        <p:nvSpPr>
          <p:cNvPr id="13" name="Text 11"/>
          <p:cNvSpPr/>
          <p:nvPr/>
        </p:nvSpPr>
        <p:spPr>
          <a:xfrm>
            <a:off x="1371600" y="448056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step do you think is easiest to get wrong?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Building a Quadrilateral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Gap-Fill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4608576" cy="3246120"/>
          </a:xfrm>
          <a:prstGeom prst="roundRect">
            <a:avLst>
              <a:gd name="adj" fmla="val 2817"/>
            </a:avLst>
          </a:prstGeom>
          <a:solidFill>
            <a:srgbClr val="FFFFFF"/>
          </a:solidFill>
          <a:ln w="6350">
            <a:solidFill>
              <a:srgbClr val="DDDDEE"/>
            </a:solidFill>
            <a:prstDash val="solid"/>
          </a:ln>
        </p:spPr>
      </p:sp>
      <p:sp>
        <p:nvSpPr>
          <p:cNvPr id="7" name="Shape 5"/>
          <p:cNvSpPr/>
          <p:nvPr/>
        </p:nvSpPr>
        <p:spPr>
          <a:xfrm>
            <a:off x="777240" y="960120"/>
            <a:ext cx="0" cy="3246120"/>
          </a:xfrm>
          <a:prstGeom prst="line">
            <a:avLst/>
          </a:prstGeom>
          <a:noFill/>
          <a:ln w="6350">
            <a:solidFill>
              <a:srgbClr val="E6E6F0"/>
            </a:solidFill>
            <a:prstDash val="solid"/>
          </a:ln>
        </p:spPr>
      </p:sp>
      <p:sp>
        <p:nvSpPr>
          <p:cNvPr id="8" name="Shape 6"/>
          <p:cNvSpPr/>
          <p:nvPr/>
        </p:nvSpPr>
        <p:spPr>
          <a:xfrm>
            <a:off x="1097280" y="960120"/>
            <a:ext cx="0" cy="3246120"/>
          </a:xfrm>
          <a:prstGeom prst="line">
            <a:avLst/>
          </a:prstGeom>
          <a:noFill/>
          <a:ln w="6350">
            <a:solidFill>
              <a:srgbClr val="E6E6F0"/>
            </a:solidFill>
            <a:prstDash val="solid"/>
          </a:ln>
        </p:spPr>
      </p:sp>
      <p:sp>
        <p:nvSpPr>
          <p:cNvPr id="9" name="Shape 7"/>
          <p:cNvSpPr/>
          <p:nvPr/>
        </p:nvSpPr>
        <p:spPr>
          <a:xfrm>
            <a:off x="1417320" y="960120"/>
            <a:ext cx="0" cy="3246120"/>
          </a:xfrm>
          <a:prstGeom prst="line">
            <a:avLst/>
          </a:prstGeom>
          <a:noFill/>
          <a:ln w="6350">
            <a:solidFill>
              <a:srgbClr val="E6E6F0"/>
            </a:solidFill>
            <a:prstDash val="solid"/>
          </a:ln>
        </p:spPr>
      </p:sp>
      <p:sp>
        <p:nvSpPr>
          <p:cNvPr id="10" name="Shape 8"/>
          <p:cNvSpPr/>
          <p:nvPr/>
        </p:nvSpPr>
        <p:spPr>
          <a:xfrm>
            <a:off x="1737360" y="960120"/>
            <a:ext cx="0" cy="3246120"/>
          </a:xfrm>
          <a:prstGeom prst="line">
            <a:avLst/>
          </a:prstGeom>
          <a:noFill/>
          <a:ln w="6350">
            <a:solidFill>
              <a:srgbClr val="E6E6F0"/>
            </a:solidFill>
            <a:prstDash val="solid"/>
          </a:ln>
        </p:spPr>
      </p:sp>
      <p:sp>
        <p:nvSpPr>
          <p:cNvPr id="11" name="Shape 9"/>
          <p:cNvSpPr/>
          <p:nvPr/>
        </p:nvSpPr>
        <p:spPr>
          <a:xfrm>
            <a:off x="2057400" y="960120"/>
            <a:ext cx="0" cy="3246120"/>
          </a:xfrm>
          <a:prstGeom prst="line">
            <a:avLst/>
          </a:prstGeom>
          <a:noFill/>
          <a:ln w="6350">
            <a:solidFill>
              <a:srgbClr val="E6E6F0"/>
            </a:solidFill>
            <a:prstDash val="solid"/>
          </a:ln>
        </p:spPr>
      </p:sp>
      <p:sp>
        <p:nvSpPr>
          <p:cNvPr id="12" name="Shape 10"/>
          <p:cNvSpPr/>
          <p:nvPr/>
        </p:nvSpPr>
        <p:spPr>
          <a:xfrm>
            <a:off x="2377440" y="960120"/>
            <a:ext cx="0" cy="3246120"/>
          </a:xfrm>
          <a:prstGeom prst="line">
            <a:avLst/>
          </a:prstGeom>
          <a:noFill/>
          <a:ln w="6350">
            <a:solidFill>
              <a:srgbClr val="E6E6F0"/>
            </a:solidFill>
            <a:prstDash val="solid"/>
          </a:ln>
        </p:spPr>
      </p:sp>
      <p:sp>
        <p:nvSpPr>
          <p:cNvPr id="13" name="Shape 11"/>
          <p:cNvSpPr/>
          <p:nvPr/>
        </p:nvSpPr>
        <p:spPr>
          <a:xfrm>
            <a:off x="2697480" y="960120"/>
            <a:ext cx="0" cy="3246120"/>
          </a:xfrm>
          <a:prstGeom prst="line">
            <a:avLst/>
          </a:prstGeom>
          <a:noFill/>
          <a:ln w="6350">
            <a:solidFill>
              <a:srgbClr val="E6E6F0"/>
            </a:solidFill>
            <a:prstDash val="solid"/>
          </a:ln>
        </p:spPr>
      </p:sp>
      <p:sp>
        <p:nvSpPr>
          <p:cNvPr id="14" name="Shape 12"/>
          <p:cNvSpPr/>
          <p:nvPr/>
        </p:nvSpPr>
        <p:spPr>
          <a:xfrm>
            <a:off x="3017520" y="960120"/>
            <a:ext cx="0" cy="3246120"/>
          </a:xfrm>
          <a:prstGeom prst="line">
            <a:avLst/>
          </a:prstGeom>
          <a:noFill/>
          <a:ln w="6350">
            <a:solidFill>
              <a:srgbClr val="E6E6F0"/>
            </a:solidFill>
            <a:prstDash val="solid"/>
          </a:ln>
        </p:spPr>
      </p:sp>
      <p:sp>
        <p:nvSpPr>
          <p:cNvPr id="15" name="Shape 13"/>
          <p:cNvSpPr/>
          <p:nvPr/>
        </p:nvSpPr>
        <p:spPr>
          <a:xfrm>
            <a:off x="3337560" y="960120"/>
            <a:ext cx="0" cy="3246120"/>
          </a:xfrm>
          <a:prstGeom prst="line">
            <a:avLst/>
          </a:prstGeom>
          <a:noFill/>
          <a:ln w="6350">
            <a:solidFill>
              <a:srgbClr val="E6E6F0"/>
            </a:solidFill>
            <a:prstDash val="solid"/>
          </a:ln>
        </p:spPr>
      </p:sp>
      <p:sp>
        <p:nvSpPr>
          <p:cNvPr id="16" name="Shape 14"/>
          <p:cNvSpPr/>
          <p:nvPr/>
        </p:nvSpPr>
        <p:spPr>
          <a:xfrm>
            <a:off x="3657600" y="960120"/>
            <a:ext cx="0" cy="3246120"/>
          </a:xfrm>
          <a:prstGeom prst="line">
            <a:avLst/>
          </a:prstGeom>
          <a:noFill/>
          <a:ln w="6350">
            <a:solidFill>
              <a:srgbClr val="E6E6F0"/>
            </a:solidFill>
            <a:prstDash val="solid"/>
          </a:ln>
        </p:spPr>
      </p:sp>
      <p:sp>
        <p:nvSpPr>
          <p:cNvPr id="17" name="Shape 15"/>
          <p:cNvSpPr/>
          <p:nvPr/>
        </p:nvSpPr>
        <p:spPr>
          <a:xfrm>
            <a:off x="3977640" y="960120"/>
            <a:ext cx="0" cy="3246120"/>
          </a:xfrm>
          <a:prstGeom prst="line">
            <a:avLst/>
          </a:prstGeom>
          <a:noFill/>
          <a:ln w="6350">
            <a:solidFill>
              <a:srgbClr val="E6E6F0"/>
            </a:solidFill>
            <a:prstDash val="solid"/>
          </a:ln>
        </p:spPr>
      </p:sp>
      <p:sp>
        <p:nvSpPr>
          <p:cNvPr id="18" name="Shape 16"/>
          <p:cNvSpPr/>
          <p:nvPr/>
        </p:nvSpPr>
        <p:spPr>
          <a:xfrm>
            <a:off x="4297680" y="960120"/>
            <a:ext cx="0" cy="3246120"/>
          </a:xfrm>
          <a:prstGeom prst="line">
            <a:avLst/>
          </a:prstGeom>
          <a:noFill/>
          <a:ln w="6350">
            <a:solidFill>
              <a:srgbClr val="E6E6F0"/>
            </a:solidFill>
            <a:prstDash val="solid"/>
          </a:ln>
        </p:spPr>
      </p:sp>
      <p:sp>
        <p:nvSpPr>
          <p:cNvPr id="19" name="Shape 17"/>
          <p:cNvSpPr/>
          <p:nvPr/>
        </p:nvSpPr>
        <p:spPr>
          <a:xfrm>
            <a:off x="4617720" y="960120"/>
            <a:ext cx="0" cy="3246120"/>
          </a:xfrm>
          <a:prstGeom prst="line">
            <a:avLst/>
          </a:prstGeom>
          <a:noFill/>
          <a:ln w="6350">
            <a:solidFill>
              <a:srgbClr val="E6E6F0"/>
            </a:solidFill>
            <a:prstDash val="solid"/>
          </a:ln>
        </p:spPr>
      </p:sp>
      <p:sp>
        <p:nvSpPr>
          <p:cNvPr id="20" name="Shape 18"/>
          <p:cNvSpPr/>
          <p:nvPr/>
        </p:nvSpPr>
        <p:spPr>
          <a:xfrm>
            <a:off x="4937760" y="960120"/>
            <a:ext cx="0" cy="3246120"/>
          </a:xfrm>
          <a:prstGeom prst="line">
            <a:avLst/>
          </a:prstGeom>
          <a:noFill/>
          <a:ln w="6350">
            <a:solidFill>
              <a:srgbClr val="E6E6F0"/>
            </a:solidFill>
            <a:prstDash val="solid"/>
          </a:ln>
        </p:spPr>
      </p:sp>
      <p:sp>
        <p:nvSpPr>
          <p:cNvPr id="21" name="Shape 19"/>
          <p:cNvSpPr/>
          <p:nvPr/>
        </p:nvSpPr>
        <p:spPr>
          <a:xfrm>
            <a:off x="457200" y="1280160"/>
            <a:ext cx="4608576" cy="0"/>
          </a:xfrm>
          <a:prstGeom prst="line">
            <a:avLst/>
          </a:prstGeom>
          <a:noFill/>
          <a:ln w="6350">
            <a:solidFill>
              <a:srgbClr val="E6E6F0"/>
            </a:solidFill>
            <a:prstDash val="solid"/>
          </a:ln>
        </p:spPr>
      </p:sp>
      <p:sp>
        <p:nvSpPr>
          <p:cNvPr id="22" name="Shape 20"/>
          <p:cNvSpPr/>
          <p:nvPr/>
        </p:nvSpPr>
        <p:spPr>
          <a:xfrm>
            <a:off x="457200" y="1600200"/>
            <a:ext cx="4608576" cy="0"/>
          </a:xfrm>
          <a:prstGeom prst="line">
            <a:avLst/>
          </a:prstGeom>
          <a:noFill/>
          <a:ln w="6350">
            <a:solidFill>
              <a:srgbClr val="E6E6F0"/>
            </a:solidFill>
            <a:prstDash val="solid"/>
          </a:ln>
        </p:spPr>
      </p:sp>
      <p:sp>
        <p:nvSpPr>
          <p:cNvPr id="23" name="Shape 21"/>
          <p:cNvSpPr/>
          <p:nvPr/>
        </p:nvSpPr>
        <p:spPr>
          <a:xfrm>
            <a:off x="457200" y="1920240"/>
            <a:ext cx="4608576" cy="0"/>
          </a:xfrm>
          <a:prstGeom prst="line">
            <a:avLst/>
          </a:prstGeom>
          <a:noFill/>
          <a:ln w="6350">
            <a:solidFill>
              <a:srgbClr val="E6E6F0"/>
            </a:solidFill>
            <a:prstDash val="solid"/>
          </a:ln>
        </p:spPr>
      </p:sp>
      <p:sp>
        <p:nvSpPr>
          <p:cNvPr id="24" name="Shape 22"/>
          <p:cNvSpPr/>
          <p:nvPr/>
        </p:nvSpPr>
        <p:spPr>
          <a:xfrm>
            <a:off x="457200" y="2240280"/>
            <a:ext cx="4608576" cy="0"/>
          </a:xfrm>
          <a:prstGeom prst="line">
            <a:avLst/>
          </a:prstGeom>
          <a:noFill/>
          <a:ln w="6350">
            <a:solidFill>
              <a:srgbClr val="E6E6F0"/>
            </a:solidFill>
            <a:prstDash val="solid"/>
          </a:ln>
        </p:spPr>
      </p:sp>
      <p:sp>
        <p:nvSpPr>
          <p:cNvPr id="25" name="Shape 23"/>
          <p:cNvSpPr/>
          <p:nvPr/>
        </p:nvSpPr>
        <p:spPr>
          <a:xfrm>
            <a:off x="457200" y="2560320"/>
            <a:ext cx="4608576" cy="0"/>
          </a:xfrm>
          <a:prstGeom prst="line">
            <a:avLst/>
          </a:prstGeom>
          <a:noFill/>
          <a:ln w="6350">
            <a:solidFill>
              <a:srgbClr val="E6E6F0"/>
            </a:solidFill>
            <a:prstDash val="solid"/>
          </a:ln>
        </p:spPr>
      </p:sp>
      <p:sp>
        <p:nvSpPr>
          <p:cNvPr id="26" name="Shape 24"/>
          <p:cNvSpPr/>
          <p:nvPr/>
        </p:nvSpPr>
        <p:spPr>
          <a:xfrm>
            <a:off x="457200" y="2880360"/>
            <a:ext cx="4608576" cy="0"/>
          </a:xfrm>
          <a:prstGeom prst="line">
            <a:avLst/>
          </a:prstGeom>
          <a:noFill/>
          <a:ln w="6350">
            <a:solidFill>
              <a:srgbClr val="E6E6F0"/>
            </a:solidFill>
            <a:prstDash val="solid"/>
          </a:ln>
        </p:spPr>
      </p:sp>
      <p:sp>
        <p:nvSpPr>
          <p:cNvPr id="27" name="Shape 25"/>
          <p:cNvSpPr/>
          <p:nvPr/>
        </p:nvSpPr>
        <p:spPr>
          <a:xfrm>
            <a:off x="457200" y="3200400"/>
            <a:ext cx="4608576" cy="0"/>
          </a:xfrm>
          <a:prstGeom prst="line">
            <a:avLst/>
          </a:prstGeom>
          <a:noFill/>
          <a:ln w="6350">
            <a:solidFill>
              <a:srgbClr val="E6E6F0"/>
            </a:solidFill>
            <a:prstDash val="solid"/>
          </a:ln>
        </p:spPr>
      </p:sp>
      <p:sp>
        <p:nvSpPr>
          <p:cNvPr id="28" name="Shape 26"/>
          <p:cNvSpPr/>
          <p:nvPr/>
        </p:nvSpPr>
        <p:spPr>
          <a:xfrm>
            <a:off x="457200" y="3520440"/>
            <a:ext cx="4608576" cy="0"/>
          </a:xfrm>
          <a:prstGeom prst="line">
            <a:avLst/>
          </a:prstGeom>
          <a:noFill/>
          <a:ln w="6350">
            <a:solidFill>
              <a:srgbClr val="E6E6F0"/>
            </a:solidFill>
            <a:prstDash val="solid"/>
          </a:ln>
        </p:spPr>
      </p:sp>
      <p:sp>
        <p:nvSpPr>
          <p:cNvPr id="29" name="Shape 27"/>
          <p:cNvSpPr/>
          <p:nvPr/>
        </p:nvSpPr>
        <p:spPr>
          <a:xfrm>
            <a:off x="457200" y="3840480"/>
            <a:ext cx="4608576" cy="0"/>
          </a:xfrm>
          <a:prstGeom prst="line">
            <a:avLst/>
          </a:prstGeom>
          <a:noFill/>
          <a:ln w="6350">
            <a:solidFill>
              <a:srgbClr val="E6E6F0"/>
            </a:solidFill>
            <a:prstDash val="solid"/>
          </a:ln>
        </p:spPr>
      </p:sp>
      <p:sp>
        <p:nvSpPr>
          <p:cNvPr id="30" name="Shape 28"/>
          <p:cNvSpPr/>
          <p:nvPr/>
        </p:nvSpPr>
        <p:spPr>
          <a:xfrm>
            <a:off x="457200" y="4160520"/>
            <a:ext cx="4608576" cy="0"/>
          </a:xfrm>
          <a:prstGeom prst="line">
            <a:avLst/>
          </a:prstGeom>
          <a:noFill/>
          <a:ln w="6350">
            <a:solidFill>
              <a:srgbClr val="E6E6F0"/>
            </a:solidFill>
            <a:prstDash val="solid"/>
          </a:ln>
        </p:spPr>
      </p:sp>
      <p:sp>
        <p:nvSpPr>
          <p:cNvPr id="31" name="Shape 29"/>
          <p:cNvSpPr/>
          <p:nvPr/>
        </p:nvSpPr>
        <p:spPr>
          <a:xfrm>
            <a:off x="594360" y="3913632"/>
            <a:ext cx="4334256" cy="0"/>
          </a:xfrm>
          <a:prstGeom prst="line">
            <a:avLst/>
          </a:prstGeom>
          <a:noFill/>
          <a:ln w="19050">
            <a:solidFill>
              <a:srgbClr val="1B2A4A"/>
            </a:solidFill>
            <a:prstDash val="solid"/>
          </a:ln>
        </p:spPr>
      </p:sp>
      <p:sp>
        <p:nvSpPr>
          <p:cNvPr id="32" name="Shape 30"/>
          <p:cNvSpPr/>
          <p:nvPr/>
        </p:nvSpPr>
        <p:spPr>
          <a:xfrm>
            <a:off x="594360" y="3840480"/>
            <a:ext cx="0" cy="146304"/>
          </a:xfrm>
          <a:prstGeom prst="line">
            <a:avLst/>
          </a:prstGeom>
          <a:noFill/>
          <a:ln w="12700">
            <a:solidFill>
              <a:srgbClr val="1B2A4A"/>
            </a:solidFill>
            <a:prstDash val="solid"/>
          </a:ln>
        </p:spPr>
      </p:sp>
      <p:sp>
        <p:nvSpPr>
          <p:cNvPr id="33" name="Shape 31"/>
          <p:cNvSpPr/>
          <p:nvPr/>
        </p:nvSpPr>
        <p:spPr>
          <a:xfrm>
            <a:off x="914400" y="3840480"/>
            <a:ext cx="0" cy="146304"/>
          </a:xfrm>
          <a:prstGeom prst="line">
            <a:avLst/>
          </a:prstGeom>
          <a:noFill/>
          <a:ln w="12700">
            <a:solidFill>
              <a:srgbClr val="1B2A4A"/>
            </a:solidFill>
            <a:prstDash val="solid"/>
          </a:ln>
        </p:spPr>
      </p:sp>
      <p:sp>
        <p:nvSpPr>
          <p:cNvPr id="34" name="Shape 32"/>
          <p:cNvSpPr/>
          <p:nvPr/>
        </p:nvSpPr>
        <p:spPr>
          <a:xfrm>
            <a:off x="1234440" y="3840480"/>
            <a:ext cx="0" cy="146304"/>
          </a:xfrm>
          <a:prstGeom prst="line">
            <a:avLst/>
          </a:prstGeom>
          <a:noFill/>
          <a:ln w="12700">
            <a:solidFill>
              <a:srgbClr val="1B2A4A"/>
            </a:solidFill>
            <a:prstDash val="solid"/>
          </a:ln>
        </p:spPr>
      </p:sp>
      <p:sp>
        <p:nvSpPr>
          <p:cNvPr id="35" name="Shape 33"/>
          <p:cNvSpPr/>
          <p:nvPr/>
        </p:nvSpPr>
        <p:spPr>
          <a:xfrm>
            <a:off x="1554480" y="3840480"/>
            <a:ext cx="0" cy="146304"/>
          </a:xfrm>
          <a:prstGeom prst="line">
            <a:avLst/>
          </a:prstGeom>
          <a:noFill/>
          <a:ln w="12700">
            <a:solidFill>
              <a:srgbClr val="1B2A4A"/>
            </a:solidFill>
            <a:prstDash val="solid"/>
          </a:ln>
        </p:spPr>
      </p:sp>
      <p:sp>
        <p:nvSpPr>
          <p:cNvPr id="36" name="Shape 34"/>
          <p:cNvSpPr/>
          <p:nvPr/>
        </p:nvSpPr>
        <p:spPr>
          <a:xfrm>
            <a:off x="1874520" y="3840480"/>
            <a:ext cx="0" cy="146304"/>
          </a:xfrm>
          <a:prstGeom prst="line">
            <a:avLst/>
          </a:prstGeom>
          <a:noFill/>
          <a:ln w="12700">
            <a:solidFill>
              <a:srgbClr val="1B2A4A"/>
            </a:solidFill>
            <a:prstDash val="solid"/>
          </a:ln>
        </p:spPr>
      </p:sp>
      <p:sp>
        <p:nvSpPr>
          <p:cNvPr id="37" name="Shape 35"/>
          <p:cNvSpPr/>
          <p:nvPr/>
        </p:nvSpPr>
        <p:spPr>
          <a:xfrm>
            <a:off x="2194560" y="3840480"/>
            <a:ext cx="0" cy="146304"/>
          </a:xfrm>
          <a:prstGeom prst="line">
            <a:avLst/>
          </a:prstGeom>
          <a:noFill/>
          <a:ln w="12700">
            <a:solidFill>
              <a:srgbClr val="1B2A4A"/>
            </a:solidFill>
            <a:prstDash val="solid"/>
          </a:ln>
        </p:spPr>
      </p:sp>
      <p:sp>
        <p:nvSpPr>
          <p:cNvPr id="38" name="Shape 36"/>
          <p:cNvSpPr/>
          <p:nvPr/>
        </p:nvSpPr>
        <p:spPr>
          <a:xfrm>
            <a:off x="2514600" y="3840480"/>
            <a:ext cx="0" cy="146304"/>
          </a:xfrm>
          <a:prstGeom prst="line">
            <a:avLst/>
          </a:prstGeom>
          <a:noFill/>
          <a:ln w="12700">
            <a:solidFill>
              <a:srgbClr val="1B2A4A"/>
            </a:solidFill>
            <a:prstDash val="solid"/>
          </a:ln>
        </p:spPr>
      </p:sp>
      <p:sp>
        <p:nvSpPr>
          <p:cNvPr id="39" name="Shape 37"/>
          <p:cNvSpPr/>
          <p:nvPr/>
        </p:nvSpPr>
        <p:spPr>
          <a:xfrm>
            <a:off x="2834640" y="3840480"/>
            <a:ext cx="0" cy="146304"/>
          </a:xfrm>
          <a:prstGeom prst="line">
            <a:avLst/>
          </a:prstGeom>
          <a:noFill/>
          <a:ln w="12700">
            <a:solidFill>
              <a:srgbClr val="1B2A4A"/>
            </a:solidFill>
            <a:prstDash val="solid"/>
          </a:ln>
        </p:spPr>
      </p:sp>
      <p:sp>
        <p:nvSpPr>
          <p:cNvPr id="40" name="Shape 38"/>
          <p:cNvSpPr/>
          <p:nvPr/>
        </p:nvSpPr>
        <p:spPr>
          <a:xfrm>
            <a:off x="3154680" y="3840480"/>
            <a:ext cx="0" cy="146304"/>
          </a:xfrm>
          <a:prstGeom prst="line">
            <a:avLst/>
          </a:prstGeom>
          <a:noFill/>
          <a:ln w="12700">
            <a:solidFill>
              <a:srgbClr val="1B2A4A"/>
            </a:solidFill>
            <a:prstDash val="solid"/>
          </a:ln>
        </p:spPr>
      </p:sp>
      <p:sp>
        <p:nvSpPr>
          <p:cNvPr id="41" name="Shape 39"/>
          <p:cNvSpPr/>
          <p:nvPr/>
        </p:nvSpPr>
        <p:spPr>
          <a:xfrm>
            <a:off x="3474720" y="3840480"/>
            <a:ext cx="0" cy="146304"/>
          </a:xfrm>
          <a:prstGeom prst="line">
            <a:avLst/>
          </a:prstGeom>
          <a:noFill/>
          <a:ln w="12700">
            <a:solidFill>
              <a:srgbClr val="1B2A4A"/>
            </a:solidFill>
            <a:prstDash val="solid"/>
          </a:ln>
        </p:spPr>
      </p:sp>
      <p:sp>
        <p:nvSpPr>
          <p:cNvPr id="42" name="Shape 40"/>
          <p:cNvSpPr/>
          <p:nvPr/>
        </p:nvSpPr>
        <p:spPr>
          <a:xfrm>
            <a:off x="3794760" y="3840480"/>
            <a:ext cx="0" cy="146304"/>
          </a:xfrm>
          <a:prstGeom prst="line">
            <a:avLst/>
          </a:prstGeom>
          <a:noFill/>
          <a:ln w="12700">
            <a:solidFill>
              <a:srgbClr val="1B2A4A"/>
            </a:solidFill>
            <a:prstDash val="solid"/>
          </a:ln>
        </p:spPr>
      </p:sp>
      <p:sp>
        <p:nvSpPr>
          <p:cNvPr id="43" name="Shape 41"/>
          <p:cNvSpPr/>
          <p:nvPr/>
        </p:nvSpPr>
        <p:spPr>
          <a:xfrm>
            <a:off x="4114800" y="3840480"/>
            <a:ext cx="0" cy="146304"/>
          </a:xfrm>
          <a:prstGeom prst="line">
            <a:avLst/>
          </a:prstGeom>
          <a:noFill/>
          <a:ln w="12700">
            <a:solidFill>
              <a:srgbClr val="1B2A4A"/>
            </a:solidFill>
            <a:prstDash val="solid"/>
          </a:ln>
        </p:spPr>
      </p:sp>
      <p:sp>
        <p:nvSpPr>
          <p:cNvPr id="44" name="Shape 42"/>
          <p:cNvSpPr/>
          <p:nvPr/>
        </p:nvSpPr>
        <p:spPr>
          <a:xfrm>
            <a:off x="4434840" y="3840480"/>
            <a:ext cx="0" cy="146304"/>
          </a:xfrm>
          <a:prstGeom prst="line">
            <a:avLst/>
          </a:prstGeom>
          <a:noFill/>
          <a:ln w="12700">
            <a:solidFill>
              <a:srgbClr val="1B2A4A"/>
            </a:solidFill>
            <a:prstDash val="solid"/>
          </a:ln>
        </p:spPr>
      </p:sp>
      <p:sp>
        <p:nvSpPr>
          <p:cNvPr id="45" name="Shape 43"/>
          <p:cNvSpPr/>
          <p:nvPr/>
        </p:nvSpPr>
        <p:spPr>
          <a:xfrm>
            <a:off x="4754880" y="3840480"/>
            <a:ext cx="0" cy="146304"/>
          </a:xfrm>
          <a:prstGeom prst="line">
            <a:avLst/>
          </a:prstGeom>
          <a:noFill/>
          <a:ln w="12700">
            <a:solidFill>
              <a:srgbClr val="1B2A4A"/>
            </a:solidFill>
            <a:prstDash val="solid"/>
          </a:ln>
        </p:spPr>
      </p:sp>
      <p:sp>
        <p:nvSpPr>
          <p:cNvPr id="46" name="Text 44"/>
          <p:cNvSpPr/>
          <p:nvPr/>
        </p:nvSpPr>
        <p:spPr>
          <a:xfrm>
            <a:off x="594360" y="3968496"/>
            <a:ext cx="2011680" cy="201168"/>
          </a:xfrm>
          <a:prstGeom prst="rect">
            <a:avLst/>
          </a:prstGeom>
          <a:noFill/>
          <a:ln/>
        </p:spPr>
        <p:txBody>
          <a:bodyPr wrap="square" lIns="0" tIns="0" rIns="0" bIns="0" rtlCol="0" anchor="ctr"/>
          <a:lstStyle/>
          <a:p>
            <a:pPr indent="0" marL="0">
              <a:buNone/>
            </a:pPr>
            <a:r>
              <a:rPr lang="en-US" sz="900" i="1" dirty="0">
                <a:solidFill>
                  <a:srgbClr val="5A5A7A"/>
                </a:solidFill>
              </a:rPr>
              <a:t>ruler (cm)</a:t>
            </a:r>
            <a:endParaRPr lang="en-US" sz="900" dirty="0"/>
          </a:p>
        </p:txBody>
      </p:sp>
      <p:sp>
        <p:nvSpPr>
          <p:cNvPr id="47" name="Shape 45"/>
          <p:cNvSpPr/>
          <p:nvPr/>
        </p:nvSpPr>
        <p:spPr>
          <a:xfrm>
            <a:off x="1691640" y="1645920"/>
            <a:ext cx="91440" cy="914"/>
          </a:xfrm>
          <a:prstGeom prst="line">
            <a:avLst/>
          </a:prstGeom>
          <a:noFill/>
          <a:ln w="15875">
            <a:solidFill>
              <a:srgbClr val="4A3D8F"/>
            </a:solidFill>
            <a:prstDash val="solid"/>
          </a:ln>
        </p:spPr>
      </p:sp>
      <p:sp>
        <p:nvSpPr>
          <p:cNvPr id="48" name="Shape 46"/>
          <p:cNvSpPr/>
          <p:nvPr/>
        </p:nvSpPr>
        <p:spPr>
          <a:xfrm flipV="1">
            <a:off x="1630387" y="1371600"/>
            <a:ext cx="79189" cy="45720"/>
          </a:xfrm>
          <a:prstGeom prst="line">
            <a:avLst/>
          </a:prstGeom>
          <a:noFill/>
          <a:ln w="15875">
            <a:solidFill>
              <a:srgbClr val="4A3D8F"/>
            </a:solidFill>
            <a:prstDash val="solid"/>
          </a:ln>
        </p:spPr>
      </p:sp>
      <p:sp>
        <p:nvSpPr>
          <p:cNvPr id="49" name="Shape 47"/>
          <p:cNvSpPr/>
          <p:nvPr/>
        </p:nvSpPr>
        <p:spPr>
          <a:xfrm flipV="1">
            <a:off x="1463040" y="1170784"/>
            <a:ext cx="45720" cy="79189"/>
          </a:xfrm>
          <a:prstGeom prst="line">
            <a:avLst/>
          </a:prstGeom>
          <a:noFill/>
          <a:ln w="15875">
            <a:solidFill>
              <a:srgbClr val="4A3D8F"/>
            </a:solidFill>
            <a:prstDash val="solid"/>
          </a:ln>
        </p:spPr>
      </p:sp>
      <p:sp>
        <p:nvSpPr>
          <p:cNvPr id="50" name="Shape 48"/>
          <p:cNvSpPr/>
          <p:nvPr/>
        </p:nvSpPr>
        <p:spPr>
          <a:xfrm flipV="1">
            <a:off x="1234440" y="1097280"/>
            <a:ext cx="914" cy="91440"/>
          </a:xfrm>
          <a:prstGeom prst="line">
            <a:avLst/>
          </a:prstGeom>
          <a:noFill/>
          <a:ln w="15875">
            <a:solidFill>
              <a:srgbClr val="4A3D8F"/>
            </a:solidFill>
            <a:prstDash val="solid"/>
          </a:ln>
        </p:spPr>
      </p:sp>
      <p:sp>
        <p:nvSpPr>
          <p:cNvPr id="51" name="Shape 49"/>
          <p:cNvSpPr/>
          <p:nvPr/>
        </p:nvSpPr>
        <p:spPr>
          <a:xfrm>
            <a:off x="960120" y="1170784"/>
            <a:ext cx="45720" cy="79189"/>
          </a:xfrm>
          <a:prstGeom prst="line">
            <a:avLst/>
          </a:prstGeom>
          <a:noFill/>
          <a:ln w="15875">
            <a:solidFill>
              <a:srgbClr val="4A3D8F"/>
            </a:solidFill>
            <a:prstDash val="solid"/>
          </a:ln>
        </p:spPr>
      </p:sp>
      <p:sp>
        <p:nvSpPr>
          <p:cNvPr id="52" name="Shape 50"/>
          <p:cNvSpPr/>
          <p:nvPr/>
        </p:nvSpPr>
        <p:spPr>
          <a:xfrm>
            <a:off x="759304" y="1371600"/>
            <a:ext cx="79189" cy="45720"/>
          </a:xfrm>
          <a:prstGeom prst="line">
            <a:avLst/>
          </a:prstGeom>
          <a:noFill/>
          <a:ln w="15875">
            <a:solidFill>
              <a:srgbClr val="4A3D8F"/>
            </a:solidFill>
            <a:prstDash val="solid"/>
          </a:ln>
        </p:spPr>
      </p:sp>
      <p:sp>
        <p:nvSpPr>
          <p:cNvPr id="53" name="Shape 51"/>
          <p:cNvSpPr/>
          <p:nvPr/>
        </p:nvSpPr>
        <p:spPr>
          <a:xfrm>
            <a:off x="685800" y="1645920"/>
            <a:ext cx="91440" cy="914"/>
          </a:xfrm>
          <a:prstGeom prst="line">
            <a:avLst/>
          </a:prstGeom>
          <a:noFill/>
          <a:ln w="15875">
            <a:solidFill>
              <a:srgbClr val="4A3D8F"/>
            </a:solidFill>
            <a:prstDash val="solid"/>
          </a:ln>
        </p:spPr>
      </p:sp>
      <p:sp>
        <p:nvSpPr>
          <p:cNvPr id="54" name="Shape 52"/>
          <p:cNvSpPr/>
          <p:nvPr/>
        </p:nvSpPr>
        <p:spPr>
          <a:xfrm>
            <a:off x="685800" y="1097280"/>
            <a:ext cx="1097280" cy="548640"/>
          </a:xfrm>
          <a:custGeom>
            <a:avLst/>
            <a:gdLst/>
            <a:ahLst/>
            <a:cxnLst/>
            <a:rect l="l" t="t" r="r" b="b"/>
            <a:pathLst>
              <a:path w="1097280" h="548640">
                <a:moveTo>
                  <a:pt x="1097280" y="548640"/>
                </a:moveTo>
                <a:lnTo>
                  <a:pt x="1092586" y="477028"/>
                </a:lnTo>
                <a:lnTo>
                  <a:pt x="1078586" y="406642"/>
                </a:lnTo>
                <a:lnTo>
                  <a:pt x="1055517" y="338685"/>
                </a:lnTo>
                <a:lnTo>
                  <a:pt x="1023776" y="274320"/>
                </a:lnTo>
                <a:lnTo>
                  <a:pt x="983905" y="214649"/>
                </a:lnTo>
                <a:lnTo>
                  <a:pt x="936587" y="160693"/>
                </a:lnTo>
                <a:lnTo>
                  <a:pt x="882631" y="113375"/>
                </a:lnTo>
                <a:lnTo>
                  <a:pt x="822960" y="73504"/>
                </a:lnTo>
                <a:lnTo>
                  <a:pt x="758595" y="41763"/>
                </a:lnTo>
                <a:lnTo>
                  <a:pt x="690638" y="18694"/>
                </a:lnTo>
                <a:lnTo>
                  <a:pt x="620252" y="4694"/>
                </a:lnTo>
                <a:lnTo>
                  <a:pt x="548640" y="0"/>
                </a:lnTo>
                <a:lnTo>
                  <a:pt x="477028" y="4694"/>
                </a:lnTo>
                <a:lnTo>
                  <a:pt x="406642" y="18694"/>
                </a:lnTo>
                <a:lnTo>
                  <a:pt x="338685" y="41763"/>
                </a:lnTo>
                <a:lnTo>
                  <a:pt x="274320" y="73504"/>
                </a:lnTo>
                <a:lnTo>
                  <a:pt x="214649" y="113375"/>
                </a:lnTo>
                <a:lnTo>
                  <a:pt x="160693" y="160693"/>
                </a:lnTo>
                <a:lnTo>
                  <a:pt x="113375" y="214649"/>
                </a:lnTo>
                <a:lnTo>
                  <a:pt x="73504" y="274320"/>
                </a:lnTo>
                <a:lnTo>
                  <a:pt x="41763" y="338685"/>
                </a:lnTo>
                <a:lnTo>
                  <a:pt x="18694" y="406642"/>
                </a:lnTo>
                <a:lnTo>
                  <a:pt x="4694" y="477028"/>
                </a:lnTo>
                <a:lnTo>
                  <a:pt x="0" y="548640"/>
                </a:lnTo>
              </a:path>
            </a:pathLst>
          </a:custGeom>
          <a:solidFill>
            <a:srgbClr val="FFFFFF">
              <a:alpha val="0"/>
            </a:srgbClr>
          </a:solidFill>
          <a:ln w="19050">
            <a:solidFill>
              <a:srgbClr val="4A3D8F"/>
            </a:solidFill>
            <a:prstDash val="solid"/>
          </a:ln>
        </p:spPr>
      </p:sp>
      <p:sp>
        <p:nvSpPr>
          <p:cNvPr id="55" name="Shape 53"/>
          <p:cNvSpPr/>
          <p:nvPr/>
        </p:nvSpPr>
        <p:spPr>
          <a:xfrm>
            <a:off x="685800" y="1645920"/>
            <a:ext cx="1097280" cy="0"/>
          </a:xfrm>
          <a:prstGeom prst="line">
            <a:avLst/>
          </a:prstGeom>
          <a:noFill/>
          <a:ln w="15875">
            <a:solidFill>
              <a:srgbClr val="4A3D8F"/>
            </a:solidFill>
            <a:prstDash val="solid"/>
          </a:ln>
        </p:spPr>
      </p:sp>
      <p:sp>
        <p:nvSpPr>
          <p:cNvPr id="56" name="Text 54"/>
          <p:cNvSpPr/>
          <p:nvPr/>
        </p:nvSpPr>
        <p:spPr>
          <a:xfrm>
            <a:off x="685800" y="1755648"/>
            <a:ext cx="1097280" cy="201168"/>
          </a:xfrm>
          <a:prstGeom prst="rect">
            <a:avLst/>
          </a:prstGeom>
          <a:noFill/>
          <a:ln/>
        </p:spPr>
        <p:txBody>
          <a:bodyPr wrap="square" lIns="0" tIns="0" rIns="0" bIns="0" rtlCol="0" anchor="ctr"/>
          <a:lstStyle/>
          <a:p>
            <a:pPr algn="ctr" indent="0" marL="0">
              <a:buNone/>
            </a:pPr>
            <a:r>
              <a:rPr lang="en-US" sz="900" i="1" dirty="0">
                <a:solidFill>
                  <a:srgbClr val="5A5A7A"/>
                </a:solidFill>
              </a:rPr>
              <a:t>protractor</a:t>
            </a:r>
            <a:endParaRPr lang="en-US" sz="900" dirty="0"/>
          </a:p>
        </p:txBody>
      </p:sp>
      <p:sp>
        <p:nvSpPr>
          <p:cNvPr id="57" name="Shape 55"/>
          <p:cNvSpPr/>
          <p:nvPr/>
        </p:nvSpPr>
        <p:spPr>
          <a:xfrm>
            <a:off x="5340096" y="960120"/>
            <a:ext cx="310896" cy="310896"/>
          </a:xfrm>
          <a:prstGeom prst="ellipse">
            <a:avLst/>
          </a:prstGeom>
          <a:solidFill>
            <a:srgbClr val="4A3D8F"/>
          </a:solidFill>
          <a:ln w="12700">
            <a:solidFill>
              <a:srgbClr val="4A3D8F"/>
            </a:solidFill>
            <a:prstDash val="solid"/>
          </a:ln>
        </p:spPr>
      </p:sp>
      <p:sp>
        <p:nvSpPr>
          <p:cNvPr id="58" name="Text 56"/>
          <p:cNvSpPr/>
          <p:nvPr/>
        </p:nvSpPr>
        <p:spPr>
          <a:xfrm>
            <a:off x="5340096" y="960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9" name="Text 57"/>
          <p:cNvSpPr/>
          <p:nvPr/>
        </p:nvSpPr>
        <p:spPr>
          <a:xfrm>
            <a:off x="5742432" y="91440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Draw a 5 cm base side using a ruler.</a:t>
            </a:r>
            <a:endParaRPr lang="en-US" sz="1150" dirty="0"/>
          </a:p>
        </p:txBody>
      </p:sp>
      <p:sp>
        <p:nvSpPr>
          <p:cNvPr id="60" name="Shape 58"/>
          <p:cNvSpPr/>
          <p:nvPr/>
        </p:nvSpPr>
        <p:spPr>
          <a:xfrm>
            <a:off x="5340096" y="1783080"/>
            <a:ext cx="310896" cy="310896"/>
          </a:xfrm>
          <a:prstGeom prst="ellipse">
            <a:avLst/>
          </a:prstGeom>
          <a:solidFill>
            <a:srgbClr val="4A3D8F"/>
          </a:solidFill>
          <a:ln w="12700">
            <a:solidFill>
              <a:srgbClr val="4A3D8F"/>
            </a:solidFill>
            <a:prstDash val="solid"/>
          </a:ln>
        </p:spPr>
      </p:sp>
      <p:sp>
        <p:nvSpPr>
          <p:cNvPr id="61" name="Text 59"/>
          <p:cNvSpPr/>
          <p:nvPr/>
        </p:nvSpPr>
        <p:spPr>
          <a:xfrm>
            <a:off x="5340096" y="1783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62" name="Text 60"/>
          <p:cNvSpPr/>
          <p:nvPr/>
        </p:nvSpPr>
        <p:spPr>
          <a:xfrm>
            <a:off x="5742432" y="173736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Place the protractor at the left end and mark 60°. Draw a ray.</a:t>
            </a:r>
            <a:endParaRPr lang="en-US" sz="1150" dirty="0"/>
          </a:p>
        </p:txBody>
      </p:sp>
      <p:sp>
        <p:nvSpPr>
          <p:cNvPr id="63" name="Shape 61"/>
          <p:cNvSpPr/>
          <p:nvPr/>
        </p:nvSpPr>
        <p:spPr>
          <a:xfrm>
            <a:off x="5340096" y="2606040"/>
            <a:ext cx="310896" cy="310896"/>
          </a:xfrm>
          <a:prstGeom prst="ellipse">
            <a:avLst/>
          </a:prstGeom>
          <a:solidFill>
            <a:srgbClr val="4A3D8F"/>
          </a:solidFill>
          <a:ln w="12700">
            <a:solidFill>
              <a:srgbClr val="4A3D8F"/>
            </a:solidFill>
            <a:prstDash val="solid"/>
          </a:ln>
        </p:spPr>
      </p:sp>
      <p:sp>
        <p:nvSpPr>
          <p:cNvPr id="64" name="Text 62"/>
          <p:cNvSpPr/>
          <p:nvPr/>
        </p:nvSpPr>
        <p:spPr>
          <a:xfrm>
            <a:off x="5340096" y="26060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65" name="Text 63"/>
          <p:cNvSpPr/>
          <p:nvPr/>
        </p:nvSpPr>
        <p:spPr>
          <a:xfrm>
            <a:off x="5742432" y="256032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Measure 3 cm along that ray from the endpoint -- this is the second side.</a:t>
            </a:r>
            <a:endParaRPr lang="en-US" sz="1150" dirty="0"/>
          </a:p>
        </p:txBody>
      </p:sp>
      <p:sp>
        <p:nvSpPr>
          <p:cNvPr id="66" name="Shape 64"/>
          <p:cNvSpPr/>
          <p:nvPr/>
        </p:nvSpPr>
        <p:spPr>
          <a:xfrm>
            <a:off x="5340096" y="3429000"/>
            <a:ext cx="310896" cy="310896"/>
          </a:xfrm>
          <a:prstGeom prst="ellipse">
            <a:avLst/>
          </a:prstGeom>
          <a:solidFill>
            <a:srgbClr val="4A3D8F"/>
          </a:solidFill>
          <a:ln w="12700">
            <a:solidFill>
              <a:srgbClr val="4A3D8F"/>
            </a:solidFill>
            <a:prstDash val="solid"/>
          </a:ln>
        </p:spPr>
      </p:sp>
      <p:sp>
        <p:nvSpPr>
          <p:cNvPr id="67" name="Text 65"/>
          <p:cNvSpPr/>
          <p:nvPr/>
        </p:nvSpPr>
        <p:spPr>
          <a:xfrm>
            <a:off x="5340096" y="3429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68" name="Text 66"/>
          <p:cNvSpPr/>
          <p:nvPr/>
        </p:nvSpPr>
        <p:spPr>
          <a:xfrm>
            <a:off x="5742432" y="338328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From that new point, draw a side parallel to the base, 5 cm long, then connect the last two endpoints to complete the parallelogram.</a:t>
            </a:r>
            <a:endParaRPr lang="en-US" sz="1150" dirty="0"/>
          </a:p>
        </p:txBody>
      </p:sp>
      <p:sp>
        <p:nvSpPr>
          <p:cNvPr id="69" name="Shape 67"/>
          <p:cNvSpPr/>
          <p:nvPr/>
        </p:nvSpPr>
        <p:spPr>
          <a:xfrm>
            <a:off x="548640" y="4297680"/>
            <a:ext cx="8046720" cy="438912"/>
          </a:xfrm>
          <a:prstGeom prst="roundRect">
            <a:avLst>
              <a:gd name="adj" fmla="val 12500"/>
            </a:avLst>
          </a:prstGeom>
          <a:solidFill>
            <a:srgbClr val="464EB8"/>
          </a:solidFill>
          <a:ln w="12700">
            <a:solidFill>
              <a:srgbClr val="464EB8"/>
            </a:solidFill>
            <a:prstDash val="solid"/>
          </a:ln>
        </p:spPr>
      </p:sp>
      <p:sp>
        <p:nvSpPr>
          <p:cNvPr id="70" name="Text 68"/>
          <p:cNvSpPr/>
          <p:nvPr/>
        </p:nvSpPr>
        <p:spPr>
          <a:xfrm>
            <a:off x="548640" y="4297680"/>
            <a:ext cx="804672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how many measurements did the triangle need, and how many did this quadrilateral need?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Daily Math Language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640080" y="1097280"/>
            <a:ext cx="3566160" cy="365760"/>
          </a:xfrm>
          <a:prstGeom prst="rect">
            <a:avLst/>
          </a:prstGeom>
          <a:noFill/>
          <a:ln/>
        </p:spPr>
        <p:txBody>
          <a:bodyPr wrap="square" lIns="0" tIns="0" rIns="0" bIns="0" rtlCol="0" anchor="ctr"/>
          <a:lstStyle/>
          <a:p>
            <a:pPr indent="0" marL="0">
              <a:buNone/>
            </a:pPr>
            <a:r>
              <a:rPr lang="en-US" sz="1600" b="1" dirty="0">
                <a:solidFill>
                  <a:srgbClr val="4A3D8F"/>
                </a:solidFill>
              </a:rPr>
              <a:t>construct</a:t>
            </a:r>
            <a:endParaRPr lang="en-US" sz="1600" dirty="0"/>
          </a:p>
        </p:txBody>
      </p:sp>
      <p:sp>
        <p:nvSpPr>
          <p:cNvPr id="8" name="Text 6"/>
          <p:cNvSpPr/>
          <p:nvPr/>
        </p:nvSpPr>
        <p:spPr>
          <a:xfrm>
            <a:off x="640080" y="150876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to draw or build a shape carefully and exactly from given measurements</a:t>
            </a:r>
            <a:endParaRPr lang="en-US" sz="1250" dirty="0"/>
          </a:p>
        </p:txBody>
      </p:sp>
      <p:sp>
        <p:nvSpPr>
          <p:cNvPr id="9" name="Shape 7"/>
          <p:cNvSpPr/>
          <p:nvPr/>
        </p:nvSpPr>
        <p:spPr>
          <a:xfrm>
            <a:off x="4754880" y="960120"/>
            <a:ext cx="3931920" cy="1554480"/>
          </a:xfrm>
          <a:prstGeom prst="roundRect">
            <a:avLst>
              <a:gd name="adj" fmla="val 5882"/>
            </a:avLst>
          </a:prstGeom>
          <a:solidFill>
            <a:srgbClr val="E6F2EA"/>
          </a:solidFill>
          <a:ln w="6350">
            <a:solidFill>
              <a:srgbClr val="DDDDEE"/>
            </a:solidFill>
            <a:prstDash val="solid"/>
          </a:ln>
        </p:spPr>
      </p:sp>
      <p:sp>
        <p:nvSpPr>
          <p:cNvPr id="10" name="Text 8"/>
          <p:cNvSpPr/>
          <p:nvPr/>
        </p:nvSpPr>
        <p:spPr>
          <a:xfrm>
            <a:off x="4937760" y="1097280"/>
            <a:ext cx="3566160" cy="365760"/>
          </a:xfrm>
          <a:prstGeom prst="rect">
            <a:avLst/>
          </a:prstGeom>
          <a:noFill/>
          <a:ln/>
        </p:spPr>
        <p:txBody>
          <a:bodyPr wrap="square" lIns="0" tIns="0" rIns="0" bIns="0" rtlCol="0" anchor="ctr"/>
          <a:lstStyle/>
          <a:p>
            <a:pPr indent="0" marL="0">
              <a:buNone/>
            </a:pPr>
            <a:r>
              <a:rPr lang="en-US" sz="1600" b="1" dirty="0">
                <a:solidFill>
                  <a:srgbClr val="2E6E44"/>
                </a:solidFill>
              </a:rPr>
              <a:t>protractor</a:t>
            </a:r>
            <a:endParaRPr lang="en-US" sz="1600" dirty="0"/>
          </a:p>
        </p:txBody>
      </p:sp>
      <p:sp>
        <p:nvSpPr>
          <p:cNvPr id="11" name="Text 9"/>
          <p:cNvSpPr/>
          <p:nvPr/>
        </p:nvSpPr>
        <p:spPr>
          <a:xfrm>
            <a:off x="4937760" y="150876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 tool used to measure and mark exact angle openings</a:t>
            </a:r>
            <a:endParaRPr lang="en-US" sz="1250" dirty="0"/>
          </a:p>
        </p:txBody>
      </p:sp>
      <p:sp>
        <p:nvSpPr>
          <p:cNvPr id="12" name="Shape 10"/>
          <p:cNvSpPr/>
          <p:nvPr/>
        </p:nvSpPr>
        <p:spPr>
          <a:xfrm>
            <a:off x="457200" y="2743200"/>
            <a:ext cx="3931920" cy="1554480"/>
          </a:xfrm>
          <a:prstGeom prst="roundRect">
            <a:avLst>
              <a:gd name="adj" fmla="val 5882"/>
            </a:avLst>
          </a:prstGeom>
          <a:solidFill>
            <a:srgbClr val="FEF6E4"/>
          </a:solidFill>
          <a:ln w="6350">
            <a:solidFill>
              <a:srgbClr val="DDDDEE"/>
            </a:solidFill>
            <a:prstDash val="solid"/>
          </a:ln>
        </p:spPr>
      </p:sp>
      <p:sp>
        <p:nvSpPr>
          <p:cNvPr id="13" name="Text 11"/>
          <p:cNvSpPr/>
          <p:nvPr/>
        </p:nvSpPr>
        <p:spPr>
          <a:xfrm>
            <a:off x="640080" y="2880360"/>
            <a:ext cx="3566160" cy="365760"/>
          </a:xfrm>
          <a:prstGeom prst="rect">
            <a:avLst/>
          </a:prstGeom>
          <a:noFill/>
          <a:ln/>
        </p:spPr>
        <p:txBody>
          <a:bodyPr wrap="square" lIns="0" tIns="0" rIns="0" bIns="0" rtlCol="0" anchor="ctr"/>
          <a:lstStyle/>
          <a:p>
            <a:pPr indent="0" marL="0">
              <a:buNone/>
            </a:pPr>
            <a:r>
              <a:rPr lang="en-US" sz="1600" b="1" dirty="0">
                <a:solidFill>
                  <a:srgbClr val="A66E10"/>
                </a:solidFill>
              </a:rPr>
              <a:t>included angle</a:t>
            </a:r>
            <a:endParaRPr lang="en-US" sz="1600" dirty="0"/>
          </a:p>
        </p:txBody>
      </p:sp>
      <p:sp>
        <p:nvSpPr>
          <p:cNvPr id="14" name="Text 12"/>
          <p:cNvSpPr/>
          <p:nvPr/>
        </p:nvSpPr>
        <p:spPr>
          <a:xfrm>
            <a:off x="640080" y="329184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the angle formed between two given sides, at the vertex where they meet</a:t>
            </a:r>
            <a:endParaRPr lang="en-US" sz="1250" dirty="0"/>
          </a:p>
        </p:txBody>
      </p:sp>
      <p:sp>
        <p:nvSpPr>
          <p:cNvPr id="15" name="Shape 13"/>
          <p:cNvSpPr/>
          <p:nvPr/>
        </p:nvSpPr>
        <p:spPr>
          <a:xfrm>
            <a:off x="4754880" y="2743200"/>
            <a:ext cx="3931920" cy="1554480"/>
          </a:xfrm>
          <a:prstGeom prst="roundRect">
            <a:avLst>
              <a:gd name="adj" fmla="val 5882"/>
            </a:avLst>
          </a:prstGeom>
          <a:solidFill>
            <a:srgbClr val="FEF0E6"/>
          </a:solidFill>
          <a:ln w="6350">
            <a:solidFill>
              <a:srgbClr val="DDDDEE"/>
            </a:solidFill>
            <a:prstDash val="solid"/>
          </a:ln>
        </p:spPr>
      </p:sp>
      <p:sp>
        <p:nvSpPr>
          <p:cNvPr id="16" name="Text 14"/>
          <p:cNvSpPr/>
          <p:nvPr/>
        </p:nvSpPr>
        <p:spPr>
          <a:xfrm>
            <a:off x="4937760" y="2880360"/>
            <a:ext cx="3566160" cy="365760"/>
          </a:xfrm>
          <a:prstGeom prst="rect">
            <a:avLst/>
          </a:prstGeom>
          <a:noFill/>
          <a:ln/>
        </p:spPr>
        <p:txBody>
          <a:bodyPr wrap="square" lIns="0" tIns="0" rIns="0" bIns="0" rtlCol="0" anchor="ctr"/>
          <a:lstStyle/>
          <a:p>
            <a:pPr indent="0" marL="0">
              <a:buNone/>
            </a:pPr>
            <a:r>
              <a:rPr lang="en-US" sz="1600" b="1" dirty="0">
                <a:solidFill>
                  <a:srgbClr val="C05818"/>
                </a:solidFill>
              </a:rPr>
              <a:t>vertex</a:t>
            </a:r>
            <a:endParaRPr lang="en-US" sz="1600" dirty="0"/>
          </a:p>
        </p:txBody>
      </p:sp>
      <p:sp>
        <p:nvSpPr>
          <p:cNvPr id="17" name="Text 15"/>
          <p:cNvSpPr/>
          <p:nvPr/>
        </p:nvSpPr>
        <p:spPr>
          <a:xfrm>
            <a:off x="4937760" y="329184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 corner point of a shape, where two sides meet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 · Watch &amp; Follow</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25880"/>
            <a:ext cx="3291840" cy="2926080"/>
          </a:xfrm>
          <a:prstGeom prst="roundRect">
            <a:avLst>
              <a:gd name="adj" fmla="val 3125"/>
            </a:avLst>
          </a:prstGeom>
          <a:solidFill>
            <a:srgbClr val="FFFFFF"/>
          </a:solidFill>
          <a:ln w="6350">
            <a:solidFill>
              <a:srgbClr val="DDDDEE"/>
            </a:solidFill>
            <a:prstDash val="solid"/>
          </a:ln>
        </p:spPr>
      </p:sp>
      <p:sp>
        <p:nvSpPr>
          <p:cNvPr id="9" name="Shape 7"/>
          <p:cNvSpPr/>
          <p:nvPr/>
        </p:nvSpPr>
        <p:spPr>
          <a:xfrm>
            <a:off x="777240" y="1325880"/>
            <a:ext cx="0" cy="2926080"/>
          </a:xfrm>
          <a:prstGeom prst="line">
            <a:avLst/>
          </a:prstGeom>
          <a:noFill/>
          <a:ln w="6350">
            <a:solidFill>
              <a:srgbClr val="E6E6F0"/>
            </a:solidFill>
            <a:prstDash val="solid"/>
          </a:ln>
        </p:spPr>
      </p:sp>
      <p:sp>
        <p:nvSpPr>
          <p:cNvPr id="10" name="Shape 8"/>
          <p:cNvSpPr/>
          <p:nvPr/>
        </p:nvSpPr>
        <p:spPr>
          <a:xfrm>
            <a:off x="1097280" y="1325880"/>
            <a:ext cx="0" cy="2926080"/>
          </a:xfrm>
          <a:prstGeom prst="line">
            <a:avLst/>
          </a:prstGeom>
          <a:noFill/>
          <a:ln w="6350">
            <a:solidFill>
              <a:srgbClr val="E6E6F0"/>
            </a:solidFill>
            <a:prstDash val="solid"/>
          </a:ln>
        </p:spPr>
      </p:sp>
      <p:sp>
        <p:nvSpPr>
          <p:cNvPr id="11" name="Shape 9"/>
          <p:cNvSpPr/>
          <p:nvPr/>
        </p:nvSpPr>
        <p:spPr>
          <a:xfrm>
            <a:off x="1417320" y="1325880"/>
            <a:ext cx="0" cy="2926080"/>
          </a:xfrm>
          <a:prstGeom prst="line">
            <a:avLst/>
          </a:prstGeom>
          <a:noFill/>
          <a:ln w="6350">
            <a:solidFill>
              <a:srgbClr val="E6E6F0"/>
            </a:solidFill>
            <a:prstDash val="solid"/>
          </a:ln>
        </p:spPr>
      </p:sp>
      <p:sp>
        <p:nvSpPr>
          <p:cNvPr id="12" name="Shape 10"/>
          <p:cNvSpPr/>
          <p:nvPr/>
        </p:nvSpPr>
        <p:spPr>
          <a:xfrm>
            <a:off x="1737360" y="1325880"/>
            <a:ext cx="0" cy="2926080"/>
          </a:xfrm>
          <a:prstGeom prst="line">
            <a:avLst/>
          </a:prstGeom>
          <a:noFill/>
          <a:ln w="6350">
            <a:solidFill>
              <a:srgbClr val="E6E6F0"/>
            </a:solidFill>
            <a:prstDash val="solid"/>
          </a:ln>
        </p:spPr>
      </p:sp>
      <p:sp>
        <p:nvSpPr>
          <p:cNvPr id="13" name="Shape 11"/>
          <p:cNvSpPr/>
          <p:nvPr/>
        </p:nvSpPr>
        <p:spPr>
          <a:xfrm>
            <a:off x="2057400" y="1325880"/>
            <a:ext cx="0" cy="2926080"/>
          </a:xfrm>
          <a:prstGeom prst="line">
            <a:avLst/>
          </a:prstGeom>
          <a:noFill/>
          <a:ln w="6350">
            <a:solidFill>
              <a:srgbClr val="E6E6F0"/>
            </a:solidFill>
            <a:prstDash val="solid"/>
          </a:ln>
        </p:spPr>
      </p:sp>
      <p:sp>
        <p:nvSpPr>
          <p:cNvPr id="14" name="Shape 12"/>
          <p:cNvSpPr/>
          <p:nvPr/>
        </p:nvSpPr>
        <p:spPr>
          <a:xfrm>
            <a:off x="2377440" y="1325880"/>
            <a:ext cx="0" cy="2926080"/>
          </a:xfrm>
          <a:prstGeom prst="line">
            <a:avLst/>
          </a:prstGeom>
          <a:noFill/>
          <a:ln w="6350">
            <a:solidFill>
              <a:srgbClr val="E6E6F0"/>
            </a:solidFill>
            <a:prstDash val="solid"/>
          </a:ln>
        </p:spPr>
      </p:sp>
      <p:sp>
        <p:nvSpPr>
          <p:cNvPr id="15" name="Shape 13"/>
          <p:cNvSpPr/>
          <p:nvPr/>
        </p:nvSpPr>
        <p:spPr>
          <a:xfrm>
            <a:off x="2697480" y="1325880"/>
            <a:ext cx="0" cy="2926080"/>
          </a:xfrm>
          <a:prstGeom prst="line">
            <a:avLst/>
          </a:prstGeom>
          <a:noFill/>
          <a:ln w="6350">
            <a:solidFill>
              <a:srgbClr val="E6E6F0"/>
            </a:solidFill>
            <a:prstDash val="solid"/>
          </a:ln>
        </p:spPr>
      </p:sp>
      <p:sp>
        <p:nvSpPr>
          <p:cNvPr id="16" name="Shape 14"/>
          <p:cNvSpPr/>
          <p:nvPr/>
        </p:nvSpPr>
        <p:spPr>
          <a:xfrm>
            <a:off x="3017520" y="1325880"/>
            <a:ext cx="0" cy="2926080"/>
          </a:xfrm>
          <a:prstGeom prst="line">
            <a:avLst/>
          </a:prstGeom>
          <a:noFill/>
          <a:ln w="6350">
            <a:solidFill>
              <a:srgbClr val="E6E6F0"/>
            </a:solidFill>
            <a:prstDash val="solid"/>
          </a:ln>
        </p:spPr>
      </p:sp>
      <p:sp>
        <p:nvSpPr>
          <p:cNvPr id="17" name="Shape 15"/>
          <p:cNvSpPr/>
          <p:nvPr/>
        </p:nvSpPr>
        <p:spPr>
          <a:xfrm>
            <a:off x="3337560" y="1325880"/>
            <a:ext cx="0" cy="2926080"/>
          </a:xfrm>
          <a:prstGeom prst="line">
            <a:avLst/>
          </a:prstGeom>
          <a:noFill/>
          <a:ln w="6350">
            <a:solidFill>
              <a:srgbClr val="E6E6F0"/>
            </a:solidFill>
            <a:prstDash val="solid"/>
          </a:ln>
        </p:spPr>
      </p:sp>
      <p:sp>
        <p:nvSpPr>
          <p:cNvPr id="18" name="Shape 16"/>
          <p:cNvSpPr/>
          <p:nvPr/>
        </p:nvSpPr>
        <p:spPr>
          <a:xfrm>
            <a:off x="3657600" y="1325880"/>
            <a:ext cx="0" cy="2926080"/>
          </a:xfrm>
          <a:prstGeom prst="line">
            <a:avLst/>
          </a:prstGeom>
          <a:noFill/>
          <a:ln w="6350">
            <a:solidFill>
              <a:srgbClr val="E6E6F0"/>
            </a:solidFill>
            <a:prstDash val="solid"/>
          </a:ln>
        </p:spPr>
      </p:sp>
      <p:sp>
        <p:nvSpPr>
          <p:cNvPr id="19" name="Shape 17"/>
          <p:cNvSpPr/>
          <p:nvPr/>
        </p:nvSpPr>
        <p:spPr>
          <a:xfrm>
            <a:off x="457200" y="1645920"/>
            <a:ext cx="3291840" cy="0"/>
          </a:xfrm>
          <a:prstGeom prst="line">
            <a:avLst/>
          </a:prstGeom>
          <a:noFill/>
          <a:ln w="6350">
            <a:solidFill>
              <a:srgbClr val="E6E6F0"/>
            </a:solidFill>
            <a:prstDash val="solid"/>
          </a:ln>
        </p:spPr>
      </p:sp>
      <p:sp>
        <p:nvSpPr>
          <p:cNvPr id="20" name="Shape 18"/>
          <p:cNvSpPr/>
          <p:nvPr/>
        </p:nvSpPr>
        <p:spPr>
          <a:xfrm>
            <a:off x="457200" y="1965960"/>
            <a:ext cx="3291840" cy="0"/>
          </a:xfrm>
          <a:prstGeom prst="line">
            <a:avLst/>
          </a:prstGeom>
          <a:noFill/>
          <a:ln w="6350">
            <a:solidFill>
              <a:srgbClr val="E6E6F0"/>
            </a:solidFill>
            <a:prstDash val="solid"/>
          </a:ln>
        </p:spPr>
      </p:sp>
      <p:sp>
        <p:nvSpPr>
          <p:cNvPr id="21" name="Shape 19"/>
          <p:cNvSpPr/>
          <p:nvPr/>
        </p:nvSpPr>
        <p:spPr>
          <a:xfrm>
            <a:off x="457200" y="2286000"/>
            <a:ext cx="3291840" cy="0"/>
          </a:xfrm>
          <a:prstGeom prst="line">
            <a:avLst/>
          </a:prstGeom>
          <a:noFill/>
          <a:ln w="6350">
            <a:solidFill>
              <a:srgbClr val="E6E6F0"/>
            </a:solidFill>
            <a:prstDash val="solid"/>
          </a:ln>
        </p:spPr>
      </p:sp>
      <p:sp>
        <p:nvSpPr>
          <p:cNvPr id="22" name="Shape 20"/>
          <p:cNvSpPr/>
          <p:nvPr/>
        </p:nvSpPr>
        <p:spPr>
          <a:xfrm>
            <a:off x="457200" y="2606040"/>
            <a:ext cx="3291840" cy="0"/>
          </a:xfrm>
          <a:prstGeom prst="line">
            <a:avLst/>
          </a:prstGeom>
          <a:noFill/>
          <a:ln w="6350">
            <a:solidFill>
              <a:srgbClr val="E6E6F0"/>
            </a:solidFill>
            <a:prstDash val="solid"/>
          </a:ln>
        </p:spPr>
      </p:sp>
      <p:sp>
        <p:nvSpPr>
          <p:cNvPr id="23" name="Shape 21"/>
          <p:cNvSpPr/>
          <p:nvPr/>
        </p:nvSpPr>
        <p:spPr>
          <a:xfrm>
            <a:off x="457200" y="2926080"/>
            <a:ext cx="3291840" cy="0"/>
          </a:xfrm>
          <a:prstGeom prst="line">
            <a:avLst/>
          </a:prstGeom>
          <a:noFill/>
          <a:ln w="6350">
            <a:solidFill>
              <a:srgbClr val="E6E6F0"/>
            </a:solidFill>
            <a:prstDash val="solid"/>
          </a:ln>
        </p:spPr>
      </p:sp>
      <p:sp>
        <p:nvSpPr>
          <p:cNvPr id="24" name="Shape 22"/>
          <p:cNvSpPr/>
          <p:nvPr/>
        </p:nvSpPr>
        <p:spPr>
          <a:xfrm>
            <a:off x="457200" y="3246120"/>
            <a:ext cx="3291840" cy="0"/>
          </a:xfrm>
          <a:prstGeom prst="line">
            <a:avLst/>
          </a:prstGeom>
          <a:noFill/>
          <a:ln w="6350">
            <a:solidFill>
              <a:srgbClr val="E6E6F0"/>
            </a:solidFill>
            <a:prstDash val="solid"/>
          </a:ln>
        </p:spPr>
      </p:sp>
      <p:sp>
        <p:nvSpPr>
          <p:cNvPr id="25" name="Shape 23"/>
          <p:cNvSpPr/>
          <p:nvPr/>
        </p:nvSpPr>
        <p:spPr>
          <a:xfrm>
            <a:off x="457200" y="3566160"/>
            <a:ext cx="3291840" cy="0"/>
          </a:xfrm>
          <a:prstGeom prst="line">
            <a:avLst/>
          </a:prstGeom>
          <a:noFill/>
          <a:ln w="6350">
            <a:solidFill>
              <a:srgbClr val="E6E6F0"/>
            </a:solidFill>
            <a:prstDash val="solid"/>
          </a:ln>
        </p:spPr>
      </p:sp>
      <p:sp>
        <p:nvSpPr>
          <p:cNvPr id="26" name="Shape 24"/>
          <p:cNvSpPr/>
          <p:nvPr/>
        </p:nvSpPr>
        <p:spPr>
          <a:xfrm>
            <a:off x="457200" y="3886200"/>
            <a:ext cx="3291840" cy="0"/>
          </a:xfrm>
          <a:prstGeom prst="line">
            <a:avLst/>
          </a:prstGeom>
          <a:noFill/>
          <a:ln w="6350">
            <a:solidFill>
              <a:srgbClr val="E6E6F0"/>
            </a:solidFill>
            <a:prstDash val="solid"/>
          </a:ln>
        </p:spPr>
      </p:sp>
      <p:sp>
        <p:nvSpPr>
          <p:cNvPr id="27" name="Shape 25"/>
          <p:cNvSpPr/>
          <p:nvPr/>
        </p:nvSpPr>
        <p:spPr>
          <a:xfrm>
            <a:off x="457200" y="4206240"/>
            <a:ext cx="3291840" cy="0"/>
          </a:xfrm>
          <a:prstGeom prst="line">
            <a:avLst/>
          </a:prstGeom>
          <a:noFill/>
          <a:ln w="6350">
            <a:solidFill>
              <a:srgbClr val="E6E6F0"/>
            </a:solidFill>
            <a:prstDash val="solid"/>
          </a:ln>
        </p:spPr>
      </p:sp>
      <p:sp>
        <p:nvSpPr>
          <p:cNvPr id="28" name="Shape 26"/>
          <p:cNvSpPr/>
          <p:nvPr/>
        </p:nvSpPr>
        <p:spPr>
          <a:xfrm>
            <a:off x="594360" y="3959352"/>
            <a:ext cx="3017520" cy="0"/>
          </a:xfrm>
          <a:prstGeom prst="line">
            <a:avLst/>
          </a:prstGeom>
          <a:noFill/>
          <a:ln w="19050">
            <a:solidFill>
              <a:srgbClr val="1B2A4A"/>
            </a:solidFill>
            <a:prstDash val="solid"/>
          </a:ln>
        </p:spPr>
      </p:sp>
      <p:sp>
        <p:nvSpPr>
          <p:cNvPr id="29" name="Shape 27"/>
          <p:cNvSpPr/>
          <p:nvPr/>
        </p:nvSpPr>
        <p:spPr>
          <a:xfrm>
            <a:off x="594360" y="3886200"/>
            <a:ext cx="0" cy="146304"/>
          </a:xfrm>
          <a:prstGeom prst="line">
            <a:avLst/>
          </a:prstGeom>
          <a:noFill/>
          <a:ln w="12700">
            <a:solidFill>
              <a:srgbClr val="1B2A4A"/>
            </a:solidFill>
            <a:prstDash val="solid"/>
          </a:ln>
        </p:spPr>
      </p:sp>
      <p:sp>
        <p:nvSpPr>
          <p:cNvPr id="30" name="Shape 28"/>
          <p:cNvSpPr/>
          <p:nvPr/>
        </p:nvSpPr>
        <p:spPr>
          <a:xfrm>
            <a:off x="914400" y="3886200"/>
            <a:ext cx="0" cy="146304"/>
          </a:xfrm>
          <a:prstGeom prst="line">
            <a:avLst/>
          </a:prstGeom>
          <a:noFill/>
          <a:ln w="12700">
            <a:solidFill>
              <a:srgbClr val="1B2A4A"/>
            </a:solidFill>
            <a:prstDash val="solid"/>
          </a:ln>
        </p:spPr>
      </p:sp>
      <p:sp>
        <p:nvSpPr>
          <p:cNvPr id="31" name="Shape 29"/>
          <p:cNvSpPr/>
          <p:nvPr/>
        </p:nvSpPr>
        <p:spPr>
          <a:xfrm>
            <a:off x="1234440" y="3886200"/>
            <a:ext cx="0" cy="146304"/>
          </a:xfrm>
          <a:prstGeom prst="line">
            <a:avLst/>
          </a:prstGeom>
          <a:noFill/>
          <a:ln w="12700">
            <a:solidFill>
              <a:srgbClr val="1B2A4A"/>
            </a:solidFill>
            <a:prstDash val="solid"/>
          </a:ln>
        </p:spPr>
      </p:sp>
      <p:sp>
        <p:nvSpPr>
          <p:cNvPr id="32" name="Shape 30"/>
          <p:cNvSpPr/>
          <p:nvPr/>
        </p:nvSpPr>
        <p:spPr>
          <a:xfrm>
            <a:off x="1554480" y="3886200"/>
            <a:ext cx="0" cy="146304"/>
          </a:xfrm>
          <a:prstGeom prst="line">
            <a:avLst/>
          </a:prstGeom>
          <a:noFill/>
          <a:ln w="12700">
            <a:solidFill>
              <a:srgbClr val="1B2A4A"/>
            </a:solidFill>
            <a:prstDash val="solid"/>
          </a:ln>
        </p:spPr>
      </p:sp>
      <p:sp>
        <p:nvSpPr>
          <p:cNvPr id="33" name="Shape 31"/>
          <p:cNvSpPr/>
          <p:nvPr/>
        </p:nvSpPr>
        <p:spPr>
          <a:xfrm>
            <a:off x="1874520" y="3886200"/>
            <a:ext cx="0" cy="146304"/>
          </a:xfrm>
          <a:prstGeom prst="line">
            <a:avLst/>
          </a:prstGeom>
          <a:noFill/>
          <a:ln w="12700">
            <a:solidFill>
              <a:srgbClr val="1B2A4A"/>
            </a:solidFill>
            <a:prstDash val="solid"/>
          </a:ln>
        </p:spPr>
      </p:sp>
      <p:sp>
        <p:nvSpPr>
          <p:cNvPr id="34" name="Shape 32"/>
          <p:cNvSpPr/>
          <p:nvPr/>
        </p:nvSpPr>
        <p:spPr>
          <a:xfrm>
            <a:off x="2194560" y="3886200"/>
            <a:ext cx="0" cy="146304"/>
          </a:xfrm>
          <a:prstGeom prst="line">
            <a:avLst/>
          </a:prstGeom>
          <a:noFill/>
          <a:ln w="12700">
            <a:solidFill>
              <a:srgbClr val="1B2A4A"/>
            </a:solidFill>
            <a:prstDash val="solid"/>
          </a:ln>
        </p:spPr>
      </p:sp>
      <p:sp>
        <p:nvSpPr>
          <p:cNvPr id="35" name="Shape 33"/>
          <p:cNvSpPr/>
          <p:nvPr/>
        </p:nvSpPr>
        <p:spPr>
          <a:xfrm>
            <a:off x="2514600" y="3886200"/>
            <a:ext cx="0" cy="146304"/>
          </a:xfrm>
          <a:prstGeom prst="line">
            <a:avLst/>
          </a:prstGeom>
          <a:noFill/>
          <a:ln w="12700">
            <a:solidFill>
              <a:srgbClr val="1B2A4A"/>
            </a:solidFill>
            <a:prstDash val="solid"/>
          </a:ln>
        </p:spPr>
      </p:sp>
      <p:sp>
        <p:nvSpPr>
          <p:cNvPr id="36" name="Shape 34"/>
          <p:cNvSpPr/>
          <p:nvPr/>
        </p:nvSpPr>
        <p:spPr>
          <a:xfrm>
            <a:off x="2834640" y="3886200"/>
            <a:ext cx="0" cy="146304"/>
          </a:xfrm>
          <a:prstGeom prst="line">
            <a:avLst/>
          </a:prstGeom>
          <a:noFill/>
          <a:ln w="12700">
            <a:solidFill>
              <a:srgbClr val="1B2A4A"/>
            </a:solidFill>
            <a:prstDash val="solid"/>
          </a:ln>
        </p:spPr>
      </p:sp>
      <p:sp>
        <p:nvSpPr>
          <p:cNvPr id="37" name="Shape 35"/>
          <p:cNvSpPr/>
          <p:nvPr/>
        </p:nvSpPr>
        <p:spPr>
          <a:xfrm>
            <a:off x="3154680" y="3886200"/>
            <a:ext cx="0" cy="146304"/>
          </a:xfrm>
          <a:prstGeom prst="line">
            <a:avLst/>
          </a:prstGeom>
          <a:noFill/>
          <a:ln w="12700">
            <a:solidFill>
              <a:srgbClr val="1B2A4A"/>
            </a:solidFill>
            <a:prstDash val="solid"/>
          </a:ln>
        </p:spPr>
      </p:sp>
      <p:sp>
        <p:nvSpPr>
          <p:cNvPr id="38" name="Shape 36"/>
          <p:cNvSpPr/>
          <p:nvPr/>
        </p:nvSpPr>
        <p:spPr>
          <a:xfrm>
            <a:off x="3474720" y="3886200"/>
            <a:ext cx="0" cy="146304"/>
          </a:xfrm>
          <a:prstGeom prst="line">
            <a:avLst/>
          </a:prstGeom>
          <a:noFill/>
          <a:ln w="12700">
            <a:solidFill>
              <a:srgbClr val="1B2A4A"/>
            </a:solidFill>
            <a:prstDash val="solid"/>
          </a:ln>
        </p:spPr>
      </p:sp>
      <p:sp>
        <p:nvSpPr>
          <p:cNvPr id="39" name="Text 37"/>
          <p:cNvSpPr/>
          <p:nvPr/>
        </p:nvSpPr>
        <p:spPr>
          <a:xfrm>
            <a:off x="594360" y="4014216"/>
            <a:ext cx="2011680" cy="201168"/>
          </a:xfrm>
          <a:prstGeom prst="rect">
            <a:avLst/>
          </a:prstGeom>
          <a:noFill/>
          <a:ln/>
        </p:spPr>
        <p:txBody>
          <a:bodyPr wrap="square" lIns="0" tIns="0" rIns="0" bIns="0" rtlCol="0" anchor="ctr"/>
          <a:lstStyle/>
          <a:p>
            <a:pPr indent="0" marL="0">
              <a:buNone/>
            </a:pPr>
            <a:r>
              <a:rPr lang="en-US" sz="900" i="1" dirty="0">
                <a:solidFill>
                  <a:srgbClr val="5A5A7A"/>
                </a:solidFill>
              </a:rPr>
              <a:t>ruler (cm)</a:t>
            </a:r>
            <a:endParaRPr lang="en-US" sz="900" dirty="0"/>
          </a:p>
        </p:txBody>
      </p:sp>
      <p:sp>
        <p:nvSpPr>
          <p:cNvPr id="40" name="Shape 38"/>
          <p:cNvSpPr/>
          <p:nvPr/>
        </p:nvSpPr>
        <p:spPr>
          <a:xfrm>
            <a:off x="1691640" y="2011680"/>
            <a:ext cx="91440" cy="914"/>
          </a:xfrm>
          <a:prstGeom prst="line">
            <a:avLst/>
          </a:prstGeom>
          <a:noFill/>
          <a:ln w="15875">
            <a:solidFill>
              <a:srgbClr val="4A3D8F"/>
            </a:solidFill>
            <a:prstDash val="solid"/>
          </a:ln>
        </p:spPr>
      </p:sp>
      <p:sp>
        <p:nvSpPr>
          <p:cNvPr id="41" name="Shape 39"/>
          <p:cNvSpPr/>
          <p:nvPr/>
        </p:nvSpPr>
        <p:spPr>
          <a:xfrm flipV="1">
            <a:off x="1630387" y="1737360"/>
            <a:ext cx="79189" cy="45720"/>
          </a:xfrm>
          <a:prstGeom prst="line">
            <a:avLst/>
          </a:prstGeom>
          <a:noFill/>
          <a:ln w="15875">
            <a:solidFill>
              <a:srgbClr val="4A3D8F"/>
            </a:solidFill>
            <a:prstDash val="solid"/>
          </a:ln>
        </p:spPr>
      </p:sp>
      <p:sp>
        <p:nvSpPr>
          <p:cNvPr id="42" name="Shape 40"/>
          <p:cNvSpPr/>
          <p:nvPr/>
        </p:nvSpPr>
        <p:spPr>
          <a:xfrm flipV="1">
            <a:off x="1463040" y="1536544"/>
            <a:ext cx="45720" cy="79189"/>
          </a:xfrm>
          <a:prstGeom prst="line">
            <a:avLst/>
          </a:prstGeom>
          <a:noFill/>
          <a:ln w="15875">
            <a:solidFill>
              <a:srgbClr val="4A3D8F"/>
            </a:solidFill>
            <a:prstDash val="solid"/>
          </a:ln>
        </p:spPr>
      </p:sp>
      <p:sp>
        <p:nvSpPr>
          <p:cNvPr id="43" name="Shape 41"/>
          <p:cNvSpPr/>
          <p:nvPr/>
        </p:nvSpPr>
        <p:spPr>
          <a:xfrm flipV="1">
            <a:off x="1234440" y="1463040"/>
            <a:ext cx="914" cy="91440"/>
          </a:xfrm>
          <a:prstGeom prst="line">
            <a:avLst/>
          </a:prstGeom>
          <a:noFill/>
          <a:ln w="15875">
            <a:solidFill>
              <a:srgbClr val="4A3D8F"/>
            </a:solidFill>
            <a:prstDash val="solid"/>
          </a:ln>
        </p:spPr>
      </p:sp>
      <p:sp>
        <p:nvSpPr>
          <p:cNvPr id="44" name="Shape 42"/>
          <p:cNvSpPr/>
          <p:nvPr/>
        </p:nvSpPr>
        <p:spPr>
          <a:xfrm>
            <a:off x="960120" y="1536544"/>
            <a:ext cx="45720" cy="79189"/>
          </a:xfrm>
          <a:prstGeom prst="line">
            <a:avLst/>
          </a:prstGeom>
          <a:noFill/>
          <a:ln w="15875">
            <a:solidFill>
              <a:srgbClr val="4A3D8F"/>
            </a:solidFill>
            <a:prstDash val="solid"/>
          </a:ln>
        </p:spPr>
      </p:sp>
      <p:sp>
        <p:nvSpPr>
          <p:cNvPr id="45" name="Shape 43"/>
          <p:cNvSpPr/>
          <p:nvPr/>
        </p:nvSpPr>
        <p:spPr>
          <a:xfrm>
            <a:off x="759304" y="1737360"/>
            <a:ext cx="79189" cy="45720"/>
          </a:xfrm>
          <a:prstGeom prst="line">
            <a:avLst/>
          </a:prstGeom>
          <a:noFill/>
          <a:ln w="15875">
            <a:solidFill>
              <a:srgbClr val="4A3D8F"/>
            </a:solidFill>
            <a:prstDash val="solid"/>
          </a:ln>
        </p:spPr>
      </p:sp>
      <p:sp>
        <p:nvSpPr>
          <p:cNvPr id="46" name="Shape 44"/>
          <p:cNvSpPr/>
          <p:nvPr/>
        </p:nvSpPr>
        <p:spPr>
          <a:xfrm>
            <a:off x="685800" y="2011680"/>
            <a:ext cx="91440" cy="914"/>
          </a:xfrm>
          <a:prstGeom prst="line">
            <a:avLst/>
          </a:prstGeom>
          <a:noFill/>
          <a:ln w="15875">
            <a:solidFill>
              <a:srgbClr val="4A3D8F"/>
            </a:solidFill>
            <a:prstDash val="solid"/>
          </a:ln>
        </p:spPr>
      </p:sp>
      <p:sp>
        <p:nvSpPr>
          <p:cNvPr id="47" name="Shape 45"/>
          <p:cNvSpPr/>
          <p:nvPr/>
        </p:nvSpPr>
        <p:spPr>
          <a:xfrm>
            <a:off x="685800" y="1463040"/>
            <a:ext cx="1097280" cy="548640"/>
          </a:xfrm>
          <a:custGeom>
            <a:avLst/>
            <a:gdLst/>
            <a:ahLst/>
            <a:cxnLst/>
            <a:rect l="l" t="t" r="r" b="b"/>
            <a:pathLst>
              <a:path w="1097280" h="548640">
                <a:moveTo>
                  <a:pt x="1097280" y="548640"/>
                </a:moveTo>
                <a:lnTo>
                  <a:pt x="1092586" y="477028"/>
                </a:lnTo>
                <a:lnTo>
                  <a:pt x="1078586" y="406642"/>
                </a:lnTo>
                <a:lnTo>
                  <a:pt x="1055517" y="338685"/>
                </a:lnTo>
                <a:lnTo>
                  <a:pt x="1023776" y="274320"/>
                </a:lnTo>
                <a:lnTo>
                  <a:pt x="983905" y="214649"/>
                </a:lnTo>
                <a:lnTo>
                  <a:pt x="936587" y="160693"/>
                </a:lnTo>
                <a:lnTo>
                  <a:pt x="882631" y="113375"/>
                </a:lnTo>
                <a:lnTo>
                  <a:pt x="822960" y="73504"/>
                </a:lnTo>
                <a:lnTo>
                  <a:pt x="758595" y="41763"/>
                </a:lnTo>
                <a:lnTo>
                  <a:pt x="690638" y="18694"/>
                </a:lnTo>
                <a:lnTo>
                  <a:pt x="620252" y="4694"/>
                </a:lnTo>
                <a:lnTo>
                  <a:pt x="548640" y="0"/>
                </a:lnTo>
                <a:lnTo>
                  <a:pt x="477028" y="4694"/>
                </a:lnTo>
                <a:lnTo>
                  <a:pt x="406642" y="18694"/>
                </a:lnTo>
                <a:lnTo>
                  <a:pt x="338685" y="41763"/>
                </a:lnTo>
                <a:lnTo>
                  <a:pt x="274320" y="73504"/>
                </a:lnTo>
                <a:lnTo>
                  <a:pt x="214649" y="113375"/>
                </a:lnTo>
                <a:lnTo>
                  <a:pt x="160693" y="160693"/>
                </a:lnTo>
                <a:lnTo>
                  <a:pt x="113375" y="214649"/>
                </a:lnTo>
                <a:lnTo>
                  <a:pt x="73504" y="274320"/>
                </a:lnTo>
                <a:lnTo>
                  <a:pt x="41763" y="338685"/>
                </a:lnTo>
                <a:lnTo>
                  <a:pt x="18694" y="406642"/>
                </a:lnTo>
                <a:lnTo>
                  <a:pt x="4694" y="477028"/>
                </a:lnTo>
                <a:lnTo>
                  <a:pt x="0" y="548640"/>
                </a:lnTo>
              </a:path>
            </a:pathLst>
          </a:custGeom>
          <a:solidFill>
            <a:srgbClr val="FFFFFF">
              <a:alpha val="0"/>
            </a:srgbClr>
          </a:solidFill>
          <a:ln w="19050">
            <a:solidFill>
              <a:srgbClr val="4A3D8F"/>
            </a:solidFill>
            <a:prstDash val="solid"/>
          </a:ln>
        </p:spPr>
      </p:sp>
      <p:sp>
        <p:nvSpPr>
          <p:cNvPr id="48" name="Shape 46"/>
          <p:cNvSpPr/>
          <p:nvPr/>
        </p:nvSpPr>
        <p:spPr>
          <a:xfrm>
            <a:off x="685800" y="2011680"/>
            <a:ext cx="1097280" cy="0"/>
          </a:xfrm>
          <a:prstGeom prst="line">
            <a:avLst/>
          </a:prstGeom>
          <a:noFill/>
          <a:ln w="15875">
            <a:solidFill>
              <a:srgbClr val="4A3D8F"/>
            </a:solidFill>
            <a:prstDash val="solid"/>
          </a:ln>
        </p:spPr>
      </p:sp>
      <p:sp>
        <p:nvSpPr>
          <p:cNvPr id="49" name="Text 47"/>
          <p:cNvSpPr/>
          <p:nvPr/>
        </p:nvSpPr>
        <p:spPr>
          <a:xfrm>
            <a:off x="685800" y="2121408"/>
            <a:ext cx="1097280" cy="201168"/>
          </a:xfrm>
          <a:prstGeom prst="rect">
            <a:avLst/>
          </a:prstGeom>
          <a:noFill/>
          <a:ln/>
        </p:spPr>
        <p:txBody>
          <a:bodyPr wrap="square" lIns="0" tIns="0" rIns="0" bIns="0" rtlCol="0" anchor="ctr"/>
          <a:lstStyle/>
          <a:p>
            <a:pPr algn="ctr" indent="0" marL="0">
              <a:buNone/>
            </a:pPr>
            <a:r>
              <a:rPr lang="en-US" sz="900" i="1" dirty="0">
                <a:solidFill>
                  <a:srgbClr val="5A5A7A"/>
                </a:solidFill>
              </a:rPr>
              <a:t>protractor</a:t>
            </a:r>
            <a:endParaRPr lang="en-US" sz="900" dirty="0"/>
          </a:p>
        </p:txBody>
      </p:sp>
      <p:sp>
        <p:nvSpPr>
          <p:cNvPr id="50" name="Shape 48"/>
          <p:cNvSpPr/>
          <p:nvPr/>
        </p:nvSpPr>
        <p:spPr>
          <a:xfrm>
            <a:off x="4023360" y="1325880"/>
            <a:ext cx="310896" cy="310896"/>
          </a:xfrm>
          <a:prstGeom prst="ellipse">
            <a:avLst/>
          </a:prstGeom>
          <a:solidFill>
            <a:srgbClr val="4A3D8F"/>
          </a:solidFill>
          <a:ln w="12700">
            <a:solidFill>
              <a:srgbClr val="4A3D8F"/>
            </a:solidFill>
            <a:prstDash val="solid"/>
          </a:ln>
        </p:spPr>
      </p:sp>
      <p:sp>
        <p:nvSpPr>
          <p:cNvPr id="51" name="Text 49"/>
          <p:cNvSpPr/>
          <p:nvPr/>
        </p:nvSpPr>
        <p:spPr>
          <a:xfrm>
            <a:off x="4023360" y="13258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2" name="Text 50"/>
          <p:cNvSpPr/>
          <p:nvPr/>
        </p:nvSpPr>
        <p:spPr>
          <a:xfrm>
            <a:off x="4425696" y="1280160"/>
            <a:ext cx="1097280"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Draw a 5 cm base.</a:t>
            </a:r>
            <a:endParaRPr lang="en-US" sz="1150" dirty="0"/>
          </a:p>
        </p:txBody>
      </p:sp>
      <p:sp>
        <p:nvSpPr>
          <p:cNvPr id="53" name="Shape 51"/>
          <p:cNvSpPr/>
          <p:nvPr/>
        </p:nvSpPr>
        <p:spPr>
          <a:xfrm>
            <a:off x="4023360" y="2148840"/>
            <a:ext cx="310896" cy="310896"/>
          </a:xfrm>
          <a:prstGeom prst="ellipse">
            <a:avLst/>
          </a:prstGeom>
          <a:solidFill>
            <a:srgbClr val="4A3D8F"/>
          </a:solidFill>
          <a:ln w="12700">
            <a:solidFill>
              <a:srgbClr val="4A3D8F"/>
            </a:solidFill>
            <a:prstDash val="solid"/>
          </a:ln>
        </p:spPr>
      </p:sp>
      <p:sp>
        <p:nvSpPr>
          <p:cNvPr id="54" name="Text 52"/>
          <p:cNvSpPr/>
          <p:nvPr/>
        </p:nvSpPr>
        <p:spPr>
          <a:xfrm>
            <a:off x="4023360" y="21488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55" name="Text 53"/>
          <p:cNvSpPr/>
          <p:nvPr/>
        </p:nvSpPr>
        <p:spPr>
          <a:xfrm>
            <a:off x="4425696" y="2103120"/>
            <a:ext cx="1097280"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Mark 65° at the left end.</a:t>
            </a:r>
            <a:endParaRPr lang="en-US" sz="1150" dirty="0"/>
          </a:p>
        </p:txBody>
      </p:sp>
      <p:sp>
        <p:nvSpPr>
          <p:cNvPr id="56" name="Shape 54"/>
          <p:cNvSpPr/>
          <p:nvPr/>
        </p:nvSpPr>
        <p:spPr>
          <a:xfrm>
            <a:off x="4023360" y="2971800"/>
            <a:ext cx="310896" cy="310896"/>
          </a:xfrm>
          <a:prstGeom prst="ellipse">
            <a:avLst/>
          </a:prstGeom>
          <a:solidFill>
            <a:srgbClr val="4A3D8F"/>
          </a:solidFill>
          <a:ln w="12700">
            <a:solidFill>
              <a:srgbClr val="4A3D8F"/>
            </a:solidFill>
            <a:prstDash val="solid"/>
          </a:ln>
        </p:spPr>
      </p:sp>
      <p:sp>
        <p:nvSpPr>
          <p:cNvPr id="57" name="Text 55"/>
          <p:cNvSpPr/>
          <p:nvPr/>
        </p:nvSpPr>
        <p:spPr>
          <a:xfrm>
            <a:off x="4023360" y="29718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58" name="Text 56"/>
          <p:cNvSpPr/>
          <p:nvPr/>
        </p:nvSpPr>
        <p:spPr>
          <a:xfrm>
            <a:off x="4425696" y="2926080"/>
            <a:ext cx="1097280"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Mark 45° at the right end.</a:t>
            </a:r>
            <a:endParaRPr lang="en-US" sz="1150" dirty="0"/>
          </a:p>
        </p:txBody>
      </p:sp>
      <p:sp>
        <p:nvSpPr>
          <p:cNvPr id="59" name="Shape 57"/>
          <p:cNvSpPr/>
          <p:nvPr/>
        </p:nvSpPr>
        <p:spPr>
          <a:xfrm>
            <a:off x="4023360" y="3794760"/>
            <a:ext cx="310896" cy="310896"/>
          </a:xfrm>
          <a:prstGeom prst="ellipse">
            <a:avLst/>
          </a:prstGeom>
          <a:solidFill>
            <a:srgbClr val="4A3D8F"/>
          </a:solidFill>
          <a:ln w="12700">
            <a:solidFill>
              <a:srgbClr val="4A3D8F"/>
            </a:solidFill>
            <a:prstDash val="solid"/>
          </a:ln>
        </p:spPr>
      </p:sp>
      <p:sp>
        <p:nvSpPr>
          <p:cNvPr id="60" name="Text 58"/>
          <p:cNvSpPr/>
          <p:nvPr/>
        </p:nvSpPr>
        <p:spPr>
          <a:xfrm>
            <a:off x="4023360" y="3794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61" name="Text 59"/>
          <p:cNvSpPr/>
          <p:nvPr/>
        </p:nvSpPr>
        <p:spPr>
          <a:xfrm>
            <a:off x="4425696" y="3749040"/>
            <a:ext cx="1097280"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Extend rays to the crossing point.</a:t>
            </a:r>
            <a:endParaRPr lang="en-US" sz="1150" dirty="0"/>
          </a:p>
        </p:txBody>
      </p:sp>
      <p:sp>
        <p:nvSpPr>
          <p:cNvPr id="62" name="Shape 60"/>
          <p:cNvSpPr/>
          <p:nvPr/>
        </p:nvSpPr>
        <p:spPr>
          <a:xfrm>
            <a:off x="5806440" y="1325880"/>
            <a:ext cx="2743200" cy="2926080"/>
          </a:xfrm>
          <a:prstGeom prst="roundRect">
            <a:avLst>
              <a:gd name="adj" fmla="val 3333"/>
            </a:avLst>
          </a:prstGeom>
          <a:solidFill>
            <a:srgbClr val="FFFFFF"/>
          </a:solidFill>
          <a:ln w="6350">
            <a:solidFill>
              <a:srgbClr val="DDDDEE"/>
            </a:solidFill>
            <a:prstDash val="solid"/>
          </a:ln>
        </p:spPr>
      </p:sp>
      <p:sp>
        <p:nvSpPr>
          <p:cNvPr id="63" name="Text 61"/>
          <p:cNvSpPr/>
          <p:nvPr/>
        </p:nvSpPr>
        <p:spPr>
          <a:xfrm>
            <a:off x="5989320" y="1463040"/>
            <a:ext cx="2377440" cy="1005840"/>
          </a:xfrm>
          <a:prstGeom prst="rect">
            <a:avLst/>
          </a:prstGeom>
          <a:noFill/>
          <a:ln/>
        </p:spPr>
        <p:txBody>
          <a:bodyPr wrap="square" lIns="0" tIns="0" rIns="0" bIns="0" rtlCol="0" anchor="ctr"/>
          <a:lstStyle/>
          <a:p>
            <a:pPr indent="0" marL="0">
              <a:buNone/>
            </a:pPr>
            <a:r>
              <a:rPr lang="en-US" sz="1200" b="1" dirty="0">
                <a:solidFill>
                  <a:srgbClr val="4A3D8F"/>
                </a:solidFill>
                <a:latin typeface="Cambria" pitchFamily="34" charset="0"/>
                <a:ea typeface="Cambria" pitchFamily="34" charset="-122"/>
                <a:cs typeface="Cambria" pitchFamily="34" charset="-120"/>
              </a:rPr>
              <a:t>Draw a triangle with a 5 cm base, one angle of 65°, and one angle of 45°. Find the third angle first.</a:t>
            </a:r>
            <a:endParaRPr lang="en-US" sz="1200" dirty="0"/>
          </a:p>
        </p:txBody>
      </p:sp>
      <p:sp>
        <p:nvSpPr>
          <p:cNvPr id="64" name="Text 62"/>
          <p:cNvSpPr/>
          <p:nvPr/>
        </p:nvSpPr>
        <p:spPr>
          <a:xfrm>
            <a:off x="5989320" y="2606040"/>
            <a:ext cx="237744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65° + 45° = 110°</a:t>
            </a:r>
            <a:endParaRPr lang="en-US" sz="1200" dirty="0"/>
          </a:p>
        </p:txBody>
      </p:sp>
      <p:sp>
        <p:nvSpPr>
          <p:cNvPr id="65" name="Text 63"/>
          <p:cNvSpPr/>
          <p:nvPr/>
        </p:nvSpPr>
        <p:spPr>
          <a:xfrm>
            <a:off x="5989320" y="2990088"/>
            <a:ext cx="237744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180° − 110° = 70°</a:t>
            </a:r>
            <a:endParaRPr lang="en-US" sz="1200" dirty="0"/>
          </a:p>
        </p:txBody>
      </p:sp>
      <p:sp>
        <p:nvSpPr>
          <p:cNvPr id="66" name="Text 64"/>
          <p:cNvSpPr/>
          <p:nvPr/>
        </p:nvSpPr>
        <p:spPr>
          <a:xfrm>
            <a:off x="5989320" y="3374136"/>
            <a:ext cx="237744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Third angle = 70°</a:t>
            </a:r>
            <a:endParaRPr lang="en-US" sz="1200" dirty="0"/>
          </a:p>
        </p:txBody>
      </p:sp>
      <p:sp>
        <p:nvSpPr>
          <p:cNvPr id="67" name="Text 65"/>
          <p:cNvSpPr/>
          <p:nvPr/>
        </p:nvSpPr>
        <p:spPr>
          <a:xfrm>
            <a:off x="5989320" y="3758184"/>
            <a:ext cx="2377440" cy="36576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Now construct 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Quadrilateral Construction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1737360" y="1371600"/>
            <a:ext cx="2926080" cy="1920240"/>
          </a:xfrm>
          <a:custGeom>
            <a:avLst/>
            <a:gdLst/>
            <a:ahLst/>
            <a:cxnLst/>
            <a:rect l="l" t="t" r="r" b="b"/>
            <a:pathLst>
              <a:path w="2926080" h="1920240">
                <a:moveTo>
                  <a:pt x="0" y="1920240"/>
                </a:moveTo>
                <a:lnTo>
                  <a:pt x="2377440" y="1920240"/>
                </a:lnTo>
                <a:lnTo>
                  <a:pt x="2926080" y="0"/>
                </a:lnTo>
                <a:lnTo>
                  <a:pt x="548640" y="0"/>
                </a:lnTo>
                <a:close/>
              </a:path>
            </a:pathLst>
          </a:custGeom>
          <a:solidFill>
            <a:srgbClr val="EAE8F5"/>
          </a:solidFill>
          <a:ln w="34925">
            <a:solidFill>
              <a:srgbClr val="1B2A4A"/>
            </a:solidFill>
            <a:prstDash val="solid"/>
          </a:ln>
        </p:spPr>
      </p:sp>
      <p:sp>
        <p:nvSpPr>
          <p:cNvPr id="9" name="Shape 7"/>
          <p:cNvSpPr/>
          <p:nvPr/>
        </p:nvSpPr>
        <p:spPr>
          <a:xfrm>
            <a:off x="1797649" y="3080828"/>
            <a:ext cx="159167" cy="211012"/>
          </a:xfrm>
          <a:custGeom>
            <a:avLst/>
            <a:gdLst/>
            <a:ahLst/>
            <a:cxnLst/>
            <a:rect l="l" t="t" r="r" b="b"/>
            <a:pathLst>
              <a:path w="159167" h="211012">
                <a:moveTo>
                  <a:pt x="0" y="0"/>
                </a:moveTo>
                <a:lnTo>
                  <a:pt x="11271" y="3551"/>
                </a:lnTo>
                <a:lnTo>
                  <a:pt x="22334" y="7704"/>
                </a:lnTo>
                <a:lnTo>
                  <a:pt x="33158" y="12446"/>
                </a:lnTo>
                <a:lnTo>
                  <a:pt x="43711" y="17764"/>
                </a:lnTo>
                <a:lnTo>
                  <a:pt x="53963" y="23642"/>
                </a:lnTo>
                <a:lnTo>
                  <a:pt x="63883" y="30064"/>
                </a:lnTo>
                <a:lnTo>
                  <a:pt x="73443" y="37010"/>
                </a:lnTo>
                <a:lnTo>
                  <a:pt x="82615" y="44461"/>
                </a:lnTo>
                <a:lnTo>
                  <a:pt x="91373" y="52395"/>
                </a:lnTo>
                <a:lnTo>
                  <a:pt x="99691" y="60788"/>
                </a:lnTo>
                <a:lnTo>
                  <a:pt x="107546" y="69618"/>
                </a:lnTo>
                <a:lnTo>
                  <a:pt x="114913" y="78857"/>
                </a:lnTo>
                <a:lnTo>
                  <a:pt x="121773" y="88479"/>
                </a:lnTo>
                <a:lnTo>
                  <a:pt x="128105" y="98457"/>
                </a:lnTo>
                <a:lnTo>
                  <a:pt x="133890" y="108761"/>
                </a:lnTo>
                <a:lnTo>
                  <a:pt x="139113" y="119361"/>
                </a:lnTo>
                <a:lnTo>
                  <a:pt x="143757" y="130228"/>
                </a:lnTo>
                <a:lnTo>
                  <a:pt x="147810" y="141328"/>
                </a:lnTo>
                <a:lnTo>
                  <a:pt x="151259" y="152631"/>
                </a:lnTo>
                <a:lnTo>
                  <a:pt x="154095" y="164103"/>
                </a:lnTo>
                <a:lnTo>
                  <a:pt x="156309" y="175710"/>
                </a:lnTo>
                <a:lnTo>
                  <a:pt x="157895" y="187421"/>
                </a:lnTo>
                <a:lnTo>
                  <a:pt x="158849" y="199199"/>
                </a:lnTo>
                <a:lnTo>
                  <a:pt x="159167" y="211012"/>
                </a:lnTo>
              </a:path>
            </a:pathLst>
          </a:custGeom>
          <a:solidFill>
            <a:srgbClr val="FFFFFF">
              <a:alpha val="0"/>
            </a:srgbClr>
          </a:solidFill>
          <a:ln w="31750">
            <a:solidFill>
              <a:srgbClr val="4A3D8F"/>
            </a:solidFill>
            <a:prstDash val="solid"/>
          </a:ln>
        </p:spPr>
      </p:sp>
      <p:sp>
        <p:nvSpPr>
          <p:cNvPr id="10" name="Text 8"/>
          <p:cNvSpPr/>
          <p:nvPr/>
        </p:nvSpPr>
        <p:spPr>
          <a:xfrm>
            <a:off x="1795006" y="2826160"/>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60°</a:t>
            </a:r>
            <a:endParaRPr lang="en-US" sz="1200" dirty="0"/>
          </a:p>
        </p:txBody>
      </p:sp>
      <p:sp>
        <p:nvSpPr>
          <p:cNvPr id="11" name="Shape 9"/>
          <p:cNvSpPr/>
          <p:nvPr/>
        </p:nvSpPr>
        <p:spPr>
          <a:xfrm>
            <a:off x="3895344" y="3072482"/>
            <a:ext cx="279745" cy="219358"/>
          </a:xfrm>
          <a:custGeom>
            <a:avLst/>
            <a:gdLst/>
            <a:ahLst/>
            <a:cxnLst/>
            <a:rect l="l" t="t" r="r" b="b"/>
            <a:pathLst>
              <a:path w="279745" h="219358">
                <a:moveTo>
                  <a:pt x="0" y="219358"/>
                </a:moveTo>
                <a:lnTo>
                  <a:pt x="651" y="202467"/>
                </a:lnTo>
                <a:lnTo>
                  <a:pt x="2600" y="185675"/>
                </a:lnTo>
                <a:lnTo>
                  <a:pt x="5836" y="169084"/>
                </a:lnTo>
                <a:lnTo>
                  <a:pt x="10339" y="152791"/>
                </a:lnTo>
                <a:lnTo>
                  <a:pt x="16083" y="136893"/>
                </a:lnTo>
                <a:lnTo>
                  <a:pt x="23034" y="121484"/>
                </a:lnTo>
                <a:lnTo>
                  <a:pt x="31150" y="106656"/>
                </a:lnTo>
                <a:lnTo>
                  <a:pt x="40383" y="92496"/>
                </a:lnTo>
                <a:lnTo>
                  <a:pt x="50679" y="79090"/>
                </a:lnTo>
                <a:lnTo>
                  <a:pt x="61976" y="66515"/>
                </a:lnTo>
                <a:lnTo>
                  <a:pt x="74207" y="54847"/>
                </a:lnTo>
                <a:lnTo>
                  <a:pt x="87301" y="44156"/>
                </a:lnTo>
                <a:lnTo>
                  <a:pt x="101178" y="34503"/>
                </a:lnTo>
                <a:lnTo>
                  <a:pt x="115757" y="25948"/>
                </a:lnTo>
                <a:lnTo>
                  <a:pt x="130951" y="18540"/>
                </a:lnTo>
                <a:lnTo>
                  <a:pt x="146671" y="12324"/>
                </a:lnTo>
                <a:lnTo>
                  <a:pt x="162822" y="7336"/>
                </a:lnTo>
                <a:lnTo>
                  <a:pt x="179309" y="3605"/>
                </a:lnTo>
                <a:lnTo>
                  <a:pt x="196035" y="1155"/>
                </a:lnTo>
                <a:lnTo>
                  <a:pt x="212899" y="0"/>
                </a:lnTo>
                <a:lnTo>
                  <a:pt x="229802" y="146"/>
                </a:lnTo>
                <a:lnTo>
                  <a:pt x="246644" y="1593"/>
                </a:lnTo>
                <a:lnTo>
                  <a:pt x="263325" y="4331"/>
                </a:lnTo>
                <a:lnTo>
                  <a:pt x="279745" y="8346"/>
                </a:lnTo>
              </a:path>
            </a:pathLst>
          </a:custGeom>
          <a:solidFill>
            <a:srgbClr val="FFFFFF">
              <a:alpha val="0"/>
            </a:srgbClr>
          </a:solidFill>
          <a:ln w="31750">
            <a:solidFill>
              <a:srgbClr val="2E6E44"/>
            </a:solidFill>
            <a:prstDash val="solid"/>
          </a:ln>
        </p:spPr>
      </p:sp>
      <p:sp>
        <p:nvSpPr>
          <p:cNvPr id="12" name="Text 10"/>
          <p:cNvSpPr/>
          <p:nvPr/>
        </p:nvSpPr>
        <p:spPr>
          <a:xfrm>
            <a:off x="3429664" y="2722130"/>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120°</a:t>
            </a:r>
            <a:endParaRPr lang="en-US" sz="1200" dirty="0"/>
          </a:p>
        </p:txBody>
      </p:sp>
      <p:sp>
        <p:nvSpPr>
          <p:cNvPr id="13" name="Shape 11"/>
          <p:cNvSpPr/>
          <p:nvPr/>
        </p:nvSpPr>
        <p:spPr>
          <a:xfrm>
            <a:off x="4443984" y="1371600"/>
            <a:ext cx="159167" cy="211012"/>
          </a:xfrm>
          <a:custGeom>
            <a:avLst/>
            <a:gdLst/>
            <a:ahLst/>
            <a:cxnLst/>
            <a:rect l="l" t="t" r="r" b="b"/>
            <a:pathLst>
              <a:path w="159167" h="211012">
                <a:moveTo>
                  <a:pt x="159167" y="211012"/>
                </a:moveTo>
                <a:lnTo>
                  <a:pt x="147896" y="207461"/>
                </a:lnTo>
                <a:lnTo>
                  <a:pt x="136832" y="203308"/>
                </a:lnTo>
                <a:lnTo>
                  <a:pt x="126008" y="198566"/>
                </a:lnTo>
                <a:lnTo>
                  <a:pt x="115456" y="193248"/>
                </a:lnTo>
                <a:lnTo>
                  <a:pt x="105204" y="187370"/>
                </a:lnTo>
                <a:lnTo>
                  <a:pt x="95284" y="180948"/>
                </a:lnTo>
                <a:lnTo>
                  <a:pt x="85724" y="174002"/>
                </a:lnTo>
                <a:lnTo>
                  <a:pt x="76552" y="166551"/>
                </a:lnTo>
                <a:lnTo>
                  <a:pt x="67794" y="158617"/>
                </a:lnTo>
                <a:lnTo>
                  <a:pt x="59476" y="150224"/>
                </a:lnTo>
                <a:lnTo>
                  <a:pt x="51621" y="141395"/>
                </a:lnTo>
                <a:lnTo>
                  <a:pt x="44254" y="132155"/>
                </a:lnTo>
                <a:lnTo>
                  <a:pt x="37394" y="122533"/>
                </a:lnTo>
                <a:lnTo>
                  <a:pt x="31062" y="112555"/>
                </a:lnTo>
                <a:lnTo>
                  <a:pt x="25277" y="102251"/>
                </a:lnTo>
                <a:lnTo>
                  <a:pt x="20054" y="91651"/>
                </a:lnTo>
                <a:lnTo>
                  <a:pt x="15410" y="80785"/>
                </a:lnTo>
                <a:lnTo>
                  <a:pt x="11357" y="69684"/>
                </a:lnTo>
                <a:lnTo>
                  <a:pt x="7908" y="58381"/>
                </a:lnTo>
                <a:lnTo>
                  <a:pt x="5072" y="46910"/>
                </a:lnTo>
                <a:lnTo>
                  <a:pt x="2858" y="35302"/>
                </a:lnTo>
                <a:lnTo>
                  <a:pt x="1272" y="23592"/>
                </a:lnTo>
                <a:lnTo>
                  <a:pt x="318" y="11813"/>
                </a:lnTo>
                <a:lnTo>
                  <a:pt x="0" y="0"/>
                </a:lnTo>
              </a:path>
            </a:pathLst>
          </a:custGeom>
          <a:solidFill>
            <a:srgbClr val="FFFFFF">
              <a:alpha val="0"/>
            </a:srgbClr>
          </a:solidFill>
          <a:ln w="31750">
            <a:solidFill>
              <a:srgbClr val="4A3D8F"/>
            </a:solidFill>
            <a:prstDash val="solid"/>
          </a:ln>
        </p:spPr>
      </p:sp>
      <p:sp>
        <p:nvSpPr>
          <p:cNvPr id="14" name="Text 12"/>
          <p:cNvSpPr/>
          <p:nvPr/>
        </p:nvSpPr>
        <p:spPr>
          <a:xfrm>
            <a:off x="3874274" y="1544672"/>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60°</a:t>
            </a:r>
            <a:endParaRPr lang="en-US" sz="1200" dirty="0"/>
          </a:p>
        </p:txBody>
      </p:sp>
      <p:sp>
        <p:nvSpPr>
          <p:cNvPr id="15" name="Shape 13"/>
          <p:cNvSpPr/>
          <p:nvPr/>
        </p:nvSpPr>
        <p:spPr>
          <a:xfrm>
            <a:off x="2225711" y="1371600"/>
            <a:ext cx="279745" cy="219358"/>
          </a:xfrm>
          <a:custGeom>
            <a:avLst/>
            <a:gdLst/>
            <a:ahLst/>
            <a:cxnLst/>
            <a:rect l="l" t="t" r="r" b="b"/>
            <a:pathLst>
              <a:path w="279745" h="219358">
                <a:moveTo>
                  <a:pt x="279745" y="0"/>
                </a:moveTo>
                <a:lnTo>
                  <a:pt x="279094" y="16891"/>
                </a:lnTo>
                <a:lnTo>
                  <a:pt x="277145" y="33683"/>
                </a:lnTo>
                <a:lnTo>
                  <a:pt x="273909" y="50274"/>
                </a:lnTo>
                <a:lnTo>
                  <a:pt x="269406" y="66567"/>
                </a:lnTo>
                <a:lnTo>
                  <a:pt x="263662" y="82465"/>
                </a:lnTo>
                <a:lnTo>
                  <a:pt x="256711" y="97874"/>
                </a:lnTo>
                <a:lnTo>
                  <a:pt x="248595" y="112702"/>
                </a:lnTo>
                <a:lnTo>
                  <a:pt x="239362" y="126862"/>
                </a:lnTo>
                <a:lnTo>
                  <a:pt x="229066" y="140268"/>
                </a:lnTo>
                <a:lnTo>
                  <a:pt x="217769" y="152843"/>
                </a:lnTo>
                <a:lnTo>
                  <a:pt x="205538" y="164511"/>
                </a:lnTo>
                <a:lnTo>
                  <a:pt x="192445" y="175202"/>
                </a:lnTo>
                <a:lnTo>
                  <a:pt x="178567" y="184855"/>
                </a:lnTo>
                <a:lnTo>
                  <a:pt x="163988" y="193410"/>
                </a:lnTo>
                <a:lnTo>
                  <a:pt x="148794" y="200818"/>
                </a:lnTo>
                <a:lnTo>
                  <a:pt x="133075" y="207034"/>
                </a:lnTo>
                <a:lnTo>
                  <a:pt x="116923" y="212022"/>
                </a:lnTo>
                <a:lnTo>
                  <a:pt x="100436" y="215753"/>
                </a:lnTo>
                <a:lnTo>
                  <a:pt x="83711" y="218203"/>
                </a:lnTo>
                <a:lnTo>
                  <a:pt x="66846" y="219358"/>
                </a:lnTo>
                <a:lnTo>
                  <a:pt x="49943" y="219212"/>
                </a:lnTo>
                <a:lnTo>
                  <a:pt x="33101" y="217765"/>
                </a:lnTo>
                <a:lnTo>
                  <a:pt x="16420" y="215027"/>
                </a:lnTo>
                <a:lnTo>
                  <a:pt x="0" y="211012"/>
                </a:lnTo>
              </a:path>
            </a:pathLst>
          </a:custGeom>
          <a:solidFill>
            <a:srgbClr val="FFFFFF">
              <a:alpha val="0"/>
            </a:srgbClr>
          </a:solidFill>
          <a:ln w="31750">
            <a:solidFill>
              <a:srgbClr val="2E6E44"/>
            </a:solidFill>
            <a:prstDash val="solid"/>
          </a:ln>
        </p:spPr>
      </p:sp>
      <p:sp>
        <p:nvSpPr>
          <p:cNvPr id="16" name="Text 14"/>
          <p:cNvSpPr/>
          <p:nvPr/>
        </p:nvSpPr>
        <p:spPr>
          <a:xfrm>
            <a:off x="2239616" y="1648702"/>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120°</a:t>
            </a:r>
            <a:endParaRPr lang="en-US" sz="1200" dirty="0"/>
          </a:p>
        </p:txBody>
      </p:sp>
      <p:sp>
        <p:nvSpPr>
          <p:cNvPr id="17" name="Text 15"/>
          <p:cNvSpPr/>
          <p:nvPr/>
        </p:nvSpPr>
        <p:spPr>
          <a:xfrm>
            <a:off x="2347799" y="3418445"/>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5 cm</a:t>
            </a:r>
            <a:endParaRPr lang="en-US" sz="1200" dirty="0"/>
          </a:p>
        </p:txBody>
      </p:sp>
      <p:sp>
        <p:nvSpPr>
          <p:cNvPr id="18" name="Text 16"/>
          <p:cNvSpPr/>
          <p:nvPr/>
        </p:nvSpPr>
        <p:spPr>
          <a:xfrm>
            <a:off x="3047161" y="970675"/>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3 cm</a:t>
            </a:r>
            <a:endParaRPr lang="en-US" sz="1200" dirty="0"/>
          </a:p>
        </p:txBody>
      </p:sp>
      <p:sp>
        <p:nvSpPr>
          <p:cNvPr id="19" name="Shape 17"/>
          <p:cNvSpPr/>
          <p:nvPr/>
        </p:nvSpPr>
        <p:spPr>
          <a:xfrm>
            <a:off x="1691640" y="3246120"/>
            <a:ext cx="91440" cy="91440"/>
          </a:xfrm>
          <a:prstGeom prst="ellipse">
            <a:avLst/>
          </a:prstGeom>
          <a:solidFill>
            <a:srgbClr val="1B2A4A"/>
          </a:solidFill>
          <a:ln w="9525">
            <a:solidFill>
              <a:srgbClr val="FFFFFF"/>
            </a:solidFill>
            <a:prstDash val="solid"/>
          </a:ln>
        </p:spPr>
      </p:sp>
      <p:sp>
        <p:nvSpPr>
          <p:cNvPr id="20" name="Shape 18"/>
          <p:cNvSpPr/>
          <p:nvPr/>
        </p:nvSpPr>
        <p:spPr>
          <a:xfrm>
            <a:off x="4069080" y="3246120"/>
            <a:ext cx="91440" cy="91440"/>
          </a:xfrm>
          <a:prstGeom prst="ellipse">
            <a:avLst/>
          </a:prstGeom>
          <a:solidFill>
            <a:srgbClr val="1B2A4A"/>
          </a:solidFill>
          <a:ln w="9525">
            <a:solidFill>
              <a:srgbClr val="FFFFFF"/>
            </a:solidFill>
            <a:prstDash val="solid"/>
          </a:ln>
        </p:spPr>
      </p:sp>
      <p:sp>
        <p:nvSpPr>
          <p:cNvPr id="21" name="Shape 19"/>
          <p:cNvSpPr/>
          <p:nvPr/>
        </p:nvSpPr>
        <p:spPr>
          <a:xfrm>
            <a:off x="4617720" y="1325880"/>
            <a:ext cx="91440" cy="91440"/>
          </a:xfrm>
          <a:prstGeom prst="ellipse">
            <a:avLst/>
          </a:prstGeom>
          <a:solidFill>
            <a:srgbClr val="1B2A4A"/>
          </a:solidFill>
          <a:ln w="9525">
            <a:solidFill>
              <a:srgbClr val="FFFFFF"/>
            </a:solidFill>
            <a:prstDash val="solid"/>
          </a:ln>
        </p:spPr>
      </p:sp>
      <p:sp>
        <p:nvSpPr>
          <p:cNvPr id="22" name="Shape 20"/>
          <p:cNvSpPr/>
          <p:nvPr/>
        </p:nvSpPr>
        <p:spPr>
          <a:xfrm>
            <a:off x="2240280" y="1325880"/>
            <a:ext cx="91440" cy="91440"/>
          </a:xfrm>
          <a:prstGeom prst="ellipse">
            <a:avLst/>
          </a:prstGeom>
          <a:solidFill>
            <a:srgbClr val="1B2A4A"/>
          </a:solidFill>
          <a:ln w="9525">
            <a:solidFill>
              <a:srgbClr val="FFFFFF"/>
            </a:solidFill>
            <a:prstDash val="solid"/>
          </a:ln>
        </p:spPr>
      </p:sp>
      <p:sp>
        <p:nvSpPr>
          <p:cNvPr id="23" name="Shape 21"/>
          <p:cNvSpPr/>
          <p:nvPr/>
        </p:nvSpPr>
        <p:spPr>
          <a:xfrm>
            <a:off x="5806440" y="1325880"/>
            <a:ext cx="2743200" cy="2926080"/>
          </a:xfrm>
          <a:prstGeom prst="roundRect">
            <a:avLst>
              <a:gd name="adj" fmla="val 3333"/>
            </a:avLst>
          </a:prstGeom>
          <a:solidFill>
            <a:srgbClr val="FFFFFF"/>
          </a:solidFill>
          <a:ln w="6350">
            <a:solidFill>
              <a:srgbClr val="DDDDEE"/>
            </a:solidFill>
            <a:prstDash val="solid"/>
          </a:ln>
        </p:spPr>
      </p:sp>
      <p:sp>
        <p:nvSpPr>
          <p:cNvPr id="24" name="Text 22"/>
          <p:cNvSpPr/>
          <p:nvPr/>
        </p:nvSpPr>
        <p:spPr>
          <a:xfrm>
            <a:off x="5989320" y="1463040"/>
            <a:ext cx="2377440" cy="685800"/>
          </a:xfrm>
          <a:prstGeom prst="rect">
            <a:avLst/>
          </a:prstGeom>
          <a:noFill/>
          <a:ln/>
        </p:spPr>
        <p:txBody>
          <a:bodyPr wrap="square" lIns="0" tIns="0" rIns="0" bIns="0" rtlCol="0" anchor="ctr"/>
          <a:lstStyle/>
          <a:p>
            <a:pPr indent="0" marL="0">
              <a:buNone/>
            </a:pPr>
            <a:r>
              <a:rPr lang="en-US" sz="1200" b="1" dirty="0">
                <a:solidFill>
                  <a:srgbClr val="4A3D8F"/>
                </a:solidFill>
                <a:latin typeface="Cambria" pitchFamily="34" charset="0"/>
                <a:ea typeface="Cambria" pitchFamily="34" charset="-122"/>
                <a:cs typeface="Cambria" pitchFamily="34" charset="-120"/>
              </a:rPr>
              <a:t>Draw a parallelogram with sides 5 cm and 3 cm and one angle of 60°.</a:t>
            </a:r>
            <a:endParaRPr lang="en-US" sz="1200" dirty="0"/>
          </a:p>
        </p:txBody>
      </p:sp>
      <p:sp>
        <p:nvSpPr>
          <p:cNvPr id="25" name="Text 23"/>
          <p:cNvSpPr/>
          <p:nvPr/>
        </p:nvSpPr>
        <p:spPr>
          <a:xfrm>
            <a:off x="5989320" y="2148840"/>
            <a:ext cx="2377440" cy="292608"/>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Draw the 5 cm base.</a:t>
            </a:r>
            <a:endParaRPr lang="en-US" sz="1100" dirty="0"/>
          </a:p>
        </p:txBody>
      </p:sp>
      <p:sp>
        <p:nvSpPr>
          <p:cNvPr id="26" name="Text 24"/>
          <p:cNvSpPr/>
          <p:nvPr/>
        </p:nvSpPr>
        <p:spPr>
          <a:xfrm>
            <a:off x="5989320" y="2459736"/>
            <a:ext cx="2377440" cy="292608"/>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Mark 60° at one end.</a:t>
            </a:r>
            <a:endParaRPr lang="en-US" sz="1100" dirty="0"/>
          </a:p>
        </p:txBody>
      </p:sp>
      <p:sp>
        <p:nvSpPr>
          <p:cNvPr id="27" name="Text 25"/>
          <p:cNvSpPr/>
          <p:nvPr/>
        </p:nvSpPr>
        <p:spPr>
          <a:xfrm>
            <a:off x="5989320" y="2770632"/>
            <a:ext cx="2377440" cy="292608"/>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Measure 3 cm along that ray.</a:t>
            </a:r>
            <a:endParaRPr lang="en-US" sz="1100" dirty="0"/>
          </a:p>
        </p:txBody>
      </p:sp>
      <p:sp>
        <p:nvSpPr>
          <p:cNvPr id="28" name="Text 26"/>
          <p:cNvSpPr/>
          <p:nvPr/>
        </p:nvSpPr>
        <p:spPr>
          <a:xfrm>
            <a:off x="5989320" y="3081528"/>
            <a:ext cx="2377440" cy="292608"/>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Draw the parallel top side.</a:t>
            </a:r>
            <a:endParaRPr lang="en-US" sz="1100" dirty="0"/>
          </a:p>
        </p:txBody>
      </p:sp>
      <p:sp>
        <p:nvSpPr>
          <p:cNvPr id="29" name="Text 27"/>
          <p:cNvSpPr/>
          <p:nvPr/>
        </p:nvSpPr>
        <p:spPr>
          <a:xfrm>
            <a:off x="5989320" y="3392424"/>
            <a:ext cx="2377440" cy="292608"/>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Opposite angle = 60° too;</a:t>
            </a:r>
            <a:endParaRPr lang="en-US" sz="1100" dirty="0"/>
          </a:p>
        </p:txBody>
      </p:sp>
      <p:sp>
        <p:nvSpPr>
          <p:cNvPr id="30" name="Text 28"/>
          <p:cNvSpPr/>
          <p:nvPr/>
        </p:nvSpPr>
        <p:spPr>
          <a:xfrm>
            <a:off x="5989320" y="3703320"/>
            <a:ext cx="2377440" cy="292608"/>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adjacent angle = 120°.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Classify the Drawn Shape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2103120" y="1371600"/>
            <a:ext cx="2194560" cy="2194560"/>
          </a:xfrm>
          <a:custGeom>
            <a:avLst/>
            <a:gdLst/>
            <a:ahLst/>
            <a:cxnLst/>
            <a:rect l="l" t="t" r="r" b="b"/>
            <a:pathLst>
              <a:path w="2194560" h="2194560">
                <a:moveTo>
                  <a:pt x="0" y="0"/>
                </a:moveTo>
                <a:lnTo>
                  <a:pt x="2194560" y="0"/>
                </a:lnTo>
                <a:lnTo>
                  <a:pt x="2194560" y="2194560"/>
                </a:lnTo>
                <a:lnTo>
                  <a:pt x="0" y="2194560"/>
                </a:lnTo>
                <a:close/>
              </a:path>
            </a:pathLst>
          </a:custGeom>
          <a:solidFill>
            <a:srgbClr val="EAE8F5"/>
          </a:solidFill>
          <a:ln w="34925">
            <a:solidFill>
              <a:srgbClr val="1B2A4A"/>
            </a:solidFill>
            <a:prstDash val="solid"/>
          </a:ln>
        </p:spPr>
      </p:sp>
      <p:sp>
        <p:nvSpPr>
          <p:cNvPr id="9" name="Shape 7"/>
          <p:cNvSpPr/>
          <p:nvPr/>
        </p:nvSpPr>
        <p:spPr>
          <a:xfrm>
            <a:off x="2103120" y="1371600"/>
            <a:ext cx="219456" cy="219456"/>
          </a:xfrm>
          <a:custGeom>
            <a:avLst/>
            <a:gdLst/>
            <a:ahLst/>
            <a:cxnLst/>
            <a:rect l="l" t="t" r="r" b="b"/>
            <a:pathLst>
              <a:path w="219456" h="219456">
                <a:moveTo>
                  <a:pt x="0" y="219456"/>
                </a:moveTo>
                <a:lnTo>
                  <a:pt x="14353" y="218986"/>
                </a:lnTo>
                <a:lnTo>
                  <a:pt x="28645" y="217579"/>
                </a:lnTo>
                <a:lnTo>
                  <a:pt x="42814" y="215239"/>
                </a:lnTo>
                <a:lnTo>
                  <a:pt x="56799" y="211978"/>
                </a:lnTo>
                <a:lnTo>
                  <a:pt x="70542" y="207809"/>
                </a:lnTo>
                <a:lnTo>
                  <a:pt x="83982" y="202751"/>
                </a:lnTo>
                <a:lnTo>
                  <a:pt x="97063" y="196824"/>
                </a:lnTo>
                <a:lnTo>
                  <a:pt x="109728" y="190054"/>
                </a:lnTo>
                <a:lnTo>
                  <a:pt x="121923" y="182471"/>
                </a:lnTo>
                <a:lnTo>
                  <a:pt x="133596" y="174106"/>
                </a:lnTo>
                <a:lnTo>
                  <a:pt x="144697" y="164996"/>
                </a:lnTo>
                <a:lnTo>
                  <a:pt x="155179" y="155179"/>
                </a:lnTo>
                <a:lnTo>
                  <a:pt x="164996" y="144697"/>
                </a:lnTo>
                <a:lnTo>
                  <a:pt x="174106" y="133596"/>
                </a:lnTo>
                <a:lnTo>
                  <a:pt x="182471" y="121923"/>
                </a:lnTo>
                <a:lnTo>
                  <a:pt x="190054" y="109728"/>
                </a:lnTo>
                <a:lnTo>
                  <a:pt x="196824" y="97063"/>
                </a:lnTo>
                <a:lnTo>
                  <a:pt x="202751" y="83982"/>
                </a:lnTo>
                <a:lnTo>
                  <a:pt x="207809" y="70542"/>
                </a:lnTo>
                <a:lnTo>
                  <a:pt x="211978" y="56799"/>
                </a:lnTo>
                <a:lnTo>
                  <a:pt x="215239" y="42814"/>
                </a:lnTo>
                <a:lnTo>
                  <a:pt x="217579" y="28645"/>
                </a:lnTo>
                <a:lnTo>
                  <a:pt x="218986" y="14353"/>
                </a:lnTo>
                <a:lnTo>
                  <a:pt x="219456" y="0"/>
                </a:lnTo>
              </a:path>
            </a:pathLst>
          </a:custGeom>
          <a:solidFill>
            <a:srgbClr val="FFFFFF">
              <a:alpha val="0"/>
            </a:srgbClr>
          </a:solidFill>
          <a:ln w="31750">
            <a:solidFill>
              <a:srgbClr val="4A3D8F"/>
            </a:solidFill>
            <a:prstDash val="solid"/>
          </a:ln>
        </p:spPr>
      </p:sp>
      <p:sp>
        <p:nvSpPr>
          <p:cNvPr id="10" name="Text 8"/>
          <p:cNvSpPr/>
          <p:nvPr/>
        </p:nvSpPr>
        <p:spPr>
          <a:xfrm>
            <a:off x="2112375" y="1600311"/>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90°</a:t>
            </a:r>
            <a:endParaRPr lang="en-US" sz="1200" dirty="0"/>
          </a:p>
        </p:txBody>
      </p:sp>
      <p:sp>
        <p:nvSpPr>
          <p:cNvPr id="11" name="Shape 9"/>
          <p:cNvSpPr/>
          <p:nvPr/>
        </p:nvSpPr>
        <p:spPr>
          <a:xfrm>
            <a:off x="4078224" y="1371600"/>
            <a:ext cx="219456" cy="219456"/>
          </a:xfrm>
          <a:custGeom>
            <a:avLst/>
            <a:gdLst/>
            <a:ahLst/>
            <a:cxnLst/>
            <a:rect l="l" t="t" r="r" b="b"/>
            <a:pathLst>
              <a:path w="219456" h="219456">
                <a:moveTo>
                  <a:pt x="0" y="0"/>
                </a:moveTo>
                <a:lnTo>
                  <a:pt x="470" y="14353"/>
                </a:lnTo>
                <a:lnTo>
                  <a:pt x="1877" y="28645"/>
                </a:lnTo>
                <a:lnTo>
                  <a:pt x="4217" y="42814"/>
                </a:lnTo>
                <a:lnTo>
                  <a:pt x="7478" y="56799"/>
                </a:lnTo>
                <a:lnTo>
                  <a:pt x="11647" y="70542"/>
                </a:lnTo>
                <a:lnTo>
                  <a:pt x="16705" y="83982"/>
                </a:lnTo>
                <a:lnTo>
                  <a:pt x="22632" y="97063"/>
                </a:lnTo>
                <a:lnTo>
                  <a:pt x="29402" y="109728"/>
                </a:lnTo>
                <a:lnTo>
                  <a:pt x="36985" y="121923"/>
                </a:lnTo>
                <a:lnTo>
                  <a:pt x="45350" y="133596"/>
                </a:lnTo>
                <a:lnTo>
                  <a:pt x="54460" y="144697"/>
                </a:lnTo>
                <a:lnTo>
                  <a:pt x="64277" y="155179"/>
                </a:lnTo>
                <a:lnTo>
                  <a:pt x="74759" y="164996"/>
                </a:lnTo>
                <a:lnTo>
                  <a:pt x="85860" y="174106"/>
                </a:lnTo>
                <a:lnTo>
                  <a:pt x="97533" y="182471"/>
                </a:lnTo>
                <a:lnTo>
                  <a:pt x="109728" y="190054"/>
                </a:lnTo>
                <a:lnTo>
                  <a:pt x="122393" y="196824"/>
                </a:lnTo>
                <a:lnTo>
                  <a:pt x="135474" y="202751"/>
                </a:lnTo>
                <a:lnTo>
                  <a:pt x="148914" y="207809"/>
                </a:lnTo>
                <a:lnTo>
                  <a:pt x="162657" y="211978"/>
                </a:lnTo>
                <a:lnTo>
                  <a:pt x="176642" y="215239"/>
                </a:lnTo>
                <a:lnTo>
                  <a:pt x="190811" y="217579"/>
                </a:lnTo>
                <a:lnTo>
                  <a:pt x="205103" y="218986"/>
                </a:lnTo>
                <a:lnTo>
                  <a:pt x="219456" y="219456"/>
                </a:lnTo>
              </a:path>
            </a:pathLst>
          </a:custGeom>
          <a:solidFill>
            <a:srgbClr val="FFFFFF">
              <a:alpha val="0"/>
            </a:srgbClr>
          </a:solidFill>
          <a:ln w="31750">
            <a:solidFill>
              <a:srgbClr val="2E6E44"/>
            </a:solidFill>
            <a:prstDash val="solid"/>
          </a:ln>
        </p:spPr>
      </p:sp>
      <p:sp>
        <p:nvSpPr>
          <p:cNvPr id="12" name="Text 10"/>
          <p:cNvSpPr/>
          <p:nvPr/>
        </p:nvSpPr>
        <p:spPr>
          <a:xfrm>
            <a:off x="3556905" y="1600311"/>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a:t>
            </a:r>
            <a:endParaRPr lang="en-US" sz="1200" dirty="0"/>
          </a:p>
        </p:txBody>
      </p:sp>
      <p:sp>
        <p:nvSpPr>
          <p:cNvPr id="13" name="Shape 11"/>
          <p:cNvSpPr/>
          <p:nvPr/>
        </p:nvSpPr>
        <p:spPr>
          <a:xfrm>
            <a:off x="4078224" y="3346704"/>
            <a:ext cx="219456" cy="219456"/>
          </a:xfrm>
          <a:custGeom>
            <a:avLst/>
            <a:gdLst/>
            <a:ahLst/>
            <a:cxnLst/>
            <a:rect l="l" t="t" r="r" b="b"/>
            <a:pathLst>
              <a:path w="219456" h="219456">
                <a:moveTo>
                  <a:pt x="219456" y="0"/>
                </a:moveTo>
                <a:lnTo>
                  <a:pt x="205103" y="470"/>
                </a:lnTo>
                <a:lnTo>
                  <a:pt x="190811" y="1877"/>
                </a:lnTo>
                <a:lnTo>
                  <a:pt x="176642" y="4217"/>
                </a:lnTo>
                <a:lnTo>
                  <a:pt x="162657" y="7478"/>
                </a:lnTo>
                <a:lnTo>
                  <a:pt x="148914" y="11647"/>
                </a:lnTo>
                <a:lnTo>
                  <a:pt x="135474" y="16705"/>
                </a:lnTo>
                <a:lnTo>
                  <a:pt x="122393" y="22632"/>
                </a:lnTo>
                <a:lnTo>
                  <a:pt x="109728" y="29402"/>
                </a:lnTo>
                <a:lnTo>
                  <a:pt x="97533" y="36985"/>
                </a:lnTo>
                <a:lnTo>
                  <a:pt x="85860" y="45350"/>
                </a:lnTo>
                <a:lnTo>
                  <a:pt x="74759" y="54460"/>
                </a:lnTo>
                <a:lnTo>
                  <a:pt x="64277" y="64277"/>
                </a:lnTo>
                <a:lnTo>
                  <a:pt x="54460" y="74759"/>
                </a:lnTo>
                <a:lnTo>
                  <a:pt x="45350" y="85860"/>
                </a:lnTo>
                <a:lnTo>
                  <a:pt x="36985" y="97533"/>
                </a:lnTo>
                <a:lnTo>
                  <a:pt x="29402" y="109728"/>
                </a:lnTo>
                <a:lnTo>
                  <a:pt x="22632" y="122393"/>
                </a:lnTo>
                <a:lnTo>
                  <a:pt x="16705" y="135474"/>
                </a:lnTo>
                <a:lnTo>
                  <a:pt x="11647" y="148914"/>
                </a:lnTo>
                <a:lnTo>
                  <a:pt x="7478" y="162657"/>
                </a:lnTo>
                <a:lnTo>
                  <a:pt x="4217" y="176642"/>
                </a:lnTo>
                <a:lnTo>
                  <a:pt x="1877" y="190811"/>
                </a:lnTo>
                <a:lnTo>
                  <a:pt x="470" y="205103"/>
                </a:lnTo>
                <a:lnTo>
                  <a:pt x="0" y="219456"/>
                </a:lnTo>
              </a:path>
            </a:pathLst>
          </a:custGeom>
          <a:solidFill>
            <a:srgbClr val="FFFFFF">
              <a:alpha val="0"/>
            </a:srgbClr>
          </a:solidFill>
          <a:ln w="31750">
            <a:solidFill>
              <a:srgbClr val="D9941A"/>
            </a:solidFill>
            <a:prstDash val="solid"/>
          </a:ln>
        </p:spPr>
      </p:sp>
      <p:sp>
        <p:nvSpPr>
          <p:cNvPr id="14" name="Text 12"/>
          <p:cNvSpPr/>
          <p:nvPr/>
        </p:nvSpPr>
        <p:spPr>
          <a:xfrm>
            <a:off x="3556905" y="3044841"/>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a:t>
            </a:r>
            <a:endParaRPr lang="en-US" sz="1200" dirty="0"/>
          </a:p>
        </p:txBody>
      </p:sp>
      <p:sp>
        <p:nvSpPr>
          <p:cNvPr id="15" name="Shape 13"/>
          <p:cNvSpPr/>
          <p:nvPr/>
        </p:nvSpPr>
        <p:spPr>
          <a:xfrm>
            <a:off x="2103120" y="3346704"/>
            <a:ext cx="219456" cy="219456"/>
          </a:xfrm>
          <a:custGeom>
            <a:avLst/>
            <a:gdLst/>
            <a:ahLst/>
            <a:cxnLst/>
            <a:rect l="l" t="t" r="r" b="b"/>
            <a:pathLst>
              <a:path w="219456" h="219456">
                <a:moveTo>
                  <a:pt x="219456" y="219456"/>
                </a:moveTo>
                <a:lnTo>
                  <a:pt x="218986" y="205103"/>
                </a:lnTo>
                <a:lnTo>
                  <a:pt x="217579" y="190811"/>
                </a:lnTo>
                <a:lnTo>
                  <a:pt x="215239" y="176642"/>
                </a:lnTo>
                <a:lnTo>
                  <a:pt x="211978" y="162657"/>
                </a:lnTo>
                <a:lnTo>
                  <a:pt x="207809" y="148914"/>
                </a:lnTo>
                <a:lnTo>
                  <a:pt x="202751" y="135474"/>
                </a:lnTo>
                <a:lnTo>
                  <a:pt x="196824" y="122393"/>
                </a:lnTo>
                <a:lnTo>
                  <a:pt x="190054" y="109728"/>
                </a:lnTo>
                <a:lnTo>
                  <a:pt x="182471" y="97533"/>
                </a:lnTo>
                <a:lnTo>
                  <a:pt x="174106" y="85860"/>
                </a:lnTo>
                <a:lnTo>
                  <a:pt x="164996" y="74759"/>
                </a:lnTo>
                <a:lnTo>
                  <a:pt x="155179" y="64277"/>
                </a:lnTo>
                <a:lnTo>
                  <a:pt x="144697" y="54460"/>
                </a:lnTo>
                <a:lnTo>
                  <a:pt x="133596" y="45350"/>
                </a:lnTo>
                <a:lnTo>
                  <a:pt x="121923" y="36985"/>
                </a:lnTo>
                <a:lnTo>
                  <a:pt x="109728" y="29402"/>
                </a:lnTo>
                <a:lnTo>
                  <a:pt x="97063" y="22632"/>
                </a:lnTo>
                <a:lnTo>
                  <a:pt x="83982" y="16705"/>
                </a:lnTo>
                <a:lnTo>
                  <a:pt x="70542" y="11647"/>
                </a:lnTo>
                <a:lnTo>
                  <a:pt x="56799" y="7478"/>
                </a:lnTo>
                <a:lnTo>
                  <a:pt x="42814" y="4217"/>
                </a:lnTo>
                <a:lnTo>
                  <a:pt x="28645" y="1877"/>
                </a:lnTo>
                <a:lnTo>
                  <a:pt x="14353" y="470"/>
                </a:lnTo>
                <a:lnTo>
                  <a:pt x="0" y="0"/>
                </a:lnTo>
              </a:path>
            </a:pathLst>
          </a:custGeom>
          <a:solidFill>
            <a:srgbClr val="FFFFFF">
              <a:alpha val="0"/>
            </a:srgbClr>
          </a:solidFill>
          <a:ln w="31750">
            <a:solidFill>
              <a:srgbClr val="C05818"/>
            </a:solidFill>
            <a:prstDash val="solid"/>
          </a:ln>
        </p:spPr>
      </p:sp>
      <p:sp>
        <p:nvSpPr>
          <p:cNvPr id="16" name="Text 14"/>
          <p:cNvSpPr/>
          <p:nvPr/>
        </p:nvSpPr>
        <p:spPr>
          <a:xfrm>
            <a:off x="2112375" y="3044841"/>
            <a:ext cx="731520" cy="292608"/>
          </a:xfrm>
          <a:prstGeom prst="rect">
            <a:avLst/>
          </a:prstGeom>
          <a:noFill/>
          <a:ln/>
        </p:spPr>
        <p:txBody>
          <a:bodyPr wrap="square" lIns="0" tIns="0" rIns="0" bIns="0" rtlCol="0" anchor="ctr"/>
          <a:lstStyle/>
          <a:p>
            <a:pPr algn="ctr" indent="0" marL="0">
              <a:buNone/>
            </a:pPr>
            <a:r>
              <a:rPr lang="en-US" sz="1200" b="1" dirty="0">
                <a:solidFill>
                  <a:srgbClr val="C05818"/>
                </a:solidFill>
              </a:rPr>
              <a:t>?</a:t>
            </a:r>
            <a:endParaRPr lang="en-US" sz="1200" dirty="0"/>
          </a:p>
        </p:txBody>
      </p:sp>
      <p:sp>
        <p:nvSpPr>
          <p:cNvPr id="17" name="Text 15"/>
          <p:cNvSpPr/>
          <p:nvPr/>
        </p:nvSpPr>
        <p:spPr>
          <a:xfrm>
            <a:off x="2697480" y="96012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7 cm</a:t>
            </a:r>
            <a:endParaRPr lang="en-US" sz="1200" dirty="0"/>
          </a:p>
        </p:txBody>
      </p:sp>
      <p:sp>
        <p:nvSpPr>
          <p:cNvPr id="18" name="Text 16"/>
          <p:cNvSpPr/>
          <p:nvPr/>
        </p:nvSpPr>
        <p:spPr>
          <a:xfrm>
            <a:off x="4069080" y="233172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7 cm</a:t>
            </a:r>
            <a:endParaRPr lang="en-US" sz="1200" dirty="0"/>
          </a:p>
        </p:txBody>
      </p:sp>
      <p:sp>
        <p:nvSpPr>
          <p:cNvPr id="19" name="Text 17"/>
          <p:cNvSpPr/>
          <p:nvPr/>
        </p:nvSpPr>
        <p:spPr>
          <a:xfrm>
            <a:off x="2697480" y="370332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7 cm</a:t>
            </a:r>
            <a:endParaRPr lang="en-US" sz="1200" dirty="0"/>
          </a:p>
        </p:txBody>
      </p:sp>
      <p:sp>
        <p:nvSpPr>
          <p:cNvPr id="20" name="Text 18"/>
          <p:cNvSpPr/>
          <p:nvPr/>
        </p:nvSpPr>
        <p:spPr>
          <a:xfrm>
            <a:off x="1325880" y="233172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7 cm</a:t>
            </a:r>
            <a:endParaRPr lang="en-US" sz="1200" dirty="0"/>
          </a:p>
        </p:txBody>
      </p:sp>
      <p:sp>
        <p:nvSpPr>
          <p:cNvPr id="21" name="Shape 19"/>
          <p:cNvSpPr/>
          <p:nvPr/>
        </p:nvSpPr>
        <p:spPr>
          <a:xfrm>
            <a:off x="2057400" y="1325880"/>
            <a:ext cx="91440" cy="91440"/>
          </a:xfrm>
          <a:prstGeom prst="ellipse">
            <a:avLst/>
          </a:prstGeom>
          <a:solidFill>
            <a:srgbClr val="1B2A4A"/>
          </a:solidFill>
          <a:ln w="9525">
            <a:solidFill>
              <a:srgbClr val="FFFFFF"/>
            </a:solidFill>
            <a:prstDash val="solid"/>
          </a:ln>
        </p:spPr>
      </p:sp>
      <p:sp>
        <p:nvSpPr>
          <p:cNvPr id="22" name="Shape 20"/>
          <p:cNvSpPr/>
          <p:nvPr/>
        </p:nvSpPr>
        <p:spPr>
          <a:xfrm>
            <a:off x="4251960" y="1325880"/>
            <a:ext cx="91440" cy="91440"/>
          </a:xfrm>
          <a:prstGeom prst="ellipse">
            <a:avLst/>
          </a:prstGeom>
          <a:solidFill>
            <a:srgbClr val="1B2A4A"/>
          </a:solidFill>
          <a:ln w="9525">
            <a:solidFill>
              <a:srgbClr val="FFFFFF"/>
            </a:solidFill>
            <a:prstDash val="solid"/>
          </a:ln>
        </p:spPr>
      </p:sp>
      <p:sp>
        <p:nvSpPr>
          <p:cNvPr id="23" name="Shape 21"/>
          <p:cNvSpPr/>
          <p:nvPr/>
        </p:nvSpPr>
        <p:spPr>
          <a:xfrm>
            <a:off x="4251960" y="3520440"/>
            <a:ext cx="91440" cy="91440"/>
          </a:xfrm>
          <a:prstGeom prst="ellipse">
            <a:avLst/>
          </a:prstGeom>
          <a:solidFill>
            <a:srgbClr val="1B2A4A"/>
          </a:solidFill>
          <a:ln w="9525">
            <a:solidFill>
              <a:srgbClr val="FFFFFF"/>
            </a:solidFill>
            <a:prstDash val="solid"/>
          </a:ln>
        </p:spPr>
      </p:sp>
      <p:sp>
        <p:nvSpPr>
          <p:cNvPr id="24" name="Shape 22"/>
          <p:cNvSpPr/>
          <p:nvPr/>
        </p:nvSpPr>
        <p:spPr>
          <a:xfrm>
            <a:off x="2057400" y="3520440"/>
            <a:ext cx="91440" cy="91440"/>
          </a:xfrm>
          <a:prstGeom prst="ellipse">
            <a:avLst/>
          </a:prstGeom>
          <a:solidFill>
            <a:srgbClr val="1B2A4A"/>
          </a:solidFill>
          <a:ln w="9525">
            <a:solidFill>
              <a:srgbClr val="FFFFFF"/>
            </a:solidFill>
            <a:prstDash val="solid"/>
          </a:ln>
        </p:spPr>
      </p:sp>
      <p:sp>
        <p:nvSpPr>
          <p:cNvPr id="25" name="Shape 23"/>
          <p:cNvSpPr/>
          <p:nvPr/>
        </p:nvSpPr>
        <p:spPr>
          <a:xfrm>
            <a:off x="4937760" y="1371600"/>
            <a:ext cx="3566160" cy="2926080"/>
          </a:xfrm>
          <a:prstGeom prst="roundRect">
            <a:avLst>
              <a:gd name="adj" fmla="val 3125"/>
            </a:avLst>
          </a:prstGeom>
          <a:solidFill>
            <a:srgbClr val="FFFFFF"/>
          </a:solidFill>
          <a:ln w="6350">
            <a:solidFill>
              <a:srgbClr val="DDDDEE"/>
            </a:solidFill>
            <a:prstDash val="solid"/>
          </a:ln>
        </p:spPr>
      </p:sp>
      <p:sp>
        <p:nvSpPr>
          <p:cNvPr id="26" name="Text 24"/>
          <p:cNvSpPr/>
          <p:nvPr/>
        </p:nvSpPr>
        <p:spPr>
          <a:xfrm>
            <a:off x="5120640" y="1508760"/>
            <a:ext cx="3200400" cy="960120"/>
          </a:xfrm>
          <a:prstGeom prst="rect">
            <a:avLst/>
          </a:prstGeom>
          <a:noFill/>
          <a:ln/>
        </p:spPr>
        <p:txBody>
          <a:bodyPr wrap="square" lIns="0" tIns="0" rIns="0" bIns="0" rtlCol="0" anchor="ctr"/>
          <a:lstStyle/>
          <a:p>
            <a:pPr indent="0" marL="0">
              <a:buNone/>
            </a:pPr>
            <a:r>
              <a:rPr lang="en-US" sz="1250" b="1" dirty="0">
                <a:solidFill>
                  <a:srgbClr val="4A3D8F"/>
                </a:solidFill>
                <a:latin typeface="Cambria" pitchFamily="34" charset="0"/>
                <a:ea typeface="Cambria" pitchFamily="34" charset="-122"/>
                <a:cs typeface="Cambria" pitchFamily="34" charset="-120"/>
              </a:rPr>
              <a:t>A student draws a quadrilateral with all four sides 7 cm and one angle measuring 90°. What shape did she draw?</a:t>
            </a:r>
            <a:endParaRPr lang="en-US" sz="1250" dirty="0"/>
          </a:p>
        </p:txBody>
      </p:sp>
      <p:sp>
        <p:nvSpPr>
          <p:cNvPr id="27" name="Text 25"/>
          <p:cNvSpPr/>
          <p:nvPr/>
        </p:nvSpPr>
        <p:spPr>
          <a:xfrm>
            <a:off x="5120640" y="2514600"/>
            <a:ext cx="3200400" cy="347472"/>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All four sides equal: could be a square</a:t>
            </a:r>
            <a:endParaRPr lang="en-US" sz="1200" dirty="0"/>
          </a:p>
        </p:txBody>
      </p:sp>
      <p:sp>
        <p:nvSpPr>
          <p:cNvPr id="28" name="Text 26"/>
          <p:cNvSpPr/>
          <p:nvPr/>
        </p:nvSpPr>
        <p:spPr>
          <a:xfrm>
            <a:off x="5120640" y="2880360"/>
            <a:ext cx="3200400" cy="347472"/>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or a rhombus.</a:t>
            </a:r>
            <a:endParaRPr lang="en-US" sz="1200" dirty="0"/>
          </a:p>
        </p:txBody>
      </p:sp>
      <p:sp>
        <p:nvSpPr>
          <p:cNvPr id="29" name="Text 27"/>
          <p:cNvSpPr/>
          <p:nvPr/>
        </p:nvSpPr>
        <p:spPr>
          <a:xfrm>
            <a:off x="5120640" y="3246120"/>
            <a:ext cx="3200400" cy="347472"/>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One right angle + all sides equal</a:t>
            </a:r>
            <a:endParaRPr lang="en-US" sz="1200" dirty="0"/>
          </a:p>
        </p:txBody>
      </p:sp>
      <p:sp>
        <p:nvSpPr>
          <p:cNvPr id="30" name="Text 28"/>
          <p:cNvSpPr/>
          <p:nvPr/>
        </p:nvSpPr>
        <p:spPr>
          <a:xfrm>
            <a:off x="5120640" y="3611880"/>
            <a:ext cx="3200400" cy="347472"/>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forces all four angles to be 90°.</a:t>
            </a:r>
            <a:endParaRPr lang="en-US" sz="1200" dirty="0"/>
          </a:p>
        </p:txBody>
      </p:sp>
      <p:sp>
        <p:nvSpPr>
          <p:cNvPr id="31" name="Text 29"/>
          <p:cNvSpPr/>
          <p:nvPr/>
        </p:nvSpPr>
        <p:spPr>
          <a:xfrm>
            <a:off x="5120640" y="3977640"/>
            <a:ext cx="3200400" cy="347472"/>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This shape is a square.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Can This Triangle Be Built?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4206240" cy="2926080"/>
          </a:xfrm>
          <a:prstGeom prst="roundRect">
            <a:avLst>
              <a:gd name="adj" fmla="val 3125"/>
            </a:avLst>
          </a:prstGeom>
          <a:solidFill>
            <a:srgbClr val="FFFFFF"/>
          </a:solidFill>
          <a:ln w="6350">
            <a:solidFill>
              <a:srgbClr val="DDDDEE"/>
            </a:solidFill>
            <a:prstDash val="solid"/>
          </a:ln>
        </p:spPr>
      </p:sp>
      <p:sp>
        <p:nvSpPr>
          <p:cNvPr id="9" name="Text 7"/>
          <p:cNvSpPr/>
          <p:nvPr/>
        </p:nvSpPr>
        <p:spPr>
          <a:xfrm>
            <a:off x="640080" y="1508760"/>
            <a:ext cx="3840480" cy="685800"/>
          </a:xfrm>
          <a:prstGeom prst="rect">
            <a:avLst/>
          </a:prstGeom>
          <a:noFill/>
          <a:ln/>
        </p:spPr>
        <p:txBody>
          <a:bodyPr wrap="square" lIns="0" tIns="0" rIns="0" bIns="0" rtlCol="0" anchor="ctr"/>
          <a:lstStyle/>
          <a:p>
            <a:pPr indent="0" marL="0">
              <a:buNone/>
            </a:pPr>
            <a:r>
              <a:rPr lang="en-US" sz="1300" b="1" dirty="0">
                <a:solidFill>
                  <a:srgbClr val="4A3D8F"/>
                </a:solidFill>
                <a:latin typeface="Cambria" pitchFamily="34" charset="0"/>
                <a:ea typeface="Cambria" pitchFamily="34" charset="-122"/>
                <a:cs typeface="Cambria" pitchFamily="34" charset="-120"/>
              </a:rPr>
              <a:t>Kai tries to draw a triangle with sides 3 cm, 4 cm, and 9 cm.</a:t>
            </a:r>
            <a:endParaRPr lang="en-US" sz="1300" dirty="0"/>
          </a:p>
        </p:txBody>
      </p:sp>
      <p:sp>
        <p:nvSpPr>
          <p:cNvPr id="10" name="Text 8"/>
          <p:cNvSpPr/>
          <p:nvPr/>
        </p:nvSpPr>
        <p:spPr>
          <a:xfrm>
            <a:off x="640080" y="2286000"/>
            <a:ext cx="3840480" cy="17373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If you lay the 3 cm and 4 cm sides down from the two ends of the 9 cm side, they are too short to reach each other and meet.</a:t>
            </a:r>
            <a:endParaRPr lang="en-US" sz="1250" dirty="0"/>
          </a:p>
        </p:txBody>
      </p:sp>
      <p:sp>
        <p:nvSpPr>
          <p:cNvPr id="11" name="Shape 9"/>
          <p:cNvSpPr/>
          <p:nvPr/>
        </p:nvSpPr>
        <p:spPr>
          <a:xfrm>
            <a:off x="4892040" y="1371600"/>
            <a:ext cx="3657600" cy="2926080"/>
          </a:xfrm>
          <a:prstGeom prst="roundRect">
            <a:avLst>
              <a:gd name="adj" fmla="val 3125"/>
            </a:avLst>
          </a:prstGeom>
          <a:solidFill>
            <a:srgbClr val="FFFFFF"/>
          </a:solidFill>
          <a:ln w="6350">
            <a:solidFill>
              <a:srgbClr val="DDDDEE"/>
            </a:solidFill>
            <a:prstDash val="solid"/>
          </a:ln>
        </p:spPr>
      </p:sp>
      <p:sp>
        <p:nvSpPr>
          <p:cNvPr id="12" name="Text 10"/>
          <p:cNvSpPr/>
          <p:nvPr/>
        </p:nvSpPr>
        <p:spPr>
          <a:xfrm>
            <a:off x="5074920" y="1508760"/>
            <a:ext cx="3291840" cy="365760"/>
          </a:xfrm>
          <a:prstGeom prst="rect">
            <a:avLst/>
          </a:prstGeom>
          <a:noFill/>
          <a:ln/>
        </p:spPr>
        <p:txBody>
          <a:bodyPr wrap="square" lIns="0" tIns="0" rIns="0" bIns="0" rtlCol="0" anchor="ctr"/>
          <a:lstStyle/>
          <a:p>
            <a:pPr indent="0" marL="0">
              <a:buNone/>
            </a:pPr>
            <a:r>
              <a:rPr lang="en-US" sz="1250" b="1" dirty="0">
                <a:solidFill>
                  <a:srgbClr val="4A3D8F"/>
                </a:solidFill>
              </a:rPr>
              <a:t>Check the two shorter sides:</a:t>
            </a:r>
            <a:endParaRPr lang="en-US" sz="1250" dirty="0"/>
          </a:p>
        </p:txBody>
      </p:sp>
      <p:sp>
        <p:nvSpPr>
          <p:cNvPr id="13" name="Text 11"/>
          <p:cNvSpPr/>
          <p:nvPr/>
        </p:nvSpPr>
        <p:spPr>
          <a:xfrm>
            <a:off x="5074920" y="1920240"/>
            <a:ext cx="3291840" cy="3657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3 cm + 4 cm = 7 cm</a:t>
            </a:r>
            <a:endParaRPr lang="en-US" sz="1250" dirty="0"/>
          </a:p>
        </p:txBody>
      </p:sp>
      <p:sp>
        <p:nvSpPr>
          <p:cNvPr id="14" name="Text 12"/>
          <p:cNvSpPr/>
          <p:nvPr/>
        </p:nvSpPr>
        <p:spPr>
          <a:xfrm>
            <a:off x="5074920" y="2304288"/>
            <a:ext cx="3291840" cy="3657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7 cm is LESS than 9 cm</a:t>
            </a:r>
            <a:endParaRPr lang="en-US" sz="1250" dirty="0"/>
          </a:p>
        </p:txBody>
      </p:sp>
      <p:sp>
        <p:nvSpPr>
          <p:cNvPr id="15" name="Text 13"/>
          <p:cNvSpPr/>
          <p:nvPr/>
        </p:nvSpPr>
        <p:spPr>
          <a:xfrm>
            <a:off x="5074920" y="2688336"/>
            <a:ext cx="3291840" cy="3657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The two shorter sides can't reach</a:t>
            </a:r>
            <a:endParaRPr lang="en-US" sz="1250" dirty="0"/>
          </a:p>
        </p:txBody>
      </p:sp>
      <p:sp>
        <p:nvSpPr>
          <p:cNvPr id="16" name="Text 14"/>
          <p:cNvSpPr/>
          <p:nvPr/>
        </p:nvSpPr>
        <p:spPr>
          <a:xfrm>
            <a:off x="5074920" y="3072384"/>
            <a:ext cx="3291840" cy="3657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across the longest side.</a:t>
            </a:r>
            <a:endParaRPr lang="en-US" sz="1250" dirty="0"/>
          </a:p>
        </p:txBody>
      </p:sp>
      <p:sp>
        <p:nvSpPr>
          <p:cNvPr id="17" name="Text 15"/>
          <p:cNvSpPr/>
          <p:nvPr/>
        </p:nvSpPr>
        <p:spPr>
          <a:xfrm>
            <a:off x="5074920" y="3456432"/>
            <a:ext cx="3291840" cy="36576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This triangle is impossible.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Your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743200" y="1097280"/>
            <a:ext cx="3108960" cy="2331720"/>
          </a:xfrm>
          <a:custGeom>
            <a:avLst/>
            <a:gdLst/>
            <a:ahLst/>
            <a:cxnLst/>
            <a:rect l="l" t="t" r="r" b="b"/>
            <a:pathLst>
              <a:path w="3108960" h="2331720">
                <a:moveTo>
                  <a:pt x="0" y="2331720"/>
                </a:moveTo>
                <a:lnTo>
                  <a:pt x="3108960" y="2331720"/>
                </a:lnTo>
                <a:lnTo>
                  <a:pt x="1554480" y="0"/>
                </a:lnTo>
                <a:close/>
              </a:path>
            </a:pathLst>
          </a:custGeom>
          <a:solidFill>
            <a:srgbClr val="EAE8F5"/>
          </a:solidFill>
          <a:ln w="34925">
            <a:solidFill>
              <a:srgbClr val="1B2A4A"/>
            </a:solidFill>
            <a:prstDash val="solid"/>
          </a:ln>
        </p:spPr>
      </p:sp>
      <p:sp>
        <p:nvSpPr>
          <p:cNvPr id="7" name="Shape 5"/>
          <p:cNvSpPr/>
          <p:nvPr/>
        </p:nvSpPr>
        <p:spPr>
          <a:xfrm>
            <a:off x="2895365" y="3200752"/>
            <a:ext cx="122155" cy="228248"/>
          </a:xfrm>
          <a:custGeom>
            <a:avLst/>
            <a:gdLst/>
            <a:ahLst/>
            <a:cxnLst/>
            <a:rect l="l" t="t" r="r" b="b"/>
            <a:pathLst>
              <a:path w="122155" h="228248">
                <a:moveTo>
                  <a:pt x="0" y="0"/>
                </a:moveTo>
                <a:lnTo>
                  <a:pt x="9217" y="6421"/>
                </a:lnTo>
                <a:lnTo>
                  <a:pt x="18162" y="13213"/>
                </a:lnTo>
                <a:lnTo>
                  <a:pt x="26823" y="20367"/>
                </a:lnTo>
                <a:lnTo>
                  <a:pt x="35183" y="27868"/>
                </a:lnTo>
                <a:lnTo>
                  <a:pt x="43229" y="35706"/>
                </a:lnTo>
                <a:lnTo>
                  <a:pt x="50948" y="43867"/>
                </a:lnTo>
                <a:lnTo>
                  <a:pt x="58326" y="52336"/>
                </a:lnTo>
                <a:lnTo>
                  <a:pt x="65351" y="61101"/>
                </a:lnTo>
                <a:lnTo>
                  <a:pt x="72011" y="70146"/>
                </a:lnTo>
                <a:lnTo>
                  <a:pt x="78296" y="79456"/>
                </a:lnTo>
                <a:lnTo>
                  <a:pt x="84194" y="89015"/>
                </a:lnTo>
                <a:lnTo>
                  <a:pt x="89696" y="98808"/>
                </a:lnTo>
                <a:lnTo>
                  <a:pt x="94792" y="108818"/>
                </a:lnTo>
                <a:lnTo>
                  <a:pt x="99474" y="119028"/>
                </a:lnTo>
                <a:lnTo>
                  <a:pt x="103734" y="129421"/>
                </a:lnTo>
                <a:lnTo>
                  <a:pt x="107566" y="139980"/>
                </a:lnTo>
                <a:lnTo>
                  <a:pt x="110962" y="150687"/>
                </a:lnTo>
                <a:lnTo>
                  <a:pt x="113916" y="161524"/>
                </a:lnTo>
                <a:lnTo>
                  <a:pt x="116425" y="172473"/>
                </a:lnTo>
                <a:lnTo>
                  <a:pt x="118483" y="183515"/>
                </a:lnTo>
                <a:lnTo>
                  <a:pt x="120087" y="194633"/>
                </a:lnTo>
                <a:lnTo>
                  <a:pt x="121235" y="205806"/>
                </a:lnTo>
                <a:lnTo>
                  <a:pt x="121925" y="217018"/>
                </a:lnTo>
                <a:lnTo>
                  <a:pt x="122155" y="228248"/>
                </a:lnTo>
              </a:path>
            </a:pathLst>
          </a:custGeom>
          <a:solidFill>
            <a:srgbClr val="FFFFFF">
              <a:alpha val="0"/>
            </a:srgbClr>
          </a:solidFill>
          <a:ln w="31750">
            <a:solidFill>
              <a:srgbClr val="4A3D8F"/>
            </a:solidFill>
            <a:prstDash val="solid"/>
          </a:ln>
        </p:spPr>
      </p:sp>
      <p:sp>
        <p:nvSpPr>
          <p:cNvPr id="8" name="Text 6"/>
          <p:cNvSpPr/>
          <p:nvPr/>
        </p:nvSpPr>
        <p:spPr>
          <a:xfrm>
            <a:off x="2893410" y="3006557"/>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60°</a:t>
            </a:r>
            <a:endParaRPr lang="en-US" sz="1200" dirty="0"/>
          </a:p>
        </p:txBody>
      </p:sp>
      <p:sp>
        <p:nvSpPr>
          <p:cNvPr id="9" name="Shape 7"/>
          <p:cNvSpPr/>
          <p:nvPr/>
        </p:nvSpPr>
        <p:spPr>
          <a:xfrm>
            <a:off x="5577840" y="3200752"/>
            <a:ext cx="122155" cy="228248"/>
          </a:xfrm>
          <a:custGeom>
            <a:avLst/>
            <a:gdLst/>
            <a:ahLst/>
            <a:cxnLst/>
            <a:rect l="l" t="t" r="r" b="b"/>
            <a:pathLst>
              <a:path w="122155" h="228248">
                <a:moveTo>
                  <a:pt x="0" y="228248"/>
                </a:moveTo>
                <a:lnTo>
                  <a:pt x="230" y="217018"/>
                </a:lnTo>
                <a:lnTo>
                  <a:pt x="919" y="205806"/>
                </a:lnTo>
                <a:lnTo>
                  <a:pt x="2067" y="194633"/>
                </a:lnTo>
                <a:lnTo>
                  <a:pt x="3672" y="183515"/>
                </a:lnTo>
                <a:lnTo>
                  <a:pt x="5730" y="172473"/>
                </a:lnTo>
                <a:lnTo>
                  <a:pt x="8238" y="161524"/>
                </a:lnTo>
                <a:lnTo>
                  <a:pt x="11193" y="150687"/>
                </a:lnTo>
                <a:lnTo>
                  <a:pt x="14589" y="139980"/>
                </a:lnTo>
                <a:lnTo>
                  <a:pt x="18420" y="129421"/>
                </a:lnTo>
                <a:lnTo>
                  <a:pt x="22680" y="119028"/>
                </a:lnTo>
                <a:lnTo>
                  <a:pt x="27363" y="108818"/>
                </a:lnTo>
                <a:lnTo>
                  <a:pt x="32459" y="98808"/>
                </a:lnTo>
                <a:lnTo>
                  <a:pt x="37961" y="89015"/>
                </a:lnTo>
                <a:lnTo>
                  <a:pt x="43859" y="79456"/>
                </a:lnTo>
                <a:lnTo>
                  <a:pt x="50143" y="70146"/>
                </a:lnTo>
                <a:lnTo>
                  <a:pt x="56804" y="61101"/>
                </a:lnTo>
                <a:lnTo>
                  <a:pt x="63829" y="52336"/>
                </a:lnTo>
                <a:lnTo>
                  <a:pt x="71207" y="43867"/>
                </a:lnTo>
                <a:lnTo>
                  <a:pt x="78925" y="35706"/>
                </a:lnTo>
                <a:lnTo>
                  <a:pt x="86972" y="27868"/>
                </a:lnTo>
                <a:lnTo>
                  <a:pt x="95332" y="20367"/>
                </a:lnTo>
                <a:lnTo>
                  <a:pt x="103992" y="13213"/>
                </a:lnTo>
                <a:lnTo>
                  <a:pt x="112938" y="6421"/>
                </a:lnTo>
                <a:lnTo>
                  <a:pt x="122155" y="0"/>
                </a:lnTo>
              </a:path>
            </a:pathLst>
          </a:custGeom>
          <a:solidFill>
            <a:srgbClr val="FFFFFF">
              <a:alpha val="0"/>
            </a:srgbClr>
          </a:solidFill>
          <a:ln w="31750">
            <a:solidFill>
              <a:srgbClr val="2E6E44"/>
            </a:solidFill>
            <a:prstDash val="solid"/>
          </a:ln>
        </p:spPr>
      </p:sp>
      <p:sp>
        <p:nvSpPr>
          <p:cNvPr id="10" name="Text 8"/>
          <p:cNvSpPr/>
          <p:nvPr/>
        </p:nvSpPr>
        <p:spPr>
          <a:xfrm>
            <a:off x="4970430" y="3006557"/>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60°</a:t>
            </a:r>
            <a:endParaRPr lang="en-US" sz="1200" dirty="0"/>
          </a:p>
        </p:txBody>
      </p:sp>
      <p:sp>
        <p:nvSpPr>
          <p:cNvPr id="11" name="Shape 9"/>
          <p:cNvSpPr/>
          <p:nvPr/>
        </p:nvSpPr>
        <p:spPr>
          <a:xfrm>
            <a:off x="4145515" y="1325528"/>
            <a:ext cx="304331" cy="46072"/>
          </a:xfrm>
          <a:custGeom>
            <a:avLst/>
            <a:gdLst/>
            <a:ahLst/>
            <a:cxnLst/>
            <a:rect l="l" t="t" r="r" b="b"/>
            <a:pathLst>
              <a:path w="304331" h="46072">
                <a:moveTo>
                  <a:pt x="304331" y="0"/>
                </a:moveTo>
                <a:lnTo>
                  <a:pt x="292968" y="7179"/>
                </a:lnTo>
                <a:lnTo>
                  <a:pt x="281268" y="13793"/>
                </a:lnTo>
                <a:lnTo>
                  <a:pt x="269258" y="19826"/>
                </a:lnTo>
                <a:lnTo>
                  <a:pt x="256966" y="25264"/>
                </a:lnTo>
                <a:lnTo>
                  <a:pt x="244423" y="30093"/>
                </a:lnTo>
                <a:lnTo>
                  <a:pt x="231659" y="34301"/>
                </a:lnTo>
                <a:lnTo>
                  <a:pt x="218704" y="37880"/>
                </a:lnTo>
                <a:lnTo>
                  <a:pt x="205589" y="40820"/>
                </a:lnTo>
                <a:lnTo>
                  <a:pt x="192346" y="43113"/>
                </a:lnTo>
                <a:lnTo>
                  <a:pt x="179006" y="44756"/>
                </a:lnTo>
                <a:lnTo>
                  <a:pt x="165602" y="45743"/>
                </a:lnTo>
                <a:lnTo>
                  <a:pt x="152165" y="46072"/>
                </a:lnTo>
                <a:lnTo>
                  <a:pt x="138729" y="45743"/>
                </a:lnTo>
                <a:lnTo>
                  <a:pt x="125325" y="44756"/>
                </a:lnTo>
                <a:lnTo>
                  <a:pt x="111985" y="43113"/>
                </a:lnTo>
                <a:lnTo>
                  <a:pt x="98742" y="40820"/>
                </a:lnTo>
                <a:lnTo>
                  <a:pt x="85627" y="37880"/>
                </a:lnTo>
                <a:lnTo>
                  <a:pt x="72672" y="34301"/>
                </a:lnTo>
                <a:lnTo>
                  <a:pt x="59907" y="30093"/>
                </a:lnTo>
                <a:lnTo>
                  <a:pt x="47364" y="25264"/>
                </a:lnTo>
                <a:lnTo>
                  <a:pt x="35073" y="19826"/>
                </a:lnTo>
                <a:lnTo>
                  <a:pt x="23063" y="13793"/>
                </a:lnTo>
                <a:lnTo>
                  <a:pt x="11362" y="7179"/>
                </a:lnTo>
                <a:lnTo>
                  <a:pt x="0" y="0"/>
                </a:lnTo>
              </a:path>
            </a:pathLst>
          </a:custGeom>
          <a:solidFill>
            <a:srgbClr val="FFFFFF">
              <a:alpha val="0"/>
            </a:srgbClr>
          </a:solidFill>
          <a:ln w="31750">
            <a:solidFill>
              <a:srgbClr val="D9941A"/>
            </a:solidFill>
            <a:prstDash val="solid"/>
          </a:ln>
        </p:spPr>
      </p:sp>
      <p:sp>
        <p:nvSpPr>
          <p:cNvPr id="12" name="Text 10"/>
          <p:cNvSpPr/>
          <p:nvPr/>
        </p:nvSpPr>
        <p:spPr>
          <a:xfrm>
            <a:off x="3931920" y="1536192"/>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60°</a:t>
            </a:r>
            <a:endParaRPr lang="en-US" sz="1200" dirty="0"/>
          </a:p>
        </p:txBody>
      </p:sp>
      <p:sp>
        <p:nvSpPr>
          <p:cNvPr id="13" name="Text 11"/>
          <p:cNvSpPr/>
          <p:nvPr/>
        </p:nvSpPr>
        <p:spPr>
          <a:xfrm>
            <a:off x="3794760" y="356616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9 cm</a:t>
            </a:r>
            <a:endParaRPr lang="en-US" sz="1200" dirty="0"/>
          </a:p>
        </p:txBody>
      </p:sp>
      <p:sp>
        <p:nvSpPr>
          <p:cNvPr id="14" name="Text 12"/>
          <p:cNvSpPr/>
          <p:nvPr/>
        </p:nvSpPr>
        <p:spPr>
          <a:xfrm>
            <a:off x="4817359" y="200330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9 cm</a:t>
            </a:r>
            <a:endParaRPr lang="en-US" sz="1200" dirty="0"/>
          </a:p>
        </p:txBody>
      </p:sp>
      <p:sp>
        <p:nvSpPr>
          <p:cNvPr id="15" name="Text 13"/>
          <p:cNvSpPr/>
          <p:nvPr/>
        </p:nvSpPr>
        <p:spPr>
          <a:xfrm>
            <a:off x="2772161" y="200330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9 cm</a:t>
            </a:r>
            <a:endParaRPr lang="en-US" sz="1200" dirty="0"/>
          </a:p>
        </p:txBody>
      </p:sp>
      <p:sp>
        <p:nvSpPr>
          <p:cNvPr id="16" name="Shape 14"/>
          <p:cNvSpPr/>
          <p:nvPr/>
        </p:nvSpPr>
        <p:spPr>
          <a:xfrm>
            <a:off x="2697480" y="3383280"/>
            <a:ext cx="91440" cy="91440"/>
          </a:xfrm>
          <a:prstGeom prst="ellipse">
            <a:avLst/>
          </a:prstGeom>
          <a:solidFill>
            <a:srgbClr val="1B2A4A"/>
          </a:solidFill>
          <a:ln w="9525">
            <a:solidFill>
              <a:srgbClr val="FFFFFF"/>
            </a:solidFill>
            <a:prstDash val="solid"/>
          </a:ln>
        </p:spPr>
      </p:sp>
      <p:sp>
        <p:nvSpPr>
          <p:cNvPr id="17" name="Shape 15"/>
          <p:cNvSpPr/>
          <p:nvPr/>
        </p:nvSpPr>
        <p:spPr>
          <a:xfrm>
            <a:off x="5806440" y="3383280"/>
            <a:ext cx="91440" cy="91440"/>
          </a:xfrm>
          <a:prstGeom prst="ellipse">
            <a:avLst/>
          </a:prstGeom>
          <a:solidFill>
            <a:srgbClr val="1B2A4A"/>
          </a:solidFill>
          <a:ln w="9525">
            <a:solidFill>
              <a:srgbClr val="FFFFFF"/>
            </a:solidFill>
            <a:prstDash val="solid"/>
          </a:ln>
        </p:spPr>
      </p:sp>
      <p:sp>
        <p:nvSpPr>
          <p:cNvPr id="18" name="Shape 16"/>
          <p:cNvSpPr/>
          <p:nvPr/>
        </p:nvSpPr>
        <p:spPr>
          <a:xfrm>
            <a:off x="4251960" y="1051560"/>
            <a:ext cx="91440" cy="91440"/>
          </a:xfrm>
          <a:prstGeom prst="ellipse">
            <a:avLst/>
          </a:prstGeom>
          <a:solidFill>
            <a:srgbClr val="1B2A4A"/>
          </a:solidFill>
          <a:ln w="9525">
            <a:solidFill>
              <a:srgbClr val="FFFFFF"/>
            </a:solidFill>
            <a:prstDash val="solid"/>
          </a:ln>
        </p:spPr>
      </p:sp>
      <p:sp>
        <p:nvSpPr>
          <p:cNvPr id="19" name="Shape 17"/>
          <p:cNvSpPr/>
          <p:nvPr/>
        </p:nvSpPr>
        <p:spPr>
          <a:xfrm>
            <a:off x="4297680" y="1097280"/>
            <a:ext cx="0" cy="2331720"/>
          </a:xfrm>
          <a:prstGeom prst="line">
            <a:avLst/>
          </a:prstGeom>
          <a:noFill/>
          <a:ln w="19050">
            <a:solidFill>
              <a:srgbClr val="1B2A4A"/>
            </a:solidFill>
            <a:prstDash val="dash"/>
          </a:ln>
        </p:spPr>
      </p:sp>
      <p:sp>
        <p:nvSpPr>
          <p:cNvPr id="20" name="Shape 18"/>
          <p:cNvSpPr/>
          <p:nvPr/>
        </p:nvSpPr>
        <p:spPr>
          <a:xfrm>
            <a:off x="6400800" y="1280160"/>
            <a:ext cx="2286000" cy="2560320"/>
          </a:xfrm>
          <a:prstGeom prst="roundRect">
            <a:avLst>
              <a:gd name="adj" fmla="val 4000"/>
            </a:avLst>
          </a:prstGeom>
          <a:solidFill>
            <a:srgbClr val="FFFFFF"/>
          </a:solidFill>
          <a:ln w="6350">
            <a:solidFill>
              <a:srgbClr val="DDDDEE"/>
            </a:solidFill>
            <a:prstDash val="solid"/>
          </a:ln>
        </p:spPr>
      </p:sp>
      <p:sp>
        <p:nvSpPr>
          <p:cNvPr id="21" name="Text 19"/>
          <p:cNvSpPr/>
          <p:nvPr/>
        </p:nvSpPr>
        <p:spPr>
          <a:xfrm>
            <a:off x="6537960" y="1417320"/>
            <a:ext cx="2011680" cy="2286000"/>
          </a:xfrm>
          <a:prstGeom prst="rect">
            <a:avLst/>
          </a:prstGeom>
          <a:noFill/>
          <a:ln/>
        </p:spPr>
        <p:txBody>
          <a:bodyPr wrap="square" lIns="0" tIns="0" rIns="0" bIns="0" rtlCol="0" anchor="ctr"/>
          <a:lstStyle/>
          <a:p>
            <a:pPr indent="0" marL="0">
              <a:buNone/>
            </a:pPr>
            <a:r>
              <a:rPr lang="en-US" sz="1150" b="1" dirty="0">
                <a:solidFill>
                  <a:srgbClr val="4A3D8F"/>
                </a:solidFill>
                <a:latin typeface="Cambria" pitchFamily="34" charset="0"/>
                <a:ea typeface="Cambria" pitchFamily="34" charset="-122"/>
                <a:cs typeface="Cambria" pitchFamily="34" charset="-120"/>
              </a:rPr>
              <a:t>Leo builds an equilateral triangle with 9 cm sides, then cuts it in half along the dashed line. What are the three angles of one resulting half-triangle?</a:t>
            </a:r>
            <a:endParaRPr lang="en-US" sz="1150" dirty="0"/>
          </a:p>
        </p:txBody>
      </p:sp>
      <p:sp>
        <p:nvSpPr>
          <p:cNvPr id="22" name="Shape 20"/>
          <p:cNvSpPr/>
          <p:nvPr/>
        </p:nvSpPr>
        <p:spPr>
          <a:xfrm>
            <a:off x="457200" y="4160520"/>
            <a:ext cx="8229600" cy="438912"/>
          </a:xfrm>
          <a:prstGeom prst="roundRect">
            <a:avLst>
              <a:gd name="adj" fmla="val 12500"/>
            </a:avLst>
          </a:prstGeom>
          <a:solidFill>
            <a:srgbClr val="464EB8"/>
          </a:solidFill>
          <a:ln w="12700">
            <a:solidFill>
              <a:srgbClr val="464EB8"/>
            </a:solidFill>
            <a:prstDash val="solid"/>
          </a:ln>
        </p:spPr>
      </p:sp>
      <p:sp>
        <p:nvSpPr>
          <p:cNvPr id="23" name="Text 21"/>
          <p:cNvSpPr/>
          <p:nvPr/>
        </p:nvSpPr>
        <p:spPr>
          <a:xfrm>
            <a:off x="457200" y="4160520"/>
            <a:ext cx="82296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three angles of the half-triangle AND whether it is a right triangle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194560"/>
          </a:xfrm>
          <a:prstGeom prst="roundRect">
            <a:avLst>
              <a:gd name="adj" fmla="val 4167"/>
            </a:avLst>
          </a:prstGeom>
          <a:solidFill>
            <a:srgbClr val="EAE8F5"/>
          </a:solidFill>
          <a:ln w="6350">
            <a:solidFill>
              <a:srgbClr val="DDDDEE"/>
            </a:solidFill>
            <a:prstDash val="solid"/>
          </a:ln>
        </p:spPr>
      </p:sp>
      <p:sp>
        <p:nvSpPr>
          <p:cNvPr id="7" name="Text 5"/>
          <p:cNvSpPr/>
          <p:nvPr/>
        </p:nvSpPr>
        <p:spPr>
          <a:xfrm>
            <a:off x="685800" y="1371600"/>
            <a:ext cx="7772400" cy="182880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This wraps up Unit 11: Geometry. Next unit, you will plot exact points on a coordinate graph -- the same skill of placing points precisely that you just used to construct these shapes.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You are given a triangle's angles of 55° and 65°, and a base side length. Which step comes FIRST when constructing this triangle?</a:t>
            </a:r>
            <a:endParaRPr lang="en-US" sz="2000" dirty="0"/>
          </a:p>
        </p:txBody>
      </p:sp>
      <p:sp>
        <p:nvSpPr>
          <p:cNvPr id="8" name="Shape 6"/>
          <p:cNvSpPr/>
          <p:nvPr/>
        </p:nvSpPr>
        <p:spPr>
          <a:xfrm>
            <a:off x="365760" y="2103120"/>
            <a:ext cx="237744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365760" y="2103120"/>
            <a:ext cx="2377440" cy="822960"/>
          </a:xfrm>
          <a:prstGeom prst="rect">
            <a:avLst/>
          </a:prstGeom>
          <a:noFill/>
          <a:ln/>
        </p:spPr>
        <p:txBody>
          <a:bodyPr wrap="square" lIns="0" tIns="0" rIns="0" bIns="0" rtlCol="0" anchor="ctr"/>
          <a:lstStyle/>
          <a:p>
            <a:pPr algn="ctr" indent="0" marL="0">
              <a:buNone/>
            </a:pPr>
            <a:r>
              <a:rPr lang="en-US" sz="1400" b="1" dirty="0">
                <a:solidFill>
                  <a:srgbClr val="1A1A2E"/>
                </a:solidFill>
              </a:rPr>
              <a:t>Extend the rays until they cross</a:t>
            </a:r>
            <a:endParaRPr lang="en-US" sz="1400" dirty="0"/>
          </a:p>
        </p:txBody>
      </p:sp>
      <p:sp>
        <p:nvSpPr>
          <p:cNvPr id="10" name="Shape 8"/>
          <p:cNvSpPr/>
          <p:nvPr/>
        </p:nvSpPr>
        <p:spPr>
          <a:xfrm>
            <a:off x="2926080" y="2103120"/>
            <a:ext cx="237744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926080" y="2103120"/>
            <a:ext cx="2377440" cy="822960"/>
          </a:xfrm>
          <a:prstGeom prst="rect">
            <a:avLst/>
          </a:prstGeom>
          <a:noFill/>
          <a:ln/>
        </p:spPr>
        <p:txBody>
          <a:bodyPr wrap="square" lIns="0" tIns="0" rIns="0" bIns="0" rtlCol="0" anchor="ctr"/>
          <a:lstStyle/>
          <a:p>
            <a:pPr algn="ctr" indent="0" marL="0">
              <a:buNone/>
            </a:pPr>
            <a:r>
              <a:rPr lang="en-US" sz="1400" b="1" dirty="0">
                <a:solidFill>
                  <a:srgbClr val="1A1A2E"/>
                </a:solidFill>
              </a:rPr>
              <a:t>Draw the base side with a ruler</a:t>
            </a:r>
            <a:endParaRPr lang="en-US" sz="1400" dirty="0"/>
          </a:p>
        </p:txBody>
      </p:sp>
      <p:sp>
        <p:nvSpPr>
          <p:cNvPr id="12" name="Shape 10"/>
          <p:cNvSpPr/>
          <p:nvPr/>
        </p:nvSpPr>
        <p:spPr>
          <a:xfrm>
            <a:off x="5486400" y="2103120"/>
            <a:ext cx="23774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5486400" y="2103120"/>
            <a:ext cx="2377440" cy="822960"/>
          </a:xfrm>
          <a:prstGeom prst="rect">
            <a:avLst/>
          </a:prstGeom>
          <a:noFill/>
          <a:ln/>
        </p:spPr>
        <p:txBody>
          <a:bodyPr wrap="square" lIns="0" tIns="0" rIns="0" bIns="0" rtlCol="0" anchor="ctr"/>
          <a:lstStyle/>
          <a:p>
            <a:pPr algn="ctr" indent="0" marL="0">
              <a:buNone/>
            </a:pPr>
            <a:r>
              <a:rPr lang="en-US" sz="1400" b="1" dirty="0">
                <a:solidFill>
                  <a:srgbClr val="1A1A2E"/>
                </a:solidFill>
              </a:rPr>
              <a:t>Mark 65° with a protractor</a:t>
            </a:r>
            <a:endParaRPr lang="en-US" sz="1400" dirty="0"/>
          </a:p>
        </p:txBody>
      </p:sp>
      <p:sp>
        <p:nvSpPr>
          <p:cNvPr id="14" name="Shape 12"/>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5" name="Text 13"/>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You are given a triangle's angles of 55° and 65°, and a base side length. Which step comes FIRST when constructing this triangle?</a:t>
            </a:r>
            <a:endParaRPr lang="en-US" sz="2000" dirty="0"/>
          </a:p>
        </p:txBody>
      </p:sp>
      <p:sp>
        <p:nvSpPr>
          <p:cNvPr id="8" name="Shape 6"/>
          <p:cNvSpPr/>
          <p:nvPr/>
        </p:nvSpPr>
        <p:spPr>
          <a:xfrm>
            <a:off x="365760" y="2103120"/>
            <a:ext cx="237744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365760" y="2103120"/>
            <a:ext cx="2377440" cy="822960"/>
          </a:xfrm>
          <a:prstGeom prst="rect">
            <a:avLst/>
          </a:prstGeom>
          <a:noFill/>
          <a:ln/>
        </p:spPr>
        <p:txBody>
          <a:bodyPr wrap="square" lIns="0" tIns="0" rIns="0" bIns="0" rtlCol="0" anchor="ctr"/>
          <a:lstStyle/>
          <a:p>
            <a:pPr algn="ctr" indent="0" marL="0">
              <a:buNone/>
            </a:pPr>
            <a:r>
              <a:rPr lang="en-US" sz="1400" b="1" dirty="0">
                <a:solidFill>
                  <a:srgbClr val="1A1A2E"/>
                </a:solidFill>
              </a:rPr>
              <a:t>Extend the rays until they cross</a:t>
            </a:r>
            <a:endParaRPr lang="en-US" sz="1400" dirty="0"/>
          </a:p>
        </p:txBody>
      </p:sp>
      <p:sp>
        <p:nvSpPr>
          <p:cNvPr id="10" name="Shape 8"/>
          <p:cNvSpPr/>
          <p:nvPr/>
        </p:nvSpPr>
        <p:spPr>
          <a:xfrm>
            <a:off x="2926080" y="2103120"/>
            <a:ext cx="2377440" cy="822960"/>
          </a:xfrm>
          <a:prstGeom prst="roundRect">
            <a:avLst>
              <a:gd name="adj" fmla="val 8889"/>
            </a:avLst>
          </a:prstGeom>
          <a:solidFill>
            <a:srgbClr val="2E6E44"/>
          </a:solidFill>
          <a:ln w="12700">
            <a:solidFill>
              <a:srgbClr val="2E6E44"/>
            </a:solidFill>
            <a:prstDash val="solid"/>
          </a:ln>
        </p:spPr>
      </p:sp>
      <p:sp>
        <p:nvSpPr>
          <p:cNvPr id="11" name="Text 9"/>
          <p:cNvSpPr/>
          <p:nvPr/>
        </p:nvSpPr>
        <p:spPr>
          <a:xfrm>
            <a:off x="2926080" y="2103120"/>
            <a:ext cx="2377440" cy="822960"/>
          </a:xfrm>
          <a:prstGeom prst="rect">
            <a:avLst/>
          </a:prstGeom>
          <a:noFill/>
          <a:ln/>
        </p:spPr>
        <p:txBody>
          <a:bodyPr wrap="square" lIns="0" tIns="0" rIns="0" bIns="0" rtlCol="0" anchor="ctr"/>
          <a:lstStyle/>
          <a:p>
            <a:pPr algn="ctr" indent="0" marL="0">
              <a:buNone/>
            </a:pPr>
            <a:r>
              <a:rPr lang="en-US" sz="1400" b="1" dirty="0">
                <a:solidFill>
                  <a:srgbClr val="FFFFFF"/>
                </a:solidFill>
              </a:rPr>
              <a:t>Draw the base side with a ruler</a:t>
            </a:r>
            <a:endParaRPr lang="en-US" sz="1400" dirty="0"/>
          </a:p>
        </p:txBody>
      </p:sp>
      <p:sp>
        <p:nvSpPr>
          <p:cNvPr id="12" name="Shape 10"/>
          <p:cNvSpPr/>
          <p:nvPr/>
        </p:nvSpPr>
        <p:spPr>
          <a:xfrm>
            <a:off x="5486400" y="2103120"/>
            <a:ext cx="23774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5486400" y="2103120"/>
            <a:ext cx="2377440" cy="822960"/>
          </a:xfrm>
          <a:prstGeom prst="rect">
            <a:avLst/>
          </a:prstGeom>
          <a:noFill/>
          <a:ln/>
        </p:spPr>
        <p:txBody>
          <a:bodyPr wrap="square" lIns="0" tIns="0" rIns="0" bIns="0" rtlCol="0" anchor="ctr"/>
          <a:lstStyle/>
          <a:p>
            <a:pPr algn="ctr" indent="0" marL="0">
              <a:buNone/>
            </a:pPr>
            <a:r>
              <a:rPr lang="en-US" sz="1400" b="1" dirty="0">
                <a:solidFill>
                  <a:srgbClr val="1A1A2E"/>
                </a:solidFill>
              </a:rPr>
              <a:t>Mark 65° with a protractor</a:t>
            </a:r>
            <a:endParaRPr lang="en-US" sz="1400" dirty="0"/>
          </a:p>
        </p:txBody>
      </p:sp>
      <p:sp>
        <p:nvSpPr>
          <p:cNvPr id="14" name="Text 12"/>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You must draw the exact base length first -- both angles are marked FROM its two endpoints, so the base has to exist before either angle can be placed.</a:t>
            </a:r>
            <a:endParaRPr lang="en-US" sz="1200" dirty="0"/>
          </a:p>
        </p:txBody>
      </p:sp>
      <p:sp>
        <p:nvSpPr>
          <p:cNvPr id="15" name="Shape 13"/>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6" name="Text 14"/>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third vertex of a triangle isn't something you measure and place yourself -- it's wherever the two rays happen to cross once you've drawn the base and marked both angles.</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 my construction by measuring the side I DIDN'T use to build the shape -- if my angles were marked correctly, that leftover side comes out matching what the problem expected.</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protractor's center hole as a pin stuck exactly on the vertex, with the ray swinging around it like a clock hand stopping at the correct degree mark.</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term is included angle: the angle that sits between two given sides, right at the vertex where those two sides meet.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for Lesson 5.11.08.</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Complete the Show What You Know checks in the Canvas lesson.</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Review your Math Journal answers before submitting -- this is the last lesson of Unit 11.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5.11.08 Drawing Triangles and Quadrilaterals — Teacher Slides</dc:title>
  <dc:subject>PptxGenJS Presentation</dc:subject>
  <dc:creator>PptxGenJS</dc:creator>
  <cp:lastModifiedBy>PptxGenJS</cp:lastModifiedBy>
  <cp:revision>1</cp:revision>
  <dcterms:created xsi:type="dcterms:W3CDTF">2026-09-24T19:34:12Z</dcterms:created>
  <dcterms:modified xsi:type="dcterms:W3CDTF">2026-09-24T19:34:12Z</dcterms:modified>
</cp:coreProperties>
</file>