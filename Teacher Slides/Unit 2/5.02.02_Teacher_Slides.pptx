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Talk warm-up (2 min). Give 60 sec silent think time, thumbs up/down, then discuss.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Talk warm-up (2 min). Give 60 sec silent think time, thumbs up/down, then discuss.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rule precisely: multiply/divide before add/subtract.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rule precisely: multiply/divide before add/subtract.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Frame the mission: today we sort each operation into the right step so the expression is read fairly.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slide (1 min). Emphasize: order is not a matter of opinion -- multiplication and division always come before addition and subtraction.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Readiness (3 min). Confirms multiplication fluency before layering on expression structure. Transition: "Let's use facts like these inside a real story."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(2 min). Pose the essential question. Take a couple of guesses before moving to the model -- don't confirm or deny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(3 min). Build all 4 bundles of 8 first (that's the multiplication), THEN set the 6 loose bookmarks beside them (that's the addition). The physical order matches the math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Pictorial (2 min). The multiplication box is solved completely before it joins the addition -- this is the visual version of 'multiply before you add.'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Abstract (2 min). Watch for: students who calculate strictly left to right and add before multiplying just because addition appears first in reading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Gap-fill (2 min). This is essential and NOT covered by today's bookstore example -- the IP tests this rule directly. Common error: students multiply before dividing out of habit, even when division comes first left to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(2 min). Call on students to use "order of operations" and "product" in a sentence about today's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(3 min). Model the full expression step by step, narrating why multiplication happens before either addition or the final subtraction.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Try (2 min). Cold-call a student to narrate both the division and the multiplication before revealing the answer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Connection Forward (1 min). Preview 5.02.03 -- Order of Operations Part 2 layers parentheses back on top of today's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QUESTION (give real think time before advancing; do not reveal yet)
Exit Check. Watch for students who add 3 + 8 first out of habit (reading left to right) and get 66.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REVEAL (advance only after students have responded in chat)
Exit Check. Watch for students who add 3 + 8 first out of habit (reading left to right) and get 66.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 CREW (~1-2 min)
Briefly read one or two cards — whichever matches where students are in their thinking.
Give real think time before calling on students to share which crew member's approach matches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TRUE OR FALSE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395728" y="164592"/>
            <a:ext cx="6309360" cy="292608"/>
          </a:xfrm>
          <a:prstGeom prst="roundRect">
            <a:avLst>
              <a:gd name="adj" fmla="val 18750"/>
            </a:avLst>
          </a:prstGeom>
          <a:solidFill>
            <a:srgbClr val="2A3B5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95728" y="16459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·  Lesson 5.02 · Order of Operations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+ 5 × 4  =  32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899BB"/>
                </a:solidFill>
              </a:rPr>
              <a:t>Is this true or false? Be ready to prove it.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Prove It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True or False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515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Some students think TRUE because…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 students add left to right: 3 + 5 = 8.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multiply: 8 × 4 = 32.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feels right if you read left to right.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0515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6E10"/>
                </a:solidFill>
              </a:rPr>
              <a:t>Some students think FALSE because…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6916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Multiplication happens before addition, no matter the order it's written.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286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× 4 = 20 first.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880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3 + 20 = 23, not 32.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TRUE OR FALSE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The Rule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888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CCFF"/>
                </a:solidFill>
              </a:rPr>
              <a:t>Every time you see multiplication and addition together, you...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 and divide before you add and subtract -- always, regardless of reading order.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286000" y="434340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43434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one word for the rule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TRUE OR FALSE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Try It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55AA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20 − 12 ÷ 4  =  2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2286000" y="379476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379476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true or false?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434340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A5533"/>
          </a:solidFill>
          <a:ln w="12700">
            <a:solidFill>
              <a:srgbClr val="1A55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343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FFDD"/>
                </a:solidFill>
              </a:rPr>
              <a:t>Answer: False — 12 ÷ 4 = 3 first, then 20 − 3 = 17, not 2.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FFFFFF"/>
                </a:solidFill>
              </a:rPr>
              <a:t>Optima Academy Online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9941A"/>
                </a:solidFill>
              </a:rPr>
              <a:t>5.02.02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of Operations, Part 1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AACC"/>
                </a:solidFill>
              </a:rPr>
              <a:t>Unit 2 · Expressions and Order of Operations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FFFFF"/>
                </a:solidFill>
              </a:rPr>
              <a:t>MA.5.AR.2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EE"/>
                </a:solidFill>
              </a:rPr>
              <a:t>Teacher Slides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Goal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Learning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789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3D8F"/>
                </a:solidFill>
              </a:rPr>
              <a:t>I can...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 each operation into the right step so an expression is evaluated in the correct order.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34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same numbers can give different answers depending on which operation happens first.”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Readiness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Warm-Up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700 × 8 = ?      600 × 9 = ?      800 × 7 = 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603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expressions will need quick multiplication facts scaled by 100, like these.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71600" y="39776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39776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answer to 600 × 9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Mission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Hook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4300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can the same numbers give different answers?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3375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7A"/>
                </a:solidFill>
              </a:rPr>
              <a:t>A bookstore sells 4 bundles of 8 bookmarks and 6 single bookmarks: 4 × 8 + 6.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828800" y="434340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434340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best guess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Notice &amp; Wonder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Warm-Up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× 8 + 6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32 + 6  =  38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I notice...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I wonder...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Concrete: Bundle First, Then Add Loose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Concrete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5A7A"/>
                </a:solidFill>
              </a:rPr>
              <a:t>4 × 8 + 6  —  count the bundles, then add the loose bookmarks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548640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4 bundles of 8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1828800"/>
            <a:ext cx="1097280" cy="1965960"/>
          </a:xfrm>
          <a:prstGeom prst="roundRect">
            <a:avLst>
              <a:gd name="adj" fmla="val 8333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5528" y="1965960"/>
            <a:ext cx="347472" cy="347472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2728" y="1965960"/>
            <a:ext cx="347472" cy="347472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5528" y="2404872"/>
            <a:ext cx="347472" cy="347472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2728" y="2404872"/>
            <a:ext cx="347472" cy="347472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" y="2843784"/>
            <a:ext cx="347472" cy="347472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2728" y="2843784"/>
            <a:ext cx="347472" cy="347472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5528" y="3282696"/>
            <a:ext cx="347472" cy="347472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2728" y="3282696"/>
            <a:ext cx="347472" cy="347472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65960" y="1828800"/>
            <a:ext cx="1097280" cy="1965960"/>
          </a:xfrm>
          <a:prstGeom prst="roundRect">
            <a:avLst>
              <a:gd name="adj" fmla="val 8333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75688" y="1965960"/>
            <a:ext cx="347472" cy="347472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32888" y="1965960"/>
            <a:ext cx="347472" cy="347472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75688" y="2404872"/>
            <a:ext cx="347472" cy="347472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32888" y="2404872"/>
            <a:ext cx="347472" cy="347472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75688" y="2843784"/>
            <a:ext cx="347472" cy="347472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32888" y="2843784"/>
            <a:ext cx="347472" cy="347472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75688" y="3282696"/>
            <a:ext cx="347472" cy="347472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32888" y="3282696"/>
            <a:ext cx="347472" cy="347472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46120" y="1828800"/>
            <a:ext cx="1097280" cy="1965960"/>
          </a:xfrm>
          <a:prstGeom prst="roundRect">
            <a:avLst>
              <a:gd name="adj" fmla="val 8333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55848" y="1965960"/>
            <a:ext cx="347472" cy="347472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13048" y="1965960"/>
            <a:ext cx="347472" cy="347472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55848" y="2404872"/>
            <a:ext cx="347472" cy="347472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13048" y="2404872"/>
            <a:ext cx="347472" cy="347472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55848" y="2843784"/>
            <a:ext cx="347472" cy="347472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13048" y="2843784"/>
            <a:ext cx="347472" cy="347472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55848" y="3282696"/>
            <a:ext cx="347472" cy="347472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13048" y="3282696"/>
            <a:ext cx="347472" cy="347472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26280" y="1828800"/>
            <a:ext cx="1097280" cy="1965960"/>
          </a:xfrm>
          <a:prstGeom prst="roundRect">
            <a:avLst>
              <a:gd name="adj" fmla="val 8333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36008" y="1965960"/>
            <a:ext cx="347472" cy="347472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93208" y="1965960"/>
            <a:ext cx="347472" cy="347472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36008" y="2404872"/>
            <a:ext cx="347472" cy="347472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93208" y="2404872"/>
            <a:ext cx="347472" cy="347472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36008" y="2843784"/>
            <a:ext cx="347472" cy="347472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93208" y="2843784"/>
            <a:ext cx="347472" cy="347472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36008" y="3282696"/>
            <a:ext cx="347472" cy="347472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093208" y="3282696"/>
            <a:ext cx="347472" cy="347472"/>
          </a:xfrm>
          <a:prstGeom prst="rect">
            <a:avLst/>
          </a:prstGeom>
          <a:solidFill>
            <a:srgbClr val="3A6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26480" y="132588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2648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6 loose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309360" y="1874520"/>
            <a:ext cx="457200" cy="411480"/>
          </a:xfrm>
          <a:prstGeom prst="rect">
            <a:avLst/>
          </a:prstGeom>
          <a:solidFill>
            <a:srgbClr val="2DB87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949440" y="1874520"/>
            <a:ext cx="457200" cy="411480"/>
          </a:xfrm>
          <a:prstGeom prst="rect">
            <a:avLst/>
          </a:prstGeom>
          <a:solidFill>
            <a:srgbClr val="2DB87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589520" y="1874520"/>
            <a:ext cx="457200" cy="411480"/>
          </a:xfrm>
          <a:prstGeom prst="rect">
            <a:avLst/>
          </a:prstGeom>
          <a:solidFill>
            <a:srgbClr val="2DB87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09360" y="2423160"/>
            <a:ext cx="457200" cy="411480"/>
          </a:xfrm>
          <a:prstGeom prst="rect">
            <a:avLst/>
          </a:prstGeom>
          <a:solidFill>
            <a:srgbClr val="2DB87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949440" y="2423160"/>
            <a:ext cx="457200" cy="411480"/>
          </a:xfrm>
          <a:prstGeom prst="rect">
            <a:avLst/>
          </a:prstGeom>
          <a:solidFill>
            <a:srgbClr val="2DB87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589520" y="2423160"/>
            <a:ext cx="457200" cy="411480"/>
          </a:xfrm>
          <a:prstGeom prst="rect">
            <a:avLst/>
          </a:prstGeom>
          <a:solidFill>
            <a:srgbClr val="2DB87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 bundled  +  6 loose  =  38 bookmarks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Pictorial: Multiply, Then Add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Pictorial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18872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280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× 8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1828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32  (bundles first)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280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6E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+ 6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846320" y="1828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loose bookmarks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286000" y="2926080"/>
            <a:ext cx="4572000" cy="1005840"/>
          </a:xfrm>
          <a:prstGeom prst="roundRect">
            <a:avLst>
              <a:gd name="adj" fmla="val 909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292608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 + 6 = 38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Abstract: The Order Rule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Abstract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430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× 8 + 6 = 32 + 6 = 38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1460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Rule: multiply and divide before you add and subtract -- no matter which order they're written in.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When Priority Is Equal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Left to Right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9601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 ÷ 6 × 2  —  only multiplication and division, no addition or subtraction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229600" cy="1691640"/>
          </a:xfrm>
          <a:prstGeom prst="roundRect">
            <a:avLst>
              <a:gd name="adj" fmla="val 5405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94560"/>
            <a:ext cx="7863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operations have the SAME priority (all mult./div., or all add./sub.), work left to right: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 ÷ 6 = 6 first, then 6 × 2 = 12.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88720" y="3977640"/>
            <a:ext cx="676656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3977640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 to 36 ÷ 6 × 2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Vocabulary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Key Terms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69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of operations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58191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the agreed order for reading an expression.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698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58191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an action like add, subtract, multiply, or divide.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529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3649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the answer to multiplication.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74320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8529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92040" y="336499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the answer to addition.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Practice: Watch &amp; Follow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Guided Practice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D9941A"/>
          </a:solidFill>
          <a:ln w="12700">
            <a:solidFill>
              <a:srgbClr val="D994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WATCH &amp; FOLLOW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 buys 3 packs of markers for $6 each and 1 sketchbook for $4. He pays with a $25 bill. How much change?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Write the expression: 25 − (3 × 6 + 4).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7889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Multiply first: 3 × 6 = 18.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2461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Add: 18 + 4 = 22.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7033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Subtract: 25 − 22 = 3. Change: $3.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Students Try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Independent Turn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18 ÷ 3 + 4 × 2.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828800" y="329184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329184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977640"/>
            <a:ext cx="7315200" cy="457200"/>
          </a:xfrm>
          <a:prstGeom prst="roundRect">
            <a:avLst>
              <a:gd name="adj" fmla="val 16000"/>
            </a:avLst>
          </a:prstGeom>
          <a:solidFill>
            <a:srgbClr val="1A5533"/>
          </a:solidFill>
          <a:ln w="12700">
            <a:solidFill>
              <a:srgbClr val="1A55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FFDD"/>
                </a:solidFill>
              </a:rPr>
              <a:t>Answer: 14 — 18 ÷ 3 = 6 and 4 × 2 = 8 first, then 6 + 8 = 14.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Connection Forward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Where This Leads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2286000"/>
          </a:xfrm>
          <a:prstGeom prst="roundRect">
            <a:avLst>
              <a:gd name="adj" fmla="val 4000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71600"/>
            <a:ext cx="7772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lesson, you'll combine parentheses AND the order of operations together in the same expression.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× 3 + 8 = 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26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651760" y="21031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2103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54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389120" y="21031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2103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66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126480" y="21031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2103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17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× 3 + 8 = 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26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651760" y="21031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2103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54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389120" y="21031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2103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66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126480" y="21031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2103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17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4400" y="4773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7A"/>
                </a:solidFill>
              </a:rPr>
              <a:t>6 × 3 = 18 first, then 18 + 8 = 26.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Math Crew — What Do They Think?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Perspectives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Atlas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pattern-spotter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noticed that whenever I see multiplication or division sitting next to addition or subtraction, the multiplication or division always goes first -- no matter which one is written first.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</a:rPr>
              <a:t>Felix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method-tester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tested it by solving 36 ÷ 6 × 2 left to right since both operations have equal priority, and I checked I didn't accidentally multiply first.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41A"/>
                </a:solidFill>
              </a:rPr>
              <a:t>Hazel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visual thinker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picture the bundles getting fully built before any loose pieces get added to the pile.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818"/>
                </a:solidFill>
              </a:rPr>
              <a:t>Cora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precise explainer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The precise way to say it: this is the order of operations -- multiplication and division outrank addition and subtraction, and equal-priority operations resolve left to right.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315968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159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crew member thinks most like you today?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Before Next Class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Dismissal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2412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</a:rPr>
              <a:t>Complete before your next class: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1.  Complete the Independent Practice: order of operations without parentheses.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2.  Finish the Show What You Know journal problems in Canvas.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3.  Preview: tomorrow parentheses come back into the mix.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5.02.02 Order of Operations, Part 1 — Teacher Slides</dc:title>
  <dc:subject>PptxGenJS Presentation</dc:subject>
  <dc:creator>PptxGenJS</dc:creator>
  <cp:lastModifiedBy>PptxGenJS</cp:lastModifiedBy>
  <cp:revision>1</cp:revision>
  <dcterms:created xsi:type="dcterms:W3CDTF">2026-07-16T19:55:34Z</dcterms:created>
  <dcterms:modified xsi:type="dcterms:W3CDTF">2026-07-16T19:55:34Z</dcterms:modified>
</cp:coreProperties>
</file>