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String warm-up (2 min). Reveal one problem at a time -- each one builds on the last. Ask: what layer did we add?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String warm-up (2 min). Reveal one problem at a time -- each one builds on the last. Ask: what layer did we add?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pattern: parentheses, then multiply, then add.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pattern: parentheses, then multiply, then add.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move through a multi-step expression one layer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today's expressions have THREE layers, not just one or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division fluency before layering on multi-step expressions. Transition: "Let's use careful thinking on a bigger story."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Physically point to each layer box in order -- do NOT let students jump to layer 3 without finishing layers 1 and 2 first. This models 'follow the story structure.'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The arrows show the chain -- each box's answer feeds into the next box. Skipping a box or doing them out of order breaks the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This is the full order of operations minus exponents. Watch for: students who add 20 + 5 before handling the parentheses or the multiplication.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Exponents are new notation the IP tests heavily but today's story example doesn't use them -- make sure every student can read 4² as 4 × 4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This directly targets the IP's misconception problem. Common error: applying an exponent to each addend separately instead of to the finished parentheses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Call on students to use "layer" and "value" in a sentence about today's multi-step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7² × 3 step by step, narrating why the exponent is applied before the multiplication.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narrate all four layers in order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5.02.04 -- translating between words and expressions builds on today's careful structure-reading.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skip the exponent step or apply it before finishing the parentheses.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skip the exponent step or apply it before finishing the parentheses.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78608" y="164592"/>
            <a:ext cx="612648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78608" y="16459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5.02 · Multi-Step Order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15 − 9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Solve the first problem. What strategy did you use?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String Unfolds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String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15 − 9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960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(15 − 9)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24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" y="192024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632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+ 4 × (15 − 9)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3063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54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" y="297180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0" y="4279392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7939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changed each time?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Pattern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Every time an expression has several layers, you...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from the inside out: parentheses first, then multiplication or division, then addition or subtraction.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pattern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the Next String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20 − 14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(20 − 14)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+ 3 × (20 − 14)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5.02.03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of Operations, Part 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2 · Expressions and Order of Operations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MA.5.AR.2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through a multi-step expression one layer at a time: parentheses, then multiplication/division, then addition/subtraction.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 expression is a math sentence waiting to be read carefully, layer by layer.”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560 ÷ 7 = ?      5,400 ÷ 6 = ?      720 ÷ 9 = 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multi-step expressions will need quick division facts scaled by 10 and 100, like these.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answer to 720 ÷ 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keep track when an expression has several steps?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7A"/>
                </a:solidFill>
              </a:rPr>
              <a:t>A game has 5 bonus rounds. Each gives 12 points but loses 8. Then 20 starting points are added: 20 + 5 × (12 − 8).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+ 5 × (12 − 8)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20 + 5 × 4  =  40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Three Layers, One at a Time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5A7A"/>
                </a:solidFill>
              </a:rPr>
              <a:t>20 + 5 × (12 − 8)  —  handle one layer, then the next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468880" cy="2743200"/>
          </a:xfrm>
          <a:prstGeom prst="roundRect">
            <a:avLst>
              <a:gd name="adj" fmla="val 370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447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D8F"/>
                </a:solidFill>
              </a:rPr>
              <a:t>LAYER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12 − 8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 points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round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468880" cy="2743200"/>
          </a:xfrm>
          <a:prstGeom prst="roundRect">
            <a:avLst>
              <a:gd name="adj" fmla="val 3704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447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44"/>
                </a:solidFill>
              </a:rPr>
              <a:t>LAYER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× 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0" y="25603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20 points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5 rounds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0" y="137160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4447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6E10"/>
                </a:solidFill>
              </a:rPr>
              <a:t>LAYER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+ 20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43600" y="25603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40 total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The Layer Chain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(12 − 8) = 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08960" y="1828800"/>
            <a:ext cx="457200" cy="0"/>
          </a:xfrm>
          <a:prstGeom prst="line">
            <a:avLst/>
          </a:prstGeom>
          <a:noFill/>
          <a:ln w="3175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0" y="118872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1887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× 4 = 20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457200" cy="0"/>
          </a:xfrm>
          <a:prstGeom prst="line">
            <a:avLst/>
          </a:prstGeom>
          <a:noFill/>
          <a:ln w="3175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75120" y="118872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188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6E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20+20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A66E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=40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286000" y="301752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30175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value: 40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Full Order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+ 5 × (12 − 8) = 20 + 5 × 4 = 20 + 20 = 40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parentheses first, then multiplication or division, then addition or subtraction.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New Notation: Exponents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Gap-Fill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4² means 4 × 4 = 16 -- the small raised number tells how many times to repeat the factor.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2³ = 2 × 2 × 2 = 8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3 means three 2's multiplied together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33172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468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(5 − 1)² = 4² = 16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37760" y="3063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solve the parentheses first, THEN apply the exponent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Where Exponents Fit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Gap-Fill · Common Trap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order: Parentheses  →  Exponents  →  Multiply/Divide  →  Add/Subtract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745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Sophia claims (3 + 2)² = 3² + 2² -- "you can distribute the exponent like multiplication."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6E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She's wrong: (3+2)² = 5² = 25, but 3² + 2² = 9 + 4 = 13. Solve inside the parentheses BEFORE applying the exponent.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54480" y="4297680"/>
            <a:ext cx="60350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429768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25 or 13 -- which is correct?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one step in a multi-step expression.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parentheses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marks that show what to do first.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number multiplied by another number.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what an expression is worth after it is evaluated.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 plants a square garden with sides of 7 feet. He buys 3 extra plants per square foot. How many plants total?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Write the expression: 7² × 3.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Apply the exponent first: 7² = 49.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Multiply: 49 × 3 = 147.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Answer: 147 plants.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3 + (4² − 6) × 2.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FDD"/>
                </a:solidFill>
              </a:rPr>
              <a:t>Answer: 23 — 4² = 16, then 16 − 6 = 10, then 10 × 2 = 20, then 3 + 20 = 23.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you'll write and evaluate expressions in other forms -- including word phrases that describe the same math.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(8 − 3)² ÷ 5 + 1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603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805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26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(8 − 3)² ÷ 5 + 1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603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805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8 − 3 = 5. 5² = 25. 25 ÷ 5 = 5. 5 + 1 = 6.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multi-step expressions are really just single steps stacked in order -- parentheses, then exponents, then multiply or divide, then add or subtract.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my work by re-solving each layer separately and checking that I never skipped ahead to a later layer too early.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each layer as its own box that has to close up into one number before it can join the next box.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an exponent applies to the value of the parentheses AFTER they're evaluated, not to each term separately -- that's why (3+2)² is not 3² + 2².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order of operations with exponents.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you write expressions in other forms.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5.02.03 Order of Operations, Part 2 — Teacher Slides</dc:title>
  <dc:subject>PptxGenJS Presentation</dc:subject>
  <dc:creator>PptxGenJS</dc:creator>
  <cp:lastModifiedBy>PptxGenJS</cp:lastModifiedBy>
  <cp:revision>1</cp:revision>
  <dcterms:created xsi:type="dcterms:W3CDTF">2026-07-16T19:57:36Z</dcterms:created>
  <dcterms:modified xsi:type="dcterms:W3CDTF">2026-07-16T19:57:36Z</dcterms:modified>
</cp:coreProperties>
</file>