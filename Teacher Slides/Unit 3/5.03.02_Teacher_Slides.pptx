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one problem at a time, confirming each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one problem at a time, confirming each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pattern: the last problem is the sum of the earlier ones.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pattern: the last problem is the sum of the earlier ones.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the same grouping idea gets recorded with the standard written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the algorithm is not a new idea -- it is the tray picture written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students remember yesterday's split-and-combine before layering on the written notation. Transition: "Let's write those same two products the fast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Take a couple of guesses before moving to the model -- don't confirm or deny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Point at the 6-shelf group and say: "that's the 204 in the written method." Point at the 10-shelf group and say: "that's the 340." Same groups, faster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Trace the arrows: first written product = ones digit's shelves, second = tens digit's shelves. Adding them gives the total sketchbooks.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Name the placeholder zero explicitly -- it's there because the tens digit is really worth ten times as much. Watch for: students who forget it and misalign the second partial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Have students point to the "ones product" and "tens product" on the written method from the concrete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67 × 34 on the board, narrating each partial product and the placeholder zero -- matches the IP's standard algorithm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fill (2 min) -- closes IP problem 5, which asks students to find an error in someone else's work. Common error: dropping the placeholder zero when writing the tens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narrate which product is the ones product and which is the tens product before revealing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5.03.03 -- division by multiples of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drop the placeholder zero on the tens product, or who add the factors (134) instead of multiplying.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drop the placeholder zero on the tens product, or who add the factors (134) instead of multiplying.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Lesson 5.03 · Partial Products to Algorithm</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34 × 10</a:t>
            </a:r>
            <a:endParaRPr lang="en-US" sz="40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 10</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340</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 6</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204</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 16</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544</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The third problem in the string is always...</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sum of the first two partial products — the string builds the whole multiplication one chunk at a time.</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27 × 10 = ?</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27 × 5 = ?</a:t>
            </a:r>
            <a:endParaRPr lang="en-US" sz="2600" dirty="0"/>
          </a:p>
        </p:txBody>
      </p:sp>
      <p:sp>
        <p:nvSpPr>
          <p:cNvPr id="9" name="Text 7"/>
          <p:cNvSpPr/>
          <p:nvPr/>
        </p:nvSpPr>
        <p:spPr>
          <a:xfrm>
            <a:off x="457200" y="29260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27 × 15 = ?</a:t>
            </a:r>
            <a:endParaRPr lang="en-US" sz="26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5.03.02</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Multiplying by a 2-Digit Number, Part 2</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3 · Larger Multiplication and Division</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MA.5.NSO.2.3</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connect a visual model to the standard written algorithm for multiplying two 2-digit numbers.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“The written method is shorter, but it records the same two chunks the picture shows.”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Find 34 × 10 and 34 × 6.</a:t>
            </a:r>
            <a:endParaRPr lang="en-US" sz="18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How could those two products help you find 34 × 16?</a:t>
            </a:r>
            <a:endParaRPr lang="en-US" sz="18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34 × 10 and 34 × 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1900" b="1" dirty="0">
                <a:solidFill>
                  <a:srgbClr val="4A3D8F"/>
                </a:solidFill>
                <a:latin typeface="Cambria" pitchFamily="34" charset="0"/>
                <a:ea typeface="Cambria" pitchFamily="34" charset="-122"/>
                <a:cs typeface="Cambria" pitchFamily="34" charset="-120"/>
              </a:rPr>
              <a:t>An art club packs 16 shelves. Each shelf holds 34 sketchbooks. How does the written multiplication method match the groups?</a:t>
            </a:r>
            <a:endParaRPr lang="en-US" sz="19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500" i="1" dirty="0">
                <a:solidFill>
                  <a:srgbClr val="5A5A7A"/>
                </a:solidFill>
              </a:rPr>
              <a:t>Every number you write down stands for a group of shelves.</a:t>
            </a:r>
            <a:endParaRPr lang="en-US" sz="15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34 × 16</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(16 shelves of 34 sketchbooks)</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Groups Become the Written Method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200" b="1" dirty="0">
                <a:solidFill>
                  <a:srgbClr val="5A5A7A"/>
                </a:solidFill>
              </a:rPr>
              <a:t>34 × 16 = 16 shelves of 34 sketchbooks — split into 10 shelves and 6 shelves</a:t>
            </a:r>
            <a:endParaRPr lang="en-US" sz="1200" dirty="0"/>
          </a:p>
        </p:txBody>
      </p:sp>
      <p:sp>
        <p:nvSpPr>
          <p:cNvPr id="8" name="Shape 6"/>
          <p:cNvSpPr/>
          <p:nvPr/>
        </p:nvSpPr>
        <p:spPr>
          <a:xfrm>
            <a:off x="457200" y="1417320"/>
            <a:ext cx="5120640" cy="1463040"/>
          </a:xfrm>
          <a:prstGeom prst="roundRect">
            <a:avLst>
              <a:gd name="adj" fmla="val 6250"/>
            </a:avLst>
          </a:prstGeom>
          <a:solidFill>
            <a:srgbClr val="EAE8F5"/>
          </a:solidFill>
          <a:ln w="6350">
            <a:solidFill>
              <a:srgbClr val="DDDDEE"/>
            </a:solidFill>
            <a:prstDash val="solid"/>
          </a:ln>
        </p:spPr>
      </p:sp>
      <p:sp>
        <p:nvSpPr>
          <p:cNvPr id="9" name="Text 7"/>
          <p:cNvSpPr/>
          <p:nvPr/>
        </p:nvSpPr>
        <p:spPr>
          <a:xfrm>
            <a:off x="594360" y="1463040"/>
            <a:ext cx="1828800" cy="320040"/>
          </a:xfrm>
          <a:prstGeom prst="rect">
            <a:avLst/>
          </a:prstGeom>
          <a:noFill/>
          <a:ln/>
        </p:spPr>
        <p:txBody>
          <a:bodyPr wrap="square" lIns="0" tIns="0" rIns="0" bIns="0" rtlCol="0" anchor="ctr"/>
          <a:lstStyle/>
          <a:p>
            <a:pPr indent="0" marL="0">
              <a:buNone/>
            </a:pPr>
            <a:r>
              <a:rPr lang="en-US" sz="1300" b="1" dirty="0">
                <a:solidFill>
                  <a:srgbClr val="4A3D8F"/>
                </a:solidFill>
              </a:rPr>
              <a:t>10 shelves</a:t>
            </a:r>
            <a:endParaRPr lang="en-US" sz="1300" dirty="0"/>
          </a:p>
        </p:txBody>
      </p:sp>
      <p:sp>
        <p:nvSpPr>
          <p:cNvPr id="10" name="Shape 8"/>
          <p:cNvSpPr/>
          <p:nvPr/>
        </p:nvSpPr>
        <p:spPr>
          <a:xfrm>
            <a:off x="594360" y="1828800"/>
            <a:ext cx="420624" cy="914400"/>
          </a:xfrm>
          <a:prstGeom prst="roundRect">
            <a:avLst>
              <a:gd name="adj" fmla="val 10870"/>
            </a:avLst>
          </a:prstGeom>
          <a:solidFill>
            <a:srgbClr val="3A6B9A"/>
          </a:solidFill>
          <a:ln w="12700">
            <a:solidFill>
              <a:srgbClr val="FFFFFF"/>
            </a:solidFill>
            <a:prstDash val="solid"/>
          </a:ln>
        </p:spPr>
      </p:sp>
      <p:sp>
        <p:nvSpPr>
          <p:cNvPr id="11" name="Text 9"/>
          <p:cNvSpPr/>
          <p:nvPr/>
        </p:nvSpPr>
        <p:spPr>
          <a:xfrm>
            <a:off x="594360"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12" name="Shape 10"/>
          <p:cNvSpPr/>
          <p:nvPr/>
        </p:nvSpPr>
        <p:spPr>
          <a:xfrm>
            <a:off x="1088136" y="1828800"/>
            <a:ext cx="420624" cy="914400"/>
          </a:xfrm>
          <a:prstGeom prst="roundRect">
            <a:avLst>
              <a:gd name="adj" fmla="val 10870"/>
            </a:avLst>
          </a:prstGeom>
          <a:solidFill>
            <a:srgbClr val="3A6B9A"/>
          </a:solidFill>
          <a:ln w="12700">
            <a:solidFill>
              <a:srgbClr val="FFFFFF"/>
            </a:solidFill>
            <a:prstDash val="solid"/>
          </a:ln>
        </p:spPr>
      </p:sp>
      <p:sp>
        <p:nvSpPr>
          <p:cNvPr id="13" name="Text 11"/>
          <p:cNvSpPr/>
          <p:nvPr/>
        </p:nvSpPr>
        <p:spPr>
          <a:xfrm>
            <a:off x="1088136"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14" name="Shape 12"/>
          <p:cNvSpPr/>
          <p:nvPr/>
        </p:nvSpPr>
        <p:spPr>
          <a:xfrm>
            <a:off x="1581912" y="1828800"/>
            <a:ext cx="420624" cy="914400"/>
          </a:xfrm>
          <a:prstGeom prst="roundRect">
            <a:avLst>
              <a:gd name="adj" fmla="val 10870"/>
            </a:avLst>
          </a:prstGeom>
          <a:solidFill>
            <a:srgbClr val="3A6B9A"/>
          </a:solidFill>
          <a:ln w="12700">
            <a:solidFill>
              <a:srgbClr val="FFFFFF"/>
            </a:solidFill>
            <a:prstDash val="solid"/>
          </a:ln>
        </p:spPr>
      </p:sp>
      <p:sp>
        <p:nvSpPr>
          <p:cNvPr id="15" name="Text 13"/>
          <p:cNvSpPr/>
          <p:nvPr/>
        </p:nvSpPr>
        <p:spPr>
          <a:xfrm>
            <a:off x="1581912"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16" name="Shape 14"/>
          <p:cNvSpPr/>
          <p:nvPr/>
        </p:nvSpPr>
        <p:spPr>
          <a:xfrm>
            <a:off x="2075688" y="1828800"/>
            <a:ext cx="420624" cy="914400"/>
          </a:xfrm>
          <a:prstGeom prst="roundRect">
            <a:avLst>
              <a:gd name="adj" fmla="val 10870"/>
            </a:avLst>
          </a:prstGeom>
          <a:solidFill>
            <a:srgbClr val="3A6B9A"/>
          </a:solidFill>
          <a:ln w="12700">
            <a:solidFill>
              <a:srgbClr val="FFFFFF"/>
            </a:solidFill>
            <a:prstDash val="solid"/>
          </a:ln>
        </p:spPr>
      </p:sp>
      <p:sp>
        <p:nvSpPr>
          <p:cNvPr id="17" name="Text 15"/>
          <p:cNvSpPr/>
          <p:nvPr/>
        </p:nvSpPr>
        <p:spPr>
          <a:xfrm>
            <a:off x="2075688"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18" name="Shape 16"/>
          <p:cNvSpPr/>
          <p:nvPr/>
        </p:nvSpPr>
        <p:spPr>
          <a:xfrm>
            <a:off x="2569464" y="1828800"/>
            <a:ext cx="420624" cy="914400"/>
          </a:xfrm>
          <a:prstGeom prst="roundRect">
            <a:avLst>
              <a:gd name="adj" fmla="val 10870"/>
            </a:avLst>
          </a:prstGeom>
          <a:solidFill>
            <a:srgbClr val="3A6B9A"/>
          </a:solidFill>
          <a:ln w="12700">
            <a:solidFill>
              <a:srgbClr val="FFFFFF"/>
            </a:solidFill>
            <a:prstDash val="solid"/>
          </a:ln>
        </p:spPr>
      </p:sp>
      <p:sp>
        <p:nvSpPr>
          <p:cNvPr id="19" name="Text 17"/>
          <p:cNvSpPr/>
          <p:nvPr/>
        </p:nvSpPr>
        <p:spPr>
          <a:xfrm>
            <a:off x="2569464"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20" name="Shape 18"/>
          <p:cNvSpPr/>
          <p:nvPr/>
        </p:nvSpPr>
        <p:spPr>
          <a:xfrm>
            <a:off x="3063240" y="1828800"/>
            <a:ext cx="420624" cy="914400"/>
          </a:xfrm>
          <a:prstGeom prst="roundRect">
            <a:avLst>
              <a:gd name="adj" fmla="val 10870"/>
            </a:avLst>
          </a:prstGeom>
          <a:solidFill>
            <a:srgbClr val="3A6B9A"/>
          </a:solidFill>
          <a:ln w="12700">
            <a:solidFill>
              <a:srgbClr val="FFFFFF"/>
            </a:solidFill>
            <a:prstDash val="solid"/>
          </a:ln>
        </p:spPr>
      </p:sp>
      <p:sp>
        <p:nvSpPr>
          <p:cNvPr id="21" name="Text 19"/>
          <p:cNvSpPr/>
          <p:nvPr/>
        </p:nvSpPr>
        <p:spPr>
          <a:xfrm>
            <a:off x="3063240"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22" name="Shape 20"/>
          <p:cNvSpPr/>
          <p:nvPr/>
        </p:nvSpPr>
        <p:spPr>
          <a:xfrm>
            <a:off x="3557016" y="1828800"/>
            <a:ext cx="420624" cy="914400"/>
          </a:xfrm>
          <a:prstGeom prst="roundRect">
            <a:avLst>
              <a:gd name="adj" fmla="val 10870"/>
            </a:avLst>
          </a:prstGeom>
          <a:solidFill>
            <a:srgbClr val="3A6B9A"/>
          </a:solidFill>
          <a:ln w="12700">
            <a:solidFill>
              <a:srgbClr val="FFFFFF"/>
            </a:solidFill>
            <a:prstDash val="solid"/>
          </a:ln>
        </p:spPr>
      </p:sp>
      <p:sp>
        <p:nvSpPr>
          <p:cNvPr id="23" name="Text 21"/>
          <p:cNvSpPr/>
          <p:nvPr/>
        </p:nvSpPr>
        <p:spPr>
          <a:xfrm>
            <a:off x="3557016"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24" name="Shape 22"/>
          <p:cNvSpPr/>
          <p:nvPr/>
        </p:nvSpPr>
        <p:spPr>
          <a:xfrm>
            <a:off x="4050792" y="1828800"/>
            <a:ext cx="420624" cy="914400"/>
          </a:xfrm>
          <a:prstGeom prst="roundRect">
            <a:avLst>
              <a:gd name="adj" fmla="val 10870"/>
            </a:avLst>
          </a:prstGeom>
          <a:solidFill>
            <a:srgbClr val="3A6B9A"/>
          </a:solidFill>
          <a:ln w="12700">
            <a:solidFill>
              <a:srgbClr val="FFFFFF"/>
            </a:solidFill>
            <a:prstDash val="solid"/>
          </a:ln>
        </p:spPr>
      </p:sp>
      <p:sp>
        <p:nvSpPr>
          <p:cNvPr id="25" name="Text 23"/>
          <p:cNvSpPr/>
          <p:nvPr/>
        </p:nvSpPr>
        <p:spPr>
          <a:xfrm>
            <a:off x="4050792"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26" name="Shape 24"/>
          <p:cNvSpPr/>
          <p:nvPr/>
        </p:nvSpPr>
        <p:spPr>
          <a:xfrm>
            <a:off x="4544568" y="1828800"/>
            <a:ext cx="420624" cy="914400"/>
          </a:xfrm>
          <a:prstGeom prst="roundRect">
            <a:avLst>
              <a:gd name="adj" fmla="val 10870"/>
            </a:avLst>
          </a:prstGeom>
          <a:solidFill>
            <a:srgbClr val="3A6B9A"/>
          </a:solidFill>
          <a:ln w="12700">
            <a:solidFill>
              <a:srgbClr val="FFFFFF"/>
            </a:solidFill>
            <a:prstDash val="solid"/>
          </a:ln>
        </p:spPr>
      </p:sp>
      <p:sp>
        <p:nvSpPr>
          <p:cNvPr id="27" name="Text 25"/>
          <p:cNvSpPr/>
          <p:nvPr/>
        </p:nvSpPr>
        <p:spPr>
          <a:xfrm>
            <a:off x="4544568"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28" name="Shape 26"/>
          <p:cNvSpPr/>
          <p:nvPr/>
        </p:nvSpPr>
        <p:spPr>
          <a:xfrm>
            <a:off x="5038344" y="1828800"/>
            <a:ext cx="420624" cy="914400"/>
          </a:xfrm>
          <a:prstGeom prst="roundRect">
            <a:avLst>
              <a:gd name="adj" fmla="val 10870"/>
            </a:avLst>
          </a:prstGeom>
          <a:solidFill>
            <a:srgbClr val="3A6B9A"/>
          </a:solidFill>
          <a:ln w="12700">
            <a:solidFill>
              <a:srgbClr val="FFFFFF"/>
            </a:solidFill>
            <a:prstDash val="solid"/>
          </a:ln>
        </p:spPr>
      </p:sp>
      <p:sp>
        <p:nvSpPr>
          <p:cNvPr id="29" name="Text 27"/>
          <p:cNvSpPr/>
          <p:nvPr/>
        </p:nvSpPr>
        <p:spPr>
          <a:xfrm>
            <a:off x="5038344" y="1828800"/>
            <a:ext cx="420624" cy="914400"/>
          </a:xfrm>
          <a:prstGeom prst="rect">
            <a:avLst/>
          </a:prstGeom>
          <a:noFill/>
          <a:ln/>
        </p:spPr>
        <p:txBody>
          <a:bodyPr wrap="square" lIns="0" tIns="0" rIns="0" bIns="0" rtlCol="0" anchor="ctr"/>
          <a:lstStyle/>
          <a:p>
            <a:pPr algn="ctr" indent="0" marL="0">
              <a:buNone/>
            </a:pPr>
            <a:r>
              <a:rPr lang="en-US" sz="1000" b="1" dirty="0">
                <a:solidFill>
                  <a:srgbClr val="FFFFFF"/>
                </a:solidFill>
              </a:rPr>
              <a:t>34</a:t>
            </a:r>
            <a:endParaRPr lang="en-US" sz="1000" dirty="0"/>
          </a:p>
        </p:txBody>
      </p:sp>
      <p:sp>
        <p:nvSpPr>
          <p:cNvPr id="30" name="Shape 28"/>
          <p:cNvSpPr/>
          <p:nvPr/>
        </p:nvSpPr>
        <p:spPr>
          <a:xfrm>
            <a:off x="5760720" y="1417320"/>
            <a:ext cx="2926080" cy="1463040"/>
          </a:xfrm>
          <a:prstGeom prst="roundRect">
            <a:avLst>
              <a:gd name="adj" fmla="val 6250"/>
            </a:avLst>
          </a:prstGeom>
          <a:solidFill>
            <a:srgbClr val="E6F2EA"/>
          </a:solidFill>
          <a:ln w="6350">
            <a:solidFill>
              <a:srgbClr val="DDDDEE"/>
            </a:solidFill>
            <a:prstDash val="solid"/>
          </a:ln>
        </p:spPr>
      </p:sp>
      <p:sp>
        <p:nvSpPr>
          <p:cNvPr id="31" name="Text 29"/>
          <p:cNvSpPr/>
          <p:nvPr/>
        </p:nvSpPr>
        <p:spPr>
          <a:xfrm>
            <a:off x="5897880" y="1463040"/>
            <a:ext cx="1828800" cy="320040"/>
          </a:xfrm>
          <a:prstGeom prst="rect">
            <a:avLst/>
          </a:prstGeom>
          <a:noFill/>
          <a:ln/>
        </p:spPr>
        <p:txBody>
          <a:bodyPr wrap="square" lIns="0" tIns="0" rIns="0" bIns="0" rtlCol="0" anchor="ctr"/>
          <a:lstStyle/>
          <a:p>
            <a:pPr indent="0" marL="0">
              <a:buNone/>
            </a:pPr>
            <a:r>
              <a:rPr lang="en-US" sz="1300" b="1" dirty="0">
                <a:solidFill>
                  <a:srgbClr val="2E6E44"/>
                </a:solidFill>
              </a:rPr>
              <a:t>6 shelves</a:t>
            </a:r>
            <a:endParaRPr lang="en-US" sz="1300" dirty="0"/>
          </a:p>
        </p:txBody>
      </p:sp>
      <p:sp>
        <p:nvSpPr>
          <p:cNvPr id="32" name="Shape 30"/>
          <p:cNvSpPr/>
          <p:nvPr/>
        </p:nvSpPr>
        <p:spPr>
          <a:xfrm>
            <a:off x="5897880" y="1828800"/>
            <a:ext cx="329184" cy="914400"/>
          </a:xfrm>
          <a:prstGeom prst="roundRect">
            <a:avLst>
              <a:gd name="adj" fmla="val 13889"/>
            </a:avLst>
          </a:prstGeom>
          <a:solidFill>
            <a:srgbClr val="2DB87A"/>
          </a:solidFill>
          <a:ln w="12700">
            <a:solidFill>
              <a:srgbClr val="FFFFFF"/>
            </a:solidFill>
            <a:prstDash val="solid"/>
          </a:ln>
        </p:spPr>
      </p:sp>
      <p:sp>
        <p:nvSpPr>
          <p:cNvPr id="33" name="Text 31"/>
          <p:cNvSpPr/>
          <p:nvPr/>
        </p:nvSpPr>
        <p:spPr>
          <a:xfrm>
            <a:off x="5897880"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34" name="Shape 32"/>
          <p:cNvSpPr/>
          <p:nvPr/>
        </p:nvSpPr>
        <p:spPr>
          <a:xfrm>
            <a:off x="6300216" y="1828800"/>
            <a:ext cx="329184" cy="914400"/>
          </a:xfrm>
          <a:prstGeom prst="roundRect">
            <a:avLst>
              <a:gd name="adj" fmla="val 13889"/>
            </a:avLst>
          </a:prstGeom>
          <a:solidFill>
            <a:srgbClr val="2DB87A"/>
          </a:solidFill>
          <a:ln w="12700">
            <a:solidFill>
              <a:srgbClr val="FFFFFF"/>
            </a:solidFill>
            <a:prstDash val="solid"/>
          </a:ln>
        </p:spPr>
      </p:sp>
      <p:sp>
        <p:nvSpPr>
          <p:cNvPr id="35" name="Text 33"/>
          <p:cNvSpPr/>
          <p:nvPr/>
        </p:nvSpPr>
        <p:spPr>
          <a:xfrm>
            <a:off x="6300216"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36" name="Shape 34"/>
          <p:cNvSpPr/>
          <p:nvPr/>
        </p:nvSpPr>
        <p:spPr>
          <a:xfrm>
            <a:off x="6702552" y="1828800"/>
            <a:ext cx="329184" cy="914400"/>
          </a:xfrm>
          <a:prstGeom prst="roundRect">
            <a:avLst>
              <a:gd name="adj" fmla="val 13889"/>
            </a:avLst>
          </a:prstGeom>
          <a:solidFill>
            <a:srgbClr val="2DB87A"/>
          </a:solidFill>
          <a:ln w="12700">
            <a:solidFill>
              <a:srgbClr val="FFFFFF"/>
            </a:solidFill>
            <a:prstDash val="solid"/>
          </a:ln>
        </p:spPr>
      </p:sp>
      <p:sp>
        <p:nvSpPr>
          <p:cNvPr id="37" name="Text 35"/>
          <p:cNvSpPr/>
          <p:nvPr/>
        </p:nvSpPr>
        <p:spPr>
          <a:xfrm>
            <a:off x="6702552"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38" name="Shape 36"/>
          <p:cNvSpPr/>
          <p:nvPr/>
        </p:nvSpPr>
        <p:spPr>
          <a:xfrm>
            <a:off x="7104888" y="1828800"/>
            <a:ext cx="329184" cy="914400"/>
          </a:xfrm>
          <a:prstGeom prst="roundRect">
            <a:avLst>
              <a:gd name="adj" fmla="val 13889"/>
            </a:avLst>
          </a:prstGeom>
          <a:solidFill>
            <a:srgbClr val="2DB87A"/>
          </a:solidFill>
          <a:ln w="12700">
            <a:solidFill>
              <a:srgbClr val="FFFFFF"/>
            </a:solidFill>
            <a:prstDash val="solid"/>
          </a:ln>
        </p:spPr>
      </p:sp>
      <p:sp>
        <p:nvSpPr>
          <p:cNvPr id="39" name="Text 37"/>
          <p:cNvSpPr/>
          <p:nvPr/>
        </p:nvSpPr>
        <p:spPr>
          <a:xfrm>
            <a:off x="7104888"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40" name="Shape 38"/>
          <p:cNvSpPr/>
          <p:nvPr/>
        </p:nvSpPr>
        <p:spPr>
          <a:xfrm>
            <a:off x="7507224" y="1828800"/>
            <a:ext cx="329184" cy="914400"/>
          </a:xfrm>
          <a:prstGeom prst="roundRect">
            <a:avLst>
              <a:gd name="adj" fmla="val 13889"/>
            </a:avLst>
          </a:prstGeom>
          <a:solidFill>
            <a:srgbClr val="2DB87A"/>
          </a:solidFill>
          <a:ln w="12700">
            <a:solidFill>
              <a:srgbClr val="FFFFFF"/>
            </a:solidFill>
            <a:prstDash val="solid"/>
          </a:ln>
        </p:spPr>
      </p:sp>
      <p:sp>
        <p:nvSpPr>
          <p:cNvPr id="41" name="Text 39"/>
          <p:cNvSpPr/>
          <p:nvPr/>
        </p:nvSpPr>
        <p:spPr>
          <a:xfrm>
            <a:off x="7507224"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42" name="Shape 40"/>
          <p:cNvSpPr/>
          <p:nvPr/>
        </p:nvSpPr>
        <p:spPr>
          <a:xfrm>
            <a:off x="7909560" y="1828800"/>
            <a:ext cx="329184" cy="914400"/>
          </a:xfrm>
          <a:prstGeom prst="roundRect">
            <a:avLst>
              <a:gd name="adj" fmla="val 13889"/>
            </a:avLst>
          </a:prstGeom>
          <a:solidFill>
            <a:srgbClr val="2DB87A"/>
          </a:solidFill>
          <a:ln w="12700">
            <a:solidFill>
              <a:srgbClr val="FFFFFF"/>
            </a:solidFill>
            <a:prstDash val="solid"/>
          </a:ln>
        </p:spPr>
      </p:sp>
      <p:sp>
        <p:nvSpPr>
          <p:cNvPr id="43" name="Text 41"/>
          <p:cNvSpPr/>
          <p:nvPr/>
        </p:nvSpPr>
        <p:spPr>
          <a:xfrm>
            <a:off x="7909560" y="1828800"/>
            <a:ext cx="329184" cy="914400"/>
          </a:xfrm>
          <a:prstGeom prst="rect">
            <a:avLst/>
          </a:prstGeom>
          <a:noFill/>
          <a:ln/>
        </p:spPr>
        <p:txBody>
          <a:bodyPr wrap="square" lIns="0" tIns="0" rIns="0" bIns="0" rtlCol="0" anchor="ctr"/>
          <a:lstStyle/>
          <a:p>
            <a:pPr algn="ctr" indent="0" marL="0">
              <a:buNone/>
            </a:pPr>
            <a:r>
              <a:rPr lang="en-US" sz="900" b="1" dirty="0">
                <a:solidFill>
                  <a:srgbClr val="FFFFFF"/>
                </a:solidFill>
              </a:rPr>
              <a:t>34</a:t>
            </a:r>
            <a:endParaRPr lang="en-US" sz="900" dirty="0"/>
          </a:p>
        </p:txBody>
      </p:sp>
      <p:sp>
        <p:nvSpPr>
          <p:cNvPr id="44" name="Shape 42"/>
          <p:cNvSpPr/>
          <p:nvPr/>
        </p:nvSpPr>
        <p:spPr>
          <a:xfrm>
            <a:off x="457200" y="3017520"/>
            <a:ext cx="3931920" cy="1234440"/>
          </a:xfrm>
          <a:prstGeom prst="roundRect">
            <a:avLst>
              <a:gd name="adj" fmla="val 7407"/>
            </a:avLst>
          </a:prstGeom>
          <a:solidFill>
            <a:srgbClr val="FFFFFF"/>
          </a:solidFill>
          <a:ln w="6350">
            <a:solidFill>
              <a:srgbClr val="DDDDEE"/>
            </a:solidFill>
            <a:prstDash val="solid"/>
          </a:ln>
        </p:spPr>
      </p:sp>
      <p:sp>
        <p:nvSpPr>
          <p:cNvPr id="45" name="Text 43"/>
          <p:cNvSpPr/>
          <p:nvPr/>
        </p:nvSpPr>
        <p:spPr>
          <a:xfrm>
            <a:off x="640080" y="3108960"/>
            <a:ext cx="3566160" cy="105156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34 × 10 = 340</a:t>
            </a:r>
            <a:endParaRPr lang="en-US" sz="1500" dirty="0"/>
          </a:p>
          <a:p>
            <a:pPr indent="0" marL="0">
              <a:buNone/>
            </a:pPr>
            <a:r>
              <a:rPr lang="en-US" sz="1500" b="1" dirty="0">
                <a:solidFill>
                  <a:srgbClr val="1A1A2E"/>
                </a:solidFill>
                <a:latin typeface="Cambria" pitchFamily="34" charset="0"/>
                <a:ea typeface="Cambria" pitchFamily="34" charset="-122"/>
                <a:cs typeface="Cambria" pitchFamily="34" charset="-120"/>
              </a:rPr>
              <a:t>34 × 6 = 204</a:t>
            </a:r>
            <a:endParaRPr lang="en-US" sz="1500" dirty="0"/>
          </a:p>
        </p:txBody>
      </p:sp>
      <p:sp>
        <p:nvSpPr>
          <p:cNvPr id="46" name="Shape 44"/>
          <p:cNvSpPr/>
          <p:nvPr/>
        </p:nvSpPr>
        <p:spPr>
          <a:xfrm>
            <a:off x="4754880" y="3017520"/>
            <a:ext cx="3931920" cy="1234440"/>
          </a:xfrm>
          <a:prstGeom prst="roundRect">
            <a:avLst>
              <a:gd name="adj" fmla="val 7407"/>
            </a:avLst>
          </a:prstGeom>
          <a:solidFill>
            <a:srgbClr val="FFFFFF"/>
          </a:solidFill>
          <a:ln w="6350">
            <a:solidFill>
              <a:srgbClr val="DDDDEE"/>
            </a:solidFill>
            <a:prstDash val="solid"/>
          </a:ln>
        </p:spPr>
      </p:sp>
      <p:sp>
        <p:nvSpPr>
          <p:cNvPr id="47" name="Text 45"/>
          <p:cNvSpPr/>
          <p:nvPr/>
        </p:nvSpPr>
        <p:spPr>
          <a:xfrm>
            <a:off x="4937760" y="3063240"/>
            <a:ext cx="3566160" cy="1143000"/>
          </a:xfrm>
          <a:prstGeom prst="rect">
            <a:avLst/>
          </a:prstGeom>
          <a:noFill/>
          <a:ln/>
        </p:spPr>
        <p:txBody>
          <a:bodyPr wrap="square" lIns="0" tIns="0" rIns="0" bIns="0" rtlCol="0" anchor="ctr"/>
          <a:lstStyle/>
          <a:p>
            <a:pPr indent="0" marL="0">
              <a:buNone/>
            </a:pPr>
            <a:r>
              <a:rPr lang="en-US" sz="1200" b="1" dirty="0">
                <a:solidFill>
                  <a:srgbClr val="1A1A2E"/>
                </a:solidFill>
                <a:latin typeface="Cambria" pitchFamily="34" charset="0"/>
                <a:ea typeface="Cambria" pitchFamily="34" charset="-122"/>
                <a:cs typeface="Cambria" pitchFamily="34" charset="-120"/>
              </a:rPr>
              <a:t>Written method:</a:t>
            </a:r>
            <a:endParaRPr lang="en-US" sz="1200" dirty="0"/>
          </a:p>
          <a:p>
            <a:pPr indent="0" marL="0">
              <a:buNone/>
            </a:pPr>
            <a:r>
              <a:rPr lang="en-US" sz="1200" b="1" dirty="0">
                <a:solidFill>
                  <a:srgbClr val="1A1A2E"/>
                </a:solidFill>
                <a:latin typeface="Cambria" pitchFamily="34" charset="0"/>
                <a:ea typeface="Cambria" pitchFamily="34" charset="-122"/>
                <a:cs typeface="Cambria" pitchFamily="34" charset="-120"/>
              </a:rPr>
              <a:t>   34</a:t>
            </a:r>
            <a:endParaRPr lang="en-US" sz="1200" dirty="0"/>
          </a:p>
          <a:p>
            <a:pPr indent="0" marL="0">
              <a:buNone/>
            </a:pPr>
            <a:r>
              <a:rPr lang="en-US" sz="1200" b="1" dirty="0">
                <a:solidFill>
                  <a:srgbClr val="1A1A2E"/>
                </a:solidFill>
                <a:latin typeface="Cambria" pitchFamily="34" charset="0"/>
                <a:ea typeface="Cambria" pitchFamily="34" charset="-122"/>
                <a:cs typeface="Cambria" pitchFamily="34" charset="-120"/>
              </a:rPr>
              <a:t>×  16</a:t>
            </a:r>
            <a:endParaRPr lang="en-US" sz="1200" dirty="0"/>
          </a:p>
          <a:p>
            <a:pPr indent="0" marL="0">
              <a:buNone/>
            </a:pPr>
            <a:r>
              <a:rPr lang="en-US" sz="1200" b="1" dirty="0">
                <a:solidFill>
                  <a:srgbClr val="1A1A2E"/>
                </a:solidFill>
                <a:latin typeface="Cambria" pitchFamily="34" charset="0"/>
                <a:ea typeface="Cambria" pitchFamily="34" charset="-122"/>
                <a:cs typeface="Cambria" pitchFamily="34" charset="-120"/>
              </a:rPr>
              <a:t>  204</a:t>
            </a:r>
            <a:endParaRPr lang="en-US" sz="1200" dirty="0"/>
          </a:p>
          <a:p>
            <a:pPr indent="0" marL="0">
              <a:buNone/>
            </a:pPr>
            <a:r>
              <a:rPr lang="en-US" sz="1200" b="1" dirty="0">
                <a:solidFill>
                  <a:srgbClr val="1A1A2E"/>
                </a:solidFill>
                <a:latin typeface="Cambria" pitchFamily="34" charset="0"/>
                <a:ea typeface="Cambria" pitchFamily="34" charset="-122"/>
                <a:cs typeface="Cambria" pitchFamily="34" charset="-120"/>
              </a:rPr>
              <a:t>+340</a:t>
            </a:r>
            <a:endParaRPr lang="en-US" sz="1200" dirty="0"/>
          </a:p>
          <a:p>
            <a:pPr indent="0" marL="0">
              <a:buNone/>
            </a:pPr>
            <a:r>
              <a:rPr lang="en-US" sz="1200" b="1" dirty="0">
                <a:solidFill>
                  <a:srgbClr val="1A1A2E"/>
                </a:solidFill>
                <a:latin typeface="Cambria" pitchFamily="34" charset="0"/>
                <a:ea typeface="Cambria" pitchFamily="34" charset="-122"/>
                <a:cs typeface="Cambria" pitchFamily="34" charset="-120"/>
              </a:rPr>
              <a:t>  544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Reading the Written Method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1371600" y="1005840"/>
            <a:ext cx="2743200" cy="3383280"/>
          </a:xfrm>
          <a:prstGeom prst="roundRect">
            <a:avLst>
              <a:gd name="adj" fmla="val 3333"/>
            </a:avLst>
          </a:prstGeom>
          <a:solidFill>
            <a:srgbClr val="FFFFFF"/>
          </a:solidFill>
          <a:ln w="6350">
            <a:solidFill>
              <a:srgbClr val="DDDDEE"/>
            </a:solidFill>
            <a:prstDash val="solid"/>
          </a:ln>
        </p:spPr>
      </p:sp>
      <p:sp>
        <p:nvSpPr>
          <p:cNvPr id="7" name="Text 5"/>
          <p:cNvSpPr/>
          <p:nvPr/>
        </p:nvSpPr>
        <p:spPr>
          <a:xfrm>
            <a:off x="1554480" y="1188720"/>
            <a:ext cx="2377440" cy="301752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34</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  16</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 ————</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  204</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+340</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 ————</a:t>
            </a:r>
            <a:endParaRPr lang="en-US" sz="2000" dirty="0"/>
          </a:p>
          <a:p>
            <a:pPr indent="0" marL="0">
              <a:buNone/>
            </a:pPr>
            <a:r>
              <a:rPr lang="en-US" sz="2000" b="1" dirty="0">
                <a:solidFill>
                  <a:srgbClr val="1A1A2E"/>
                </a:solidFill>
                <a:latin typeface="Cambria" pitchFamily="34" charset="0"/>
                <a:ea typeface="Cambria" pitchFamily="34" charset="-122"/>
                <a:cs typeface="Cambria" pitchFamily="34" charset="-120"/>
              </a:rPr>
              <a:t>  544</a:t>
            </a:r>
            <a:endParaRPr lang="en-US" sz="2000" dirty="0"/>
          </a:p>
        </p:txBody>
      </p:sp>
      <p:sp>
        <p:nvSpPr>
          <p:cNvPr id="8" name="Shape 6"/>
          <p:cNvSpPr/>
          <p:nvPr/>
        </p:nvSpPr>
        <p:spPr>
          <a:xfrm>
            <a:off x="4480560" y="1280160"/>
            <a:ext cx="4206240" cy="1280160"/>
          </a:xfrm>
          <a:prstGeom prst="roundRect">
            <a:avLst>
              <a:gd name="adj" fmla="val 7143"/>
            </a:avLst>
          </a:prstGeom>
          <a:solidFill>
            <a:srgbClr val="EAE8F5"/>
          </a:solidFill>
          <a:ln w="6350">
            <a:solidFill>
              <a:srgbClr val="DDDDEE"/>
            </a:solidFill>
            <a:prstDash val="solid"/>
          </a:ln>
        </p:spPr>
      </p:sp>
      <p:sp>
        <p:nvSpPr>
          <p:cNvPr id="9" name="Text 7"/>
          <p:cNvSpPr/>
          <p:nvPr/>
        </p:nvSpPr>
        <p:spPr>
          <a:xfrm>
            <a:off x="4663440" y="1417320"/>
            <a:ext cx="3840480" cy="100584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204 comes from 6 shelves: 34 × 6</a:t>
            </a:r>
            <a:endParaRPr lang="en-US" sz="1500" dirty="0"/>
          </a:p>
        </p:txBody>
      </p:sp>
      <p:sp>
        <p:nvSpPr>
          <p:cNvPr id="10" name="Shape 8"/>
          <p:cNvSpPr/>
          <p:nvPr/>
        </p:nvSpPr>
        <p:spPr>
          <a:xfrm>
            <a:off x="4480560" y="2743200"/>
            <a:ext cx="4206240" cy="1280160"/>
          </a:xfrm>
          <a:prstGeom prst="roundRect">
            <a:avLst>
              <a:gd name="adj" fmla="val 7143"/>
            </a:avLst>
          </a:prstGeom>
          <a:solidFill>
            <a:srgbClr val="E6F2EA"/>
          </a:solidFill>
          <a:ln w="6350">
            <a:solidFill>
              <a:srgbClr val="DDDDEE"/>
            </a:solidFill>
            <a:prstDash val="solid"/>
          </a:ln>
        </p:spPr>
      </p:sp>
      <p:sp>
        <p:nvSpPr>
          <p:cNvPr id="11" name="Text 9"/>
          <p:cNvSpPr/>
          <p:nvPr/>
        </p:nvSpPr>
        <p:spPr>
          <a:xfrm>
            <a:off x="4663440" y="2880360"/>
            <a:ext cx="3840480" cy="100584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340 comes from 10 shelves: 34 × 10</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Standard Algorithm</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188720"/>
          </a:xfrm>
          <a:prstGeom prst="roundRect">
            <a:avLst>
              <a:gd name="adj" fmla="val 7692"/>
            </a:avLst>
          </a:prstGeom>
          <a:solidFill>
            <a:srgbClr val="EAE8F5"/>
          </a:solidFill>
          <a:ln w="6350">
            <a:solidFill>
              <a:srgbClr val="DDDDEE"/>
            </a:solidFill>
            <a:prstDash val="solid"/>
          </a:ln>
        </p:spPr>
      </p:sp>
      <p:sp>
        <p:nvSpPr>
          <p:cNvPr id="7" name="Text 5"/>
          <p:cNvSpPr/>
          <p:nvPr/>
        </p:nvSpPr>
        <p:spPr>
          <a:xfrm>
            <a:off x="640080" y="1143000"/>
            <a:ext cx="7863840" cy="914400"/>
          </a:xfrm>
          <a:prstGeom prst="rect">
            <a:avLst/>
          </a:prstGeom>
          <a:noFill/>
          <a:ln/>
        </p:spPr>
        <p:txBody>
          <a:bodyPr wrap="square" lIns="0" tIns="0" rIns="0" bIns="0" rtlCol="0" anchor="ctr"/>
          <a:lstStyle/>
          <a:p>
            <a:pPr algn="ctr" indent="0" marL="0">
              <a:buNone/>
            </a:pPr>
            <a:r>
              <a:rPr lang="en-US" sz="1700" b="1" dirty="0">
                <a:solidFill>
                  <a:srgbClr val="4A3D8F"/>
                </a:solidFill>
                <a:latin typeface="Cambria" pitchFamily="34" charset="0"/>
                <a:ea typeface="Cambria" pitchFamily="34" charset="-122"/>
                <a:cs typeface="Cambria" pitchFamily="34" charset="-120"/>
              </a:rPr>
              <a:t>34 × 16 = (34 × 6) + (34 × 10) = 204 + 340 = 544</a:t>
            </a:r>
            <a:endParaRPr lang="en-US" sz="1700" dirty="0"/>
          </a:p>
        </p:txBody>
      </p:sp>
      <p:sp>
        <p:nvSpPr>
          <p:cNvPr id="8" name="Shape 6"/>
          <p:cNvSpPr/>
          <p:nvPr/>
        </p:nvSpPr>
        <p:spPr>
          <a:xfrm>
            <a:off x="457200" y="2377440"/>
            <a:ext cx="8229600" cy="1737360"/>
          </a:xfrm>
          <a:prstGeom prst="roundRect">
            <a:avLst>
              <a:gd name="adj" fmla="val 5263"/>
            </a:avLst>
          </a:prstGeom>
          <a:solidFill>
            <a:srgbClr val="FFFFFF"/>
          </a:solidFill>
          <a:ln w="6350">
            <a:solidFill>
              <a:srgbClr val="DDDDEE"/>
            </a:solidFill>
            <a:prstDash val="solid"/>
          </a:ln>
        </p:spPr>
      </p:sp>
      <p:sp>
        <p:nvSpPr>
          <p:cNvPr id="9" name="Text 7"/>
          <p:cNvSpPr/>
          <p:nvPr/>
        </p:nvSpPr>
        <p:spPr>
          <a:xfrm>
            <a:off x="685800" y="2514600"/>
            <a:ext cx="7772400" cy="146304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Rule: multiply by the ones digit first, then the tens digit (remembering the placeholder zero), and add the two partial products.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ones product</a:t>
            </a:r>
            <a:endParaRPr lang="en-US" sz="16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product made with the ones digit.</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tens product</a:t>
            </a:r>
            <a:endParaRPr lang="en-US" sz="16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product made with the tens digit.</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partial products</a:t>
            </a:r>
            <a:endParaRPr lang="en-US" sz="16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products that are added to make the total.</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written method</a:t>
            </a:r>
            <a:endParaRPr lang="en-US" sz="16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shorter way to record the model.</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Find 67 × 34 with the standard algorithm.</a:t>
            </a:r>
            <a:endParaRPr lang="en-US" sz="1800" dirty="0"/>
          </a:p>
        </p:txBody>
      </p:sp>
      <p:sp>
        <p:nvSpPr>
          <p:cNvPr id="10" name="Text 8"/>
          <p:cNvSpPr/>
          <p:nvPr/>
        </p:nvSpPr>
        <p:spPr>
          <a:xfrm>
            <a:off x="822960" y="205740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Ones product: 67 × 4 = 268.</a:t>
            </a:r>
            <a:endParaRPr lang="en-US" sz="1400" dirty="0"/>
          </a:p>
        </p:txBody>
      </p:sp>
      <p:sp>
        <p:nvSpPr>
          <p:cNvPr id="11" name="Text 9"/>
          <p:cNvSpPr/>
          <p:nvPr/>
        </p:nvSpPr>
        <p:spPr>
          <a:xfrm>
            <a:off x="822960" y="256032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Tens product: 67 × 30 = 2,010.</a:t>
            </a:r>
            <a:endParaRPr lang="en-US" sz="1400" dirty="0"/>
          </a:p>
        </p:txBody>
      </p:sp>
      <p:sp>
        <p:nvSpPr>
          <p:cNvPr id="12" name="Text 10"/>
          <p:cNvSpPr/>
          <p:nvPr/>
        </p:nvSpPr>
        <p:spPr>
          <a:xfrm>
            <a:off x="822960" y="3063240"/>
            <a:ext cx="7498080" cy="45720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Add: 268 + 2,010 = 2,278.</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Gap Fill: Spot the Error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45720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Sophia says 63 × 47 = 2,751. Where is her error?</a:t>
            </a:r>
            <a:endParaRPr lang="en-US" sz="1600" dirty="0"/>
          </a:p>
        </p:txBody>
      </p:sp>
      <p:sp>
        <p:nvSpPr>
          <p:cNvPr id="10" name="Text 8"/>
          <p:cNvSpPr/>
          <p:nvPr/>
        </p:nvSpPr>
        <p:spPr>
          <a:xfrm>
            <a:off x="822960" y="196596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 Ones product: 63 × 7 = 441.</a:t>
            </a:r>
            <a:endParaRPr lang="en-US" sz="1300" dirty="0"/>
          </a:p>
        </p:txBody>
      </p:sp>
      <p:sp>
        <p:nvSpPr>
          <p:cNvPr id="11" name="Text 9"/>
          <p:cNvSpPr/>
          <p:nvPr/>
        </p:nvSpPr>
        <p:spPr>
          <a:xfrm>
            <a:off x="822960" y="242316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 Tens product: 63 × 40 = 2,520 (not 2,310 -- watch the placeholder zero).</a:t>
            </a:r>
            <a:endParaRPr lang="en-US" sz="1300" dirty="0"/>
          </a:p>
        </p:txBody>
      </p:sp>
      <p:sp>
        <p:nvSpPr>
          <p:cNvPr id="12" name="Text 10"/>
          <p:cNvSpPr/>
          <p:nvPr/>
        </p:nvSpPr>
        <p:spPr>
          <a:xfrm>
            <a:off x="822960" y="288036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 Correct sum: 441 + 2,520 = 2,961.</a:t>
            </a:r>
            <a:endParaRPr lang="en-US" sz="1300" dirty="0"/>
          </a:p>
        </p:txBody>
      </p:sp>
      <p:sp>
        <p:nvSpPr>
          <p:cNvPr id="13" name="Text 11"/>
          <p:cNvSpPr/>
          <p:nvPr/>
        </p:nvSpPr>
        <p:spPr>
          <a:xfrm>
            <a:off x="822960" y="3337560"/>
            <a:ext cx="7498080" cy="41148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 Sophia likely forgot the placeholder zero on the tens product.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2600" b="1" dirty="0">
                <a:solidFill>
                  <a:srgbClr val="4A3D8F"/>
                </a:solidFill>
                <a:latin typeface="Cambria" pitchFamily="34" charset="0"/>
                <a:ea typeface="Cambria" pitchFamily="34" charset="-122"/>
                <a:cs typeface="Cambria" pitchFamily="34" charset="-120"/>
              </a:rPr>
              <a:t>Find 85 × 46.</a:t>
            </a:r>
            <a:endParaRPr lang="en-US" sz="26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3,910 — ones product 510, tens product 3,400, sum 3,910.</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Next lesson, we flip direction: instead of building groups, we'll divide a large number by a multiple of ten using place-value reasoning.</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78 × 56 = ?</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4,368</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3,948</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134</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4,268</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78 × 56 = ?</a:t>
            </a:r>
            <a:endParaRPr lang="en-US" sz="2000" dirty="0"/>
          </a:p>
        </p:txBody>
      </p:sp>
      <p:sp>
        <p:nvSpPr>
          <p:cNvPr id="8" name="Shape 6"/>
          <p:cNvSpPr/>
          <p:nvPr/>
        </p:nvSpPr>
        <p:spPr>
          <a:xfrm>
            <a:off x="914400" y="2103120"/>
            <a:ext cx="173736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4,368</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3,948</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134</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4,268</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78 × 56 = (78 × 6) + (78 × 50) = 468 + 3,900 = 4,368.</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written method has exactly two rows before the total -- one for each group we split the factor into.</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it by adding my two partial products in reverse order. Same total either way, so my work checks out.</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placeholder zero as an empty seat holding the tens product's true place value.</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the ones product and the tens product are partial products, and their sum is the final product.</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standard algorithm and regrouping.</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tomorrow we divide using place-value reasoning.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5.03.02 Multiplying by a 2-Digit Number, Part 2 — Teacher Slides</dc:title>
  <dc:subject>PptxGenJS Presentation</dc:subject>
  <dc:creator>PptxGenJS</dc:creator>
  <cp:lastModifiedBy>PptxGenJS</cp:lastModifiedBy>
  <cp:revision>1</cp:revision>
  <dcterms:created xsi:type="dcterms:W3CDTF">2026-07-16T19:47:20Z</dcterms:created>
  <dcterms:modified xsi:type="dcterms:W3CDTF">2026-07-16T19:47:20Z</dcterms:modified>
</cp:coreProperties>
</file>