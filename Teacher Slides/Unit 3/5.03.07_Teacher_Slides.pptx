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String warm-up (2 min). Reveal one problem at a time -- the third problem is the sum of the first two chunks.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String warm-up (2 min). Reveal one problem at a time -- the third problem is the sum of the first two chunks.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pattern: a large chunk plus a small chunk still adds to the full quotient.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pattern: a large chunk plus a small chunk still adds to the full quotient.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Frame the mission: today we remove one large chunk first, then finish with what is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slide (1 min). Emphasize: this is the same chunking idea from the last two lessons, just with bigger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(3 min). Confirms students can find easy large multiples of 24 before chunking a 4-digit total. Transition: "Let's remove those chunks from 1,248 exhibit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(2 min). Pose the essential question. Take a couple of guesses before moving to the model -- don't confirm or deny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(3 min). Point out how much time the 50-group chunk saves compared to counting one group at a time. Say out loud: "large division works the same way, a big chunk just saves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Pictorial (2 min). This matches the IP's practice picture for 1,008 ÷ 24 -- one large chunk (40 groups) plus one small chunk (2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 (2 min). Confirm large division is not a new method -- it is the same chunking idea, scaled up. Watch for: students who try to remove one group at a time for a 4-digit number and run out of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(2 min). Have students point to the "large chunk" and the "remaining value" on the concrete slide's bars.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(3 min). Model 3,024 ÷ 18 with three chunks of decreasing size, matching the IP's 4-digit division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 fill (2 min) -- closes IP problem 5, which asks students to verify a splitting strategy. Common error: assuming any split works, rather than checking both parts are exact multiples of the divisor.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Try (2 min). Cold-call a student to describe their chunk choices before revealing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Connection Forward (1 min). Preview Unit 4 -- applying multiplication and division to multi-step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QUESTION (give real think time before advancing; do not reveal yet)
Exit Check. Watch for students who leave the remainder as 75 without continuing to divide it further, or who miscount the chunk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REVEAL (advance only after students have responded in chat)
Exit Check. Watch for students who leave the remainder as 75 without continuing to divide it further, or who miscount the chunk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CREW (~1-2 min)
Briefly read one or two cards — whichever matches where students are in their thinking.
Give real think time before calling on students to share which crew member's approach matches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274320" y="164592"/>
            <a:ext cx="2377440" cy="292608"/>
          </a:xfrm>
          <a:prstGeom prst="roundRect">
            <a:avLst>
              <a:gd name="adj" fmla="val 18750"/>
            </a:avLst>
          </a:prstGeom>
          <a:solidFill>
            <a:srgbClr val="4A3D8F"/>
          </a:solidFill>
          <a:ln w="12700">
            <a:solidFill>
              <a:srgbClr val="4A3D8F"/>
            </a:solidFill>
            <a:prstDash val="solid"/>
          </a:ln>
        </p:spPr>
      </p:sp>
      <p:sp>
        <p:nvSpPr>
          <p:cNvPr id="4" name="Text 2"/>
          <p:cNvSpPr/>
          <p:nvPr/>
        </p:nvSpPr>
        <p:spPr>
          <a:xfrm>
            <a:off x="274320" y="164592"/>
            <a:ext cx="23774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NUMBER STRING</a:t>
            </a:r>
            <a:endParaRPr lang="en-US" sz="800" dirty="0"/>
          </a:p>
        </p:txBody>
      </p:sp>
      <p:sp>
        <p:nvSpPr>
          <p:cNvPr id="5" name="Shape 3"/>
          <p:cNvSpPr/>
          <p:nvPr/>
        </p:nvSpPr>
        <p:spPr>
          <a:xfrm>
            <a:off x="2578608" y="164592"/>
            <a:ext cx="6126480" cy="292608"/>
          </a:xfrm>
          <a:prstGeom prst="roundRect">
            <a:avLst>
              <a:gd name="adj" fmla="val 18750"/>
            </a:avLst>
          </a:prstGeom>
          <a:solidFill>
            <a:srgbClr val="2A3B5A"/>
          </a:solidFill>
          <a:ln w="12700">
            <a:solidFill>
              <a:srgbClr val="2A3B5A"/>
            </a:solidFill>
            <a:prstDash val="solid"/>
          </a:ln>
        </p:spPr>
      </p:sp>
      <p:sp>
        <p:nvSpPr>
          <p:cNvPr id="6" name="Text 4"/>
          <p:cNvSpPr/>
          <p:nvPr/>
        </p:nvSpPr>
        <p:spPr>
          <a:xfrm>
            <a:off x="2578608" y="164592"/>
            <a:ext cx="6126480" cy="292608"/>
          </a:xfrm>
          <a:prstGeom prst="rect">
            <a:avLst/>
          </a:prstGeom>
          <a:noFill/>
          <a:ln/>
        </p:spPr>
        <p:txBody>
          <a:bodyPr wrap="square" lIns="0" tIns="0" rIns="0" bIns="0" rtlCol="0" anchor="ctr"/>
          <a:lstStyle/>
          <a:p>
            <a:pPr indent="0" marL="0">
              <a:buNone/>
            </a:pPr>
            <a:r>
              <a:rPr lang="en-US" sz="900" dirty="0">
                <a:solidFill>
                  <a:srgbClr val="FFFFFF"/>
                </a:solidFill>
              </a:rPr>
              <a:t>  ·  Lesson 5.03 · Large Chunks for Large Dividends</a:t>
            </a:r>
            <a:endParaRPr lang="en-US" sz="900" dirty="0"/>
          </a:p>
        </p:txBody>
      </p:sp>
      <p:sp>
        <p:nvSpPr>
          <p:cNvPr id="7" name="Text 5"/>
          <p:cNvSpPr/>
          <p:nvPr/>
        </p:nvSpPr>
        <p:spPr>
          <a:xfrm>
            <a:off x="457200" y="1371600"/>
            <a:ext cx="8229600" cy="1828800"/>
          </a:xfrm>
          <a:prstGeom prst="rect">
            <a:avLst/>
          </a:prstGeom>
          <a:noFill/>
          <a:ln/>
        </p:spPr>
        <p:txBody>
          <a:bodyPr wrap="square" lIns="0" tIns="0" rIns="0" bIns="0"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24 × 50</a:t>
            </a:r>
            <a:endParaRPr lang="en-US" sz="3600" dirty="0"/>
          </a:p>
        </p:txBody>
      </p:sp>
      <p:sp>
        <p:nvSpPr>
          <p:cNvPr id="8" name="Text 6"/>
          <p:cNvSpPr/>
          <p:nvPr/>
        </p:nvSpPr>
        <p:spPr>
          <a:xfrm>
            <a:off x="457200" y="3749040"/>
            <a:ext cx="8229600" cy="640080"/>
          </a:xfrm>
          <a:prstGeom prst="rect">
            <a:avLst/>
          </a:prstGeom>
          <a:noFill/>
          <a:ln/>
        </p:spPr>
        <p:txBody>
          <a:bodyPr wrap="square" lIns="0" tIns="0" rIns="0" bIns="0" rtlCol="0" anchor="ctr"/>
          <a:lstStyle/>
          <a:p>
            <a:pPr algn="ctr" indent="0" marL="0">
              <a:buNone/>
            </a:pPr>
            <a:r>
              <a:rPr lang="en-US" sz="1500" i="1" dirty="0">
                <a:solidFill>
                  <a:srgbClr val="8899BB"/>
                </a:solidFill>
              </a:rPr>
              <a:t>Solve the first problem. What strategy did you use?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The String Unfolds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Number String</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868680"/>
          </a:xfrm>
          <a:prstGeom prst="roundRect">
            <a:avLst>
              <a:gd name="adj" fmla="val 10526"/>
            </a:avLst>
          </a:prstGeom>
          <a:solidFill>
            <a:srgbClr val="FFFFFF"/>
          </a:solidFill>
          <a:ln w="6350">
            <a:solidFill>
              <a:srgbClr val="DDDDEE"/>
            </a:solidFill>
            <a:prstDash val="solid"/>
          </a:ln>
        </p:spPr>
      </p:sp>
      <p:sp>
        <p:nvSpPr>
          <p:cNvPr id="7" name="Text 5"/>
          <p:cNvSpPr/>
          <p:nvPr/>
        </p:nvSpPr>
        <p:spPr>
          <a:xfrm>
            <a:off x="685800" y="960120"/>
            <a:ext cx="4114800" cy="868680"/>
          </a:xfrm>
          <a:prstGeom prst="rect">
            <a:avLst/>
          </a:prstGeom>
          <a:noFill/>
          <a:ln/>
        </p:spPr>
        <p:txBody>
          <a:bodyPr wrap="square" lIns="0" tIns="0" rIns="0" bIns="0" rtlCol="0" anchor="ctr"/>
          <a:lstStyle/>
          <a:p>
            <a:pPr indent="0" marL="0">
              <a:buNone/>
            </a:pPr>
            <a:r>
              <a:rPr lang="en-US" sz="2000" b="1" dirty="0">
                <a:solidFill>
                  <a:srgbClr val="4A3D8F"/>
                </a:solidFill>
                <a:latin typeface="Cambria" pitchFamily="34" charset="0"/>
                <a:ea typeface="Cambria" pitchFamily="34" charset="-122"/>
                <a:cs typeface="Cambria" pitchFamily="34" charset="-120"/>
              </a:rPr>
              <a:t>24 × 50</a:t>
            </a:r>
            <a:endParaRPr lang="en-US" sz="2000" dirty="0"/>
          </a:p>
        </p:txBody>
      </p:sp>
      <p:sp>
        <p:nvSpPr>
          <p:cNvPr id="8" name="Text 6"/>
          <p:cNvSpPr/>
          <p:nvPr/>
        </p:nvSpPr>
        <p:spPr>
          <a:xfrm>
            <a:off x="5029200" y="960120"/>
            <a:ext cx="1828800" cy="86868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 1,200</a:t>
            </a:r>
            <a:endParaRPr lang="en-US" sz="2000" dirty="0"/>
          </a:p>
        </p:txBody>
      </p:sp>
      <p:sp>
        <p:nvSpPr>
          <p:cNvPr id="9" name="Shape 7"/>
          <p:cNvSpPr/>
          <p:nvPr/>
        </p:nvSpPr>
        <p:spPr>
          <a:xfrm>
            <a:off x="457200" y="2011680"/>
            <a:ext cx="8229600" cy="868680"/>
          </a:xfrm>
          <a:prstGeom prst="roundRect">
            <a:avLst>
              <a:gd name="adj" fmla="val 10526"/>
            </a:avLst>
          </a:prstGeom>
          <a:solidFill>
            <a:srgbClr val="FFFFFF"/>
          </a:solidFill>
          <a:ln w="6350">
            <a:solidFill>
              <a:srgbClr val="DDDDEE"/>
            </a:solidFill>
            <a:prstDash val="solid"/>
          </a:ln>
        </p:spPr>
      </p:sp>
      <p:sp>
        <p:nvSpPr>
          <p:cNvPr id="10" name="Text 8"/>
          <p:cNvSpPr/>
          <p:nvPr/>
        </p:nvSpPr>
        <p:spPr>
          <a:xfrm>
            <a:off x="685800" y="2011680"/>
            <a:ext cx="4114800" cy="868680"/>
          </a:xfrm>
          <a:prstGeom prst="rect">
            <a:avLst/>
          </a:prstGeom>
          <a:noFill/>
          <a:ln/>
        </p:spPr>
        <p:txBody>
          <a:bodyPr wrap="square" lIns="0" tIns="0" rIns="0" bIns="0" rtlCol="0" anchor="ctr"/>
          <a:lstStyle/>
          <a:p>
            <a:pPr indent="0" marL="0">
              <a:buNone/>
            </a:pPr>
            <a:r>
              <a:rPr lang="en-US" sz="2000" b="1" dirty="0">
                <a:solidFill>
                  <a:srgbClr val="4A3D8F"/>
                </a:solidFill>
                <a:latin typeface="Cambria" pitchFamily="34" charset="0"/>
                <a:ea typeface="Cambria" pitchFamily="34" charset="-122"/>
                <a:cs typeface="Cambria" pitchFamily="34" charset="-120"/>
              </a:rPr>
              <a:t>24 × 2</a:t>
            </a:r>
            <a:endParaRPr lang="en-US" sz="2000" dirty="0"/>
          </a:p>
        </p:txBody>
      </p:sp>
      <p:sp>
        <p:nvSpPr>
          <p:cNvPr id="11" name="Text 9"/>
          <p:cNvSpPr/>
          <p:nvPr/>
        </p:nvSpPr>
        <p:spPr>
          <a:xfrm>
            <a:off x="5029200" y="2011680"/>
            <a:ext cx="1828800" cy="86868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 48</a:t>
            </a:r>
            <a:endParaRPr lang="en-US" sz="2000" dirty="0"/>
          </a:p>
        </p:txBody>
      </p:sp>
      <p:sp>
        <p:nvSpPr>
          <p:cNvPr id="12" name="Shape 10"/>
          <p:cNvSpPr/>
          <p:nvPr/>
        </p:nvSpPr>
        <p:spPr>
          <a:xfrm>
            <a:off x="137160" y="1920240"/>
            <a:ext cx="0" cy="137160"/>
          </a:xfrm>
          <a:prstGeom prst="line">
            <a:avLst/>
          </a:prstGeom>
          <a:noFill/>
          <a:ln w="25400">
            <a:solidFill>
              <a:srgbClr val="D9941A"/>
            </a:solidFill>
            <a:prstDash val="solid"/>
            <a:tailEnd type="triangle"/>
          </a:ln>
        </p:spPr>
      </p:sp>
      <p:sp>
        <p:nvSpPr>
          <p:cNvPr id="13" name="Shape 11"/>
          <p:cNvSpPr/>
          <p:nvPr/>
        </p:nvSpPr>
        <p:spPr>
          <a:xfrm>
            <a:off x="457200" y="3063240"/>
            <a:ext cx="8229600" cy="868680"/>
          </a:xfrm>
          <a:prstGeom prst="roundRect">
            <a:avLst>
              <a:gd name="adj" fmla="val 10526"/>
            </a:avLst>
          </a:prstGeom>
          <a:solidFill>
            <a:srgbClr val="FFFFFF"/>
          </a:solidFill>
          <a:ln w="6350">
            <a:solidFill>
              <a:srgbClr val="DDDDEE"/>
            </a:solidFill>
            <a:prstDash val="solid"/>
          </a:ln>
        </p:spPr>
      </p:sp>
      <p:sp>
        <p:nvSpPr>
          <p:cNvPr id="14" name="Text 12"/>
          <p:cNvSpPr/>
          <p:nvPr/>
        </p:nvSpPr>
        <p:spPr>
          <a:xfrm>
            <a:off x="685800" y="3063240"/>
            <a:ext cx="4114800" cy="868680"/>
          </a:xfrm>
          <a:prstGeom prst="rect">
            <a:avLst/>
          </a:prstGeom>
          <a:noFill/>
          <a:ln/>
        </p:spPr>
        <p:txBody>
          <a:bodyPr wrap="square" lIns="0" tIns="0" rIns="0" bIns="0" rtlCol="0" anchor="ctr"/>
          <a:lstStyle/>
          <a:p>
            <a:pPr indent="0" marL="0">
              <a:buNone/>
            </a:pPr>
            <a:r>
              <a:rPr lang="en-US" sz="2000" b="1" dirty="0">
                <a:solidFill>
                  <a:srgbClr val="4A3D8F"/>
                </a:solidFill>
                <a:latin typeface="Cambria" pitchFamily="34" charset="0"/>
                <a:ea typeface="Cambria" pitchFamily="34" charset="-122"/>
                <a:cs typeface="Cambria" pitchFamily="34" charset="-120"/>
              </a:rPr>
              <a:t>1,248 ÷ 24</a:t>
            </a:r>
            <a:endParaRPr lang="en-US" sz="2000" dirty="0"/>
          </a:p>
        </p:txBody>
      </p:sp>
      <p:sp>
        <p:nvSpPr>
          <p:cNvPr id="15" name="Text 13"/>
          <p:cNvSpPr/>
          <p:nvPr/>
        </p:nvSpPr>
        <p:spPr>
          <a:xfrm>
            <a:off x="5029200" y="3063240"/>
            <a:ext cx="1828800" cy="86868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 52</a:t>
            </a:r>
            <a:endParaRPr lang="en-US" sz="2000" dirty="0"/>
          </a:p>
        </p:txBody>
      </p:sp>
      <p:sp>
        <p:nvSpPr>
          <p:cNvPr id="16" name="Shape 14"/>
          <p:cNvSpPr/>
          <p:nvPr/>
        </p:nvSpPr>
        <p:spPr>
          <a:xfrm>
            <a:off x="137160" y="2971800"/>
            <a:ext cx="0" cy="137160"/>
          </a:xfrm>
          <a:prstGeom prst="line">
            <a:avLst/>
          </a:prstGeom>
          <a:noFill/>
          <a:ln w="25400">
            <a:solidFill>
              <a:srgbClr val="D9941A"/>
            </a:solidFill>
            <a:prstDash val="solid"/>
            <a:tailEnd type="triangle"/>
          </a:ln>
        </p:spPr>
      </p:sp>
      <p:sp>
        <p:nvSpPr>
          <p:cNvPr id="17" name="Shape 15"/>
          <p:cNvSpPr/>
          <p:nvPr/>
        </p:nvSpPr>
        <p:spPr>
          <a:xfrm>
            <a:off x="1371600" y="4279392"/>
            <a:ext cx="6400800" cy="438912"/>
          </a:xfrm>
          <a:prstGeom prst="roundRect">
            <a:avLst>
              <a:gd name="adj" fmla="val 12500"/>
            </a:avLst>
          </a:prstGeom>
          <a:solidFill>
            <a:srgbClr val="464EB8"/>
          </a:solidFill>
          <a:ln w="12700">
            <a:solidFill>
              <a:srgbClr val="464EB8"/>
            </a:solidFill>
            <a:prstDash val="solid"/>
          </a:ln>
        </p:spPr>
      </p:sp>
      <p:sp>
        <p:nvSpPr>
          <p:cNvPr id="18" name="Text 16"/>
          <p:cNvSpPr/>
          <p:nvPr/>
        </p:nvSpPr>
        <p:spPr>
          <a:xfrm>
            <a:off x="1371600" y="4279392"/>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what changed each time?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A3D8F"/>
          </a:solidFill>
          <a:ln w="12700">
            <a:solidFill>
              <a:srgbClr val="4A3D8F"/>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NUMBER STRING</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The Pattern</a:t>
            </a:r>
            <a:endParaRPr lang="en-US" sz="2000" dirty="0"/>
          </a:p>
        </p:txBody>
      </p:sp>
      <p:sp>
        <p:nvSpPr>
          <p:cNvPr id="6" name="Shape 4"/>
          <p:cNvSpPr/>
          <p:nvPr/>
        </p:nvSpPr>
        <p:spPr>
          <a:xfrm>
            <a:off x="457200" y="1371600"/>
            <a:ext cx="8229600" cy="0"/>
          </a:xfrm>
          <a:prstGeom prst="line">
            <a:avLst/>
          </a:prstGeom>
          <a:noFill/>
          <a:ln w="6350">
            <a:solidFill>
              <a:srgbClr val="8888CC"/>
            </a:solidFill>
            <a:prstDash val="solid"/>
          </a:ln>
        </p:spPr>
      </p:sp>
      <p:sp>
        <p:nvSpPr>
          <p:cNvPr id="7" name="Text 5"/>
          <p:cNvSpPr/>
          <p:nvPr/>
        </p:nvSpPr>
        <p:spPr>
          <a:xfrm>
            <a:off x="457200" y="1508760"/>
            <a:ext cx="8229600" cy="548640"/>
          </a:xfrm>
          <a:prstGeom prst="rect">
            <a:avLst/>
          </a:prstGeom>
          <a:noFill/>
          <a:ln/>
        </p:spPr>
        <p:txBody>
          <a:bodyPr wrap="square" lIns="0" tIns="0" rIns="0" bIns="0" rtlCol="0" anchor="ctr"/>
          <a:lstStyle/>
          <a:p>
            <a:pPr indent="0" marL="0">
              <a:buNone/>
            </a:pPr>
            <a:r>
              <a:rPr lang="en-US" sz="1800" i="1" dirty="0">
                <a:solidFill>
                  <a:srgbClr val="CCCCFF"/>
                </a:solidFill>
              </a:rPr>
              <a:t>A large chunk works because...</a:t>
            </a:r>
            <a:endParaRPr lang="en-US" sz="1800" dirty="0"/>
          </a:p>
        </p:txBody>
      </p:sp>
      <p:sp>
        <p:nvSpPr>
          <p:cNvPr id="8" name="Text 6"/>
          <p:cNvSpPr/>
          <p:nvPr/>
        </p:nvSpPr>
        <p:spPr>
          <a:xfrm>
            <a:off x="457200" y="2148840"/>
            <a:ext cx="8229600" cy="18288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50 groups and 2 groups are both exact multiples of the divisor, so their sum (52 groups) is the exact quotient.</a:t>
            </a:r>
            <a:endParaRPr lang="en-US" sz="2200" dirty="0"/>
          </a:p>
        </p:txBody>
      </p:sp>
      <p:sp>
        <p:nvSpPr>
          <p:cNvPr id="9" name="Shape 7"/>
          <p:cNvSpPr/>
          <p:nvPr/>
        </p:nvSpPr>
        <p:spPr>
          <a:xfrm>
            <a:off x="2286000" y="4343400"/>
            <a:ext cx="4572000" cy="438912"/>
          </a:xfrm>
          <a:prstGeom prst="roundRect">
            <a:avLst>
              <a:gd name="adj" fmla="val 12500"/>
            </a:avLst>
          </a:prstGeom>
          <a:solidFill>
            <a:srgbClr val="464EB8"/>
          </a:solidFill>
          <a:ln w="12700">
            <a:solidFill>
              <a:srgbClr val="464EB8"/>
            </a:solidFill>
            <a:prstDash val="solid"/>
          </a:ln>
        </p:spPr>
      </p:sp>
      <p:sp>
        <p:nvSpPr>
          <p:cNvPr id="10" name="Text 8"/>
          <p:cNvSpPr/>
          <p:nvPr/>
        </p:nvSpPr>
        <p:spPr>
          <a:xfrm>
            <a:off x="2286000" y="4343400"/>
            <a:ext cx="45720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one word for the pattern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6E44"/>
          </a:solidFill>
          <a:ln w="12700">
            <a:solidFill>
              <a:srgbClr val="2E6E44"/>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NUMBER STRING</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Try the Next String</a:t>
            </a:r>
            <a:endParaRPr lang="en-US" sz="2000" dirty="0"/>
          </a:p>
        </p:txBody>
      </p:sp>
      <p:sp>
        <p:nvSpPr>
          <p:cNvPr id="6" name="Shape 4"/>
          <p:cNvSpPr/>
          <p:nvPr/>
        </p:nvSpPr>
        <p:spPr>
          <a:xfrm>
            <a:off x="457200" y="1371600"/>
            <a:ext cx="8229600" cy="0"/>
          </a:xfrm>
          <a:prstGeom prst="line">
            <a:avLst/>
          </a:prstGeom>
          <a:noFill/>
          <a:ln w="6350">
            <a:solidFill>
              <a:srgbClr val="55AA77"/>
            </a:solidFill>
            <a:prstDash val="solid"/>
          </a:ln>
        </p:spPr>
      </p:sp>
      <p:sp>
        <p:nvSpPr>
          <p:cNvPr id="7" name="Text 5"/>
          <p:cNvSpPr/>
          <p:nvPr/>
        </p:nvSpPr>
        <p:spPr>
          <a:xfrm>
            <a:off x="457200" y="1554480"/>
            <a:ext cx="822960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18 × 100 = ?</a:t>
            </a:r>
            <a:endParaRPr lang="en-US" sz="2600" dirty="0"/>
          </a:p>
        </p:txBody>
      </p:sp>
      <p:sp>
        <p:nvSpPr>
          <p:cNvPr id="8" name="Text 6"/>
          <p:cNvSpPr/>
          <p:nvPr/>
        </p:nvSpPr>
        <p:spPr>
          <a:xfrm>
            <a:off x="457200" y="2240280"/>
            <a:ext cx="822960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18 × 3 = ?</a:t>
            </a:r>
            <a:endParaRPr lang="en-US" sz="2600" dirty="0"/>
          </a:p>
        </p:txBody>
      </p:sp>
      <p:sp>
        <p:nvSpPr>
          <p:cNvPr id="9" name="Text 7"/>
          <p:cNvSpPr/>
          <p:nvPr/>
        </p:nvSpPr>
        <p:spPr>
          <a:xfrm>
            <a:off x="457200" y="2926080"/>
            <a:ext cx="822960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1,854 ÷ 18 = ?</a:t>
            </a:r>
            <a:endParaRPr lang="en-US" sz="2600" dirty="0"/>
          </a:p>
        </p:txBody>
      </p:sp>
      <p:sp>
        <p:nvSpPr>
          <p:cNvPr id="10" name="Shape 8"/>
          <p:cNvSpPr/>
          <p:nvPr/>
        </p:nvSpPr>
        <p:spPr>
          <a:xfrm>
            <a:off x="1828800" y="4343400"/>
            <a:ext cx="5486400" cy="438912"/>
          </a:xfrm>
          <a:prstGeom prst="roundRect">
            <a:avLst>
              <a:gd name="adj" fmla="val 12500"/>
            </a:avLst>
          </a:prstGeom>
          <a:solidFill>
            <a:srgbClr val="464EB8"/>
          </a:solidFill>
          <a:ln w="12700">
            <a:solidFill>
              <a:srgbClr val="464EB8"/>
            </a:solidFill>
            <a:prstDash val="solid"/>
          </a:ln>
        </p:spPr>
      </p:sp>
      <p:sp>
        <p:nvSpPr>
          <p:cNvPr id="11" name="Text 9"/>
          <p:cNvSpPr/>
          <p:nvPr/>
        </p:nvSpPr>
        <p:spPr>
          <a:xfrm>
            <a:off x="1828800" y="434340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0" y="3474720"/>
            <a:ext cx="9144000" cy="1668780"/>
          </a:xfrm>
          <a:prstGeom prst="rect">
            <a:avLst/>
          </a:prstGeom>
          <a:solidFill>
            <a:srgbClr val="4A3D8F"/>
          </a:solidFill>
          <a:ln w="12700">
            <a:solidFill>
              <a:srgbClr val="4A3D8F"/>
            </a:solidFill>
            <a:prstDash val="solid"/>
          </a:ln>
        </p:spPr>
      </p:sp>
      <p:sp>
        <p:nvSpPr>
          <p:cNvPr id="4" name="Text 2"/>
          <p:cNvSpPr/>
          <p:nvPr/>
        </p:nvSpPr>
        <p:spPr>
          <a:xfrm>
            <a:off x="457200" y="320040"/>
            <a:ext cx="8229600" cy="365760"/>
          </a:xfrm>
          <a:prstGeom prst="rect">
            <a:avLst/>
          </a:prstGeom>
          <a:noFill/>
          <a:ln/>
        </p:spPr>
        <p:txBody>
          <a:bodyPr wrap="square" lIns="0" tIns="0" rIns="0" bIns="0" rtlCol="0" anchor="ctr"/>
          <a:lstStyle/>
          <a:p>
            <a:pPr indent="0" marL="0">
              <a:buNone/>
            </a:pPr>
            <a:r>
              <a:rPr lang="en-US" sz="1300" i="1" spc="200" kern="0" dirty="0">
                <a:solidFill>
                  <a:srgbClr val="FFFFFF"/>
                </a:solidFill>
              </a:rPr>
              <a:t>Optima Academy Online</a:t>
            </a:r>
            <a:endParaRPr lang="en-US" sz="1300" dirty="0"/>
          </a:p>
        </p:txBody>
      </p:sp>
      <p:sp>
        <p:nvSpPr>
          <p:cNvPr id="5" name="Text 3"/>
          <p:cNvSpPr/>
          <p:nvPr/>
        </p:nvSpPr>
        <p:spPr>
          <a:xfrm>
            <a:off x="457200" y="777240"/>
            <a:ext cx="8229600" cy="502920"/>
          </a:xfrm>
          <a:prstGeom prst="rect">
            <a:avLst/>
          </a:prstGeom>
          <a:noFill/>
          <a:ln/>
        </p:spPr>
        <p:txBody>
          <a:bodyPr wrap="square" lIns="0" tIns="0" rIns="0" bIns="0" rtlCol="0" anchor="ctr"/>
          <a:lstStyle/>
          <a:p>
            <a:pPr indent="0" marL="0">
              <a:buNone/>
            </a:pPr>
            <a:r>
              <a:rPr lang="en-US" sz="1800" b="1" spc="100" kern="0" dirty="0">
                <a:solidFill>
                  <a:srgbClr val="D9941A"/>
                </a:solidFill>
              </a:rPr>
              <a:t>5.03.07</a:t>
            </a:r>
            <a:endParaRPr lang="en-US" sz="1800" dirty="0"/>
          </a:p>
        </p:txBody>
      </p:sp>
      <p:sp>
        <p:nvSpPr>
          <p:cNvPr id="6" name="Text 4"/>
          <p:cNvSpPr/>
          <p:nvPr/>
        </p:nvSpPr>
        <p:spPr>
          <a:xfrm>
            <a:off x="457200" y="1325880"/>
            <a:ext cx="8229600" cy="12801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Divide a 4-Digit Number by a 2-Digit Number</a:t>
            </a:r>
            <a:endParaRPr lang="en-US" sz="3800" dirty="0"/>
          </a:p>
        </p:txBody>
      </p:sp>
      <p:sp>
        <p:nvSpPr>
          <p:cNvPr id="7" name="Text 5"/>
          <p:cNvSpPr/>
          <p:nvPr/>
        </p:nvSpPr>
        <p:spPr>
          <a:xfrm>
            <a:off x="457200" y="2697480"/>
            <a:ext cx="8229600" cy="502920"/>
          </a:xfrm>
          <a:prstGeom prst="rect">
            <a:avLst/>
          </a:prstGeom>
          <a:noFill/>
          <a:ln/>
        </p:spPr>
        <p:txBody>
          <a:bodyPr wrap="square" lIns="0" tIns="0" rIns="0" bIns="0" rtlCol="0" anchor="ctr"/>
          <a:lstStyle/>
          <a:p>
            <a:pPr indent="0" marL="0">
              <a:buNone/>
            </a:pPr>
            <a:r>
              <a:rPr lang="en-US" sz="1600" i="1" dirty="0">
                <a:solidFill>
                  <a:srgbClr val="AAAACC"/>
                </a:solidFill>
              </a:rPr>
              <a:t>Unit 3 · Larger Multiplication and Division</a:t>
            </a:r>
            <a:endParaRPr lang="en-US" sz="1600" dirty="0"/>
          </a:p>
        </p:txBody>
      </p:sp>
      <p:sp>
        <p:nvSpPr>
          <p:cNvPr id="8" name="Text 6"/>
          <p:cNvSpPr/>
          <p:nvPr/>
        </p:nvSpPr>
        <p:spPr>
          <a:xfrm>
            <a:off x="457200" y="3657600"/>
            <a:ext cx="8229600" cy="411480"/>
          </a:xfrm>
          <a:prstGeom prst="rect">
            <a:avLst/>
          </a:prstGeom>
          <a:noFill/>
          <a:ln/>
        </p:spPr>
        <p:txBody>
          <a:bodyPr wrap="square" lIns="0" tIns="0" rIns="0" bIns="0" rtlCol="0" anchor="ctr"/>
          <a:lstStyle/>
          <a:p>
            <a:pPr indent="0" marL="0">
              <a:buNone/>
            </a:pPr>
            <a:r>
              <a:rPr lang="en-US" sz="1300" spc="100" kern="0" dirty="0">
                <a:solidFill>
                  <a:srgbClr val="FFFFFF"/>
                </a:solidFill>
              </a:rPr>
              <a:t>MA.5.NSO.2.4</a:t>
            </a:r>
            <a:endParaRPr lang="en-US" sz="1300" dirty="0"/>
          </a:p>
        </p:txBody>
      </p:sp>
      <p:sp>
        <p:nvSpPr>
          <p:cNvPr id="9" name="Text 7"/>
          <p:cNvSpPr/>
          <p:nvPr/>
        </p:nvSpPr>
        <p:spPr>
          <a:xfrm>
            <a:off x="457200" y="4206240"/>
            <a:ext cx="8229600" cy="365760"/>
          </a:xfrm>
          <a:prstGeom prst="rect">
            <a:avLst/>
          </a:prstGeom>
          <a:noFill/>
          <a:ln/>
        </p:spPr>
        <p:txBody>
          <a:bodyPr wrap="square" lIns="0" tIns="0" rIns="0" bIns="0" rtlCol="0" anchor="ctr"/>
          <a:lstStyle/>
          <a:p>
            <a:pPr indent="0" marL="0">
              <a:buNone/>
            </a:pPr>
            <a:r>
              <a:rPr lang="en-US" sz="1400" i="1" dirty="0">
                <a:solidFill>
                  <a:srgbClr val="CCCCEE"/>
                </a:solidFill>
              </a:rPr>
              <a:t>Teacher Slides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Today's Goal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Learning Objective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508760"/>
          </a:xfrm>
          <a:prstGeom prst="roundRect">
            <a:avLst>
              <a:gd name="adj" fmla="val 6061"/>
            </a:avLst>
          </a:prstGeom>
          <a:solidFill>
            <a:srgbClr val="EAE8F5"/>
          </a:solidFill>
          <a:ln w="6350">
            <a:solidFill>
              <a:srgbClr val="DDDDEE"/>
            </a:solidFill>
            <a:prstDash val="solid"/>
          </a:ln>
        </p:spPr>
      </p:sp>
      <p:sp>
        <p:nvSpPr>
          <p:cNvPr id="7" name="Text 5"/>
          <p:cNvSpPr/>
          <p:nvPr/>
        </p:nvSpPr>
        <p:spPr>
          <a:xfrm>
            <a:off x="685800" y="1078992"/>
            <a:ext cx="7772400" cy="347472"/>
          </a:xfrm>
          <a:prstGeom prst="rect">
            <a:avLst/>
          </a:prstGeom>
          <a:noFill/>
          <a:ln/>
        </p:spPr>
        <p:txBody>
          <a:bodyPr wrap="square" lIns="0" tIns="0" rIns="0" bIns="0" rtlCol="0" anchor="ctr"/>
          <a:lstStyle/>
          <a:p>
            <a:pPr indent="0" marL="0">
              <a:buNone/>
            </a:pPr>
            <a:r>
              <a:rPr lang="en-US" sz="1300" b="1" spc="100" kern="0" dirty="0">
                <a:solidFill>
                  <a:srgbClr val="4A3D8F"/>
                </a:solidFill>
              </a:rPr>
              <a:t>I can...</a:t>
            </a:r>
            <a:endParaRPr lang="en-US" sz="1300" dirty="0"/>
          </a:p>
        </p:txBody>
      </p:sp>
      <p:sp>
        <p:nvSpPr>
          <p:cNvPr id="8" name="Text 6"/>
          <p:cNvSpPr/>
          <p:nvPr/>
        </p:nvSpPr>
        <p:spPr>
          <a:xfrm>
            <a:off x="685800" y="1463040"/>
            <a:ext cx="7772400" cy="9601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remove a large helpful chunk from a 4-digit dividend, then finish dividing what remains.</a:t>
            </a:r>
            <a:endParaRPr lang="en-US" sz="1800" dirty="0"/>
          </a:p>
        </p:txBody>
      </p:sp>
      <p:sp>
        <p:nvSpPr>
          <p:cNvPr id="9" name="Shape 7"/>
          <p:cNvSpPr/>
          <p:nvPr/>
        </p:nvSpPr>
        <p:spPr>
          <a:xfrm>
            <a:off x="457200" y="2743200"/>
            <a:ext cx="8229600" cy="1280160"/>
          </a:xfrm>
          <a:prstGeom prst="roundRect">
            <a:avLst>
              <a:gd name="adj" fmla="val 7143"/>
            </a:avLst>
          </a:prstGeom>
          <a:solidFill>
            <a:srgbClr val="FFFFFF"/>
          </a:solidFill>
          <a:ln w="6350">
            <a:solidFill>
              <a:srgbClr val="DDDDEE"/>
            </a:solidFill>
            <a:prstDash val="solid"/>
          </a:ln>
        </p:spPr>
      </p:sp>
      <p:sp>
        <p:nvSpPr>
          <p:cNvPr id="10" name="Text 8"/>
          <p:cNvSpPr/>
          <p:nvPr/>
        </p:nvSpPr>
        <p:spPr>
          <a:xfrm>
            <a:off x="685800" y="2834640"/>
            <a:ext cx="7772400" cy="1097280"/>
          </a:xfrm>
          <a:prstGeom prst="rect">
            <a:avLst/>
          </a:prstGeom>
          <a:noFill/>
          <a:ln/>
        </p:spPr>
        <p:txBody>
          <a:bodyPr wrap="square" lIns="0" tIns="0" rIns="0" bIns="0" rtlCol="0" anchor="ctr"/>
          <a:lstStyle/>
          <a:p>
            <a:pPr indent="0" marL="0">
              <a:buNone/>
            </a:pPr>
            <a:r>
              <a:rPr lang="en-US" sz="1600" i="1" dirty="0">
                <a:solidFill>
                  <a:srgbClr val="5A5A7A"/>
                </a:solidFill>
                <a:latin typeface="Cambria" pitchFamily="34" charset="0"/>
                <a:ea typeface="Cambria" pitchFamily="34" charset="-122"/>
                <a:cs typeface="Cambria" pitchFamily="34" charset="-120"/>
              </a:rPr>
              <a:t>“Large division works the same way as smaller division. A big chunk just saves time.”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Readiness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Warm-Up · 3 min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1371600"/>
          </a:xfrm>
          <a:prstGeom prst="roundRect">
            <a:avLst>
              <a:gd name="adj" fmla="val 6667"/>
            </a:avLst>
          </a:prstGeom>
          <a:solidFill>
            <a:srgbClr val="FFFFFF"/>
          </a:solidFill>
          <a:ln w="6350">
            <a:solidFill>
              <a:srgbClr val="DDDDEE"/>
            </a:solidFill>
            <a:prstDash val="solid"/>
          </a:ln>
        </p:spPr>
      </p:sp>
      <p:sp>
        <p:nvSpPr>
          <p:cNvPr id="7" name="Text 5"/>
          <p:cNvSpPr/>
          <p:nvPr/>
        </p:nvSpPr>
        <p:spPr>
          <a:xfrm>
            <a:off x="685800" y="1051560"/>
            <a:ext cx="7772400" cy="11887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What is 24 × 50? What is 24 × 2?</a:t>
            </a:r>
            <a:endParaRPr lang="en-US" sz="1800" dirty="0"/>
          </a:p>
        </p:txBody>
      </p:sp>
      <p:sp>
        <p:nvSpPr>
          <p:cNvPr id="8" name="Shape 6"/>
          <p:cNvSpPr/>
          <p:nvPr/>
        </p:nvSpPr>
        <p:spPr>
          <a:xfrm>
            <a:off x="457200" y="2468880"/>
            <a:ext cx="8229600" cy="1371600"/>
          </a:xfrm>
          <a:prstGeom prst="roundRect">
            <a:avLst>
              <a:gd name="adj" fmla="val 6667"/>
            </a:avLst>
          </a:prstGeom>
          <a:solidFill>
            <a:srgbClr val="EAE8F5"/>
          </a:solidFill>
          <a:ln w="6350">
            <a:solidFill>
              <a:srgbClr val="DDDDEE"/>
            </a:solidFill>
            <a:prstDash val="solid"/>
          </a:ln>
        </p:spPr>
      </p:sp>
      <p:sp>
        <p:nvSpPr>
          <p:cNvPr id="9" name="Text 7"/>
          <p:cNvSpPr/>
          <p:nvPr/>
        </p:nvSpPr>
        <p:spPr>
          <a:xfrm>
            <a:off x="685800" y="2560320"/>
            <a:ext cx="7772400" cy="11887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If you remove both chunks from 1,248, how many groups of 24 have you used?</a:t>
            </a:r>
            <a:endParaRPr lang="en-US" sz="1800" dirty="0"/>
          </a:p>
        </p:txBody>
      </p:sp>
      <p:sp>
        <p:nvSpPr>
          <p:cNvPr id="10" name="Shape 8"/>
          <p:cNvSpPr/>
          <p:nvPr/>
        </p:nvSpPr>
        <p:spPr>
          <a:xfrm>
            <a:off x="1371600" y="3977640"/>
            <a:ext cx="6400800" cy="438912"/>
          </a:xfrm>
          <a:prstGeom prst="roundRect">
            <a:avLst>
              <a:gd name="adj" fmla="val 12500"/>
            </a:avLst>
          </a:prstGeom>
          <a:solidFill>
            <a:srgbClr val="464EB8"/>
          </a:solidFill>
          <a:ln w="12700">
            <a:solidFill>
              <a:srgbClr val="464EB8"/>
            </a:solidFill>
            <a:prstDash val="solid"/>
          </a:ln>
        </p:spPr>
      </p:sp>
      <p:sp>
        <p:nvSpPr>
          <p:cNvPr id="11" name="Text 9"/>
          <p:cNvSpPr/>
          <p:nvPr/>
        </p:nvSpPr>
        <p:spPr>
          <a:xfrm>
            <a:off x="1371600" y="39776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24 × 50 and 24 × 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Today's Mission</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Hook</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2103120"/>
          </a:xfrm>
          <a:prstGeom prst="roundRect">
            <a:avLst>
              <a:gd name="adj" fmla="val 4348"/>
            </a:avLst>
          </a:prstGeom>
          <a:solidFill>
            <a:srgbClr val="FFFFFF"/>
          </a:solidFill>
          <a:ln w="6350">
            <a:solidFill>
              <a:srgbClr val="DDDDEE"/>
            </a:solidFill>
            <a:prstDash val="solid"/>
          </a:ln>
        </p:spPr>
      </p:sp>
      <p:sp>
        <p:nvSpPr>
          <p:cNvPr id="7" name="Text 5"/>
          <p:cNvSpPr/>
          <p:nvPr/>
        </p:nvSpPr>
        <p:spPr>
          <a:xfrm>
            <a:off x="685800" y="1143000"/>
            <a:ext cx="7772400" cy="1828800"/>
          </a:xfrm>
          <a:prstGeom prst="rect">
            <a:avLst/>
          </a:prstGeom>
          <a:noFill/>
          <a:ln/>
        </p:spPr>
        <p:txBody>
          <a:bodyPr wrap="square" lIns="0" tIns="0" rIns="0" bIns="0" rtlCol="0" anchor="ctr"/>
          <a:lstStyle/>
          <a:p>
            <a:pPr indent="0" marL="0">
              <a:buNone/>
            </a:pPr>
            <a:r>
              <a:rPr lang="en-US" sz="1800" b="1" dirty="0">
                <a:solidFill>
                  <a:srgbClr val="4A3D8F"/>
                </a:solidFill>
                <a:latin typeface="Cambria" pitchFamily="34" charset="0"/>
                <a:ea typeface="Cambria" pitchFamily="34" charset="-122"/>
                <a:cs typeface="Cambria" pitchFamily="34" charset="-120"/>
              </a:rPr>
              <a:t>A museum prints 1,248 exhibit cards. Each display case holds 24 cards. How can a large helpful chunk make 1,248 ÷ 24 easier?</a:t>
            </a:r>
            <a:endParaRPr lang="en-US" sz="1800" dirty="0"/>
          </a:p>
        </p:txBody>
      </p:sp>
      <p:sp>
        <p:nvSpPr>
          <p:cNvPr id="8" name="Shape 6"/>
          <p:cNvSpPr/>
          <p:nvPr/>
        </p:nvSpPr>
        <p:spPr>
          <a:xfrm>
            <a:off x="457200" y="3291840"/>
            <a:ext cx="8229600" cy="914400"/>
          </a:xfrm>
          <a:prstGeom prst="roundRect">
            <a:avLst>
              <a:gd name="adj" fmla="val 10000"/>
            </a:avLst>
          </a:prstGeom>
          <a:solidFill>
            <a:srgbClr val="EAE8F5"/>
          </a:solidFill>
          <a:ln w="6350">
            <a:solidFill>
              <a:srgbClr val="DDDDEE"/>
            </a:solidFill>
            <a:prstDash val="solid"/>
          </a:ln>
        </p:spPr>
      </p:sp>
      <p:sp>
        <p:nvSpPr>
          <p:cNvPr id="9" name="Text 7"/>
          <p:cNvSpPr/>
          <p:nvPr/>
        </p:nvSpPr>
        <p:spPr>
          <a:xfrm>
            <a:off x="685800" y="3337560"/>
            <a:ext cx="7772400" cy="822960"/>
          </a:xfrm>
          <a:prstGeom prst="rect">
            <a:avLst/>
          </a:prstGeom>
          <a:noFill/>
          <a:ln/>
        </p:spPr>
        <p:txBody>
          <a:bodyPr wrap="square" lIns="0" tIns="0" rIns="0" bIns="0" rtlCol="0" anchor="ctr"/>
          <a:lstStyle/>
          <a:p>
            <a:pPr indent="0" marL="0">
              <a:buNone/>
            </a:pPr>
            <a:r>
              <a:rPr lang="en-US" sz="1500" i="1" dirty="0">
                <a:solidFill>
                  <a:srgbClr val="5A5A7A"/>
                </a:solidFill>
              </a:rPr>
              <a:t>Remove one large chunk first, then finish with what is left.</a:t>
            </a:r>
            <a:endParaRPr lang="en-US" sz="1500" dirty="0"/>
          </a:p>
        </p:txBody>
      </p:sp>
      <p:sp>
        <p:nvSpPr>
          <p:cNvPr id="10" name="Shape 8"/>
          <p:cNvSpPr/>
          <p:nvPr/>
        </p:nvSpPr>
        <p:spPr>
          <a:xfrm>
            <a:off x="1828800" y="4343400"/>
            <a:ext cx="5486400" cy="438912"/>
          </a:xfrm>
          <a:prstGeom prst="roundRect">
            <a:avLst>
              <a:gd name="adj" fmla="val 12500"/>
            </a:avLst>
          </a:prstGeom>
          <a:solidFill>
            <a:srgbClr val="464EB8"/>
          </a:solidFill>
          <a:ln w="12700">
            <a:solidFill>
              <a:srgbClr val="464EB8"/>
            </a:solidFill>
            <a:prstDash val="solid"/>
          </a:ln>
        </p:spPr>
      </p:sp>
      <p:sp>
        <p:nvSpPr>
          <p:cNvPr id="11" name="Text 9"/>
          <p:cNvSpPr/>
          <p:nvPr/>
        </p:nvSpPr>
        <p:spPr>
          <a:xfrm>
            <a:off x="1828800" y="434340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best guess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Notice &amp; Wonder</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Warm-Up</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051560"/>
            <a:ext cx="7772400" cy="1828800"/>
          </a:xfrm>
          <a:prstGeom prst="rect">
            <a:avLst/>
          </a:prstGeom>
          <a:noFill/>
          <a:ln/>
        </p:spPr>
        <p:txBody>
          <a:bodyPr wrap="square" lIns="0" tIns="0" rIns="0" bIns="0" rtlCol="0" anchor="ctr"/>
          <a:lstStyle/>
          <a:p>
            <a:pPr indent="0" marL="0">
              <a:buNone/>
            </a:pPr>
            <a:r>
              <a:rPr lang="en-US" sz="2000" dirty="0">
                <a:solidFill>
                  <a:srgbClr val="1A1A2E"/>
                </a:solidFill>
                <a:latin typeface="Cambria" pitchFamily="34" charset="0"/>
                <a:ea typeface="Cambria" pitchFamily="34" charset="-122"/>
                <a:cs typeface="Cambria" pitchFamily="34" charset="-120"/>
              </a:rPr>
              <a:t>1,248 ÷ 24</a:t>
            </a:r>
            <a:endParaRPr lang="en-US" sz="2000" dirty="0"/>
          </a:p>
          <a:p>
            <a:pPr indent="0" marL="0">
              <a:buNone/>
            </a:pPr>
            <a:r>
              <a:rPr lang="en-US" sz="2000" dirty="0">
                <a:solidFill>
                  <a:srgbClr val="1A1A2E"/>
                </a:solidFill>
                <a:latin typeface="Cambria" pitchFamily="34" charset="0"/>
                <a:ea typeface="Cambria" pitchFamily="34" charset="-122"/>
                <a:cs typeface="Cambria" pitchFamily="34" charset="-120"/>
              </a:rPr>
              <a:t>(1,248 exhibit cards, cases of 24)</a:t>
            </a:r>
            <a:endParaRPr lang="en-US" sz="2000" dirty="0"/>
          </a:p>
        </p:txBody>
      </p:sp>
      <p:sp>
        <p:nvSpPr>
          <p:cNvPr id="8" name="Shape 6"/>
          <p:cNvSpPr/>
          <p:nvPr/>
        </p:nvSpPr>
        <p:spPr>
          <a:xfrm>
            <a:off x="457200" y="3154680"/>
            <a:ext cx="3931920" cy="1508760"/>
          </a:xfrm>
          <a:prstGeom prst="roundRect">
            <a:avLst>
              <a:gd name="adj" fmla="val 6061"/>
            </a:avLst>
          </a:prstGeom>
          <a:solidFill>
            <a:srgbClr val="EAE8F5"/>
          </a:solidFill>
          <a:ln w="6350">
            <a:solidFill>
              <a:srgbClr val="DDDDEE"/>
            </a:solidFill>
            <a:prstDash val="solid"/>
          </a:ln>
        </p:spPr>
      </p:sp>
      <p:sp>
        <p:nvSpPr>
          <p:cNvPr id="9" name="Text 7"/>
          <p:cNvSpPr/>
          <p:nvPr/>
        </p:nvSpPr>
        <p:spPr>
          <a:xfrm>
            <a:off x="640080" y="3246120"/>
            <a:ext cx="3566160" cy="347472"/>
          </a:xfrm>
          <a:prstGeom prst="rect">
            <a:avLst/>
          </a:prstGeom>
          <a:noFill/>
          <a:ln/>
        </p:spPr>
        <p:txBody>
          <a:bodyPr wrap="square" lIns="0" tIns="0" rIns="0" bIns="0" rtlCol="0" anchor="ctr"/>
          <a:lstStyle/>
          <a:p>
            <a:pPr indent="0" marL="0">
              <a:buNone/>
            </a:pPr>
            <a:r>
              <a:rPr lang="en-US" sz="1300" b="1" dirty="0">
                <a:solidFill>
                  <a:srgbClr val="4A3D8F"/>
                </a:solidFill>
              </a:rPr>
              <a:t>I notice...</a:t>
            </a:r>
            <a:endParaRPr lang="en-US" sz="1300" dirty="0"/>
          </a:p>
        </p:txBody>
      </p:sp>
      <p:sp>
        <p:nvSpPr>
          <p:cNvPr id="10" name="Shape 8"/>
          <p:cNvSpPr/>
          <p:nvPr/>
        </p:nvSpPr>
        <p:spPr>
          <a:xfrm>
            <a:off x="4754880" y="3154680"/>
            <a:ext cx="3931920" cy="1508760"/>
          </a:xfrm>
          <a:prstGeom prst="roundRect">
            <a:avLst>
              <a:gd name="adj" fmla="val 6061"/>
            </a:avLst>
          </a:prstGeom>
          <a:solidFill>
            <a:srgbClr val="E6F2EA"/>
          </a:solidFill>
          <a:ln w="6350">
            <a:solidFill>
              <a:srgbClr val="DDDDEE"/>
            </a:solidFill>
            <a:prstDash val="solid"/>
          </a:ln>
        </p:spPr>
      </p:sp>
      <p:sp>
        <p:nvSpPr>
          <p:cNvPr id="11" name="Text 9"/>
          <p:cNvSpPr/>
          <p:nvPr/>
        </p:nvSpPr>
        <p:spPr>
          <a:xfrm>
            <a:off x="4937760" y="3246120"/>
            <a:ext cx="3566160" cy="347472"/>
          </a:xfrm>
          <a:prstGeom prst="rect">
            <a:avLst/>
          </a:prstGeom>
          <a:noFill/>
          <a:ln/>
        </p:spPr>
        <p:txBody>
          <a:bodyPr wrap="square" lIns="0" tIns="0" rIns="0" bIns="0" rtlCol="0" anchor="ctr"/>
          <a:lstStyle/>
          <a:p>
            <a:pPr indent="0" marL="0">
              <a:buNone/>
            </a:pPr>
            <a:r>
              <a:rPr lang="en-US" sz="1300" b="1" dirty="0">
                <a:solidFill>
                  <a:srgbClr val="2E6E44"/>
                </a:solidFill>
              </a:rPr>
              <a:t>I wonder...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Concrete: One Large Chunk First</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Concrete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8229600" cy="365760"/>
          </a:xfrm>
          <a:prstGeom prst="roundRect">
            <a:avLst>
              <a:gd name="adj" fmla="val 25000"/>
            </a:avLst>
          </a:prstGeom>
          <a:solidFill>
            <a:srgbClr val="FFFFFF"/>
          </a:solidFill>
          <a:ln w="6350">
            <a:solidFill>
              <a:srgbClr val="DDDDEE"/>
            </a:solidFill>
            <a:prstDash val="solid"/>
          </a:ln>
        </p:spPr>
      </p:sp>
      <p:sp>
        <p:nvSpPr>
          <p:cNvPr id="7" name="Text 5"/>
          <p:cNvSpPr/>
          <p:nvPr/>
        </p:nvSpPr>
        <p:spPr>
          <a:xfrm>
            <a:off x="548640" y="914400"/>
            <a:ext cx="8046720" cy="365760"/>
          </a:xfrm>
          <a:prstGeom prst="rect">
            <a:avLst/>
          </a:prstGeom>
          <a:noFill/>
          <a:ln/>
        </p:spPr>
        <p:txBody>
          <a:bodyPr wrap="square" lIns="0" tIns="0" rIns="0" bIns="0" rtlCol="0" anchor="ctr"/>
          <a:lstStyle/>
          <a:p>
            <a:pPr algn="ctr" indent="0" marL="0">
              <a:buNone/>
            </a:pPr>
            <a:r>
              <a:rPr lang="en-US" sz="1200" b="1" dirty="0">
                <a:solidFill>
                  <a:srgbClr val="5A5A7A"/>
                </a:solidFill>
              </a:rPr>
              <a:t>1,248 exhibit cards -- remove a large chunk first, then finish what's left</a:t>
            </a:r>
            <a:endParaRPr lang="en-US" sz="1200" dirty="0"/>
          </a:p>
        </p:txBody>
      </p:sp>
      <p:sp>
        <p:nvSpPr>
          <p:cNvPr id="8" name="Shape 6"/>
          <p:cNvSpPr/>
          <p:nvPr/>
        </p:nvSpPr>
        <p:spPr>
          <a:xfrm>
            <a:off x="457200" y="1417320"/>
            <a:ext cx="8229600" cy="822960"/>
          </a:xfrm>
          <a:prstGeom prst="roundRect">
            <a:avLst>
              <a:gd name="adj" fmla="val 11111"/>
            </a:avLst>
          </a:prstGeom>
          <a:solidFill>
            <a:srgbClr val="3A6B9A"/>
          </a:solidFill>
          <a:ln w="6350">
            <a:solidFill>
              <a:srgbClr val="DDDDEE"/>
            </a:solidFill>
            <a:prstDash val="solid"/>
          </a:ln>
        </p:spPr>
      </p:sp>
      <p:sp>
        <p:nvSpPr>
          <p:cNvPr id="9" name="Text 7"/>
          <p:cNvSpPr/>
          <p:nvPr/>
        </p:nvSpPr>
        <p:spPr>
          <a:xfrm>
            <a:off x="640080" y="1463040"/>
            <a:ext cx="7863840" cy="731520"/>
          </a:xfrm>
          <a:prstGeom prst="rect">
            <a:avLst/>
          </a:prstGeom>
          <a:noFill/>
          <a:ln/>
        </p:spPr>
        <p:txBody>
          <a:bodyPr wrap="square" lIns="0" tIns="0" rIns="0" bIns="0" rtlCol="0" anchor="ctr"/>
          <a:lstStyle/>
          <a:p>
            <a:pPr algn="ctr" indent="0" marL="0">
              <a:buNone/>
            </a:pPr>
            <a:r>
              <a:rPr lang="en-US" sz="2000" b="1" dirty="0">
                <a:solidFill>
                  <a:srgbClr val="FFFFFF"/>
                </a:solidFill>
              </a:rPr>
              <a:t>1,248 left</a:t>
            </a:r>
            <a:endParaRPr lang="en-US" sz="2000" dirty="0"/>
          </a:p>
        </p:txBody>
      </p:sp>
      <p:sp>
        <p:nvSpPr>
          <p:cNvPr id="10" name="Shape 8"/>
          <p:cNvSpPr/>
          <p:nvPr/>
        </p:nvSpPr>
        <p:spPr>
          <a:xfrm>
            <a:off x="457200" y="2377440"/>
            <a:ext cx="7818120" cy="822960"/>
          </a:xfrm>
          <a:prstGeom prst="roundRect">
            <a:avLst>
              <a:gd name="adj" fmla="val 11111"/>
            </a:avLst>
          </a:prstGeom>
          <a:solidFill>
            <a:srgbClr val="2DB87A"/>
          </a:solidFill>
          <a:ln w="6350">
            <a:solidFill>
              <a:srgbClr val="DDDDEE"/>
            </a:solidFill>
            <a:prstDash val="solid"/>
          </a:ln>
        </p:spPr>
      </p:sp>
      <p:sp>
        <p:nvSpPr>
          <p:cNvPr id="11" name="Text 9"/>
          <p:cNvSpPr/>
          <p:nvPr/>
        </p:nvSpPr>
        <p:spPr>
          <a:xfrm>
            <a:off x="640080" y="2423160"/>
            <a:ext cx="7452360" cy="731520"/>
          </a:xfrm>
          <a:prstGeom prst="rect">
            <a:avLst/>
          </a:prstGeom>
          <a:noFill/>
          <a:ln/>
        </p:spPr>
        <p:txBody>
          <a:bodyPr wrap="square" lIns="0" tIns="0" rIns="0" bIns="0" rtlCol="0" anchor="ctr"/>
          <a:lstStyle/>
          <a:p>
            <a:pPr algn="ctr" indent="0" marL="0">
              <a:buNone/>
            </a:pPr>
            <a:r>
              <a:rPr lang="en-US" sz="1600" b="1" dirty="0">
                <a:solidFill>
                  <a:srgbClr val="FFFFFF"/>
                </a:solidFill>
              </a:rPr>
              <a:t>Remove 50 groups of 24 = 1,200  →  48 left</a:t>
            </a:r>
            <a:endParaRPr lang="en-US" sz="1600" dirty="0"/>
          </a:p>
        </p:txBody>
      </p:sp>
      <p:sp>
        <p:nvSpPr>
          <p:cNvPr id="12" name="Shape 10"/>
          <p:cNvSpPr/>
          <p:nvPr/>
        </p:nvSpPr>
        <p:spPr>
          <a:xfrm>
            <a:off x="457200" y="3337560"/>
            <a:ext cx="411480" cy="822960"/>
          </a:xfrm>
          <a:prstGeom prst="roundRect">
            <a:avLst>
              <a:gd name="adj" fmla="val 22222"/>
            </a:avLst>
          </a:prstGeom>
          <a:solidFill>
            <a:srgbClr val="D9941A"/>
          </a:solidFill>
          <a:ln w="6350">
            <a:solidFill>
              <a:srgbClr val="DDDDEE"/>
            </a:solidFill>
            <a:prstDash val="solid"/>
          </a:ln>
        </p:spPr>
      </p:sp>
      <p:sp>
        <p:nvSpPr>
          <p:cNvPr id="13" name="Text 11"/>
          <p:cNvSpPr/>
          <p:nvPr/>
        </p:nvSpPr>
        <p:spPr>
          <a:xfrm>
            <a:off x="457200" y="3337560"/>
            <a:ext cx="411480" cy="822960"/>
          </a:xfrm>
          <a:prstGeom prst="rect">
            <a:avLst/>
          </a:prstGeom>
          <a:noFill/>
          <a:ln/>
        </p:spPr>
        <p:txBody>
          <a:bodyPr wrap="square" lIns="0" tIns="0" rIns="0" bIns="0" rtlCol="0" anchor="ctr"/>
          <a:lstStyle/>
          <a:p>
            <a:pPr indent="0" marL="0">
              <a:buNone/>
            </a:pPr>
            <a:endParaRPr lang="en-US" sz="800" dirty="0"/>
          </a:p>
        </p:txBody>
      </p:sp>
      <p:sp>
        <p:nvSpPr>
          <p:cNvPr id="14" name="Shape 12"/>
          <p:cNvSpPr/>
          <p:nvPr/>
        </p:nvSpPr>
        <p:spPr>
          <a:xfrm>
            <a:off x="4754880" y="3337560"/>
            <a:ext cx="3931920" cy="822960"/>
          </a:xfrm>
          <a:prstGeom prst="roundRect">
            <a:avLst>
              <a:gd name="adj" fmla="val 11111"/>
            </a:avLst>
          </a:prstGeom>
          <a:solidFill>
            <a:srgbClr val="E6F2EA"/>
          </a:solidFill>
          <a:ln w="6350">
            <a:solidFill>
              <a:srgbClr val="DDDDEE"/>
            </a:solidFill>
            <a:prstDash val="solid"/>
          </a:ln>
        </p:spPr>
      </p:sp>
      <p:sp>
        <p:nvSpPr>
          <p:cNvPr id="15" name="Text 13"/>
          <p:cNvSpPr/>
          <p:nvPr/>
        </p:nvSpPr>
        <p:spPr>
          <a:xfrm>
            <a:off x="4937760" y="3383280"/>
            <a:ext cx="3566160" cy="731520"/>
          </a:xfrm>
          <a:prstGeom prst="rect">
            <a:avLst/>
          </a:prstGeom>
          <a:noFill/>
          <a:ln/>
        </p:spPr>
        <p:txBody>
          <a:bodyPr wrap="square" lIns="0" tIns="0" rIns="0" bIns="0" rtlCol="0" anchor="ctr"/>
          <a:lstStyle/>
          <a:p>
            <a:pPr indent="0" marL="0">
              <a:buNone/>
            </a:pPr>
            <a:r>
              <a:rPr lang="en-US" sz="1300" b="1" dirty="0">
                <a:solidFill>
                  <a:srgbClr val="1A1A2E"/>
                </a:solidFill>
              </a:rPr>
              <a:t>Remove 2 groups of 24 = 48  →  0 left. Total: 50 + 2 = 52 groups.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Pictorial: Two Chunks, One Total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Pictorial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97280"/>
            <a:ext cx="8229600" cy="3291840"/>
          </a:xfrm>
          <a:prstGeom prst="roundRect">
            <a:avLst>
              <a:gd name="adj" fmla="val 2778"/>
            </a:avLst>
          </a:prstGeom>
          <a:solidFill>
            <a:srgbClr val="FFFFFF"/>
          </a:solidFill>
          <a:ln w="6350">
            <a:solidFill>
              <a:srgbClr val="DDDDEE"/>
            </a:solidFill>
            <a:prstDash val="solid"/>
          </a:ln>
        </p:spPr>
      </p:sp>
      <p:sp>
        <p:nvSpPr>
          <p:cNvPr id="7" name="Text 5"/>
          <p:cNvSpPr/>
          <p:nvPr/>
        </p:nvSpPr>
        <p:spPr>
          <a:xfrm>
            <a:off x="640080" y="1234440"/>
            <a:ext cx="7863840" cy="457200"/>
          </a:xfrm>
          <a:prstGeom prst="rect">
            <a:avLst/>
          </a:prstGeom>
          <a:noFill/>
          <a:ln/>
        </p:spPr>
        <p:txBody>
          <a:bodyPr wrap="square" lIns="0" tIns="0" rIns="0" bIns="0" rtlCol="0" anchor="ctr"/>
          <a:lstStyle/>
          <a:p>
            <a:pPr indent="0" marL="0">
              <a:buNone/>
            </a:pPr>
            <a:r>
              <a:rPr lang="en-US" sz="2000" b="1" dirty="0">
                <a:solidFill>
                  <a:srgbClr val="4A3D8F"/>
                </a:solidFill>
                <a:latin typeface="Cambria" pitchFamily="34" charset="0"/>
                <a:ea typeface="Cambria" pitchFamily="34" charset="-122"/>
                <a:cs typeface="Cambria" pitchFamily="34" charset="-120"/>
              </a:rPr>
              <a:t>1,008 ÷ 24</a:t>
            </a:r>
            <a:endParaRPr lang="en-US" sz="2000" dirty="0"/>
          </a:p>
        </p:txBody>
      </p:sp>
      <p:sp>
        <p:nvSpPr>
          <p:cNvPr id="8" name="Text 6"/>
          <p:cNvSpPr/>
          <p:nvPr/>
        </p:nvSpPr>
        <p:spPr>
          <a:xfrm>
            <a:off x="640080" y="1920240"/>
            <a:ext cx="7863840" cy="54864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Remove 40 groups: 40 × 24 = 960.   1,008 − 960 = 48 left.</a:t>
            </a:r>
            <a:endParaRPr lang="en-US" sz="1600" dirty="0"/>
          </a:p>
        </p:txBody>
      </p:sp>
      <p:sp>
        <p:nvSpPr>
          <p:cNvPr id="9" name="Text 7"/>
          <p:cNvSpPr/>
          <p:nvPr/>
        </p:nvSpPr>
        <p:spPr>
          <a:xfrm>
            <a:off x="640080" y="2514600"/>
            <a:ext cx="7863840" cy="54864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Remove 2 groups: 2 × 24 = 48.   48 − 48 = 0 left.</a:t>
            </a:r>
            <a:endParaRPr lang="en-US" sz="1600" dirty="0"/>
          </a:p>
        </p:txBody>
      </p:sp>
      <p:sp>
        <p:nvSpPr>
          <p:cNvPr id="10" name="Text 8"/>
          <p:cNvSpPr/>
          <p:nvPr/>
        </p:nvSpPr>
        <p:spPr>
          <a:xfrm>
            <a:off x="640080" y="3108960"/>
            <a:ext cx="7863840" cy="54864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Total groups: 40 + 2 = 42.   1,008 ÷ 24 = 42</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Abstract: The Large-Chunk Rule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Abstract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188720"/>
          </a:xfrm>
          <a:prstGeom prst="roundRect">
            <a:avLst>
              <a:gd name="adj" fmla="val 7692"/>
            </a:avLst>
          </a:prstGeom>
          <a:solidFill>
            <a:srgbClr val="EAE8F5"/>
          </a:solidFill>
          <a:ln w="6350">
            <a:solidFill>
              <a:srgbClr val="DDDDEE"/>
            </a:solidFill>
            <a:prstDash val="solid"/>
          </a:ln>
        </p:spPr>
      </p:sp>
      <p:sp>
        <p:nvSpPr>
          <p:cNvPr id="7" name="Text 5"/>
          <p:cNvSpPr/>
          <p:nvPr/>
        </p:nvSpPr>
        <p:spPr>
          <a:xfrm>
            <a:off x="640080" y="1143000"/>
            <a:ext cx="7863840" cy="914400"/>
          </a:xfrm>
          <a:prstGeom prst="rect">
            <a:avLst/>
          </a:prstGeom>
          <a:noFill/>
          <a:ln/>
        </p:spPr>
        <p:txBody>
          <a:bodyPr wrap="square" lIns="0" tIns="0" rIns="0" bIns="0" rtlCol="0" anchor="ctr"/>
          <a:lstStyle/>
          <a:p>
            <a:pPr algn="ctr" indent="0" marL="0">
              <a:buNone/>
            </a:pPr>
            <a:r>
              <a:rPr lang="en-US" sz="1800" b="1" dirty="0">
                <a:solidFill>
                  <a:srgbClr val="4A3D8F"/>
                </a:solidFill>
                <a:latin typeface="Cambria" pitchFamily="34" charset="0"/>
                <a:ea typeface="Cambria" pitchFamily="34" charset="-122"/>
                <a:cs typeface="Cambria" pitchFamily="34" charset="-120"/>
              </a:rPr>
              <a:t>1,248 ÷ 24 = 52   (50 + 2 groups)</a:t>
            </a:r>
            <a:endParaRPr lang="en-US" sz="1800" dirty="0"/>
          </a:p>
        </p:txBody>
      </p:sp>
      <p:sp>
        <p:nvSpPr>
          <p:cNvPr id="8" name="Shape 6"/>
          <p:cNvSpPr/>
          <p:nvPr/>
        </p:nvSpPr>
        <p:spPr>
          <a:xfrm>
            <a:off x="457200" y="2377440"/>
            <a:ext cx="8229600" cy="1737360"/>
          </a:xfrm>
          <a:prstGeom prst="roundRect">
            <a:avLst>
              <a:gd name="adj" fmla="val 5263"/>
            </a:avLst>
          </a:prstGeom>
          <a:solidFill>
            <a:srgbClr val="FFFFFF"/>
          </a:solidFill>
          <a:ln w="6350">
            <a:solidFill>
              <a:srgbClr val="DDDDEE"/>
            </a:solidFill>
            <a:prstDash val="solid"/>
          </a:ln>
        </p:spPr>
      </p:sp>
      <p:sp>
        <p:nvSpPr>
          <p:cNvPr id="9" name="Text 7"/>
          <p:cNvSpPr/>
          <p:nvPr/>
        </p:nvSpPr>
        <p:spPr>
          <a:xfrm>
            <a:off x="685800" y="2514600"/>
            <a:ext cx="7772400" cy="146304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Rule: for large numbers, choose a large chunk that is an easy exact multiple of the divisor first, then finish with a smaller chunk. Always check with multiplication.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Vocabulary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Key Terms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3977640" cy="1600200"/>
          </a:xfrm>
          <a:prstGeom prst="roundRect">
            <a:avLst>
              <a:gd name="adj" fmla="val 5714"/>
            </a:avLst>
          </a:prstGeom>
          <a:solidFill>
            <a:srgbClr val="FFFFFF"/>
          </a:solidFill>
          <a:ln w="6350">
            <a:solidFill>
              <a:srgbClr val="DDDDEE"/>
            </a:solidFill>
            <a:prstDash val="solid"/>
          </a:ln>
        </p:spPr>
      </p:sp>
      <p:sp>
        <p:nvSpPr>
          <p:cNvPr id="7" name="Text 5"/>
          <p:cNvSpPr/>
          <p:nvPr/>
        </p:nvSpPr>
        <p:spPr>
          <a:xfrm>
            <a:off x="640080" y="1069848"/>
            <a:ext cx="3657600" cy="45720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large chunk</a:t>
            </a:r>
            <a:endParaRPr lang="en-US" sz="1600" dirty="0"/>
          </a:p>
        </p:txBody>
      </p:sp>
      <p:sp>
        <p:nvSpPr>
          <p:cNvPr id="8" name="Text 6"/>
          <p:cNvSpPr/>
          <p:nvPr/>
        </p:nvSpPr>
        <p:spPr>
          <a:xfrm>
            <a:off x="640080" y="1581912"/>
            <a:ext cx="3657600" cy="868680"/>
          </a:xfrm>
          <a:prstGeom prst="rect">
            <a:avLst/>
          </a:prstGeom>
          <a:noFill/>
          <a:ln/>
        </p:spPr>
        <p:txBody>
          <a:bodyPr wrap="square" lIns="0" tIns="0" rIns="0" bIns="0" rtlCol="0" anchor="ctr"/>
          <a:lstStyle/>
          <a:p>
            <a:pPr indent="0" marL="0">
              <a:buNone/>
            </a:pPr>
            <a:r>
              <a:rPr lang="en-US" sz="1300" dirty="0">
                <a:solidFill>
                  <a:srgbClr val="1A1A2E"/>
                </a:solidFill>
              </a:rPr>
              <a:t>a big helpful amount removed first.</a:t>
            </a:r>
            <a:endParaRPr lang="en-US" sz="1300" dirty="0"/>
          </a:p>
        </p:txBody>
      </p:sp>
      <p:sp>
        <p:nvSpPr>
          <p:cNvPr id="9" name="Shape 7"/>
          <p:cNvSpPr/>
          <p:nvPr/>
        </p:nvSpPr>
        <p:spPr>
          <a:xfrm>
            <a:off x="4709160" y="960120"/>
            <a:ext cx="3977640" cy="1600200"/>
          </a:xfrm>
          <a:prstGeom prst="roundRect">
            <a:avLst>
              <a:gd name="adj" fmla="val 5714"/>
            </a:avLst>
          </a:prstGeom>
          <a:solidFill>
            <a:srgbClr val="FFFFFF"/>
          </a:solidFill>
          <a:ln w="6350">
            <a:solidFill>
              <a:srgbClr val="DDDDEE"/>
            </a:solidFill>
            <a:prstDash val="solid"/>
          </a:ln>
        </p:spPr>
      </p:sp>
      <p:sp>
        <p:nvSpPr>
          <p:cNvPr id="10" name="Text 8"/>
          <p:cNvSpPr/>
          <p:nvPr/>
        </p:nvSpPr>
        <p:spPr>
          <a:xfrm>
            <a:off x="4892040" y="1069848"/>
            <a:ext cx="3657600" cy="45720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partial quotient</a:t>
            </a:r>
            <a:endParaRPr lang="en-US" sz="1600" dirty="0"/>
          </a:p>
        </p:txBody>
      </p:sp>
      <p:sp>
        <p:nvSpPr>
          <p:cNvPr id="11" name="Text 9"/>
          <p:cNvSpPr/>
          <p:nvPr/>
        </p:nvSpPr>
        <p:spPr>
          <a:xfrm>
            <a:off x="4892040" y="1581912"/>
            <a:ext cx="3657600" cy="868680"/>
          </a:xfrm>
          <a:prstGeom prst="rect">
            <a:avLst/>
          </a:prstGeom>
          <a:noFill/>
          <a:ln/>
        </p:spPr>
        <p:txBody>
          <a:bodyPr wrap="square" lIns="0" tIns="0" rIns="0" bIns="0" rtlCol="0" anchor="ctr"/>
          <a:lstStyle/>
          <a:p>
            <a:pPr indent="0" marL="0">
              <a:buNone/>
            </a:pPr>
            <a:r>
              <a:rPr lang="en-US" sz="1300" dirty="0">
                <a:solidFill>
                  <a:srgbClr val="1A1A2E"/>
                </a:solidFill>
              </a:rPr>
              <a:t>one part of the final quotient.</a:t>
            </a:r>
            <a:endParaRPr lang="en-US" sz="1300" dirty="0"/>
          </a:p>
        </p:txBody>
      </p:sp>
      <p:sp>
        <p:nvSpPr>
          <p:cNvPr id="12" name="Shape 10"/>
          <p:cNvSpPr/>
          <p:nvPr/>
        </p:nvSpPr>
        <p:spPr>
          <a:xfrm>
            <a:off x="457200" y="2743200"/>
            <a:ext cx="3977640" cy="1600200"/>
          </a:xfrm>
          <a:prstGeom prst="roundRect">
            <a:avLst>
              <a:gd name="adj" fmla="val 5714"/>
            </a:avLst>
          </a:prstGeom>
          <a:solidFill>
            <a:srgbClr val="FFFFFF"/>
          </a:solidFill>
          <a:ln w="6350">
            <a:solidFill>
              <a:srgbClr val="DDDDEE"/>
            </a:solidFill>
            <a:prstDash val="solid"/>
          </a:ln>
        </p:spPr>
      </p:sp>
      <p:sp>
        <p:nvSpPr>
          <p:cNvPr id="13" name="Text 11"/>
          <p:cNvSpPr/>
          <p:nvPr/>
        </p:nvSpPr>
        <p:spPr>
          <a:xfrm>
            <a:off x="640080" y="2852928"/>
            <a:ext cx="3657600" cy="45720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remaining value</a:t>
            </a:r>
            <a:endParaRPr lang="en-US" sz="1600" dirty="0"/>
          </a:p>
        </p:txBody>
      </p:sp>
      <p:sp>
        <p:nvSpPr>
          <p:cNvPr id="14" name="Text 12"/>
          <p:cNvSpPr/>
          <p:nvPr/>
        </p:nvSpPr>
        <p:spPr>
          <a:xfrm>
            <a:off x="640080" y="3364992"/>
            <a:ext cx="3657600" cy="868680"/>
          </a:xfrm>
          <a:prstGeom prst="rect">
            <a:avLst/>
          </a:prstGeom>
          <a:noFill/>
          <a:ln/>
        </p:spPr>
        <p:txBody>
          <a:bodyPr wrap="square" lIns="0" tIns="0" rIns="0" bIns="0" rtlCol="0" anchor="ctr"/>
          <a:lstStyle/>
          <a:p>
            <a:pPr indent="0" marL="0">
              <a:buNone/>
            </a:pPr>
            <a:r>
              <a:rPr lang="en-US" sz="1300" dirty="0">
                <a:solidFill>
                  <a:srgbClr val="1A1A2E"/>
                </a:solidFill>
              </a:rPr>
              <a:t>the amount left after a chunk is removed.</a:t>
            </a:r>
            <a:endParaRPr lang="en-US" sz="1300" dirty="0"/>
          </a:p>
        </p:txBody>
      </p:sp>
      <p:sp>
        <p:nvSpPr>
          <p:cNvPr id="15" name="Shape 13"/>
          <p:cNvSpPr/>
          <p:nvPr/>
        </p:nvSpPr>
        <p:spPr>
          <a:xfrm>
            <a:off x="4709160" y="2743200"/>
            <a:ext cx="3977640" cy="1600200"/>
          </a:xfrm>
          <a:prstGeom prst="roundRect">
            <a:avLst>
              <a:gd name="adj" fmla="val 5714"/>
            </a:avLst>
          </a:prstGeom>
          <a:solidFill>
            <a:srgbClr val="FFFFFF"/>
          </a:solidFill>
          <a:ln w="6350">
            <a:solidFill>
              <a:srgbClr val="DDDDEE"/>
            </a:solidFill>
            <a:prstDash val="solid"/>
          </a:ln>
        </p:spPr>
      </p:sp>
      <p:sp>
        <p:nvSpPr>
          <p:cNvPr id="16" name="Text 14"/>
          <p:cNvSpPr/>
          <p:nvPr/>
        </p:nvSpPr>
        <p:spPr>
          <a:xfrm>
            <a:off x="4892040" y="2852928"/>
            <a:ext cx="3657600" cy="45720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check with multiplication</a:t>
            </a:r>
            <a:endParaRPr lang="en-US" sz="1600" dirty="0"/>
          </a:p>
        </p:txBody>
      </p:sp>
      <p:sp>
        <p:nvSpPr>
          <p:cNvPr id="17" name="Text 15"/>
          <p:cNvSpPr/>
          <p:nvPr/>
        </p:nvSpPr>
        <p:spPr>
          <a:xfrm>
            <a:off x="4892040" y="3364992"/>
            <a:ext cx="3657600" cy="868680"/>
          </a:xfrm>
          <a:prstGeom prst="rect">
            <a:avLst/>
          </a:prstGeom>
          <a:noFill/>
          <a:ln/>
        </p:spPr>
        <p:txBody>
          <a:bodyPr wrap="square" lIns="0" tIns="0" rIns="0" bIns="0" rtlCol="0" anchor="ctr"/>
          <a:lstStyle/>
          <a:p>
            <a:pPr indent="0" marL="0">
              <a:buNone/>
            </a:pPr>
            <a:r>
              <a:rPr lang="en-US" sz="1300" dirty="0">
                <a:solidFill>
                  <a:srgbClr val="1A1A2E"/>
                </a:solidFill>
              </a:rPr>
              <a:t>multiply the quotient by the divisor to check.</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 Watch &amp; Follow</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Guided Practice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D9941A"/>
          </a:solidFill>
          <a:ln w="12700">
            <a:solidFill>
              <a:srgbClr val="D9941A"/>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Shape 6"/>
          <p:cNvSpPr/>
          <p:nvPr/>
        </p:nvSpPr>
        <p:spPr>
          <a:xfrm>
            <a:off x="457200" y="1371600"/>
            <a:ext cx="8229600" cy="2743200"/>
          </a:xfrm>
          <a:prstGeom prst="roundRect">
            <a:avLst>
              <a:gd name="adj" fmla="val 3333"/>
            </a:avLst>
          </a:prstGeom>
          <a:solidFill>
            <a:srgbClr val="FFFFFF"/>
          </a:solidFill>
          <a:ln w="6350">
            <a:solidFill>
              <a:srgbClr val="DDDDEE"/>
            </a:solidFill>
            <a:prstDash val="solid"/>
          </a:ln>
        </p:spPr>
      </p:sp>
      <p:sp>
        <p:nvSpPr>
          <p:cNvPr id="9" name="Text 7"/>
          <p:cNvSpPr/>
          <p:nvPr/>
        </p:nvSpPr>
        <p:spPr>
          <a:xfrm>
            <a:off x="640080" y="1463040"/>
            <a:ext cx="7863840" cy="457200"/>
          </a:xfrm>
          <a:prstGeom prst="rect">
            <a:avLst/>
          </a:prstGeom>
          <a:noFill/>
          <a:ln/>
        </p:spPr>
        <p:txBody>
          <a:bodyPr wrap="square" lIns="0" tIns="0" rIns="0" bIns="0" rtlCol="0" anchor="ctr"/>
          <a:lstStyle/>
          <a:p>
            <a:pPr indent="0" marL="0">
              <a:buNone/>
            </a:pPr>
            <a:r>
              <a:rPr lang="en-US" sz="1800" b="1" dirty="0">
                <a:solidFill>
                  <a:srgbClr val="1A1A2E"/>
                </a:solidFill>
                <a:latin typeface="Cambria" pitchFamily="34" charset="0"/>
                <a:ea typeface="Cambria" pitchFamily="34" charset="-122"/>
                <a:cs typeface="Cambria" pitchFamily="34" charset="-120"/>
              </a:rPr>
              <a:t>Find 3,024 ÷ 18.</a:t>
            </a:r>
            <a:endParaRPr lang="en-US" sz="1800" dirty="0"/>
          </a:p>
        </p:txBody>
      </p:sp>
      <p:sp>
        <p:nvSpPr>
          <p:cNvPr id="10" name="Text 8"/>
          <p:cNvSpPr/>
          <p:nvPr/>
        </p:nvSpPr>
        <p:spPr>
          <a:xfrm>
            <a:off x="822960" y="1920240"/>
            <a:ext cx="7498080" cy="41148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1. Remove 100 groups: 100 × 18 = 1,800. 3,024 − 1,800 = 1,224 left.</a:t>
            </a:r>
            <a:endParaRPr lang="en-US" sz="1300" dirty="0"/>
          </a:p>
        </p:txBody>
      </p:sp>
      <p:sp>
        <p:nvSpPr>
          <p:cNvPr id="11" name="Text 9"/>
          <p:cNvSpPr/>
          <p:nvPr/>
        </p:nvSpPr>
        <p:spPr>
          <a:xfrm>
            <a:off x="822960" y="2377440"/>
            <a:ext cx="7498080" cy="41148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2. Remove 60 groups: 60 × 18 = 1,080. 1,224 − 1,080 = 144 left.</a:t>
            </a:r>
            <a:endParaRPr lang="en-US" sz="1300" dirty="0"/>
          </a:p>
        </p:txBody>
      </p:sp>
      <p:sp>
        <p:nvSpPr>
          <p:cNvPr id="12" name="Text 10"/>
          <p:cNvSpPr/>
          <p:nvPr/>
        </p:nvSpPr>
        <p:spPr>
          <a:xfrm>
            <a:off x="822960" y="2834640"/>
            <a:ext cx="7498080" cy="41148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3. Remove 8 groups: 8 × 18 = 144. 144 − 144 = 0 left.</a:t>
            </a:r>
            <a:endParaRPr lang="en-US" sz="1300" dirty="0"/>
          </a:p>
        </p:txBody>
      </p:sp>
      <p:sp>
        <p:nvSpPr>
          <p:cNvPr id="13" name="Text 11"/>
          <p:cNvSpPr/>
          <p:nvPr/>
        </p:nvSpPr>
        <p:spPr>
          <a:xfrm>
            <a:off x="822960" y="3291840"/>
            <a:ext cx="7498080" cy="41148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4. Total: 100 + 60 + 8 = 168. Check: 168 × 18 = 3,024.</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Gap Fill: Verify a Splitting Strategy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Guided Practice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D9941A"/>
          </a:solidFill>
          <a:ln w="12700">
            <a:solidFill>
              <a:srgbClr val="D9941A"/>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Shape 6"/>
          <p:cNvSpPr/>
          <p:nvPr/>
        </p:nvSpPr>
        <p:spPr>
          <a:xfrm>
            <a:off x="457200" y="1371600"/>
            <a:ext cx="8229600" cy="2743200"/>
          </a:xfrm>
          <a:prstGeom prst="roundRect">
            <a:avLst>
              <a:gd name="adj" fmla="val 3333"/>
            </a:avLst>
          </a:prstGeom>
          <a:solidFill>
            <a:srgbClr val="FFFFFF"/>
          </a:solidFill>
          <a:ln w="6350">
            <a:solidFill>
              <a:srgbClr val="DDDDEE"/>
            </a:solidFill>
            <a:prstDash val="solid"/>
          </a:ln>
        </p:spPr>
      </p:sp>
      <p:sp>
        <p:nvSpPr>
          <p:cNvPr id="9" name="Text 7"/>
          <p:cNvSpPr/>
          <p:nvPr/>
        </p:nvSpPr>
        <p:spPr>
          <a:xfrm>
            <a:off x="640080" y="1463040"/>
            <a:ext cx="7863840" cy="548640"/>
          </a:xfrm>
          <a:prstGeom prst="rect">
            <a:avLst/>
          </a:prstGeom>
          <a:noFill/>
          <a:ln/>
        </p:spPr>
        <p:txBody>
          <a:bodyPr wrap="square" lIns="0" tIns="0" rIns="0" bIns="0" rtlCol="0" anchor="ctr"/>
          <a:lstStyle/>
          <a:p>
            <a:pPr indent="0" marL="0">
              <a:buNone/>
            </a:pPr>
            <a:r>
              <a:rPr lang="en-US" sz="1400" b="1" dirty="0">
                <a:solidFill>
                  <a:srgbClr val="1A1A2E"/>
                </a:solidFill>
                <a:latin typeface="Cambria" pitchFamily="34" charset="0"/>
                <a:ea typeface="Cambria" pitchFamily="34" charset="-122"/>
                <a:cs typeface="Cambria" pitchFamily="34" charset="-120"/>
              </a:rPr>
              <a:t>Mira finds 3,456 ÷ 16 by splitting: 3,200 ÷ 16 = 200 and 256 ÷ 16 = 16, total 216.</a:t>
            </a:r>
            <a:endParaRPr lang="en-US" sz="1400" dirty="0"/>
          </a:p>
        </p:txBody>
      </p:sp>
      <p:sp>
        <p:nvSpPr>
          <p:cNvPr id="10" name="Text 8"/>
          <p:cNvSpPr/>
          <p:nvPr/>
        </p:nvSpPr>
        <p:spPr>
          <a:xfrm>
            <a:off x="822960" y="1965960"/>
            <a:ext cx="7498080" cy="36576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1. Check by long division: 16 × 200 = 3,200. 3,456 − 3,200 = 256 left.</a:t>
            </a:r>
            <a:endParaRPr lang="en-US" sz="1200" dirty="0"/>
          </a:p>
        </p:txBody>
      </p:sp>
      <p:sp>
        <p:nvSpPr>
          <p:cNvPr id="11" name="Text 9"/>
          <p:cNvSpPr/>
          <p:nvPr/>
        </p:nvSpPr>
        <p:spPr>
          <a:xfrm>
            <a:off x="822960" y="2377440"/>
            <a:ext cx="7498080" cy="36576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2. 256 ÷ 16 = 16 exactly.</a:t>
            </a:r>
            <a:endParaRPr lang="en-US" sz="1200" dirty="0"/>
          </a:p>
        </p:txBody>
      </p:sp>
      <p:sp>
        <p:nvSpPr>
          <p:cNvPr id="12" name="Text 10"/>
          <p:cNvSpPr/>
          <p:nvPr/>
        </p:nvSpPr>
        <p:spPr>
          <a:xfrm>
            <a:off x="822960" y="2788920"/>
            <a:ext cx="7498080" cy="36576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3. Total: 200 + 16 = 216. Mira's splitting strategy is correct!</a:t>
            </a:r>
            <a:endParaRPr lang="en-US" sz="1200" dirty="0"/>
          </a:p>
        </p:txBody>
      </p:sp>
      <p:sp>
        <p:nvSpPr>
          <p:cNvPr id="13" name="Text 11"/>
          <p:cNvSpPr/>
          <p:nvPr/>
        </p:nvSpPr>
        <p:spPr>
          <a:xfrm>
            <a:off x="822960" y="3200400"/>
            <a:ext cx="7498080" cy="36576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4. It works because 3,200 and 256 are both exact multiples of 16 -- splitting the dividend into easy chunks is the same idea as removing chunks.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Students Try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Independent Turn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188720"/>
            <a:ext cx="7772400" cy="1645920"/>
          </a:xfrm>
          <a:prstGeom prst="rect">
            <a:avLst/>
          </a:prstGeom>
          <a:noFill/>
          <a:ln/>
        </p:spPr>
        <p:txBody>
          <a:bodyPr wrap="square" lIns="0" tIns="0" rIns="0" bIns="0" rtlCol="0" anchor="ctr"/>
          <a:lstStyle/>
          <a:p>
            <a:pPr algn="ctr" indent="0" marL="0">
              <a:buNone/>
            </a:pPr>
            <a:r>
              <a:rPr lang="en-US" sz="2600" b="1" dirty="0">
                <a:solidFill>
                  <a:srgbClr val="4A3D8F"/>
                </a:solidFill>
                <a:latin typeface="Cambria" pitchFamily="34" charset="0"/>
                <a:ea typeface="Cambria" pitchFamily="34" charset="-122"/>
                <a:cs typeface="Cambria" pitchFamily="34" charset="-120"/>
              </a:rPr>
              <a:t>Find 2,184 ÷ 13.</a:t>
            </a:r>
            <a:endParaRPr lang="en-US" sz="2600" dirty="0"/>
          </a:p>
        </p:txBody>
      </p:sp>
      <p:sp>
        <p:nvSpPr>
          <p:cNvPr id="8" name="Shape 6"/>
          <p:cNvSpPr/>
          <p:nvPr/>
        </p:nvSpPr>
        <p:spPr>
          <a:xfrm>
            <a:off x="1828800" y="3291840"/>
            <a:ext cx="54864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1828800" y="329184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
        <p:nvSpPr>
          <p:cNvPr id="10" name="Shape 8"/>
          <p:cNvSpPr/>
          <p:nvPr/>
        </p:nvSpPr>
        <p:spPr>
          <a:xfrm>
            <a:off x="914400" y="3977640"/>
            <a:ext cx="7315200" cy="457200"/>
          </a:xfrm>
          <a:prstGeom prst="roundRect">
            <a:avLst>
              <a:gd name="adj" fmla="val 16000"/>
            </a:avLst>
          </a:prstGeom>
          <a:solidFill>
            <a:srgbClr val="1A5533"/>
          </a:solidFill>
          <a:ln w="12700">
            <a:solidFill>
              <a:srgbClr val="1A5533"/>
            </a:solidFill>
            <a:prstDash val="solid"/>
          </a:ln>
        </p:spPr>
      </p:sp>
      <p:sp>
        <p:nvSpPr>
          <p:cNvPr id="11" name="Text 9"/>
          <p:cNvSpPr/>
          <p:nvPr/>
        </p:nvSpPr>
        <p:spPr>
          <a:xfrm>
            <a:off x="914400" y="3977640"/>
            <a:ext cx="7315200" cy="457200"/>
          </a:xfrm>
          <a:prstGeom prst="rect">
            <a:avLst/>
          </a:prstGeom>
          <a:noFill/>
          <a:ln/>
        </p:spPr>
        <p:txBody>
          <a:bodyPr wrap="square" lIns="0" tIns="0" rIns="0" bIns="0" rtlCol="0" anchor="ctr"/>
          <a:lstStyle/>
          <a:p>
            <a:pPr algn="ctr" indent="0" marL="0">
              <a:buNone/>
            </a:pPr>
            <a:r>
              <a:rPr lang="en-US" sz="1200" dirty="0">
                <a:solidFill>
                  <a:srgbClr val="CCFFDD"/>
                </a:solidFill>
              </a:rPr>
              <a:t>Answer: 168 — remove 100 groups (1,300), then 60 groups (780), then 8 groups (104): 100+60+8=168.</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Connection Forward</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Where This Leads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188720"/>
            <a:ext cx="8229600" cy="2286000"/>
          </a:xfrm>
          <a:prstGeom prst="roundRect">
            <a:avLst>
              <a:gd name="adj" fmla="val 4000"/>
            </a:avLst>
          </a:prstGeom>
          <a:solidFill>
            <a:srgbClr val="EAE8F5"/>
          </a:solidFill>
          <a:ln w="6350">
            <a:solidFill>
              <a:srgbClr val="DDDDEE"/>
            </a:solidFill>
            <a:prstDash val="solid"/>
          </a:ln>
        </p:spPr>
      </p:sp>
      <p:sp>
        <p:nvSpPr>
          <p:cNvPr id="7" name="Text 5"/>
          <p:cNvSpPr/>
          <p:nvPr/>
        </p:nvSpPr>
        <p:spPr>
          <a:xfrm>
            <a:off x="685800" y="1371600"/>
            <a:ext cx="7772400" cy="192024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You've now multiplied and divided with 2-digit numbers at every size dividend. Next unit puts these skills to work solving multi-step word problems.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4,675 ÷ 23 = ?</a:t>
            </a:r>
            <a:endParaRPr lang="en-US" sz="2000" dirty="0"/>
          </a:p>
        </p:txBody>
      </p:sp>
      <p:sp>
        <p:nvSpPr>
          <p:cNvPr id="8" name="Shape 6"/>
          <p:cNvSpPr/>
          <p:nvPr/>
        </p:nvSpPr>
        <p:spPr>
          <a:xfrm>
            <a:off x="914400" y="2103120"/>
            <a:ext cx="192024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914400" y="2103120"/>
            <a:ext cx="1920240" cy="822960"/>
          </a:xfrm>
          <a:prstGeom prst="rect">
            <a:avLst/>
          </a:prstGeom>
          <a:noFill/>
          <a:ln/>
        </p:spPr>
        <p:txBody>
          <a:bodyPr wrap="square" lIns="0" tIns="0" rIns="0" bIns="0" rtlCol="0" anchor="ctr"/>
          <a:lstStyle/>
          <a:p>
            <a:pPr algn="ctr" indent="0" marL="0">
              <a:buNone/>
            </a:pPr>
            <a:r>
              <a:rPr lang="en-US" sz="2000" b="1" dirty="0">
                <a:solidFill>
                  <a:srgbClr val="1A1A2E"/>
                </a:solidFill>
              </a:rPr>
              <a:t>203 R 6</a:t>
            </a:r>
            <a:endParaRPr lang="en-US" sz="2000" dirty="0"/>
          </a:p>
        </p:txBody>
      </p:sp>
      <p:sp>
        <p:nvSpPr>
          <p:cNvPr id="10" name="Shape 8"/>
          <p:cNvSpPr/>
          <p:nvPr/>
        </p:nvSpPr>
        <p:spPr>
          <a:xfrm>
            <a:off x="3017520" y="2103120"/>
            <a:ext cx="192024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3017520" y="2103120"/>
            <a:ext cx="1920240" cy="822960"/>
          </a:xfrm>
          <a:prstGeom prst="rect">
            <a:avLst/>
          </a:prstGeom>
          <a:noFill/>
          <a:ln/>
        </p:spPr>
        <p:txBody>
          <a:bodyPr wrap="square" lIns="0" tIns="0" rIns="0" bIns="0" rtlCol="0" anchor="ctr"/>
          <a:lstStyle/>
          <a:p>
            <a:pPr algn="ctr" indent="0" marL="0">
              <a:buNone/>
            </a:pPr>
            <a:r>
              <a:rPr lang="en-US" sz="2000" b="1" dirty="0">
                <a:solidFill>
                  <a:srgbClr val="1A1A2E"/>
                </a:solidFill>
              </a:rPr>
              <a:t>200 R 75</a:t>
            </a:r>
            <a:endParaRPr lang="en-US" sz="2000" dirty="0"/>
          </a:p>
        </p:txBody>
      </p:sp>
      <p:sp>
        <p:nvSpPr>
          <p:cNvPr id="12" name="Shape 10"/>
          <p:cNvSpPr/>
          <p:nvPr/>
        </p:nvSpPr>
        <p:spPr>
          <a:xfrm>
            <a:off x="5120640" y="2103120"/>
            <a:ext cx="192024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5120640" y="2103120"/>
            <a:ext cx="1920240" cy="822960"/>
          </a:xfrm>
          <a:prstGeom prst="rect">
            <a:avLst/>
          </a:prstGeom>
          <a:noFill/>
          <a:ln/>
        </p:spPr>
        <p:txBody>
          <a:bodyPr wrap="square" lIns="0" tIns="0" rIns="0" bIns="0" rtlCol="0" anchor="ctr"/>
          <a:lstStyle/>
          <a:p>
            <a:pPr algn="ctr" indent="0" marL="0">
              <a:buNone/>
            </a:pPr>
            <a:r>
              <a:rPr lang="en-US" sz="2000" b="1" dirty="0">
                <a:solidFill>
                  <a:srgbClr val="1A1A2E"/>
                </a:solidFill>
              </a:rPr>
              <a:t>203 R 0</a:t>
            </a:r>
            <a:endParaRPr lang="en-US" sz="2000" dirty="0"/>
          </a:p>
        </p:txBody>
      </p:sp>
      <p:sp>
        <p:nvSpPr>
          <p:cNvPr id="14" name="Shape 12"/>
          <p:cNvSpPr/>
          <p:nvPr/>
        </p:nvSpPr>
        <p:spPr>
          <a:xfrm>
            <a:off x="7223760" y="2103120"/>
            <a:ext cx="91440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7223760" y="2103120"/>
            <a:ext cx="914400" cy="822960"/>
          </a:xfrm>
          <a:prstGeom prst="rect">
            <a:avLst/>
          </a:prstGeom>
          <a:noFill/>
          <a:ln/>
        </p:spPr>
        <p:txBody>
          <a:bodyPr wrap="square" lIns="0" tIns="0" rIns="0" bIns="0" rtlCol="0" anchor="ctr"/>
          <a:lstStyle/>
          <a:p>
            <a:pPr algn="ctr" indent="0" marL="0">
              <a:buNone/>
            </a:pPr>
            <a:r>
              <a:rPr lang="en-US" sz="2000" b="1" dirty="0">
                <a:solidFill>
                  <a:srgbClr val="1A1A2E"/>
                </a:solidFill>
              </a:rPr>
              <a:t>213 R 6</a:t>
            </a:r>
            <a:endParaRPr lang="en-US" sz="2000" dirty="0"/>
          </a:p>
        </p:txBody>
      </p:sp>
      <p:sp>
        <p:nvSpPr>
          <p:cNvPr id="16" name="Shape 14"/>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7" name="Text 15"/>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4,675 ÷ 23 = ?</a:t>
            </a:r>
            <a:endParaRPr lang="en-US" sz="2000" dirty="0"/>
          </a:p>
        </p:txBody>
      </p:sp>
      <p:sp>
        <p:nvSpPr>
          <p:cNvPr id="8" name="Shape 6"/>
          <p:cNvSpPr/>
          <p:nvPr/>
        </p:nvSpPr>
        <p:spPr>
          <a:xfrm>
            <a:off x="914400" y="2103120"/>
            <a:ext cx="1920240" cy="822960"/>
          </a:xfrm>
          <a:prstGeom prst="roundRect">
            <a:avLst>
              <a:gd name="adj" fmla="val 8889"/>
            </a:avLst>
          </a:prstGeom>
          <a:solidFill>
            <a:srgbClr val="2E6E44"/>
          </a:solidFill>
          <a:ln w="12700">
            <a:solidFill>
              <a:srgbClr val="2E6E44"/>
            </a:solidFill>
            <a:prstDash val="solid"/>
          </a:ln>
        </p:spPr>
      </p:sp>
      <p:sp>
        <p:nvSpPr>
          <p:cNvPr id="9" name="Text 7"/>
          <p:cNvSpPr/>
          <p:nvPr/>
        </p:nvSpPr>
        <p:spPr>
          <a:xfrm>
            <a:off x="914400" y="2103120"/>
            <a:ext cx="1920240" cy="822960"/>
          </a:xfrm>
          <a:prstGeom prst="rect">
            <a:avLst/>
          </a:prstGeom>
          <a:noFill/>
          <a:ln/>
        </p:spPr>
        <p:txBody>
          <a:bodyPr wrap="square" lIns="0" tIns="0" rIns="0" bIns="0" rtlCol="0" anchor="ctr"/>
          <a:lstStyle/>
          <a:p>
            <a:pPr algn="ctr" indent="0" marL="0">
              <a:buNone/>
            </a:pPr>
            <a:r>
              <a:rPr lang="en-US" sz="2000" b="1" dirty="0">
                <a:solidFill>
                  <a:srgbClr val="FFFFFF"/>
                </a:solidFill>
              </a:rPr>
              <a:t>203 R 6</a:t>
            </a:r>
            <a:endParaRPr lang="en-US" sz="2000" dirty="0"/>
          </a:p>
        </p:txBody>
      </p:sp>
      <p:sp>
        <p:nvSpPr>
          <p:cNvPr id="10" name="Shape 8"/>
          <p:cNvSpPr/>
          <p:nvPr/>
        </p:nvSpPr>
        <p:spPr>
          <a:xfrm>
            <a:off x="3017520" y="2103120"/>
            <a:ext cx="192024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3017520" y="2103120"/>
            <a:ext cx="1920240" cy="822960"/>
          </a:xfrm>
          <a:prstGeom prst="rect">
            <a:avLst/>
          </a:prstGeom>
          <a:noFill/>
          <a:ln/>
        </p:spPr>
        <p:txBody>
          <a:bodyPr wrap="square" lIns="0" tIns="0" rIns="0" bIns="0" rtlCol="0" anchor="ctr"/>
          <a:lstStyle/>
          <a:p>
            <a:pPr algn="ctr" indent="0" marL="0">
              <a:buNone/>
            </a:pPr>
            <a:r>
              <a:rPr lang="en-US" sz="2000" b="1" dirty="0">
                <a:solidFill>
                  <a:srgbClr val="1A1A2E"/>
                </a:solidFill>
              </a:rPr>
              <a:t>200 R 75</a:t>
            </a:r>
            <a:endParaRPr lang="en-US" sz="2000" dirty="0"/>
          </a:p>
        </p:txBody>
      </p:sp>
      <p:sp>
        <p:nvSpPr>
          <p:cNvPr id="12" name="Shape 10"/>
          <p:cNvSpPr/>
          <p:nvPr/>
        </p:nvSpPr>
        <p:spPr>
          <a:xfrm>
            <a:off x="5120640" y="2103120"/>
            <a:ext cx="192024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5120640" y="2103120"/>
            <a:ext cx="1920240" cy="822960"/>
          </a:xfrm>
          <a:prstGeom prst="rect">
            <a:avLst/>
          </a:prstGeom>
          <a:noFill/>
          <a:ln/>
        </p:spPr>
        <p:txBody>
          <a:bodyPr wrap="square" lIns="0" tIns="0" rIns="0" bIns="0" rtlCol="0" anchor="ctr"/>
          <a:lstStyle/>
          <a:p>
            <a:pPr algn="ctr" indent="0" marL="0">
              <a:buNone/>
            </a:pPr>
            <a:r>
              <a:rPr lang="en-US" sz="2000" b="1" dirty="0">
                <a:solidFill>
                  <a:srgbClr val="1A1A2E"/>
                </a:solidFill>
              </a:rPr>
              <a:t>203 R 0</a:t>
            </a:r>
            <a:endParaRPr lang="en-US" sz="2000" dirty="0"/>
          </a:p>
        </p:txBody>
      </p:sp>
      <p:sp>
        <p:nvSpPr>
          <p:cNvPr id="14" name="Shape 12"/>
          <p:cNvSpPr/>
          <p:nvPr/>
        </p:nvSpPr>
        <p:spPr>
          <a:xfrm>
            <a:off x="7223760" y="2103120"/>
            <a:ext cx="91440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7223760" y="2103120"/>
            <a:ext cx="914400" cy="822960"/>
          </a:xfrm>
          <a:prstGeom prst="rect">
            <a:avLst/>
          </a:prstGeom>
          <a:noFill/>
          <a:ln/>
        </p:spPr>
        <p:txBody>
          <a:bodyPr wrap="square" lIns="0" tIns="0" rIns="0" bIns="0" rtlCol="0" anchor="ctr"/>
          <a:lstStyle/>
          <a:p>
            <a:pPr algn="ctr" indent="0" marL="0">
              <a:buNone/>
            </a:pPr>
            <a:r>
              <a:rPr lang="en-US" sz="2000" b="1" dirty="0">
                <a:solidFill>
                  <a:srgbClr val="1A1A2E"/>
                </a:solidFill>
              </a:rPr>
              <a:t>213 R 6</a:t>
            </a:r>
            <a:endParaRPr lang="en-US" sz="2000" dirty="0"/>
          </a:p>
        </p:txBody>
      </p:sp>
      <p:sp>
        <p:nvSpPr>
          <p:cNvPr id="16" name="Text 14"/>
          <p:cNvSpPr/>
          <p:nvPr/>
        </p:nvSpPr>
        <p:spPr>
          <a:xfrm>
            <a:off x="914400" y="4773168"/>
            <a:ext cx="7315200" cy="365760"/>
          </a:xfrm>
          <a:prstGeom prst="rect">
            <a:avLst/>
          </a:prstGeom>
          <a:noFill/>
          <a:ln/>
        </p:spPr>
        <p:txBody>
          <a:bodyPr wrap="square" lIns="0" tIns="0" rIns="0" bIns="0" rtlCol="0" anchor="ctr"/>
          <a:lstStyle/>
          <a:p>
            <a:pPr algn="ctr" indent="0" marL="0">
              <a:buNone/>
            </a:pPr>
            <a:r>
              <a:rPr lang="en-US" sz="1200" dirty="0">
                <a:solidFill>
                  <a:srgbClr val="5A5A7A"/>
                </a:solidFill>
              </a:rPr>
              <a:t>Remove 200 groups of 23 = 4,600. 4,675 − 4,600 = 75 left. Remove 3 more groups of 23 = 69. 75 − 69 = 6 left. Total: 200 + 3 = 203, remainder 6.</a:t>
            </a:r>
            <a:endParaRPr lang="en-US" sz="1200" dirty="0"/>
          </a:p>
        </p:txBody>
      </p:sp>
      <p:sp>
        <p:nvSpPr>
          <p:cNvPr id="17" name="Shape 15"/>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8" name="Text 16"/>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Math Crew — What Do They Think?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Student Perspectives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228600" y="914400"/>
            <a:ext cx="4160520" cy="1554480"/>
          </a:xfrm>
          <a:prstGeom prst="roundRect">
            <a:avLst>
              <a:gd name="adj" fmla="val 5882"/>
            </a:avLst>
          </a:prstGeom>
          <a:solidFill>
            <a:srgbClr val="EAE8F5"/>
          </a:solidFill>
          <a:ln w="6350">
            <a:solidFill>
              <a:srgbClr val="DDDDEE"/>
            </a:solidFill>
            <a:prstDash val="solid"/>
          </a:ln>
        </p:spPr>
      </p:sp>
      <p:sp>
        <p:nvSpPr>
          <p:cNvPr id="7" name="Text 5"/>
          <p:cNvSpPr/>
          <p:nvPr/>
        </p:nvSpPr>
        <p:spPr>
          <a:xfrm>
            <a:off x="365760" y="1005840"/>
            <a:ext cx="3886200" cy="320040"/>
          </a:xfrm>
          <a:prstGeom prst="rect">
            <a:avLst/>
          </a:prstGeom>
          <a:noFill/>
          <a:ln/>
        </p:spPr>
        <p:txBody>
          <a:bodyPr wrap="square" lIns="0" tIns="0" rIns="0" bIns="0" rtlCol="0" anchor="ctr"/>
          <a:lstStyle/>
          <a:p>
            <a:pPr indent="0" marL="0">
              <a:buNone/>
            </a:pPr>
            <a:r>
              <a:rPr lang="en-US" sz="1400" b="1" dirty="0">
                <a:solidFill>
                  <a:srgbClr val="4A3D8F"/>
                </a:solidFill>
              </a:rPr>
              <a:t>Atlas</a:t>
            </a:r>
            <a:endParaRPr lang="en-US" sz="1400" dirty="0"/>
          </a:p>
        </p:txBody>
      </p:sp>
      <p:sp>
        <p:nvSpPr>
          <p:cNvPr id="8" name="Text 6"/>
          <p:cNvSpPr/>
          <p:nvPr/>
        </p:nvSpPr>
        <p:spPr>
          <a:xfrm>
            <a:off x="36576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pattern-spotter</a:t>
            </a:r>
            <a:endParaRPr lang="en-US" sz="900" dirty="0"/>
          </a:p>
        </p:txBody>
      </p:sp>
      <p:sp>
        <p:nvSpPr>
          <p:cNvPr id="9" name="Shape 7"/>
          <p:cNvSpPr/>
          <p:nvPr/>
        </p:nvSpPr>
        <p:spPr>
          <a:xfrm>
            <a:off x="365760" y="1572768"/>
            <a:ext cx="3886200" cy="0"/>
          </a:xfrm>
          <a:prstGeom prst="line">
            <a:avLst/>
          </a:prstGeom>
          <a:noFill/>
          <a:ln w="6350">
            <a:solidFill>
              <a:srgbClr val="CCCCCC"/>
            </a:solidFill>
            <a:prstDash val="solid"/>
          </a:ln>
        </p:spPr>
      </p:sp>
      <p:sp>
        <p:nvSpPr>
          <p:cNvPr id="10" name="Text 8"/>
          <p:cNvSpPr/>
          <p:nvPr/>
        </p:nvSpPr>
        <p:spPr>
          <a:xfrm>
            <a:off x="36576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noticed a really large chunk, like 50 or 100 groups, works exactly the same way as a small chunk -- it just saves a lot of steps.</a:t>
            </a:r>
            <a:endParaRPr lang="en-US" sz="1000" dirty="0"/>
          </a:p>
        </p:txBody>
      </p:sp>
      <p:sp>
        <p:nvSpPr>
          <p:cNvPr id="11" name="Shape 9"/>
          <p:cNvSpPr/>
          <p:nvPr/>
        </p:nvSpPr>
        <p:spPr>
          <a:xfrm>
            <a:off x="4709160" y="914400"/>
            <a:ext cx="4160520" cy="1554480"/>
          </a:xfrm>
          <a:prstGeom prst="roundRect">
            <a:avLst>
              <a:gd name="adj" fmla="val 5882"/>
            </a:avLst>
          </a:prstGeom>
          <a:solidFill>
            <a:srgbClr val="E6F2EA"/>
          </a:solidFill>
          <a:ln w="6350">
            <a:solidFill>
              <a:srgbClr val="DDDDEE"/>
            </a:solidFill>
            <a:prstDash val="solid"/>
          </a:ln>
        </p:spPr>
      </p:sp>
      <p:sp>
        <p:nvSpPr>
          <p:cNvPr id="12" name="Text 10"/>
          <p:cNvSpPr/>
          <p:nvPr/>
        </p:nvSpPr>
        <p:spPr>
          <a:xfrm>
            <a:off x="4846320" y="1005840"/>
            <a:ext cx="3886200" cy="320040"/>
          </a:xfrm>
          <a:prstGeom prst="rect">
            <a:avLst/>
          </a:prstGeom>
          <a:noFill/>
          <a:ln/>
        </p:spPr>
        <p:txBody>
          <a:bodyPr wrap="square" lIns="0" tIns="0" rIns="0" bIns="0" rtlCol="0" anchor="ctr"/>
          <a:lstStyle/>
          <a:p>
            <a:pPr indent="0" marL="0">
              <a:buNone/>
            </a:pPr>
            <a:r>
              <a:rPr lang="en-US" sz="1400" b="1" dirty="0">
                <a:solidFill>
                  <a:srgbClr val="2E6E44"/>
                </a:solidFill>
              </a:rPr>
              <a:t>Felix</a:t>
            </a:r>
            <a:endParaRPr lang="en-US" sz="1400" dirty="0"/>
          </a:p>
        </p:txBody>
      </p:sp>
      <p:sp>
        <p:nvSpPr>
          <p:cNvPr id="13" name="Text 11"/>
          <p:cNvSpPr/>
          <p:nvPr/>
        </p:nvSpPr>
        <p:spPr>
          <a:xfrm>
            <a:off x="484632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method-tester</a:t>
            </a:r>
            <a:endParaRPr lang="en-US" sz="900" dirty="0"/>
          </a:p>
        </p:txBody>
      </p:sp>
      <p:sp>
        <p:nvSpPr>
          <p:cNvPr id="14" name="Shape 12"/>
          <p:cNvSpPr/>
          <p:nvPr/>
        </p:nvSpPr>
        <p:spPr>
          <a:xfrm>
            <a:off x="4846320" y="1572768"/>
            <a:ext cx="3886200" cy="0"/>
          </a:xfrm>
          <a:prstGeom prst="line">
            <a:avLst/>
          </a:prstGeom>
          <a:noFill/>
          <a:ln w="6350">
            <a:solidFill>
              <a:srgbClr val="CCCCCC"/>
            </a:solidFill>
            <a:prstDash val="solid"/>
          </a:ln>
        </p:spPr>
      </p:sp>
      <p:sp>
        <p:nvSpPr>
          <p:cNvPr id="15" name="Text 13"/>
          <p:cNvSpPr/>
          <p:nvPr/>
        </p:nvSpPr>
        <p:spPr>
          <a:xfrm>
            <a:off x="484632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always check large division by multiplying the full quotient by the divisor. If the product doesn't match the dividend, one of my chunks was off.</a:t>
            </a:r>
            <a:endParaRPr lang="en-US" sz="1000" dirty="0"/>
          </a:p>
        </p:txBody>
      </p:sp>
      <p:sp>
        <p:nvSpPr>
          <p:cNvPr id="16" name="Shape 14"/>
          <p:cNvSpPr/>
          <p:nvPr/>
        </p:nvSpPr>
        <p:spPr>
          <a:xfrm>
            <a:off x="228600" y="2578608"/>
            <a:ext cx="4160520" cy="1554480"/>
          </a:xfrm>
          <a:prstGeom prst="roundRect">
            <a:avLst>
              <a:gd name="adj" fmla="val 5882"/>
            </a:avLst>
          </a:prstGeom>
          <a:solidFill>
            <a:srgbClr val="FEF6E4"/>
          </a:solidFill>
          <a:ln w="6350">
            <a:solidFill>
              <a:srgbClr val="DDDDEE"/>
            </a:solidFill>
            <a:prstDash val="solid"/>
          </a:ln>
        </p:spPr>
      </p:sp>
      <p:sp>
        <p:nvSpPr>
          <p:cNvPr id="17" name="Text 15"/>
          <p:cNvSpPr/>
          <p:nvPr/>
        </p:nvSpPr>
        <p:spPr>
          <a:xfrm>
            <a:off x="365760" y="2670048"/>
            <a:ext cx="3886200" cy="320040"/>
          </a:xfrm>
          <a:prstGeom prst="rect">
            <a:avLst/>
          </a:prstGeom>
          <a:noFill/>
          <a:ln/>
        </p:spPr>
        <p:txBody>
          <a:bodyPr wrap="square" lIns="0" tIns="0" rIns="0" bIns="0" rtlCol="0" anchor="ctr"/>
          <a:lstStyle/>
          <a:p>
            <a:pPr indent="0" marL="0">
              <a:buNone/>
            </a:pPr>
            <a:r>
              <a:rPr lang="en-US" sz="1400" b="1" dirty="0">
                <a:solidFill>
                  <a:srgbClr val="D9941A"/>
                </a:solidFill>
              </a:rPr>
              <a:t>Hazel</a:t>
            </a:r>
            <a:endParaRPr lang="en-US" sz="1400" dirty="0"/>
          </a:p>
        </p:txBody>
      </p:sp>
      <p:sp>
        <p:nvSpPr>
          <p:cNvPr id="18" name="Text 16"/>
          <p:cNvSpPr/>
          <p:nvPr/>
        </p:nvSpPr>
        <p:spPr>
          <a:xfrm>
            <a:off x="36576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visual thinker</a:t>
            </a:r>
            <a:endParaRPr lang="en-US" sz="900" dirty="0"/>
          </a:p>
        </p:txBody>
      </p:sp>
      <p:sp>
        <p:nvSpPr>
          <p:cNvPr id="19" name="Shape 17"/>
          <p:cNvSpPr/>
          <p:nvPr/>
        </p:nvSpPr>
        <p:spPr>
          <a:xfrm>
            <a:off x="365760" y="3236976"/>
            <a:ext cx="3886200" cy="0"/>
          </a:xfrm>
          <a:prstGeom prst="line">
            <a:avLst/>
          </a:prstGeom>
          <a:noFill/>
          <a:ln w="6350">
            <a:solidFill>
              <a:srgbClr val="CCCCCC"/>
            </a:solidFill>
            <a:prstDash val="solid"/>
          </a:ln>
        </p:spPr>
      </p:sp>
      <p:sp>
        <p:nvSpPr>
          <p:cNvPr id="20" name="Text 18"/>
          <p:cNvSpPr/>
          <p:nvPr/>
        </p:nvSpPr>
        <p:spPr>
          <a:xfrm>
            <a:off x="36576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picture the bar for 1,248 shrinking almost all the way down after just one big chunk, then finishing with a quick second step.</a:t>
            </a:r>
            <a:endParaRPr lang="en-US" sz="1000" dirty="0"/>
          </a:p>
        </p:txBody>
      </p:sp>
      <p:sp>
        <p:nvSpPr>
          <p:cNvPr id="21" name="Shape 19"/>
          <p:cNvSpPr/>
          <p:nvPr/>
        </p:nvSpPr>
        <p:spPr>
          <a:xfrm>
            <a:off x="4709160" y="2578608"/>
            <a:ext cx="4160520" cy="1554480"/>
          </a:xfrm>
          <a:prstGeom prst="roundRect">
            <a:avLst>
              <a:gd name="adj" fmla="val 5882"/>
            </a:avLst>
          </a:prstGeom>
          <a:solidFill>
            <a:srgbClr val="FEF0E6"/>
          </a:solidFill>
          <a:ln w="6350">
            <a:solidFill>
              <a:srgbClr val="DDDDEE"/>
            </a:solidFill>
            <a:prstDash val="solid"/>
          </a:ln>
        </p:spPr>
      </p:sp>
      <p:sp>
        <p:nvSpPr>
          <p:cNvPr id="22" name="Text 20"/>
          <p:cNvSpPr/>
          <p:nvPr/>
        </p:nvSpPr>
        <p:spPr>
          <a:xfrm>
            <a:off x="4846320" y="2670048"/>
            <a:ext cx="3886200" cy="320040"/>
          </a:xfrm>
          <a:prstGeom prst="rect">
            <a:avLst/>
          </a:prstGeom>
          <a:noFill/>
          <a:ln/>
        </p:spPr>
        <p:txBody>
          <a:bodyPr wrap="square" lIns="0" tIns="0" rIns="0" bIns="0" rtlCol="0" anchor="ctr"/>
          <a:lstStyle/>
          <a:p>
            <a:pPr indent="0" marL="0">
              <a:buNone/>
            </a:pPr>
            <a:r>
              <a:rPr lang="en-US" sz="1400" b="1" dirty="0">
                <a:solidFill>
                  <a:srgbClr val="C05818"/>
                </a:solidFill>
              </a:rPr>
              <a:t>Cora</a:t>
            </a:r>
            <a:endParaRPr lang="en-US" sz="1400" dirty="0"/>
          </a:p>
        </p:txBody>
      </p:sp>
      <p:sp>
        <p:nvSpPr>
          <p:cNvPr id="23" name="Text 21"/>
          <p:cNvSpPr/>
          <p:nvPr/>
        </p:nvSpPr>
        <p:spPr>
          <a:xfrm>
            <a:off x="484632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precise explainer</a:t>
            </a:r>
            <a:endParaRPr lang="en-US" sz="900" dirty="0"/>
          </a:p>
        </p:txBody>
      </p:sp>
      <p:sp>
        <p:nvSpPr>
          <p:cNvPr id="24" name="Shape 22"/>
          <p:cNvSpPr/>
          <p:nvPr/>
        </p:nvSpPr>
        <p:spPr>
          <a:xfrm>
            <a:off x="4846320" y="3236976"/>
            <a:ext cx="3886200" cy="0"/>
          </a:xfrm>
          <a:prstGeom prst="line">
            <a:avLst/>
          </a:prstGeom>
          <a:noFill/>
          <a:ln w="6350">
            <a:solidFill>
              <a:srgbClr val="CCCCCC"/>
            </a:solidFill>
            <a:prstDash val="solid"/>
          </a:ln>
        </p:spPr>
      </p:sp>
      <p:sp>
        <p:nvSpPr>
          <p:cNvPr id="25" name="Text 23"/>
          <p:cNvSpPr/>
          <p:nvPr/>
        </p:nvSpPr>
        <p:spPr>
          <a:xfrm>
            <a:off x="484632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The precise way to say it: every chunk removed is a partial quotient, no matter how large, and the partial quotients always sum to the final quotient.</a:t>
            </a:r>
            <a:endParaRPr lang="en-US" sz="1000" dirty="0"/>
          </a:p>
        </p:txBody>
      </p:sp>
      <p:sp>
        <p:nvSpPr>
          <p:cNvPr id="26" name="Shape 24"/>
          <p:cNvSpPr/>
          <p:nvPr/>
        </p:nvSpPr>
        <p:spPr>
          <a:xfrm>
            <a:off x="914400" y="4315968"/>
            <a:ext cx="7315200" cy="438912"/>
          </a:xfrm>
          <a:prstGeom prst="roundRect">
            <a:avLst>
              <a:gd name="adj" fmla="val 12500"/>
            </a:avLst>
          </a:prstGeom>
          <a:solidFill>
            <a:srgbClr val="464EB8"/>
          </a:solidFill>
          <a:ln w="12700">
            <a:solidFill>
              <a:srgbClr val="464EB8"/>
            </a:solidFill>
            <a:prstDash val="solid"/>
          </a:ln>
        </p:spPr>
      </p:sp>
      <p:sp>
        <p:nvSpPr>
          <p:cNvPr id="27" name="Text 25"/>
          <p:cNvSpPr/>
          <p:nvPr/>
        </p:nvSpPr>
        <p:spPr>
          <a:xfrm>
            <a:off x="914400" y="4315968"/>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crew member thinks most like you today?</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Before Next Class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Dismissal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960120"/>
          </a:xfrm>
          <a:prstGeom prst="roundRect">
            <a:avLst>
              <a:gd name="adj" fmla="val 9524"/>
            </a:avLst>
          </a:prstGeom>
          <a:solidFill>
            <a:srgbClr val="EAE8F5"/>
          </a:solidFill>
          <a:ln w="6350">
            <a:solidFill>
              <a:srgbClr val="DDDDEE"/>
            </a:solidFill>
            <a:prstDash val="solid"/>
          </a:ln>
        </p:spPr>
      </p:sp>
      <p:sp>
        <p:nvSpPr>
          <p:cNvPr id="7" name="Text 5"/>
          <p:cNvSpPr/>
          <p:nvPr/>
        </p:nvSpPr>
        <p:spPr>
          <a:xfrm>
            <a:off x="685800" y="1024128"/>
            <a:ext cx="7772400" cy="804672"/>
          </a:xfrm>
          <a:prstGeom prst="rect">
            <a:avLst/>
          </a:prstGeom>
          <a:noFill/>
          <a:ln/>
        </p:spPr>
        <p:txBody>
          <a:bodyPr wrap="square" lIns="0" tIns="0" rIns="0" bIns="0" rtlCol="0" anchor="ctr"/>
          <a:lstStyle/>
          <a:p>
            <a:pPr indent="0" marL="0">
              <a:buNone/>
            </a:pPr>
            <a:r>
              <a:rPr lang="en-US" sz="1700" b="1" dirty="0">
                <a:solidFill>
                  <a:srgbClr val="4A3D8F"/>
                </a:solidFill>
              </a:rPr>
              <a:t>Complete before your next class:</a:t>
            </a:r>
            <a:endParaRPr lang="en-US" sz="1700" dirty="0"/>
          </a:p>
        </p:txBody>
      </p:sp>
      <p:sp>
        <p:nvSpPr>
          <p:cNvPr id="8" name="Shape 6"/>
          <p:cNvSpPr/>
          <p:nvPr/>
        </p:nvSpPr>
        <p:spPr>
          <a:xfrm>
            <a:off x="457200" y="2057400"/>
            <a:ext cx="8229600" cy="731520"/>
          </a:xfrm>
          <a:prstGeom prst="roundRect">
            <a:avLst>
              <a:gd name="adj" fmla="val 12500"/>
            </a:avLst>
          </a:prstGeom>
          <a:solidFill>
            <a:srgbClr val="FFFFFF"/>
          </a:solidFill>
          <a:ln w="6350">
            <a:solidFill>
              <a:srgbClr val="DDDDEE"/>
            </a:solidFill>
            <a:prstDash val="solid"/>
          </a:ln>
        </p:spPr>
      </p:sp>
      <p:sp>
        <p:nvSpPr>
          <p:cNvPr id="9" name="Text 7"/>
          <p:cNvSpPr/>
          <p:nvPr/>
        </p:nvSpPr>
        <p:spPr>
          <a:xfrm>
            <a:off x="685800" y="2103120"/>
            <a:ext cx="7772400" cy="640080"/>
          </a:xfrm>
          <a:prstGeom prst="rect">
            <a:avLst/>
          </a:prstGeom>
          <a:noFill/>
          <a:ln/>
        </p:spPr>
        <p:txBody>
          <a:bodyPr wrap="square" lIns="0" tIns="0" rIns="0" bIns="0" rtlCol="0" anchor="ctr"/>
          <a:lstStyle/>
          <a:p>
            <a:pPr indent="0" marL="0">
              <a:buNone/>
            </a:pPr>
            <a:r>
              <a:rPr lang="en-US" sz="1500" dirty="0">
                <a:solidFill>
                  <a:srgbClr val="1A1A2E"/>
                </a:solidFill>
              </a:rPr>
              <a:t>1.  Complete the Independent Practice: dividing 4-digit by 2-digit numbers.</a:t>
            </a:r>
            <a:endParaRPr lang="en-US" sz="1500" dirty="0"/>
          </a:p>
        </p:txBody>
      </p:sp>
      <p:sp>
        <p:nvSpPr>
          <p:cNvPr id="10" name="Shape 8"/>
          <p:cNvSpPr/>
          <p:nvPr/>
        </p:nvSpPr>
        <p:spPr>
          <a:xfrm>
            <a:off x="457200" y="2926080"/>
            <a:ext cx="8229600" cy="731520"/>
          </a:xfrm>
          <a:prstGeom prst="roundRect">
            <a:avLst>
              <a:gd name="adj" fmla="val 12500"/>
            </a:avLst>
          </a:prstGeom>
          <a:solidFill>
            <a:srgbClr val="FFFFFF"/>
          </a:solidFill>
          <a:ln w="6350">
            <a:solidFill>
              <a:srgbClr val="DDDDEE"/>
            </a:solidFill>
            <a:prstDash val="solid"/>
          </a:ln>
        </p:spPr>
      </p:sp>
      <p:sp>
        <p:nvSpPr>
          <p:cNvPr id="11" name="Text 9"/>
          <p:cNvSpPr/>
          <p:nvPr/>
        </p:nvSpPr>
        <p:spPr>
          <a:xfrm>
            <a:off x="685800" y="2971800"/>
            <a:ext cx="7772400" cy="640080"/>
          </a:xfrm>
          <a:prstGeom prst="rect">
            <a:avLst/>
          </a:prstGeom>
          <a:noFill/>
          <a:ln/>
        </p:spPr>
        <p:txBody>
          <a:bodyPr wrap="square" lIns="0" tIns="0" rIns="0" bIns="0" rtlCol="0" anchor="ctr"/>
          <a:lstStyle/>
          <a:p>
            <a:pPr indent="0" marL="0">
              <a:buNone/>
            </a:pPr>
            <a:r>
              <a:rPr lang="en-US" sz="1500" dirty="0">
                <a:solidFill>
                  <a:srgbClr val="1A1A2E"/>
                </a:solidFill>
              </a:rPr>
              <a:t>2.  Finish the Show What You Know journal problems in Canvas.</a:t>
            </a:r>
            <a:endParaRPr lang="en-US" sz="1500" dirty="0"/>
          </a:p>
        </p:txBody>
      </p:sp>
      <p:sp>
        <p:nvSpPr>
          <p:cNvPr id="12" name="Shape 10"/>
          <p:cNvSpPr/>
          <p:nvPr/>
        </p:nvSpPr>
        <p:spPr>
          <a:xfrm>
            <a:off x="457200" y="3794760"/>
            <a:ext cx="8229600" cy="731520"/>
          </a:xfrm>
          <a:prstGeom prst="roundRect">
            <a:avLst>
              <a:gd name="adj" fmla="val 12500"/>
            </a:avLst>
          </a:prstGeom>
          <a:solidFill>
            <a:srgbClr val="FFFFFF"/>
          </a:solidFill>
          <a:ln w="6350">
            <a:solidFill>
              <a:srgbClr val="DDDDEE"/>
            </a:solidFill>
            <a:prstDash val="solid"/>
          </a:ln>
        </p:spPr>
      </p:sp>
      <p:sp>
        <p:nvSpPr>
          <p:cNvPr id="13" name="Text 11"/>
          <p:cNvSpPr/>
          <p:nvPr/>
        </p:nvSpPr>
        <p:spPr>
          <a:xfrm>
            <a:off x="685800" y="3840480"/>
            <a:ext cx="7772400" cy="640080"/>
          </a:xfrm>
          <a:prstGeom prst="rect">
            <a:avLst/>
          </a:prstGeom>
          <a:noFill/>
          <a:ln/>
        </p:spPr>
        <p:txBody>
          <a:bodyPr wrap="square" lIns="0" tIns="0" rIns="0" bIns="0" rtlCol="0" anchor="ctr"/>
          <a:lstStyle/>
          <a:p>
            <a:pPr indent="0" marL="0">
              <a:buNone/>
            </a:pPr>
            <a:r>
              <a:rPr lang="en-US" sz="1500" dirty="0">
                <a:solidFill>
                  <a:srgbClr val="1A1A2E"/>
                </a:solidFill>
              </a:rPr>
              <a:t>3.  Preview: next unit applies multiplication and division to multi-step word problems.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5.03.07 Divide a 4-Digit Number by a 2-Digit Number — Teacher Slides</dc:title>
  <dc:subject>PptxGenJS Presentation</dc:subject>
  <dc:creator>PptxGenJS</dc:creator>
  <cp:lastModifiedBy>PptxGenJS</cp:lastModifiedBy>
  <cp:revision>1</cp:revision>
  <dcterms:created xsi:type="dcterms:W3CDTF">2026-07-16T19:55:13Z</dcterms:created>
  <dcterms:modified xsi:type="dcterms:W3CDTF">2026-07-16T19:55:13Z</dcterms:modified>
</cp:coreProperties>
</file>