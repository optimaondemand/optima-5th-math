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(2 min). Give 60 sec silent think time. Every card can be defended -- listen for reasoning, not a single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(2 min). Give 60 sec silent think time. Every card can be defended -- listen for reasoning, not a single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today's vocabulary: numerator and denominator.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today's vocabulary: numerator and denominator.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mission: today a division problem becomes a fraction that tells a sharing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slide (1 min). Emphasize: the fraction bar IS a division sign -- numerator divided by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(3 min). Confirms students already know numerator/denominator before layering on division. Transition: "What if instead of 1 pizza, we shared 3 pizzas?"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Pose the essential question. Take a couple of guesses before moving to the model -- don't confirm or deny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Cut each flatbread into 4 equal pieces on the board. Physically move one piece from each flatbread into each hiker's pile. Say out loud: "each hiker ends up with 3 pieces, and each piece is a fourth."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The strip shows exactly what the flatbreads showed, just redrawn as one bar. Same 3-out-of-4 relationship, new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Write 3 ÷ 4 = 3/4 and 7 ÷ 4 = 7/4 side by side. Watch for: students who flip numerator and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Every IP problem asks whether the result is a fraction, whole number, or mixed number -- this closes that gap. Point out: 2 full strips get used up first, then whatever is left becomes the fraction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Atlas's rule only works when dividend &gt; divisor. Closes IP problem 5. Rule: compare numerator to denominator, not just 'which number is bigger' loosely -- name numerator and denominator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Call on students to use "numerator" and "denominator" in a sentence describing the flatbread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(3 min). Model on the board, narrating each step out loud. Draw a quick 5-cell strip with 3 shaded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(2 min). Cold-call a student to narrate whether the answer is more or less than 1 whole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5.04.02 -- adding unlike fractions.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Watch for students who flip numerator and denominator (writing denominator over numerator instead of numerator over denominator). Options display as stacked numerator/denominator, never slash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Watch for students who flip numerator and denominator (writing denominator over numerator instead of numerator over denominator). Options display as stacked numerator/denominator, never slash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74320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743200"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rPr>
              <a:t>WHICH ONE DOESN'T BELONG</a:t>
            </a:r>
            <a:endParaRPr lang="en-US" sz="800" dirty="0"/>
          </a:p>
        </p:txBody>
      </p:sp>
      <p:sp>
        <p:nvSpPr>
          <p:cNvPr id="5" name="Shape 3"/>
          <p:cNvSpPr/>
          <p:nvPr/>
        </p:nvSpPr>
        <p:spPr>
          <a:xfrm>
            <a:off x="2944368" y="164592"/>
            <a:ext cx="576072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944368" y="164592"/>
            <a:ext cx="5760720" cy="292608"/>
          </a:xfrm>
          <a:prstGeom prst="rect">
            <a:avLst/>
          </a:prstGeom>
          <a:noFill/>
          <a:ln/>
        </p:spPr>
        <p:txBody>
          <a:bodyPr wrap="square" lIns="0" tIns="0" rIns="0" bIns="0" rtlCol="0" anchor="ctr"/>
          <a:lstStyle/>
          <a:p>
            <a:pPr indent="0" marL="0">
              <a:buNone/>
            </a:pPr>
            <a:r>
              <a:rPr lang="en-US" sz="900" dirty="0">
                <a:solidFill>
                  <a:srgbClr val="FFFFFF"/>
                </a:solidFill>
              </a:rPr>
              <a:t>  ·  Lesson 5.04 · Fractions and Division</a:t>
            </a:r>
            <a:endParaRPr lang="en-US" sz="900" dirty="0"/>
          </a:p>
        </p:txBody>
      </p:sp>
      <p:sp>
        <p:nvSpPr>
          <p:cNvPr id="7" name="Shape 5"/>
          <p:cNvSpPr/>
          <p:nvPr/>
        </p:nvSpPr>
        <p:spPr>
          <a:xfrm>
            <a:off x="914400" y="1188720"/>
            <a:ext cx="3200400" cy="1371600"/>
          </a:xfrm>
          <a:prstGeom prst="roundRect">
            <a:avLst>
              <a:gd name="adj" fmla="val 6667"/>
            </a:avLst>
          </a:prstGeom>
          <a:solidFill>
            <a:srgbClr val="2A3B5A"/>
          </a:solidFill>
          <a:ln w="12700">
            <a:solidFill>
              <a:srgbClr val="4A5B8A"/>
            </a:solidFill>
            <a:prstDash val="solid"/>
          </a:ln>
        </p:spPr>
      </p:sp>
      <p:sp>
        <p:nvSpPr>
          <p:cNvPr id="8" name="Text 6"/>
          <p:cNvSpPr/>
          <p:nvPr/>
        </p:nvSpPr>
        <p:spPr>
          <a:xfrm>
            <a:off x="9144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 ÷ 4</a:t>
            </a:r>
            <a:endParaRPr lang="en-US" sz="2600" dirty="0"/>
          </a:p>
        </p:txBody>
      </p:sp>
      <p:sp>
        <p:nvSpPr>
          <p:cNvPr id="9" name="Shape 7"/>
          <p:cNvSpPr/>
          <p:nvPr/>
        </p:nvSpPr>
        <p:spPr>
          <a:xfrm>
            <a:off x="5029200" y="1188720"/>
            <a:ext cx="3200400" cy="1371600"/>
          </a:xfrm>
          <a:prstGeom prst="roundRect">
            <a:avLst>
              <a:gd name="adj" fmla="val 6667"/>
            </a:avLst>
          </a:prstGeom>
          <a:solidFill>
            <a:srgbClr val="2A3B5A"/>
          </a:solidFill>
          <a:ln w="12700">
            <a:solidFill>
              <a:srgbClr val="4A5B8A"/>
            </a:solidFill>
            <a:prstDash val="solid"/>
          </a:ln>
        </p:spPr>
      </p:sp>
      <p:sp>
        <p:nvSpPr>
          <p:cNvPr id="10" name="Text 8"/>
          <p:cNvSpPr/>
          <p:nvPr/>
        </p:nvSpPr>
        <p:spPr>
          <a:xfrm>
            <a:off x="50292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3/4</a:t>
            </a:r>
            <a:endParaRPr lang="en-US" sz="2600" dirty="0"/>
          </a:p>
        </p:txBody>
      </p:sp>
      <p:sp>
        <p:nvSpPr>
          <p:cNvPr id="11" name="Shape 9"/>
          <p:cNvSpPr/>
          <p:nvPr/>
        </p:nvSpPr>
        <p:spPr>
          <a:xfrm>
            <a:off x="914400" y="3017520"/>
            <a:ext cx="3200400" cy="1371600"/>
          </a:xfrm>
          <a:prstGeom prst="roundRect">
            <a:avLst>
              <a:gd name="adj" fmla="val 6667"/>
            </a:avLst>
          </a:prstGeom>
          <a:solidFill>
            <a:srgbClr val="2A3B5A"/>
          </a:solidFill>
          <a:ln w="12700">
            <a:solidFill>
              <a:srgbClr val="4A5B8A"/>
            </a:solidFill>
            <a:prstDash val="solid"/>
          </a:ln>
        </p:spPr>
      </p:sp>
      <p:sp>
        <p:nvSpPr>
          <p:cNvPr id="12" name="Text 10"/>
          <p:cNvSpPr/>
          <p:nvPr/>
        </p:nvSpPr>
        <p:spPr>
          <a:xfrm>
            <a:off x="9144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 ÷ 3</a:t>
            </a:r>
            <a:endParaRPr lang="en-US" sz="2600" dirty="0"/>
          </a:p>
        </p:txBody>
      </p:sp>
      <p:sp>
        <p:nvSpPr>
          <p:cNvPr id="13" name="Shape 11"/>
          <p:cNvSpPr/>
          <p:nvPr/>
        </p:nvSpPr>
        <p:spPr>
          <a:xfrm>
            <a:off x="5029200" y="3017520"/>
            <a:ext cx="3200400" cy="1371600"/>
          </a:xfrm>
          <a:prstGeom prst="roundRect">
            <a:avLst>
              <a:gd name="adj" fmla="val 6667"/>
            </a:avLst>
          </a:prstGeom>
          <a:solidFill>
            <a:srgbClr val="2A3B5A"/>
          </a:solidFill>
          <a:ln w="12700">
            <a:solidFill>
              <a:srgbClr val="4A5B8A"/>
            </a:solidFill>
            <a:prstDash val="solid"/>
          </a:ln>
        </p:spPr>
      </p:sp>
      <p:sp>
        <p:nvSpPr>
          <p:cNvPr id="14" name="Text 12"/>
          <p:cNvSpPr/>
          <p:nvPr/>
        </p:nvSpPr>
        <p:spPr>
          <a:xfrm>
            <a:off x="50292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0.75</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Every Answer Can Be Right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Which Doesn't Belong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60120"/>
            <a:ext cx="4069080" cy="1645920"/>
          </a:xfrm>
          <a:prstGeom prst="roundRect">
            <a:avLst>
              <a:gd name="adj" fmla="val 5556"/>
            </a:avLst>
          </a:prstGeom>
          <a:solidFill>
            <a:srgbClr val="EAE8F5"/>
          </a:solidFill>
          <a:ln w="6350">
            <a:solidFill>
              <a:srgbClr val="DDDDEE"/>
            </a:solidFill>
            <a:prstDash val="solid"/>
          </a:ln>
        </p:spPr>
      </p:sp>
      <p:sp>
        <p:nvSpPr>
          <p:cNvPr id="7" name="Text 5"/>
          <p:cNvSpPr/>
          <p:nvPr/>
        </p:nvSpPr>
        <p:spPr>
          <a:xfrm>
            <a:off x="5029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3 ÷ 4</a:t>
            </a:r>
            <a:endParaRPr lang="en-US" sz="1600" dirty="0"/>
          </a:p>
        </p:txBody>
      </p:sp>
      <p:sp>
        <p:nvSpPr>
          <p:cNvPr id="8" name="Text 6"/>
          <p:cNvSpPr/>
          <p:nvPr/>
        </p:nvSpPr>
        <p:spPr>
          <a:xfrm>
            <a:off x="5029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3 ÷ 4 -- this is the only one written as a division expression instead of a fraction or decimal.</a:t>
            </a:r>
            <a:endParaRPr lang="en-US" sz="1200" dirty="0"/>
          </a:p>
        </p:txBody>
      </p:sp>
      <p:sp>
        <p:nvSpPr>
          <p:cNvPr id="9" name="Shape 7"/>
          <p:cNvSpPr/>
          <p:nvPr/>
        </p:nvSpPr>
        <p:spPr>
          <a:xfrm>
            <a:off x="4709160" y="960120"/>
            <a:ext cx="4069080" cy="1645920"/>
          </a:xfrm>
          <a:prstGeom prst="roundRect">
            <a:avLst>
              <a:gd name="adj" fmla="val 5556"/>
            </a:avLst>
          </a:prstGeom>
          <a:solidFill>
            <a:srgbClr val="E6F2EA"/>
          </a:solidFill>
          <a:ln w="6350">
            <a:solidFill>
              <a:srgbClr val="DDDDEE"/>
            </a:solidFill>
            <a:prstDash val="solid"/>
          </a:ln>
        </p:spPr>
      </p:sp>
      <p:sp>
        <p:nvSpPr>
          <p:cNvPr id="10" name="Text 8"/>
          <p:cNvSpPr/>
          <p:nvPr/>
        </p:nvSpPr>
        <p:spPr>
          <a:xfrm>
            <a:off x="48463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3/4</a:t>
            </a:r>
            <a:endParaRPr lang="en-US" sz="1600" dirty="0"/>
          </a:p>
        </p:txBody>
      </p:sp>
      <p:sp>
        <p:nvSpPr>
          <p:cNvPr id="11" name="Text 9"/>
          <p:cNvSpPr/>
          <p:nvPr/>
        </p:nvSpPr>
        <p:spPr>
          <a:xfrm>
            <a:off x="48463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3/4 -- this is the only one already written in fraction form.</a:t>
            </a:r>
            <a:endParaRPr lang="en-US" sz="1200" dirty="0"/>
          </a:p>
        </p:txBody>
      </p:sp>
      <p:sp>
        <p:nvSpPr>
          <p:cNvPr id="12" name="Shape 10"/>
          <p:cNvSpPr/>
          <p:nvPr/>
        </p:nvSpPr>
        <p:spPr>
          <a:xfrm>
            <a:off x="365760" y="2743200"/>
            <a:ext cx="4069080" cy="1645920"/>
          </a:xfrm>
          <a:prstGeom prst="roundRect">
            <a:avLst>
              <a:gd name="adj" fmla="val 5556"/>
            </a:avLst>
          </a:prstGeom>
          <a:solidFill>
            <a:srgbClr val="FEF6E4"/>
          </a:solidFill>
          <a:ln w="6350">
            <a:solidFill>
              <a:srgbClr val="DDDDEE"/>
            </a:solidFill>
            <a:prstDash val="solid"/>
          </a:ln>
        </p:spPr>
      </p:sp>
      <p:sp>
        <p:nvSpPr>
          <p:cNvPr id="13" name="Text 11"/>
          <p:cNvSpPr/>
          <p:nvPr/>
        </p:nvSpPr>
        <p:spPr>
          <a:xfrm>
            <a:off x="5029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4 ÷ 3</a:t>
            </a:r>
            <a:endParaRPr lang="en-US" sz="1600" dirty="0"/>
          </a:p>
        </p:txBody>
      </p:sp>
      <p:sp>
        <p:nvSpPr>
          <p:cNvPr id="14" name="Text 12"/>
          <p:cNvSpPr/>
          <p:nvPr/>
        </p:nvSpPr>
        <p:spPr>
          <a:xfrm>
            <a:off x="5029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4 ÷ 3 -- this is the only one that does NOT equal 3/4 (it equals 4/3, greater than 1).</a:t>
            </a:r>
            <a:endParaRPr lang="en-US" sz="1200" dirty="0"/>
          </a:p>
        </p:txBody>
      </p:sp>
      <p:sp>
        <p:nvSpPr>
          <p:cNvPr id="15" name="Shape 13"/>
          <p:cNvSpPr/>
          <p:nvPr/>
        </p:nvSpPr>
        <p:spPr>
          <a:xfrm>
            <a:off x="4709160" y="2743200"/>
            <a:ext cx="4069080" cy="1645920"/>
          </a:xfrm>
          <a:prstGeom prst="roundRect">
            <a:avLst>
              <a:gd name="adj" fmla="val 5556"/>
            </a:avLst>
          </a:prstGeom>
          <a:solidFill>
            <a:srgbClr val="FEF0E6"/>
          </a:solidFill>
          <a:ln w="6350">
            <a:solidFill>
              <a:srgbClr val="DDDDEE"/>
            </a:solidFill>
            <a:prstDash val="solid"/>
          </a:ln>
        </p:spPr>
      </p:sp>
      <p:sp>
        <p:nvSpPr>
          <p:cNvPr id="16" name="Text 14"/>
          <p:cNvSpPr/>
          <p:nvPr/>
        </p:nvSpPr>
        <p:spPr>
          <a:xfrm>
            <a:off x="48463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0.75</a:t>
            </a:r>
            <a:endParaRPr lang="en-US" sz="1600" dirty="0"/>
          </a:p>
        </p:txBody>
      </p:sp>
      <p:sp>
        <p:nvSpPr>
          <p:cNvPr id="17" name="Text 15"/>
          <p:cNvSpPr/>
          <p:nvPr/>
        </p:nvSpPr>
        <p:spPr>
          <a:xfrm>
            <a:off x="48463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0.75 -- this is the only one written as a decimal instead of a fraction or division expression.</a:t>
            </a:r>
            <a:endParaRPr lang="en-US" sz="1200" dirty="0"/>
          </a:p>
        </p:txBody>
      </p:sp>
      <p:sp>
        <p:nvSpPr>
          <p:cNvPr id="18" name="Shape 16"/>
          <p:cNvSpPr/>
          <p:nvPr/>
        </p:nvSpPr>
        <p:spPr>
          <a:xfrm>
            <a:off x="1828800" y="4480560"/>
            <a:ext cx="54864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828800" y="44805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100" kern="0" dirty="0">
                <a:solidFill>
                  <a:srgbClr val="FFFFFF"/>
                </a:solidFill>
              </a:rPr>
              <a:t>Vocabulary Connection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54480"/>
            <a:ext cx="8229600" cy="20116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3 ÷ 4, 3/4, and 0.75 are all names for the same quotient -- only 4 ÷ 3 names a different value.</a:t>
            </a:r>
            <a:endParaRPr lang="en-US" sz="2000" dirty="0"/>
          </a:p>
        </p:txBody>
      </p:sp>
      <p:sp>
        <p:nvSpPr>
          <p:cNvPr id="8" name="Shape 6"/>
          <p:cNvSpPr/>
          <p:nvPr/>
        </p:nvSpPr>
        <p:spPr>
          <a:xfrm>
            <a:off x="1188720" y="4343400"/>
            <a:ext cx="676656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188720" y="4343400"/>
            <a:ext cx="67665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item fits the word?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Shape 5"/>
          <p:cNvSpPr/>
          <p:nvPr/>
        </p:nvSpPr>
        <p:spPr>
          <a:xfrm>
            <a:off x="914400" y="1463040"/>
            <a:ext cx="3200400" cy="1280160"/>
          </a:xfrm>
          <a:prstGeom prst="roundRect">
            <a:avLst>
              <a:gd name="adj" fmla="val 7143"/>
            </a:avLst>
          </a:prstGeom>
          <a:solidFill>
            <a:srgbClr val="1A5533"/>
          </a:solidFill>
          <a:ln w="12700">
            <a:solidFill>
              <a:srgbClr val="3A7555"/>
            </a:solidFill>
            <a:prstDash val="solid"/>
          </a:ln>
        </p:spPr>
      </p:sp>
      <p:sp>
        <p:nvSpPr>
          <p:cNvPr id="8" name="Text 6"/>
          <p:cNvSpPr/>
          <p:nvPr/>
        </p:nvSpPr>
        <p:spPr>
          <a:xfrm>
            <a:off x="9144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 ÷ 6</a:t>
            </a:r>
            <a:endParaRPr lang="en-US" sz="2600" dirty="0"/>
          </a:p>
        </p:txBody>
      </p:sp>
      <p:sp>
        <p:nvSpPr>
          <p:cNvPr id="9" name="Shape 7"/>
          <p:cNvSpPr/>
          <p:nvPr/>
        </p:nvSpPr>
        <p:spPr>
          <a:xfrm>
            <a:off x="5029200" y="1463040"/>
            <a:ext cx="3200400" cy="1280160"/>
          </a:xfrm>
          <a:prstGeom prst="roundRect">
            <a:avLst>
              <a:gd name="adj" fmla="val 7143"/>
            </a:avLst>
          </a:prstGeom>
          <a:solidFill>
            <a:srgbClr val="1A5533"/>
          </a:solidFill>
          <a:ln w="12700">
            <a:solidFill>
              <a:srgbClr val="3A7555"/>
            </a:solidFill>
            <a:prstDash val="solid"/>
          </a:ln>
        </p:spPr>
      </p:sp>
      <p:sp>
        <p:nvSpPr>
          <p:cNvPr id="10" name="Text 8"/>
          <p:cNvSpPr/>
          <p:nvPr/>
        </p:nvSpPr>
        <p:spPr>
          <a:xfrm>
            <a:off x="50292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 ÷ 5</a:t>
            </a:r>
            <a:endParaRPr lang="en-US" sz="2600" dirty="0"/>
          </a:p>
        </p:txBody>
      </p:sp>
      <p:sp>
        <p:nvSpPr>
          <p:cNvPr id="11" name="Shape 9"/>
          <p:cNvSpPr/>
          <p:nvPr/>
        </p:nvSpPr>
        <p:spPr>
          <a:xfrm>
            <a:off x="914400" y="3108960"/>
            <a:ext cx="3200400" cy="1280160"/>
          </a:xfrm>
          <a:prstGeom prst="roundRect">
            <a:avLst>
              <a:gd name="adj" fmla="val 7143"/>
            </a:avLst>
          </a:prstGeom>
          <a:solidFill>
            <a:srgbClr val="1A5533"/>
          </a:solidFill>
          <a:ln w="12700">
            <a:solidFill>
              <a:srgbClr val="3A7555"/>
            </a:solidFill>
            <a:prstDash val="solid"/>
          </a:ln>
        </p:spPr>
      </p:sp>
      <p:sp>
        <p:nvSpPr>
          <p:cNvPr id="12" name="Text 10"/>
          <p:cNvSpPr/>
          <p:nvPr/>
        </p:nvSpPr>
        <p:spPr>
          <a:xfrm>
            <a:off x="9144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5/6</a:t>
            </a:r>
            <a:endParaRPr lang="en-US" sz="2600" dirty="0"/>
          </a:p>
        </p:txBody>
      </p:sp>
      <p:sp>
        <p:nvSpPr>
          <p:cNvPr id="13" name="Shape 11"/>
          <p:cNvSpPr/>
          <p:nvPr/>
        </p:nvSpPr>
        <p:spPr>
          <a:xfrm>
            <a:off x="5029200" y="3108960"/>
            <a:ext cx="3200400" cy="1280160"/>
          </a:xfrm>
          <a:prstGeom prst="roundRect">
            <a:avLst>
              <a:gd name="adj" fmla="val 7143"/>
            </a:avLst>
          </a:prstGeom>
          <a:solidFill>
            <a:srgbClr val="1A5533"/>
          </a:solidFill>
          <a:ln w="12700">
            <a:solidFill>
              <a:srgbClr val="3A7555"/>
            </a:solidFill>
            <a:prstDash val="solid"/>
          </a:ln>
        </p:spPr>
      </p:sp>
      <p:sp>
        <p:nvSpPr>
          <p:cNvPr id="14" name="Text 12"/>
          <p:cNvSpPr/>
          <p:nvPr/>
        </p:nvSpPr>
        <p:spPr>
          <a:xfrm>
            <a:off x="50292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0.83</a:t>
            </a:r>
            <a:endParaRPr lang="en-US" sz="2600" dirty="0"/>
          </a:p>
        </p:txBody>
      </p:sp>
      <p:sp>
        <p:nvSpPr>
          <p:cNvPr id="15" name="Shape 13"/>
          <p:cNvSpPr/>
          <p:nvPr/>
        </p:nvSpPr>
        <p:spPr>
          <a:xfrm>
            <a:off x="1828800" y="4434840"/>
            <a:ext cx="5486400" cy="438912"/>
          </a:xfrm>
          <a:prstGeom prst="roundRect">
            <a:avLst>
              <a:gd name="adj" fmla="val 12500"/>
            </a:avLst>
          </a:prstGeom>
          <a:solidFill>
            <a:srgbClr val="464EB8"/>
          </a:solidFill>
          <a:ln w="12700">
            <a:solidFill>
              <a:srgbClr val="464EB8"/>
            </a:solidFill>
            <a:prstDash val="solid"/>
          </a:ln>
        </p:spPr>
      </p:sp>
      <p:sp>
        <p:nvSpPr>
          <p:cNvPr id="16" name="Text 14"/>
          <p:cNvSpPr/>
          <p:nvPr/>
        </p:nvSpPr>
        <p:spPr>
          <a:xfrm>
            <a:off x="1828800" y="4434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5.04.01</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Fractions and Division</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4 · Fractions and Mixed Numbers</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MA.5.FR.1.1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model division as equal sharing and write the fraction that names each fair share.</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“A fraction can tell the story of sharing one whole, or several wholes, fairly.”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Readiness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51560"/>
            <a:ext cx="7772400" cy="11887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What do the numerator and denominator of a fraction each tell you?</a:t>
            </a:r>
            <a:endParaRPr lang="en-US" sz="1700" dirty="0"/>
          </a:p>
        </p:txBody>
      </p:sp>
      <p:sp>
        <p:nvSpPr>
          <p:cNvPr id="8" name="Shape 6"/>
          <p:cNvSpPr/>
          <p:nvPr/>
        </p:nvSpPr>
        <p:spPr>
          <a:xfrm>
            <a:off x="457200" y="2468880"/>
            <a:ext cx="8229600" cy="1371600"/>
          </a:xfrm>
          <a:prstGeom prst="roundRect">
            <a:avLst>
              <a:gd name="adj" fmla="val 6667"/>
            </a:avLst>
          </a:prstGeom>
          <a:solidFill>
            <a:srgbClr val="EAE8F5"/>
          </a:solidFill>
          <a:ln w="6350">
            <a:solidFill>
              <a:srgbClr val="DDDDEE"/>
            </a:solidFill>
            <a:prstDash val="solid"/>
          </a:ln>
        </p:spPr>
      </p:sp>
      <p:sp>
        <p:nvSpPr>
          <p:cNvPr id="9" name="Text 7"/>
          <p:cNvSpPr/>
          <p:nvPr/>
        </p:nvSpPr>
        <p:spPr>
          <a:xfrm>
            <a:off x="685800" y="2560320"/>
            <a:ext cx="7772400" cy="11887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If 1 pizza is cut into 4 equal pieces, what fraction names 1 piece?</a:t>
            </a:r>
            <a:endParaRPr lang="en-US" sz="1700" dirty="0"/>
          </a:p>
        </p:txBody>
      </p:sp>
      <p:sp>
        <p:nvSpPr>
          <p:cNvPr id="10" name="Shape 8"/>
          <p:cNvSpPr/>
          <p:nvPr/>
        </p:nvSpPr>
        <p:spPr>
          <a:xfrm>
            <a:off x="1371600" y="3977640"/>
            <a:ext cx="64008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371600" y="39776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fraction for 1 piece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Mission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103120"/>
          </a:xfrm>
          <a:prstGeom prst="roundRect">
            <a:avLst>
              <a:gd name="adj" fmla="val 4348"/>
            </a:avLst>
          </a:prstGeom>
          <a:solidFill>
            <a:srgbClr val="FFFFFF"/>
          </a:solidFill>
          <a:ln w="6350">
            <a:solidFill>
              <a:srgbClr val="DDDDEE"/>
            </a:solidFill>
            <a:prstDash val="solid"/>
          </a:ln>
        </p:spPr>
      </p:sp>
      <p:sp>
        <p:nvSpPr>
          <p:cNvPr id="7" name="Text 5"/>
          <p:cNvSpPr/>
          <p:nvPr/>
        </p:nvSpPr>
        <p:spPr>
          <a:xfrm>
            <a:off x="685800" y="1143000"/>
            <a:ext cx="7772400" cy="1828800"/>
          </a:xfrm>
          <a:prstGeom prst="rect">
            <a:avLst/>
          </a:prstGeom>
          <a:noFill/>
          <a:ln/>
        </p:spPr>
        <p:txBody>
          <a:bodyPr wrap="square" lIns="0" tIns="0" rIns="0" bIns="0" rtlCol="0" anchor="ctr"/>
          <a:lstStyle/>
          <a:p>
            <a:pPr indent="0" marL="0">
              <a:buNone/>
            </a:pPr>
            <a:r>
              <a:rPr lang="en-US" sz="2200" b="1" dirty="0">
                <a:solidFill>
                  <a:srgbClr val="4A3D8F"/>
                </a:solidFill>
                <a:latin typeface="Cambria" pitchFamily="34" charset="0"/>
                <a:ea typeface="Cambria" pitchFamily="34" charset="-122"/>
                <a:cs typeface="Cambria" pitchFamily="34" charset="-120"/>
              </a:rPr>
              <a:t>How can a division problem become a fraction?</a:t>
            </a:r>
            <a:endParaRPr lang="en-US" sz="2200" dirty="0"/>
          </a:p>
        </p:txBody>
      </p:sp>
      <p:sp>
        <p:nvSpPr>
          <p:cNvPr id="8" name="Shape 6"/>
          <p:cNvSpPr/>
          <p:nvPr/>
        </p:nvSpPr>
        <p:spPr>
          <a:xfrm>
            <a:off x="457200" y="329184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3337560"/>
            <a:ext cx="7772400" cy="822960"/>
          </a:xfrm>
          <a:prstGeom prst="rect">
            <a:avLst/>
          </a:prstGeom>
          <a:noFill/>
          <a:ln/>
        </p:spPr>
        <p:txBody>
          <a:bodyPr wrap="square" lIns="0" tIns="0" rIns="0" bIns="0" rtlCol="0" anchor="ctr"/>
          <a:lstStyle/>
          <a:p>
            <a:pPr indent="0" marL="0">
              <a:buNone/>
            </a:pPr>
            <a:r>
              <a:rPr lang="en-US" sz="1400" i="1" dirty="0">
                <a:solidFill>
                  <a:srgbClr val="5A5A7A"/>
                </a:solidFill>
              </a:rPr>
              <a:t>3 flatbreads are shared equally by 4 hikers. No one gets a whole one -- but everyone gets the same amount.</a:t>
            </a:r>
            <a:endParaRPr lang="en-US" sz="14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3 flatbreads  ÷  4 hikers  =  ?</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(No whole flatbreads left over.)</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Cutting and Sharing</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300" b="1" dirty="0">
                <a:solidFill>
                  <a:srgbClr val="5A5A7A"/>
                </a:solidFill>
              </a:rPr>
              <a:t>3 whole flatbreads, each cut into 4 equal pieces (fourths)</a:t>
            </a:r>
            <a:endParaRPr lang="en-US" sz="1300" dirty="0"/>
          </a:p>
        </p:txBody>
      </p:sp>
      <p:sp>
        <p:nvSpPr>
          <p:cNvPr id="8" name="Shape 6"/>
          <p:cNvSpPr/>
          <p:nvPr/>
        </p:nvSpPr>
        <p:spPr>
          <a:xfrm>
            <a:off x="731520" y="1554480"/>
            <a:ext cx="594360" cy="822960"/>
          </a:xfrm>
          <a:prstGeom prst="rect">
            <a:avLst/>
          </a:prstGeom>
          <a:solidFill>
            <a:srgbClr val="88C8F7"/>
          </a:solidFill>
          <a:ln w="15875">
            <a:solidFill>
              <a:srgbClr val="1B2A4A"/>
            </a:solidFill>
            <a:prstDash val="solid"/>
          </a:ln>
        </p:spPr>
      </p:sp>
      <p:sp>
        <p:nvSpPr>
          <p:cNvPr id="9" name="Shape 7"/>
          <p:cNvSpPr/>
          <p:nvPr/>
        </p:nvSpPr>
        <p:spPr>
          <a:xfrm>
            <a:off x="1325880" y="1554480"/>
            <a:ext cx="594360" cy="822960"/>
          </a:xfrm>
          <a:prstGeom prst="rect">
            <a:avLst/>
          </a:prstGeom>
          <a:solidFill>
            <a:srgbClr val="FFFFFF"/>
          </a:solidFill>
          <a:ln w="15875">
            <a:solidFill>
              <a:srgbClr val="1B2A4A"/>
            </a:solidFill>
            <a:prstDash val="solid"/>
          </a:ln>
        </p:spPr>
      </p:sp>
      <p:sp>
        <p:nvSpPr>
          <p:cNvPr id="10" name="Shape 8"/>
          <p:cNvSpPr/>
          <p:nvPr/>
        </p:nvSpPr>
        <p:spPr>
          <a:xfrm>
            <a:off x="1920240" y="1554480"/>
            <a:ext cx="594360" cy="822960"/>
          </a:xfrm>
          <a:prstGeom prst="rect">
            <a:avLst/>
          </a:prstGeom>
          <a:solidFill>
            <a:srgbClr val="FFFFFF"/>
          </a:solidFill>
          <a:ln w="15875">
            <a:solidFill>
              <a:srgbClr val="1B2A4A"/>
            </a:solidFill>
            <a:prstDash val="solid"/>
          </a:ln>
        </p:spPr>
      </p:sp>
      <p:sp>
        <p:nvSpPr>
          <p:cNvPr id="11" name="Shape 9"/>
          <p:cNvSpPr/>
          <p:nvPr/>
        </p:nvSpPr>
        <p:spPr>
          <a:xfrm>
            <a:off x="2514600" y="1554480"/>
            <a:ext cx="594360" cy="822960"/>
          </a:xfrm>
          <a:prstGeom prst="rect">
            <a:avLst/>
          </a:prstGeom>
          <a:solidFill>
            <a:srgbClr val="FFFFFF"/>
          </a:solidFill>
          <a:ln w="15875">
            <a:solidFill>
              <a:srgbClr val="1B2A4A"/>
            </a:solidFill>
            <a:prstDash val="solid"/>
          </a:ln>
        </p:spPr>
      </p:sp>
      <p:sp>
        <p:nvSpPr>
          <p:cNvPr id="12" name="Text 10"/>
          <p:cNvSpPr/>
          <p:nvPr/>
        </p:nvSpPr>
        <p:spPr>
          <a:xfrm>
            <a:off x="731520" y="2423160"/>
            <a:ext cx="2377440" cy="274320"/>
          </a:xfrm>
          <a:prstGeom prst="rect">
            <a:avLst/>
          </a:prstGeom>
          <a:noFill/>
          <a:ln/>
        </p:spPr>
        <p:txBody>
          <a:bodyPr wrap="square" lIns="0" tIns="0" rIns="0" bIns="0" rtlCol="0" anchor="ctr"/>
          <a:lstStyle/>
          <a:p>
            <a:pPr algn="ctr" indent="0" marL="0">
              <a:buNone/>
            </a:pPr>
            <a:r>
              <a:rPr lang="en-US" sz="1100" i="1" dirty="0">
                <a:solidFill>
                  <a:srgbClr val="5A5A7A"/>
                </a:solidFill>
              </a:rPr>
              <a:t>Flatbread 1 -- Hiker A's piece shaded</a:t>
            </a:r>
            <a:endParaRPr lang="en-US" sz="1100" dirty="0"/>
          </a:p>
        </p:txBody>
      </p:sp>
      <p:sp>
        <p:nvSpPr>
          <p:cNvPr id="13" name="Shape 11"/>
          <p:cNvSpPr/>
          <p:nvPr/>
        </p:nvSpPr>
        <p:spPr>
          <a:xfrm>
            <a:off x="3383280" y="1554480"/>
            <a:ext cx="594360" cy="822960"/>
          </a:xfrm>
          <a:prstGeom prst="rect">
            <a:avLst/>
          </a:prstGeom>
          <a:solidFill>
            <a:srgbClr val="8BE0AA"/>
          </a:solidFill>
          <a:ln w="15875">
            <a:solidFill>
              <a:srgbClr val="1B2A4A"/>
            </a:solidFill>
            <a:prstDash val="solid"/>
          </a:ln>
        </p:spPr>
      </p:sp>
      <p:sp>
        <p:nvSpPr>
          <p:cNvPr id="14" name="Shape 12"/>
          <p:cNvSpPr/>
          <p:nvPr/>
        </p:nvSpPr>
        <p:spPr>
          <a:xfrm>
            <a:off x="3977640" y="1554480"/>
            <a:ext cx="594360" cy="822960"/>
          </a:xfrm>
          <a:prstGeom prst="rect">
            <a:avLst/>
          </a:prstGeom>
          <a:solidFill>
            <a:srgbClr val="FFFFFF"/>
          </a:solidFill>
          <a:ln w="15875">
            <a:solidFill>
              <a:srgbClr val="1B2A4A"/>
            </a:solidFill>
            <a:prstDash val="solid"/>
          </a:ln>
        </p:spPr>
      </p:sp>
      <p:sp>
        <p:nvSpPr>
          <p:cNvPr id="15" name="Shape 13"/>
          <p:cNvSpPr/>
          <p:nvPr/>
        </p:nvSpPr>
        <p:spPr>
          <a:xfrm>
            <a:off x="4572000" y="1554480"/>
            <a:ext cx="594360" cy="822960"/>
          </a:xfrm>
          <a:prstGeom prst="rect">
            <a:avLst/>
          </a:prstGeom>
          <a:solidFill>
            <a:srgbClr val="FFFFFF"/>
          </a:solidFill>
          <a:ln w="15875">
            <a:solidFill>
              <a:srgbClr val="1B2A4A"/>
            </a:solidFill>
            <a:prstDash val="solid"/>
          </a:ln>
        </p:spPr>
      </p:sp>
      <p:sp>
        <p:nvSpPr>
          <p:cNvPr id="16" name="Shape 14"/>
          <p:cNvSpPr/>
          <p:nvPr/>
        </p:nvSpPr>
        <p:spPr>
          <a:xfrm>
            <a:off x="5166360" y="1554480"/>
            <a:ext cx="594360" cy="822960"/>
          </a:xfrm>
          <a:prstGeom prst="rect">
            <a:avLst/>
          </a:prstGeom>
          <a:solidFill>
            <a:srgbClr val="FFFFFF"/>
          </a:solidFill>
          <a:ln w="15875">
            <a:solidFill>
              <a:srgbClr val="1B2A4A"/>
            </a:solidFill>
            <a:prstDash val="solid"/>
          </a:ln>
        </p:spPr>
      </p:sp>
      <p:sp>
        <p:nvSpPr>
          <p:cNvPr id="17" name="Text 15"/>
          <p:cNvSpPr/>
          <p:nvPr/>
        </p:nvSpPr>
        <p:spPr>
          <a:xfrm>
            <a:off x="3383280" y="2423160"/>
            <a:ext cx="2377440" cy="274320"/>
          </a:xfrm>
          <a:prstGeom prst="rect">
            <a:avLst/>
          </a:prstGeom>
          <a:noFill/>
          <a:ln/>
        </p:spPr>
        <p:txBody>
          <a:bodyPr wrap="square" lIns="0" tIns="0" rIns="0" bIns="0" rtlCol="0" anchor="ctr"/>
          <a:lstStyle/>
          <a:p>
            <a:pPr algn="ctr" indent="0" marL="0">
              <a:buNone/>
            </a:pPr>
            <a:r>
              <a:rPr lang="en-US" sz="1100" i="1" dirty="0">
                <a:solidFill>
                  <a:srgbClr val="5A5A7A"/>
                </a:solidFill>
              </a:rPr>
              <a:t>Flatbread 2 -- Hiker B's piece shaded</a:t>
            </a:r>
            <a:endParaRPr lang="en-US" sz="1100" dirty="0"/>
          </a:p>
        </p:txBody>
      </p:sp>
      <p:sp>
        <p:nvSpPr>
          <p:cNvPr id="18" name="Shape 16"/>
          <p:cNvSpPr/>
          <p:nvPr/>
        </p:nvSpPr>
        <p:spPr>
          <a:xfrm>
            <a:off x="6035040" y="1554480"/>
            <a:ext cx="594360" cy="822960"/>
          </a:xfrm>
          <a:prstGeom prst="rect">
            <a:avLst/>
          </a:prstGeom>
          <a:solidFill>
            <a:srgbClr val="F59C69"/>
          </a:solidFill>
          <a:ln w="15875">
            <a:solidFill>
              <a:srgbClr val="1B2A4A"/>
            </a:solidFill>
            <a:prstDash val="solid"/>
          </a:ln>
        </p:spPr>
      </p:sp>
      <p:sp>
        <p:nvSpPr>
          <p:cNvPr id="19" name="Shape 17"/>
          <p:cNvSpPr/>
          <p:nvPr/>
        </p:nvSpPr>
        <p:spPr>
          <a:xfrm>
            <a:off x="6629400" y="1554480"/>
            <a:ext cx="594360" cy="822960"/>
          </a:xfrm>
          <a:prstGeom prst="rect">
            <a:avLst/>
          </a:prstGeom>
          <a:solidFill>
            <a:srgbClr val="FFFFFF"/>
          </a:solidFill>
          <a:ln w="15875">
            <a:solidFill>
              <a:srgbClr val="1B2A4A"/>
            </a:solidFill>
            <a:prstDash val="solid"/>
          </a:ln>
        </p:spPr>
      </p:sp>
      <p:sp>
        <p:nvSpPr>
          <p:cNvPr id="20" name="Shape 18"/>
          <p:cNvSpPr/>
          <p:nvPr/>
        </p:nvSpPr>
        <p:spPr>
          <a:xfrm>
            <a:off x="7223760" y="1554480"/>
            <a:ext cx="594360" cy="822960"/>
          </a:xfrm>
          <a:prstGeom prst="rect">
            <a:avLst/>
          </a:prstGeom>
          <a:solidFill>
            <a:srgbClr val="FFFFFF"/>
          </a:solidFill>
          <a:ln w="15875">
            <a:solidFill>
              <a:srgbClr val="1B2A4A"/>
            </a:solidFill>
            <a:prstDash val="solid"/>
          </a:ln>
        </p:spPr>
      </p:sp>
      <p:sp>
        <p:nvSpPr>
          <p:cNvPr id="21" name="Shape 19"/>
          <p:cNvSpPr/>
          <p:nvPr/>
        </p:nvSpPr>
        <p:spPr>
          <a:xfrm>
            <a:off x="7818120" y="1554480"/>
            <a:ext cx="594360" cy="822960"/>
          </a:xfrm>
          <a:prstGeom prst="rect">
            <a:avLst/>
          </a:prstGeom>
          <a:solidFill>
            <a:srgbClr val="FFFFFF"/>
          </a:solidFill>
          <a:ln w="15875">
            <a:solidFill>
              <a:srgbClr val="1B2A4A"/>
            </a:solidFill>
            <a:prstDash val="solid"/>
          </a:ln>
        </p:spPr>
      </p:sp>
      <p:sp>
        <p:nvSpPr>
          <p:cNvPr id="22" name="Text 20"/>
          <p:cNvSpPr/>
          <p:nvPr/>
        </p:nvSpPr>
        <p:spPr>
          <a:xfrm>
            <a:off x="6035040" y="2423160"/>
            <a:ext cx="2377440" cy="274320"/>
          </a:xfrm>
          <a:prstGeom prst="rect">
            <a:avLst/>
          </a:prstGeom>
          <a:noFill/>
          <a:ln/>
        </p:spPr>
        <p:txBody>
          <a:bodyPr wrap="square" lIns="0" tIns="0" rIns="0" bIns="0" rtlCol="0" anchor="ctr"/>
          <a:lstStyle/>
          <a:p>
            <a:pPr algn="ctr" indent="0" marL="0">
              <a:buNone/>
            </a:pPr>
            <a:r>
              <a:rPr lang="en-US" sz="1100" i="1" dirty="0">
                <a:solidFill>
                  <a:srgbClr val="5A5A7A"/>
                </a:solidFill>
              </a:rPr>
              <a:t>Flatbread 3 -- Hiker C's piece shaded</a:t>
            </a:r>
            <a:endParaRPr lang="en-US" sz="1100" dirty="0"/>
          </a:p>
        </p:txBody>
      </p:sp>
      <p:sp>
        <p:nvSpPr>
          <p:cNvPr id="23" name="Shape 21"/>
          <p:cNvSpPr/>
          <p:nvPr/>
        </p:nvSpPr>
        <p:spPr>
          <a:xfrm>
            <a:off x="731520" y="3017520"/>
            <a:ext cx="7680960" cy="1234440"/>
          </a:xfrm>
          <a:prstGeom prst="roundRect">
            <a:avLst>
              <a:gd name="adj" fmla="val 7407"/>
            </a:avLst>
          </a:prstGeom>
          <a:solidFill>
            <a:srgbClr val="EAE8F5"/>
          </a:solidFill>
          <a:ln w="6350">
            <a:solidFill>
              <a:srgbClr val="DDDDEE"/>
            </a:solidFill>
            <a:prstDash val="solid"/>
          </a:ln>
        </p:spPr>
      </p:sp>
      <p:sp>
        <p:nvSpPr>
          <p:cNvPr id="24" name="Text 22"/>
          <p:cNvSpPr/>
          <p:nvPr/>
        </p:nvSpPr>
        <p:spPr>
          <a:xfrm>
            <a:off x="914400" y="310896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Each hiker collects one fourth from each of the 3 flatbreads -- 3 pieces total, each piece one fourth.</a:t>
            </a:r>
            <a:endParaRPr lang="en-US" sz="1400" dirty="0"/>
          </a:p>
        </p:txBody>
      </p:sp>
      <p:sp>
        <p:nvSpPr>
          <p:cNvPr id="25" name="Text 23"/>
          <p:cNvSpPr/>
          <p:nvPr/>
        </p:nvSpPr>
        <p:spPr>
          <a:xfrm>
            <a:off x="914400" y="3611880"/>
            <a:ext cx="548640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So each hiker's share is 3 fourths of a flatbread:</a:t>
            </a:r>
            <a:endParaRPr lang="en-US" sz="1400" dirty="0"/>
          </a:p>
        </p:txBody>
      </p:sp>
      <p:sp>
        <p:nvSpPr>
          <p:cNvPr id="26" name="Text 24"/>
          <p:cNvSpPr/>
          <p:nvPr/>
        </p:nvSpPr>
        <p:spPr>
          <a:xfrm>
            <a:off x="6766560" y="3566160"/>
            <a:ext cx="914400" cy="346841"/>
          </a:xfrm>
          <a:prstGeom prst="rect">
            <a:avLst/>
          </a:prstGeom>
          <a:noFill/>
          <a:ln/>
        </p:spPr>
        <p:txBody>
          <a:bodyPr wrap="square" lIns="0" tIns="0" rIns="0" bIns="0" rtlCol="0" anchor="ctr"/>
          <a:lstStyle/>
          <a:p>
            <a:pPr algn="ctr" indent="0" marL="0">
              <a:buNone/>
            </a:pPr>
            <a:r>
              <a:rPr lang="en-US" sz="2200" b="1" dirty="0">
                <a:solidFill>
                  <a:srgbClr val="4A3D8F"/>
                </a:solidFill>
                <a:latin typeface="Cambria" pitchFamily="34" charset="0"/>
                <a:ea typeface="Cambria" pitchFamily="34" charset="-122"/>
                <a:cs typeface="Cambria" pitchFamily="34" charset="-120"/>
              </a:rPr>
              <a:t>3</a:t>
            </a:r>
            <a:endParaRPr lang="en-US" sz="2200" dirty="0"/>
          </a:p>
        </p:txBody>
      </p:sp>
      <p:sp>
        <p:nvSpPr>
          <p:cNvPr id="27" name="Shape 25"/>
          <p:cNvSpPr/>
          <p:nvPr/>
        </p:nvSpPr>
        <p:spPr>
          <a:xfrm>
            <a:off x="6876288" y="3940433"/>
            <a:ext cx="694944" cy="0"/>
          </a:xfrm>
          <a:prstGeom prst="line">
            <a:avLst/>
          </a:prstGeom>
          <a:noFill/>
          <a:ln w="19050">
            <a:solidFill>
              <a:srgbClr val="4A3D8F"/>
            </a:solidFill>
            <a:prstDash val="solid"/>
          </a:ln>
        </p:spPr>
      </p:sp>
      <p:sp>
        <p:nvSpPr>
          <p:cNvPr id="28" name="Text 26"/>
          <p:cNvSpPr/>
          <p:nvPr/>
        </p:nvSpPr>
        <p:spPr>
          <a:xfrm>
            <a:off x="6766560" y="3967865"/>
            <a:ext cx="914400" cy="346841"/>
          </a:xfrm>
          <a:prstGeom prst="rect">
            <a:avLst/>
          </a:prstGeom>
          <a:noFill/>
          <a:ln/>
        </p:spPr>
        <p:txBody>
          <a:bodyPr wrap="square" lIns="0" tIns="0" rIns="0" bIns="0" rtlCol="0" anchor="ctr"/>
          <a:lstStyle/>
          <a:p>
            <a:pPr algn="ctr" indent="0" marL="0">
              <a:buNone/>
            </a:pPr>
            <a:r>
              <a:rPr lang="en-US" sz="2200" b="1" dirty="0">
                <a:solidFill>
                  <a:srgbClr val="4A3D8F"/>
                </a:solidFill>
                <a:latin typeface="Cambria" pitchFamily="34" charset="0"/>
                <a:ea typeface="Cambria" pitchFamily="34" charset="-122"/>
                <a:cs typeface="Cambria" pitchFamily="34" charset="-120"/>
              </a:rPr>
              <a:t>4</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One Hiker's Share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300" b="1" dirty="0">
                <a:solidFill>
                  <a:srgbClr val="5A5A7A"/>
                </a:solidFill>
              </a:rPr>
              <a:t>Redraw one hiker's share as a single strip: 3 out of 4 equal parts</a:t>
            </a:r>
            <a:endParaRPr lang="en-US" sz="1300" dirty="0"/>
          </a:p>
        </p:txBody>
      </p:sp>
      <p:sp>
        <p:nvSpPr>
          <p:cNvPr id="8" name="Shape 6"/>
          <p:cNvSpPr/>
          <p:nvPr/>
        </p:nvSpPr>
        <p:spPr>
          <a:xfrm>
            <a:off x="1371600" y="1554480"/>
            <a:ext cx="1600200" cy="1005840"/>
          </a:xfrm>
          <a:prstGeom prst="rect">
            <a:avLst/>
          </a:prstGeom>
          <a:solidFill>
            <a:srgbClr val="6B3FA0"/>
          </a:solidFill>
          <a:ln w="15875">
            <a:solidFill>
              <a:srgbClr val="1B2A4A"/>
            </a:solidFill>
            <a:prstDash val="solid"/>
          </a:ln>
        </p:spPr>
      </p:sp>
      <p:sp>
        <p:nvSpPr>
          <p:cNvPr id="9" name="Shape 7"/>
          <p:cNvSpPr/>
          <p:nvPr/>
        </p:nvSpPr>
        <p:spPr>
          <a:xfrm>
            <a:off x="2971800" y="1554480"/>
            <a:ext cx="1600200" cy="1005840"/>
          </a:xfrm>
          <a:prstGeom prst="rect">
            <a:avLst/>
          </a:prstGeom>
          <a:solidFill>
            <a:srgbClr val="6B3FA0"/>
          </a:solidFill>
          <a:ln w="15875">
            <a:solidFill>
              <a:srgbClr val="1B2A4A"/>
            </a:solidFill>
            <a:prstDash val="solid"/>
          </a:ln>
        </p:spPr>
      </p:sp>
      <p:sp>
        <p:nvSpPr>
          <p:cNvPr id="10" name="Shape 8"/>
          <p:cNvSpPr/>
          <p:nvPr/>
        </p:nvSpPr>
        <p:spPr>
          <a:xfrm>
            <a:off x="4572000" y="1554480"/>
            <a:ext cx="1600200" cy="1005840"/>
          </a:xfrm>
          <a:prstGeom prst="rect">
            <a:avLst/>
          </a:prstGeom>
          <a:solidFill>
            <a:srgbClr val="6B3FA0"/>
          </a:solidFill>
          <a:ln w="15875">
            <a:solidFill>
              <a:srgbClr val="1B2A4A"/>
            </a:solidFill>
            <a:prstDash val="solid"/>
          </a:ln>
        </p:spPr>
      </p:sp>
      <p:sp>
        <p:nvSpPr>
          <p:cNvPr id="11" name="Shape 9"/>
          <p:cNvSpPr/>
          <p:nvPr/>
        </p:nvSpPr>
        <p:spPr>
          <a:xfrm>
            <a:off x="6172200" y="1554480"/>
            <a:ext cx="1600200" cy="1005840"/>
          </a:xfrm>
          <a:prstGeom prst="rect">
            <a:avLst/>
          </a:prstGeom>
          <a:solidFill>
            <a:srgbClr val="FFFFFF"/>
          </a:solidFill>
          <a:ln w="15875">
            <a:solidFill>
              <a:srgbClr val="1B2A4A"/>
            </a:solidFill>
            <a:prstDash val="solid"/>
          </a:ln>
        </p:spPr>
      </p:sp>
      <p:sp>
        <p:nvSpPr>
          <p:cNvPr id="12" name="Text 10"/>
          <p:cNvSpPr/>
          <p:nvPr/>
        </p:nvSpPr>
        <p:spPr>
          <a:xfrm>
            <a:off x="1371600" y="2606040"/>
            <a:ext cx="6400800" cy="274320"/>
          </a:xfrm>
          <a:prstGeom prst="rect">
            <a:avLst/>
          </a:prstGeom>
          <a:noFill/>
          <a:ln/>
        </p:spPr>
        <p:txBody>
          <a:bodyPr wrap="square" lIns="0" tIns="0" rIns="0" bIns="0" rtlCol="0" anchor="ctr"/>
          <a:lstStyle/>
          <a:p>
            <a:pPr algn="ctr" indent="0" marL="0">
              <a:buNone/>
            </a:pPr>
            <a:r>
              <a:rPr lang="en-US" sz="1100" i="1" dirty="0">
                <a:solidFill>
                  <a:srgbClr val="5A5A7A"/>
                </a:solidFill>
              </a:rPr>
              <a:t>3 of the 4 equal parts are shaded -- that's the hiker's share</a:t>
            </a:r>
            <a:endParaRPr lang="en-US" sz="1100" dirty="0"/>
          </a:p>
        </p:txBody>
      </p:sp>
      <p:sp>
        <p:nvSpPr>
          <p:cNvPr id="13" name="Shape 11"/>
          <p:cNvSpPr/>
          <p:nvPr/>
        </p:nvSpPr>
        <p:spPr>
          <a:xfrm>
            <a:off x="1371600" y="3200400"/>
            <a:ext cx="6400800" cy="1097280"/>
          </a:xfrm>
          <a:prstGeom prst="roundRect">
            <a:avLst>
              <a:gd name="adj" fmla="val 8333"/>
            </a:avLst>
          </a:prstGeom>
          <a:solidFill>
            <a:srgbClr val="FFFFFF"/>
          </a:solidFill>
          <a:ln w="6350">
            <a:solidFill>
              <a:srgbClr val="DDDDEE"/>
            </a:solidFill>
            <a:prstDash val="solid"/>
          </a:ln>
        </p:spPr>
      </p:sp>
      <p:sp>
        <p:nvSpPr>
          <p:cNvPr id="14" name="Text 12"/>
          <p:cNvSpPr/>
          <p:nvPr/>
        </p:nvSpPr>
        <p:spPr>
          <a:xfrm>
            <a:off x="1554480" y="3291840"/>
            <a:ext cx="420624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3 ÷ 4  =  3 fourths</a:t>
            </a:r>
            <a:endParaRPr lang="en-US" sz="2000" dirty="0"/>
          </a:p>
        </p:txBody>
      </p:sp>
      <p:sp>
        <p:nvSpPr>
          <p:cNvPr id="15" name="Text 13"/>
          <p:cNvSpPr/>
          <p:nvPr/>
        </p:nvSpPr>
        <p:spPr>
          <a:xfrm>
            <a:off x="6035040" y="3337560"/>
            <a:ext cx="1097280" cy="378372"/>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16" name="Shape 14"/>
          <p:cNvSpPr/>
          <p:nvPr/>
        </p:nvSpPr>
        <p:spPr>
          <a:xfrm>
            <a:off x="6166714" y="3743364"/>
            <a:ext cx="833933" cy="0"/>
          </a:xfrm>
          <a:prstGeom prst="line">
            <a:avLst/>
          </a:prstGeom>
          <a:noFill/>
          <a:ln w="19050">
            <a:solidFill>
              <a:srgbClr val="4A3D8F"/>
            </a:solidFill>
            <a:prstDash val="solid"/>
          </a:ln>
        </p:spPr>
      </p:sp>
      <p:sp>
        <p:nvSpPr>
          <p:cNvPr id="17" name="Text 15"/>
          <p:cNvSpPr/>
          <p:nvPr/>
        </p:nvSpPr>
        <p:spPr>
          <a:xfrm>
            <a:off x="6035040" y="3770796"/>
            <a:ext cx="1097280" cy="378372"/>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4</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Fraction-Division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188720"/>
          </a:xfrm>
          <a:prstGeom prst="roundRect">
            <a:avLst>
              <a:gd name="adj" fmla="val 7692"/>
            </a:avLst>
          </a:prstGeom>
          <a:solidFill>
            <a:srgbClr val="EAE8F5"/>
          </a:solidFill>
          <a:ln w="6350">
            <a:solidFill>
              <a:srgbClr val="DDDDEE"/>
            </a:solidFill>
            <a:prstDash val="solid"/>
          </a:ln>
        </p:spPr>
      </p:sp>
      <p:sp>
        <p:nvSpPr>
          <p:cNvPr id="7" name="Text 5"/>
          <p:cNvSpPr/>
          <p:nvPr/>
        </p:nvSpPr>
        <p:spPr>
          <a:xfrm>
            <a:off x="640080" y="1143000"/>
            <a:ext cx="7863840" cy="914400"/>
          </a:xfrm>
          <a:prstGeom prst="rect">
            <a:avLst/>
          </a:prstGeom>
          <a:noFill/>
          <a:ln/>
        </p:spPr>
        <p:txBody>
          <a:bodyPr wrap="square" lIns="0" tIns="0" rIns="0" bIns="0" rtlCol="0" anchor="ctr"/>
          <a:lstStyle/>
          <a:p>
            <a:pPr algn="ctr" indent="0" marL="0">
              <a:buNone/>
            </a:pPr>
            <a:r>
              <a:rPr lang="en-US" sz="1800" b="1" dirty="0">
                <a:solidFill>
                  <a:srgbClr val="4A3D8F"/>
                </a:solidFill>
                <a:latin typeface="Cambria" pitchFamily="34" charset="0"/>
                <a:ea typeface="Cambria" pitchFamily="34" charset="-122"/>
                <a:cs typeface="Cambria" pitchFamily="34" charset="-120"/>
              </a:rPr>
              <a:t>dividend ÷ divisor  =  dividend over divisor</a:t>
            </a:r>
            <a:endParaRPr lang="en-US" sz="1800" dirty="0"/>
          </a:p>
        </p:txBody>
      </p:sp>
      <p:sp>
        <p:nvSpPr>
          <p:cNvPr id="8" name="Shape 6"/>
          <p:cNvSpPr/>
          <p:nvPr/>
        </p:nvSpPr>
        <p:spPr>
          <a:xfrm>
            <a:off x="457200" y="2377440"/>
            <a:ext cx="8229600" cy="1737360"/>
          </a:xfrm>
          <a:prstGeom prst="roundRect">
            <a:avLst>
              <a:gd name="adj" fmla="val 5263"/>
            </a:avLst>
          </a:prstGeom>
          <a:solidFill>
            <a:srgbClr val="FFFFFF"/>
          </a:solidFill>
          <a:ln w="6350">
            <a:solidFill>
              <a:srgbClr val="DDDDEE"/>
            </a:solidFill>
            <a:prstDash val="solid"/>
          </a:ln>
        </p:spPr>
      </p:sp>
      <p:sp>
        <p:nvSpPr>
          <p:cNvPr id="9" name="Text 7"/>
          <p:cNvSpPr/>
          <p:nvPr/>
        </p:nvSpPr>
        <p:spPr>
          <a:xfrm>
            <a:off x="685800" y="2514600"/>
            <a:ext cx="7772400" cy="146304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Rule: any division problem can be written as a fraction. The number being divided (dividend) becomes the numerator. The number you divide by (divisor) becomes the denominator.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When the Fraction Is More Than 1</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Gap-Fill · Mixed Numbers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300" b="1" dirty="0">
                <a:solidFill>
                  <a:srgbClr val="5A5A7A"/>
                </a:solidFill>
              </a:rPr>
              <a:t>9 ÷ 4 -- 9 fourths is more than one whole</a:t>
            </a:r>
            <a:endParaRPr lang="en-US" sz="1300" dirty="0"/>
          </a:p>
        </p:txBody>
      </p:sp>
      <p:sp>
        <p:nvSpPr>
          <p:cNvPr id="8" name="Shape 6"/>
          <p:cNvSpPr/>
          <p:nvPr/>
        </p:nvSpPr>
        <p:spPr>
          <a:xfrm>
            <a:off x="640080" y="1463040"/>
            <a:ext cx="594360" cy="777240"/>
          </a:xfrm>
          <a:prstGeom prst="rect">
            <a:avLst/>
          </a:prstGeom>
          <a:solidFill>
            <a:srgbClr val="6B3FA0"/>
          </a:solidFill>
          <a:ln w="15875">
            <a:solidFill>
              <a:srgbClr val="1B2A4A"/>
            </a:solidFill>
            <a:prstDash val="solid"/>
          </a:ln>
        </p:spPr>
      </p:sp>
      <p:sp>
        <p:nvSpPr>
          <p:cNvPr id="9" name="Shape 7"/>
          <p:cNvSpPr/>
          <p:nvPr/>
        </p:nvSpPr>
        <p:spPr>
          <a:xfrm>
            <a:off x="1234440" y="1463040"/>
            <a:ext cx="594360" cy="777240"/>
          </a:xfrm>
          <a:prstGeom prst="rect">
            <a:avLst/>
          </a:prstGeom>
          <a:solidFill>
            <a:srgbClr val="6B3FA0"/>
          </a:solidFill>
          <a:ln w="15875">
            <a:solidFill>
              <a:srgbClr val="1B2A4A"/>
            </a:solidFill>
            <a:prstDash val="solid"/>
          </a:ln>
        </p:spPr>
      </p:sp>
      <p:sp>
        <p:nvSpPr>
          <p:cNvPr id="10" name="Shape 8"/>
          <p:cNvSpPr/>
          <p:nvPr/>
        </p:nvSpPr>
        <p:spPr>
          <a:xfrm>
            <a:off x="1828800" y="1463040"/>
            <a:ext cx="594360" cy="777240"/>
          </a:xfrm>
          <a:prstGeom prst="rect">
            <a:avLst/>
          </a:prstGeom>
          <a:solidFill>
            <a:srgbClr val="6B3FA0"/>
          </a:solidFill>
          <a:ln w="15875">
            <a:solidFill>
              <a:srgbClr val="1B2A4A"/>
            </a:solidFill>
            <a:prstDash val="solid"/>
          </a:ln>
        </p:spPr>
      </p:sp>
      <p:sp>
        <p:nvSpPr>
          <p:cNvPr id="11" name="Shape 9"/>
          <p:cNvSpPr/>
          <p:nvPr/>
        </p:nvSpPr>
        <p:spPr>
          <a:xfrm>
            <a:off x="2423160" y="1463040"/>
            <a:ext cx="594360" cy="777240"/>
          </a:xfrm>
          <a:prstGeom prst="rect">
            <a:avLst/>
          </a:prstGeom>
          <a:solidFill>
            <a:srgbClr val="6B3FA0"/>
          </a:solidFill>
          <a:ln w="15875">
            <a:solidFill>
              <a:srgbClr val="1B2A4A"/>
            </a:solidFill>
            <a:prstDash val="solid"/>
          </a:ln>
        </p:spPr>
      </p:sp>
      <p:sp>
        <p:nvSpPr>
          <p:cNvPr id="12" name="Text 10"/>
          <p:cNvSpPr/>
          <p:nvPr/>
        </p:nvSpPr>
        <p:spPr>
          <a:xfrm>
            <a:off x="640080" y="2286000"/>
            <a:ext cx="2377440" cy="274320"/>
          </a:xfrm>
          <a:prstGeom prst="rect">
            <a:avLst/>
          </a:prstGeom>
          <a:noFill/>
          <a:ln/>
        </p:spPr>
        <p:txBody>
          <a:bodyPr wrap="square" lIns="0" tIns="0" rIns="0" bIns="0" rtlCol="0" anchor="ctr"/>
          <a:lstStyle/>
          <a:p>
            <a:pPr algn="ctr" indent="0" marL="0">
              <a:buNone/>
            </a:pPr>
            <a:r>
              <a:rPr lang="en-US" sz="1100" i="1" dirty="0">
                <a:solidFill>
                  <a:srgbClr val="5A5A7A"/>
                </a:solidFill>
              </a:rPr>
              <a:t>whole 1</a:t>
            </a:r>
            <a:endParaRPr lang="en-US" sz="1100" dirty="0"/>
          </a:p>
        </p:txBody>
      </p:sp>
      <p:sp>
        <p:nvSpPr>
          <p:cNvPr id="13" name="Shape 11"/>
          <p:cNvSpPr/>
          <p:nvPr/>
        </p:nvSpPr>
        <p:spPr>
          <a:xfrm>
            <a:off x="3291840" y="1463040"/>
            <a:ext cx="594360" cy="777240"/>
          </a:xfrm>
          <a:prstGeom prst="rect">
            <a:avLst/>
          </a:prstGeom>
          <a:solidFill>
            <a:srgbClr val="6B3FA0"/>
          </a:solidFill>
          <a:ln w="15875">
            <a:solidFill>
              <a:srgbClr val="1B2A4A"/>
            </a:solidFill>
            <a:prstDash val="solid"/>
          </a:ln>
        </p:spPr>
      </p:sp>
      <p:sp>
        <p:nvSpPr>
          <p:cNvPr id="14" name="Shape 12"/>
          <p:cNvSpPr/>
          <p:nvPr/>
        </p:nvSpPr>
        <p:spPr>
          <a:xfrm>
            <a:off x="3886200" y="1463040"/>
            <a:ext cx="594360" cy="777240"/>
          </a:xfrm>
          <a:prstGeom prst="rect">
            <a:avLst/>
          </a:prstGeom>
          <a:solidFill>
            <a:srgbClr val="6B3FA0"/>
          </a:solidFill>
          <a:ln w="15875">
            <a:solidFill>
              <a:srgbClr val="1B2A4A"/>
            </a:solidFill>
            <a:prstDash val="solid"/>
          </a:ln>
        </p:spPr>
      </p:sp>
      <p:sp>
        <p:nvSpPr>
          <p:cNvPr id="15" name="Shape 13"/>
          <p:cNvSpPr/>
          <p:nvPr/>
        </p:nvSpPr>
        <p:spPr>
          <a:xfrm>
            <a:off x="4480560" y="1463040"/>
            <a:ext cx="594360" cy="777240"/>
          </a:xfrm>
          <a:prstGeom prst="rect">
            <a:avLst/>
          </a:prstGeom>
          <a:solidFill>
            <a:srgbClr val="6B3FA0"/>
          </a:solidFill>
          <a:ln w="15875">
            <a:solidFill>
              <a:srgbClr val="1B2A4A"/>
            </a:solidFill>
            <a:prstDash val="solid"/>
          </a:ln>
        </p:spPr>
      </p:sp>
      <p:sp>
        <p:nvSpPr>
          <p:cNvPr id="16" name="Shape 14"/>
          <p:cNvSpPr/>
          <p:nvPr/>
        </p:nvSpPr>
        <p:spPr>
          <a:xfrm>
            <a:off x="5074920" y="1463040"/>
            <a:ext cx="594360" cy="777240"/>
          </a:xfrm>
          <a:prstGeom prst="rect">
            <a:avLst/>
          </a:prstGeom>
          <a:solidFill>
            <a:srgbClr val="6B3FA0"/>
          </a:solidFill>
          <a:ln w="15875">
            <a:solidFill>
              <a:srgbClr val="1B2A4A"/>
            </a:solidFill>
            <a:prstDash val="solid"/>
          </a:ln>
        </p:spPr>
      </p:sp>
      <p:sp>
        <p:nvSpPr>
          <p:cNvPr id="17" name="Text 15"/>
          <p:cNvSpPr/>
          <p:nvPr/>
        </p:nvSpPr>
        <p:spPr>
          <a:xfrm>
            <a:off x="3291840" y="2286000"/>
            <a:ext cx="2377440" cy="274320"/>
          </a:xfrm>
          <a:prstGeom prst="rect">
            <a:avLst/>
          </a:prstGeom>
          <a:noFill/>
          <a:ln/>
        </p:spPr>
        <p:txBody>
          <a:bodyPr wrap="square" lIns="0" tIns="0" rIns="0" bIns="0" rtlCol="0" anchor="ctr"/>
          <a:lstStyle/>
          <a:p>
            <a:pPr algn="ctr" indent="0" marL="0">
              <a:buNone/>
            </a:pPr>
            <a:r>
              <a:rPr lang="en-US" sz="1100" i="1" dirty="0">
                <a:solidFill>
                  <a:srgbClr val="5A5A7A"/>
                </a:solidFill>
              </a:rPr>
              <a:t>whole 2</a:t>
            </a:r>
            <a:endParaRPr lang="en-US" sz="1100" dirty="0"/>
          </a:p>
        </p:txBody>
      </p:sp>
      <p:sp>
        <p:nvSpPr>
          <p:cNvPr id="18" name="Shape 16"/>
          <p:cNvSpPr/>
          <p:nvPr/>
        </p:nvSpPr>
        <p:spPr>
          <a:xfrm>
            <a:off x="5943600" y="1463040"/>
            <a:ext cx="594360" cy="777240"/>
          </a:xfrm>
          <a:prstGeom prst="rect">
            <a:avLst/>
          </a:prstGeom>
          <a:solidFill>
            <a:srgbClr val="F5C518"/>
          </a:solidFill>
          <a:ln w="15875">
            <a:solidFill>
              <a:srgbClr val="1B2A4A"/>
            </a:solidFill>
            <a:prstDash val="solid"/>
          </a:ln>
        </p:spPr>
      </p:sp>
      <p:sp>
        <p:nvSpPr>
          <p:cNvPr id="19" name="Shape 17"/>
          <p:cNvSpPr/>
          <p:nvPr/>
        </p:nvSpPr>
        <p:spPr>
          <a:xfrm>
            <a:off x="6537960" y="1463040"/>
            <a:ext cx="594360" cy="777240"/>
          </a:xfrm>
          <a:prstGeom prst="rect">
            <a:avLst/>
          </a:prstGeom>
          <a:solidFill>
            <a:srgbClr val="FFFFFF"/>
          </a:solidFill>
          <a:ln w="15875">
            <a:solidFill>
              <a:srgbClr val="1B2A4A"/>
            </a:solidFill>
            <a:prstDash val="solid"/>
          </a:ln>
        </p:spPr>
      </p:sp>
      <p:sp>
        <p:nvSpPr>
          <p:cNvPr id="20" name="Shape 18"/>
          <p:cNvSpPr/>
          <p:nvPr/>
        </p:nvSpPr>
        <p:spPr>
          <a:xfrm>
            <a:off x="7132320" y="1463040"/>
            <a:ext cx="594360" cy="777240"/>
          </a:xfrm>
          <a:prstGeom prst="rect">
            <a:avLst/>
          </a:prstGeom>
          <a:solidFill>
            <a:srgbClr val="FFFFFF"/>
          </a:solidFill>
          <a:ln w="15875">
            <a:solidFill>
              <a:srgbClr val="1B2A4A"/>
            </a:solidFill>
            <a:prstDash val="solid"/>
          </a:ln>
        </p:spPr>
      </p:sp>
      <p:sp>
        <p:nvSpPr>
          <p:cNvPr id="21" name="Shape 19"/>
          <p:cNvSpPr/>
          <p:nvPr/>
        </p:nvSpPr>
        <p:spPr>
          <a:xfrm>
            <a:off x="7726680" y="1463040"/>
            <a:ext cx="594360" cy="777240"/>
          </a:xfrm>
          <a:prstGeom prst="rect">
            <a:avLst/>
          </a:prstGeom>
          <a:solidFill>
            <a:srgbClr val="FFFFFF"/>
          </a:solidFill>
          <a:ln w="15875">
            <a:solidFill>
              <a:srgbClr val="1B2A4A"/>
            </a:solidFill>
            <a:prstDash val="solid"/>
          </a:ln>
        </p:spPr>
      </p:sp>
      <p:sp>
        <p:nvSpPr>
          <p:cNvPr id="22" name="Text 20"/>
          <p:cNvSpPr/>
          <p:nvPr/>
        </p:nvSpPr>
        <p:spPr>
          <a:xfrm>
            <a:off x="5943600" y="2286000"/>
            <a:ext cx="2377440" cy="274320"/>
          </a:xfrm>
          <a:prstGeom prst="rect">
            <a:avLst/>
          </a:prstGeom>
          <a:noFill/>
          <a:ln/>
        </p:spPr>
        <p:txBody>
          <a:bodyPr wrap="square" lIns="0" tIns="0" rIns="0" bIns="0" rtlCol="0" anchor="ctr"/>
          <a:lstStyle/>
          <a:p>
            <a:pPr algn="ctr" indent="0" marL="0">
              <a:buNone/>
            </a:pPr>
            <a:r>
              <a:rPr lang="en-US" sz="1100" i="1" dirty="0">
                <a:solidFill>
                  <a:srgbClr val="5A5A7A"/>
                </a:solidFill>
              </a:rPr>
              <a:t>1 more fourth</a:t>
            </a:r>
            <a:endParaRPr lang="en-US" sz="1100" dirty="0"/>
          </a:p>
        </p:txBody>
      </p:sp>
      <p:sp>
        <p:nvSpPr>
          <p:cNvPr id="23" name="Shape 21"/>
          <p:cNvSpPr/>
          <p:nvPr/>
        </p:nvSpPr>
        <p:spPr>
          <a:xfrm>
            <a:off x="640080" y="2971800"/>
            <a:ext cx="7863840" cy="1280160"/>
          </a:xfrm>
          <a:prstGeom prst="roundRect">
            <a:avLst>
              <a:gd name="adj" fmla="val 7143"/>
            </a:avLst>
          </a:prstGeom>
          <a:solidFill>
            <a:srgbClr val="EAE8F5"/>
          </a:solidFill>
          <a:ln w="6350">
            <a:solidFill>
              <a:srgbClr val="DDDDEE"/>
            </a:solidFill>
            <a:prstDash val="solid"/>
          </a:ln>
        </p:spPr>
      </p:sp>
      <p:sp>
        <p:nvSpPr>
          <p:cNvPr id="24" name="Text 22"/>
          <p:cNvSpPr/>
          <p:nvPr/>
        </p:nvSpPr>
        <p:spPr>
          <a:xfrm>
            <a:off x="822960" y="3063240"/>
            <a:ext cx="54864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9 fourths = 2 whole strips (8 fourths) + 1 more fourth left over.</a:t>
            </a:r>
            <a:endParaRPr lang="en-US" sz="1400" dirty="0"/>
          </a:p>
        </p:txBody>
      </p:sp>
      <p:sp>
        <p:nvSpPr>
          <p:cNvPr id="25" name="Text 23"/>
          <p:cNvSpPr/>
          <p:nvPr/>
        </p:nvSpPr>
        <p:spPr>
          <a:xfrm>
            <a:off x="822960" y="3611880"/>
            <a:ext cx="1280160" cy="50292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9 ÷ 4  =</a:t>
            </a:r>
            <a:endParaRPr lang="en-US" sz="1800" dirty="0"/>
          </a:p>
        </p:txBody>
      </p:sp>
      <p:sp>
        <p:nvSpPr>
          <p:cNvPr id="26" name="Text 24"/>
          <p:cNvSpPr/>
          <p:nvPr/>
        </p:nvSpPr>
        <p:spPr>
          <a:xfrm>
            <a:off x="2194560" y="3657600"/>
            <a:ext cx="548640" cy="457200"/>
          </a:xfrm>
          <a:prstGeom prst="rect">
            <a:avLst/>
          </a:prstGeom>
          <a:noFill/>
          <a:ln/>
        </p:spPr>
        <p:txBody>
          <a:bodyPr wrap="square" lIns="0" tIns="0" rIns="0" bIns="0" rtlCol="0" anchor="ctr"/>
          <a:lstStyle/>
          <a:p>
            <a:pPr indent="0" marL="0">
              <a:buNone/>
            </a:pPr>
            <a:r>
              <a:rPr lang="en-US" sz="2200" b="1" dirty="0">
                <a:solidFill>
                  <a:srgbClr val="4A3D8F"/>
                </a:solidFill>
                <a:latin typeface="Cambria" pitchFamily="34" charset="0"/>
                <a:ea typeface="Cambria" pitchFamily="34" charset="-122"/>
                <a:cs typeface="Cambria" pitchFamily="34" charset="-120"/>
              </a:rPr>
              <a:t>2</a:t>
            </a:r>
            <a:endParaRPr lang="en-US" sz="2200" dirty="0"/>
          </a:p>
        </p:txBody>
      </p:sp>
      <p:sp>
        <p:nvSpPr>
          <p:cNvPr id="27" name="Text 25"/>
          <p:cNvSpPr/>
          <p:nvPr/>
        </p:nvSpPr>
        <p:spPr>
          <a:xfrm>
            <a:off x="2834640" y="3611880"/>
            <a:ext cx="594360" cy="283779"/>
          </a:xfrm>
          <a:prstGeom prst="rect">
            <a:avLst/>
          </a:prstGeom>
          <a:noFill/>
          <a:ln/>
        </p:spPr>
        <p:txBody>
          <a:bodyPr wrap="square" lIns="0" tIns="0" rIns="0" bIns="0" rtlCol="0" anchor="ctr"/>
          <a:lstStyle/>
          <a:p>
            <a:pPr algn="ctr" indent="0" marL="0">
              <a:buNone/>
            </a:pPr>
            <a:r>
              <a:rPr lang="en-US" sz="1800" b="1" dirty="0">
                <a:solidFill>
                  <a:srgbClr val="4A3D8F"/>
                </a:solidFill>
                <a:latin typeface="Cambria" pitchFamily="34" charset="0"/>
                <a:ea typeface="Cambria" pitchFamily="34" charset="-122"/>
                <a:cs typeface="Cambria" pitchFamily="34" charset="-120"/>
              </a:rPr>
              <a:t>1</a:t>
            </a:r>
            <a:endParaRPr lang="en-US" sz="1800" dirty="0"/>
          </a:p>
        </p:txBody>
      </p:sp>
      <p:sp>
        <p:nvSpPr>
          <p:cNvPr id="28" name="Shape 26"/>
          <p:cNvSpPr/>
          <p:nvPr/>
        </p:nvSpPr>
        <p:spPr>
          <a:xfrm>
            <a:off x="2905963" y="3923091"/>
            <a:ext cx="451714" cy="0"/>
          </a:xfrm>
          <a:prstGeom prst="line">
            <a:avLst/>
          </a:prstGeom>
          <a:noFill/>
          <a:ln w="19050">
            <a:solidFill>
              <a:srgbClr val="4A3D8F"/>
            </a:solidFill>
            <a:prstDash val="solid"/>
          </a:ln>
        </p:spPr>
      </p:sp>
      <p:sp>
        <p:nvSpPr>
          <p:cNvPr id="29" name="Text 27"/>
          <p:cNvSpPr/>
          <p:nvPr/>
        </p:nvSpPr>
        <p:spPr>
          <a:xfrm>
            <a:off x="2834640" y="3950523"/>
            <a:ext cx="594360" cy="283779"/>
          </a:xfrm>
          <a:prstGeom prst="rect">
            <a:avLst/>
          </a:prstGeom>
          <a:noFill/>
          <a:ln/>
        </p:spPr>
        <p:txBody>
          <a:bodyPr wrap="square" lIns="0" tIns="0" rIns="0" bIns="0" rtlCol="0" anchor="ctr"/>
          <a:lstStyle/>
          <a:p>
            <a:pPr algn="ctr" indent="0" marL="0">
              <a:buNone/>
            </a:pPr>
            <a:r>
              <a:rPr lang="en-US" sz="1800" b="1" dirty="0">
                <a:solidFill>
                  <a:srgbClr val="4A3D8F"/>
                </a:solidFill>
                <a:latin typeface="Cambria" pitchFamily="34" charset="0"/>
                <a:ea typeface="Cambria" pitchFamily="34" charset="-122"/>
                <a:cs typeface="Cambria" pitchFamily="34" charset="-120"/>
              </a:rPr>
              <a:t>4</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Comparing the Fraction to 1 Whole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Gap-Fill · Reasoning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640080" y="1051560"/>
            <a:ext cx="7863840" cy="9144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Atlas says: any time you divide a larger number by a smaller number, the fraction is greater than 1. Is he right?</a:t>
            </a:r>
            <a:endParaRPr lang="en-US" sz="1400" dirty="0"/>
          </a:p>
        </p:txBody>
      </p:sp>
      <p:sp>
        <p:nvSpPr>
          <p:cNvPr id="8" name="Shape 6"/>
          <p:cNvSpPr/>
          <p:nvPr/>
        </p:nvSpPr>
        <p:spPr>
          <a:xfrm>
            <a:off x="457200" y="2194560"/>
            <a:ext cx="3977640" cy="1920240"/>
          </a:xfrm>
          <a:prstGeom prst="roundRect">
            <a:avLst>
              <a:gd name="adj" fmla="val 4762"/>
            </a:avLst>
          </a:prstGeom>
          <a:solidFill>
            <a:srgbClr val="E6F2EA"/>
          </a:solidFill>
          <a:ln w="6350">
            <a:solidFill>
              <a:srgbClr val="DDDDEE"/>
            </a:solidFill>
            <a:prstDash val="solid"/>
          </a:ln>
        </p:spPr>
      </p:sp>
      <p:sp>
        <p:nvSpPr>
          <p:cNvPr id="9" name="Text 7"/>
          <p:cNvSpPr/>
          <p:nvPr/>
        </p:nvSpPr>
        <p:spPr>
          <a:xfrm>
            <a:off x="640080" y="2286000"/>
            <a:ext cx="1828800" cy="457200"/>
          </a:xfrm>
          <a:prstGeom prst="rect">
            <a:avLst/>
          </a:prstGeom>
          <a:noFill/>
          <a:ln/>
        </p:spPr>
        <p:txBody>
          <a:bodyPr wrap="square" lIns="0" tIns="0" rIns="0" bIns="0" rtlCol="0" anchor="ctr"/>
          <a:lstStyle/>
          <a:p>
            <a:pPr indent="0" marL="0">
              <a:buNone/>
            </a:pPr>
            <a:r>
              <a:rPr lang="en-US" sz="1800" b="1" dirty="0">
                <a:solidFill>
                  <a:srgbClr val="2E6E44"/>
                </a:solidFill>
                <a:latin typeface="Cambria" pitchFamily="34" charset="0"/>
                <a:ea typeface="Cambria" pitchFamily="34" charset="-122"/>
                <a:cs typeface="Cambria" pitchFamily="34" charset="-120"/>
              </a:rPr>
              <a:t>8 ÷ 5</a:t>
            </a:r>
            <a:endParaRPr lang="en-US" sz="1800" dirty="0"/>
          </a:p>
        </p:txBody>
      </p:sp>
      <p:sp>
        <p:nvSpPr>
          <p:cNvPr id="10" name="Text 8"/>
          <p:cNvSpPr/>
          <p:nvPr/>
        </p:nvSpPr>
        <p:spPr>
          <a:xfrm>
            <a:off x="2926080" y="2286000"/>
            <a:ext cx="731520" cy="283779"/>
          </a:xfrm>
          <a:prstGeom prst="rect">
            <a:avLst/>
          </a:prstGeom>
          <a:noFill/>
          <a:ln/>
        </p:spPr>
        <p:txBody>
          <a:bodyPr wrap="square" lIns="0" tIns="0" rIns="0" bIns="0" rtlCol="0" anchor="ctr"/>
          <a:lstStyle/>
          <a:p>
            <a:pPr algn="ctr" indent="0" marL="0">
              <a:buNone/>
            </a:pPr>
            <a:r>
              <a:rPr lang="en-US" sz="1800" b="1" dirty="0">
                <a:solidFill>
                  <a:srgbClr val="2E6E44"/>
                </a:solidFill>
                <a:latin typeface="Cambria" pitchFamily="34" charset="0"/>
                <a:ea typeface="Cambria" pitchFamily="34" charset="-122"/>
                <a:cs typeface="Cambria" pitchFamily="34" charset="-120"/>
              </a:rPr>
              <a:t>8</a:t>
            </a:r>
            <a:endParaRPr lang="en-US" sz="1800" dirty="0"/>
          </a:p>
        </p:txBody>
      </p:sp>
      <p:sp>
        <p:nvSpPr>
          <p:cNvPr id="11" name="Shape 9"/>
          <p:cNvSpPr/>
          <p:nvPr/>
        </p:nvSpPr>
        <p:spPr>
          <a:xfrm>
            <a:off x="3013862" y="2597211"/>
            <a:ext cx="555955" cy="0"/>
          </a:xfrm>
          <a:prstGeom prst="line">
            <a:avLst/>
          </a:prstGeom>
          <a:noFill/>
          <a:ln w="19050">
            <a:solidFill>
              <a:srgbClr val="2E6E44"/>
            </a:solidFill>
            <a:prstDash val="solid"/>
          </a:ln>
        </p:spPr>
      </p:sp>
      <p:sp>
        <p:nvSpPr>
          <p:cNvPr id="12" name="Text 10"/>
          <p:cNvSpPr/>
          <p:nvPr/>
        </p:nvSpPr>
        <p:spPr>
          <a:xfrm>
            <a:off x="2926080" y="2624643"/>
            <a:ext cx="731520" cy="283779"/>
          </a:xfrm>
          <a:prstGeom prst="rect">
            <a:avLst/>
          </a:prstGeom>
          <a:noFill/>
          <a:ln/>
        </p:spPr>
        <p:txBody>
          <a:bodyPr wrap="square" lIns="0" tIns="0" rIns="0" bIns="0" rtlCol="0" anchor="ctr"/>
          <a:lstStyle/>
          <a:p>
            <a:pPr algn="ctr" indent="0" marL="0">
              <a:buNone/>
            </a:pPr>
            <a:r>
              <a:rPr lang="en-US" sz="1800" b="1" dirty="0">
                <a:solidFill>
                  <a:srgbClr val="2E6E44"/>
                </a:solidFill>
                <a:latin typeface="Cambria" pitchFamily="34" charset="0"/>
                <a:ea typeface="Cambria" pitchFamily="34" charset="-122"/>
                <a:cs typeface="Cambria" pitchFamily="34" charset="-120"/>
              </a:rPr>
              <a:t>5</a:t>
            </a:r>
            <a:endParaRPr lang="en-US" sz="1800" dirty="0"/>
          </a:p>
        </p:txBody>
      </p:sp>
      <p:sp>
        <p:nvSpPr>
          <p:cNvPr id="13" name="Text 11"/>
          <p:cNvSpPr/>
          <p:nvPr/>
        </p:nvSpPr>
        <p:spPr>
          <a:xfrm>
            <a:off x="640080" y="3063240"/>
            <a:ext cx="3657600" cy="914400"/>
          </a:xfrm>
          <a:prstGeom prst="rect">
            <a:avLst/>
          </a:prstGeom>
          <a:noFill/>
          <a:ln/>
        </p:spPr>
        <p:txBody>
          <a:bodyPr wrap="square" lIns="0" tIns="0" rIns="0" bIns="0" rtlCol="0" anchor="ctr"/>
          <a:lstStyle/>
          <a:p>
            <a:pPr indent="0" marL="0">
              <a:buNone/>
            </a:pPr>
            <a:r>
              <a:rPr lang="en-US" sz="1200" dirty="0">
                <a:solidFill>
                  <a:srgbClr val="1A1A2E"/>
                </a:solidFill>
              </a:rPr>
              <a:t>numerator (8) is greater than denominator (5) -- greater than 1 whole.</a:t>
            </a:r>
            <a:endParaRPr lang="en-US" sz="1200" dirty="0"/>
          </a:p>
        </p:txBody>
      </p:sp>
      <p:sp>
        <p:nvSpPr>
          <p:cNvPr id="14" name="Shape 12"/>
          <p:cNvSpPr/>
          <p:nvPr/>
        </p:nvSpPr>
        <p:spPr>
          <a:xfrm>
            <a:off x="4709160" y="2194560"/>
            <a:ext cx="3977640" cy="1920240"/>
          </a:xfrm>
          <a:prstGeom prst="roundRect">
            <a:avLst>
              <a:gd name="adj" fmla="val 4762"/>
            </a:avLst>
          </a:prstGeom>
          <a:solidFill>
            <a:srgbClr val="FEF6E4"/>
          </a:solidFill>
          <a:ln w="6350">
            <a:solidFill>
              <a:srgbClr val="DDDDEE"/>
            </a:solidFill>
            <a:prstDash val="solid"/>
          </a:ln>
        </p:spPr>
      </p:sp>
      <p:sp>
        <p:nvSpPr>
          <p:cNvPr id="15" name="Text 13"/>
          <p:cNvSpPr/>
          <p:nvPr/>
        </p:nvSpPr>
        <p:spPr>
          <a:xfrm>
            <a:off x="4892040" y="2286000"/>
            <a:ext cx="1828800" cy="457200"/>
          </a:xfrm>
          <a:prstGeom prst="rect">
            <a:avLst/>
          </a:prstGeom>
          <a:noFill/>
          <a:ln/>
        </p:spPr>
        <p:txBody>
          <a:bodyPr wrap="square" lIns="0" tIns="0" rIns="0" bIns="0" rtlCol="0" anchor="ctr"/>
          <a:lstStyle/>
          <a:p>
            <a:pPr indent="0" marL="0">
              <a:buNone/>
            </a:pPr>
            <a:r>
              <a:rPr lang="en-US" sz="1800" b="1" dirty="0">
                <a:solidFill>
                  <a:srgbClr val="A66E10"/>
                </a:solidFill>
                <a:latin typeface="Cambria" pitchFamily="34" charset="0"/>
                <a:ea typeface="Cambria" pitchFamily="34" charset="-122"/>
                <a:cs typeface="Cambria" pitchFamily="34" charset="-120"/>
              </a:rPr>
              <a:t>3 ÷ 7</a:t>
            </a:r>
            <a:endParaRPr lang="en-US" sz="1800" dirty="0"/>
          </a:p>
        </p:txBody>
      </p:sp>
      <p:sp>
        <p:nvSpPr>
          <p:cNvPr id="16" name="Text 14"/>
          <p:cNvSpPr/>
          <p:nvPr/>
        </p:nvSpPr>
        <p:spPr>
          <a:xfrm>
            <a:off x="7178040" y="2286000"/>
            <a:ext cx="731520" cy="283779"/>
          </a:xfrm>
          <a:prstGeom prst="rect">
            <a:avLst/>
          </a:prstGeom>
          <a:noFill/>
          <a:ln/>
        </p:spPr>
        <p:txBody>
          <a:bodyPr wrap="square" lIns="0" tIns="0" rIns="0" bIns="0" rtlCol="0" anchor="ctr"/>
          <a:lstStyle/>
          <a:p>
            <a:pPr algn="ctr" indent="0" marL="0">
              <a:buNone/>
            </a:pPr>
            <a:r>
              <a:rPr lang="en-US" sz="1800" b="1" dirty="0">
                <a:solidFill>
                  <a:srgbClr val="A66E10"/>
                </a:solidFill>
                <a:latin typeface="Cambria" pitchFamily="34" charset="0"/>
                <a:ea typeface="Cambria" pitchFamily="34" charset="-122"/>
                <a:cs typeface="Cambria" pitchFamily="34" charset="-120"/>
              </a:rPr>
              <a:t>3</a:t>
            </a:r>
            <a:endParaRPr lang="en-US" sz="1800" dirty="0"/>
          </a:p>
        </p:txBody>
      </p:sp>
      <p:sp>
        <p:nvSpPr>
          <p:cNvPr id="17" name="Shape 15"/>
          <p:cNvSpPr/>
          <p:nvPr/>
        </p:nvSpPr>
        <p:spPr>
          <a:xfrm>
            <a:off x="7265822" y="2597211"/>
            <a:ext cx="555955" cy="0"/>
          </a:xfrm>
          <a:prstGeom prst="line">
            <a:avLst/>
          </a:prstGeom>
          <a:noFill/>
          <a:ln w="19050">
            <a:solidFill>
              <a:srgbClr val="A66E10"/>
            </a:solidFill>
            <a:prstDash val="solid"/>
          </a:ln>
        </p:spPr>
      </p:sp>
      <p:sp>
        <p:nvSpPr>
          <p:cNvPr id="18" name="Text 16"/>
          <p:cNvSpPr/>
          <p:nvPr/>
        </p:nvSpPr>
        <p:spPr>
          <a:xfrm>
            <a:off x="7178040" y="2624643"/>
            <a:ext cx="731520" cy="283779"/>
          </a:xfrm>
          <a:prstGeom prst="rect">
            <a:avLst/>
          </a:prstGeom>
          <a:noFill/>
          <a:ln/>
        </p:spPr>
        <p:txBody>
          <a:bodyPr wrap="square" lIns="0" tIns="0" rIns="0" bIns="0" rtlCol="0" anchor="ctr"/>
          <a:lstStyle/>
          <a:p>
            <a:pPr algn="ctr" indent="0" marL="0">
              <a:buNone/>
            </a:pPr>
            <a:r>
              <a:rPr lang="en-US" sz="1800" b="1" dirty="0">
                <a:solidFill>
                  <a:srgbClr val="A66E10"/>
                </a:solidFill>
                <a:latin typeface="Cambria" pitchFamily="34" charset="0"/>
                <a:ea typeface="Cambria" pitchFamily="34" charset="-122"/>
                <a:cs typeface="Cambria" pitchFamily="34" charset="-120"/>
              </a:rPr>
              <a:t>7</a:t>
            </a:r>
            <a:endParaRPr lang="en-US" sz="1800" dirty="0"/>
          </a:p>
        </p:txBody>
      </p:sp>
      <p:sp>
        <p:nvSpPr>
          <p:cNvPr id="19" name="Text 17"/>
          <p:cNvSpPr/>
          <p:nvPr/>
        </p:nvSpPr>
        <p:spPr>
          <a:xfrm>
            <a:off x="4892040" y="3063240"/>
            <a:ext cx="3657600" cy="914400"/>
          </a:xfrm>
          <a:prstGeom prst="rect">
            <a:avLst/>
          </a:prstGeom>
          <a:noFill/>
          <a:ln/>
        </p:spPr>
        <p:txBody>
          <a:bodyPr wrap="square" lIns="0" tIns="0" rIns="0" bIns="0" rtlCol="0" anchor="ctr"/>
          <a:lstStyle/>
          <a:p>
            <a:pPr indent="0" marL="0">
              <a:buNone/>
            </a:pPr>
            <a:r>
              <a:rPr lang="en-US" sz="1200" dirty="0">
                <a:solidFill>
                  <a:srgbClr val="1A1A2E"/>
                </a:solidFill>
              </a:rPr>
              <a:t>numerator (3) is less than denominator (7) -- less than 1 whole.</a:t>
            </a:r>
            <a:endParaRPr lang="en-US" sz="1200" dirty="0"/>
          </a:p>
        </p:txBody>
      </p:sp>
      <p:sp>
        <p:nvSpPr>
          <p:cNvPr id="20" name="Shape 18"/>
          <p:cNvSpPr/>
          <p:nvPr/>
        </p:nvSpPr>
        <p:spPr>
          <a:xfrm>
            <a:off x="1828800" y="4251960"/>
            <a:ext cx="5486400" cy="438912"/>
          </a:xfrm>
          <a:prstGeom prst="roundRect">
            <a:avLst>
              <a:gd name="adj" fmla="val 12500"/>
            </a:avLst>
          </a:prstGeom>
          <a:solidFill>
            <a:srgbClr val="464EB8"/>
          </a:solidFill>
          <a:ln w="12700">
            <a:solidFill>
              <a:srgbClr val="464EB8"/>
            </a:solidFill>
            <a:prstDash val="solid"/>
          </a:ln>
        </p:spPr>
      </p:sp>
      <p:sp>
        <p:nvSpPr>
          <p:cNvPr id="21" name="Text 19"/>
          <p:cNvSpPr/>
          <p:nvPr/>
        </p:nvSpPr>
        <p:spPr>
          <a:xfrm>
            <a:off x="1828800" y="42519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is Atlas correct?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fraction</a:t>
            </a:r>
            <a:endParaRPr lang="en-US" sz="1600" dirty="0"/>
          </a:p>
        </p:txBody>
      </p:sp>
      <p:sp>
        <p:nvSpPr>
          <p:cNvPr id="8" name="Text 6"/>
          <p:cNvSpPr/>
          <p:nvPr/>
        </p:nvSpPr>
        <p:spPr>
          <a:xfrm>
            <a:off x="64008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a number that names equal parts of a whole.</a:t>
            </a:r>
            <a:endParaRPr lang="en-US" sz="1300" dirty="0"/>
          </a:p>
        </p:txBody>
      </p:sp>
      <p:sp>
        <p:nvSpPr>
          <p:cNvPr id="9" name="Shape 7"/>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0" name="Text 8"/>
          <p:cNvSpPr/>
          <p:nvPr/>
        </p:nvSpPr>
        <p:spPr>
          <a:xfrm>
            <a:off x="489204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numerator</a:t>
            </a:r>
            <a:endParaRPr lang="en-US" sz="1600" dirty="0"/>
          </a:p>
        </p:txBody>
      </p:sp>
      <p:sp>
        <p:nvSpPr>
          <p:cNvPr id="11" name="Text 9"/>
          <p:cNvSpPr/>
          <p:nvPr/>
        </p:nvSpPr>
        <p:spPr>
          <a:xfrm>
            <a:off x="489204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number that tells how many equal parts are counted.</a:t>
            </a:r>
            <a:endParaRPr lang="en-US" sz="1300" dirty="0"/>
          </a:p>
        </p:txBody>
      </p:sp>
      <p:sp>
        <p:nvSpPr>
          <p:cNvPr id="12" name="Shape 10"/>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3" name="Text 11"/>
          <p:cNvSpPr/>
          <p:nvPr/>
        </p:nvSpPr>
        <p:spPr>
          <a:xfrm>
            <a:off x="64008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denominator</a:t>
            </a:r>
            <a:endParaRPr lang="en-US" sz="1600" dirty="0"/>
          </a:p>
        </p:txBody>
      </p:sp>
      <p:sp>
        <p:nvSpPr>
          <p:cNvPr id="14" name="Text 12"/>
          <p:cNvSpPr/>
          <p:nvPr/>
        </p:nvSpPr>
        <p:spPr>
          <a:xfrm>
            <a:off x="64008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number that tells how many equal parts make one whole.</a:t>
            </a:r>
            <a:endParaRPr lang="en-US" sz="1300" dirty="0"/>
          </a:p>
        </p:txBody>
      </p:sp>
      <p:sp>
        <p:nvSpPr>
          <p:cNvPr id="15" name="Shape 13"/>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6" name="Text 14"/>
          <p:cNvSpPr/>
          <p:nvPr/>
        </p:nvSpPr>
        <p:spPr>
          <a:xfrm>
            <a:off x="489204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quotient</a:t>
            </a:r>
            <a:endParaRPr lang="en-US" sz="1600" dirty="0"/>
          </a:p>
        </p:txBody>
      </p:sp>
      <p:sp>
        <p:nvSpPr>
          <p:cNvPr id="17" name="Text 15"/>
          <p:cNvSpPr/>
          <p:nvPr/>
        </p:nvSpPr>
        <p:spPr>
          <a:xfrm>
            <a:off x="489204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answer to a division problem.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Watch &amp; Follow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54864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5 students share 3 sandwiches equally. How much does each student get?</a:t>
            </a:r>
            <a:endParaRPr lang="en-US" sz="1600" dirty="0"/>
          </a:p>
        </p:txBody>
      </p:sp>
      <p:sp>
        <p:nvSpPr>
          <p:cNvPr id="10" name="Text 8"/>
          <p:cNvSpPr/>
          <p:nvPr/>
        </p:nvSpPr>
        <p:spPr>
          <a:xfrm>
            <a:off x="822960" y="2148840"/>
            <a:ext cx="640080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Dividend = 3 sandwiches. Divisor = 5 students.</a:t>
            </a:r>
            <a:endParaRPr lang="en-US" sz="1400" dirty="0"/>
          </a:p>
        </p:txBody>
      </p:sp>
      <p:sp>
        <p:nvSpPr>
          <p:cNvPr id="11" name="Text 9"/>
          <p:cNvSpPr/>
          <p:nvPr/>
        </p:nvSpPr>
        <p:spPr>
          <a:xfrm>
            <a:off x="822960" y="2651760"/>
            <a:ext cx="640080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Write the division as a fraction: 3 ÷ 5 = 3 fifths.</a:t>
            </a:r>
            <a:endParaRPr lang="en-US" sz="1400" dirty="0"/>
          </a:p>
        </p:txBody>
      </p:sp>
      <p:sp>
        <p:nvSpPr>
          <p:cNvPr id="12" name="Text 10"/>
          <p:cNvSpPr/>
          <p:nvPr/>
        </p:nvSpPr>
        <p:spPr>
          <a:xfrm>
            <a:off x="822960" y="3154680"/>
            <a:ext cx="640080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Numerator 3 is less than denominator 5, so each student gets less than 1 whole sandwich.</a:t>
            </a:r>
            <a:endParaRPr lang="en-US" sz="1400" dirty="0"/>
          </a:p>
        </p:txBody>
      </p:sp>
      <p:sp>
        <p:nvSpPr>
          <p:cNvPr id="13" name="Text 11"/>
          <p:cNvSpPr/>
          <p:nvPr/>
        </p:nvSpPr>
        <p:spPr>
          <a:xfrm>
            <a:off x="7406640" y="2148840"/>
            <a:ext cx="822960" cy="346841"/>
          </a:xfrm>
          <a:prstGeom prst="rect">
            <a:avLst/>
          </a:prstGeom>
          <a:noFill/>
          <a:ln/>
        </p:spPr>
        <p:txBody>
          <a:bodyPr wrap="square" lIns="0" tIns="0" rIns="0" bIns="0" rtlCol="0" anchor="ctr"/>
          <a:lstStyle/>
          <a:p>
            <a:pPr algn="ctr" indent="0" marL="0">
              <a:buNone/>
            </a:pPr>
            <a:r>
              <a:rPr lang="en-US" sz="2200" b="1" dirty="0">
                <a:solidFill>
                  <a:srgbClr val="4A3D8F"/>
                </a:solidFill>
                <a:latin typeface="Cambria" pitchFamily="34" charset="0"/>
                <a:ea typeface="Cambria" pitchFamily="34" charset="-122"/>
                <a:cs typeface="Cambria" pitchFamily="34" charset="-120"/>
              </a:rPr>
              <a:t>3</a:t>
            </a:r>
            <a:endParaRPr lang="en-US" sz="2200" dirty="0"/>
          </a:p>
        </p:txBody>
      </p:sp>
      <p:sp>
        <p:nvSpPr>
          <p:cNvPr id="14" name="Shape 12"/>
          <p:cNvSpPr/>
          <p:nvPr/>
        </p:nvSpPr>
        <p:spPr>
          <a:xfrm>
            <a:off x="7505395" y="2523113"/>
            <a:ext cx="625450" cy="0"/>
          </a:xfrm>
          <a:prstGeom prst="line">
            <a:avLst/>
          </a:prstGeom>
          <a:noFill/>
          <a:ln w="19050">
            <a:solidFill>
              <a:srgbClr val="4A3D8F"/>
            </a:solidFill>
            <a:prstDash val="solid"/>
          </a:ln>
        </p:spPr>
      </p:sp>
      <p:sp>
        <p:nvSpPr>
          <p:cNvPr id="15" name="Text 13"/>
          <p:cNvSpPr/>
          <p:nvPr/>
        </p:nvSpPr>
        <p:spPr>
          <a:xfrm>
            <a:off x="7406640" y="2550545"/>
            <a:ext cx="822960" cy="346841"/>
          </a:xfrm>
          <a:prstGeom prst="rect">
            <a:avLst/>
          </a:prstGeom>
          <a:noFill/>
          <a:ln/>
        </p:spPr>
        <p:txBody>
          <a:bodyPr wrap="square" lIns="0" tIns="0" rIns="0" bIns="0" rtlCol="0" anchor="ctr"/>
          <a:lstStyle/>
          <a:p>
            <a:pPr algn="ctr" indent="0" marL="0">
              <a:buNone/>
            </a:pPr>
            <a:r>
              <a:rPr lang="en-US" sz="2200" b="1" dirty="0">
                <a:solidFill>
                  <a:srgbClr val="4A3D8F"/>
                </a:solidFill>
                <a:latin typeface="Cambria" pitchFamily="34" charset="0"/>
                <a:ea typeface="Cambria" pitchFamily="34" charset="-122"/>
                <a:cs typeface="Cambria" pitchFamily="34" charset="-120"/>
              </a:rPr>
              <a:t>5</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Independent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algn="ctr" indent="0" marL="0">
              <a:buNone/>
            </a:pPr>
            <a:r>
              <a:rPr lang="en-US" sz="2000" b="1" dirty="0">
                <a:solidFill>
                  <a:srgbClr val="4A3D8F"/>
                </a:solidFill>
                <a:latin typeface="Cambria" pitchFamily="34" charset="0"/>
                <a:ea typeface="Cambria" pitchFamily="34" charset="-122"/>
                <a:cs typeface="Cambria" pitchFamily="34" charset="-120"/>
              </a:rPr>
              <a:t>4 friends share 10 ounces of trail mix equally. How much does each friend get?</a:t>
            </a:r>
            <a:endParaRPr lang="en-US" sz="2000" dirty="0"/>
          </a:p>
        </p:txBody>
      </p:sp>
      <p:sp>
        <p:nvSpPr>
          <p:cNvPr id="8" name="Shape 6"/>
          <p:cNvSpPr/>
          <p:nvPr/>
        </p:nvSpPr>
        <p:spPr>
          <a:xfrm>
            <a:off x="1828800" y="329184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291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397764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397764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10 ÷ 4 = 10 fourths = 2 and 2 fourths (2 and 1 half) ounces.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286000"/>
          </a:xfrm>
          <a:prstGeom prst="roundRect">
            <a:avLst>
              <a:gd name="adj" fmla="val 4000"/>
            </a:avLst>
          </a:prstGeom>
          <a:solidFill>
            <a:srgbClr val="EAE8F5"/>
          </a:solidFill>
          <a:ln w="6350">
            <a:solidFill>
              <a:srgbClr val="DDDDEE"/>
            </a:solidFill>
            <a:prstDash val="solid"/>
          </a:ln>
        </p:spPr>
      </p:sp>
      <p:sp>
        <p:nvSpPr>
          <p:cNvPr id="7" name="Text 5"/>
          <p:cNvSpPr/>
          <p:nvPr/>
        </p:nvSpPr>
        <p:spPr>
          <a:xfrm>
            <a:off x="685800" y="1371600"/>
            <a:ext cx="7772400" cy="192024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lesson, you'll add fractions with different denominators -- and you'll need to make the pieces match sizes first.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7 ÷ 6 written as a fraction is:</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1600" b="1" dirty="0">
                <a:solidFill>
                  <a:srgbClr val="1A1A2E"/>
                </a:solidFill>
              </a:rPr>
              <a:t>6</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7</a:t>
            </a:r>
            <a:endParaRPr lang="en-US" sz="16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1600" b="1" dirty="0">
                <a:solidFill>
                  <a:srgbClr val="1A1A2E"/>
                </a:solidFill>
              </a:rPr>
              <a:t>7</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6</a:t>
            </a:r>
            <a:endParaRPr lang="en-US" sz="16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1600" b="1" dirty="0">
                <a:solidFill>
                  <a:srgbClr val="1A1A2E"/>
                </a:solidFill>
              </a:rPr>
              <a:t>1</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7</a:t>
            </a:r>
            <a:endParaRPr lang="en-US" sz="1600" dirty="0"/>
          </a:p>
        </p:txBody>
      </p:sp>
      <p:sp>
        <p:nvSpPr>
          <p:cNvPr id="14" name="Shape 12"/>
          <p:cNvSpPr/>
          <p:nvPr/>
        </p:nvSpPr>
        <p:spPr>
          <a:xfrm>
            <a:off x="6675120" y="2103120"/>
            <a:ext cx="146304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463040" cy="822960"/>
          </a:xfrm>
          <a:prstGeom prst="rect">
            <a:avLst/>
          </a:prstGeom>
          <a:noFill/>
          <a:ln/>
        </p:spPr>
        <p:txBody>
          <a:bodyPr wrap="square" lIns="0" tIns="0" rIns="0" bIns="0" rtlCol="0" anchor="ctr"/>
          <a:lstStyle/>
          <a:p>
            <a:pPr algn="ctr" indent="0" marL="0">
              <a:buNone/>
            </a:pPr>
            <a:r>
              <a:rPr lang="en-US" sz="1600" b="1" dirty="0">
                <a:solidFill>
                  <a:srgbClr val="1A1A2E"/>
                </a:solidFill>
              </a:rPr>
              <a:t>13</a:t>
            </a:r>
            <a:endParaRPr lang="en-US" sz="16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7 ÷ 6 written as a fraction is:</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1600" b="1" dirty="0">
                <a:solidFill>
                  <a:srgbClr val="1A1A2E"/>
                </a:solidFill>
              </a:rPr>
              <a:t>6</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7</a:t>
            </a:r>
            <a:endParaRPr lang="en-US" sz="1600" dirty="0"/>
          </a:p>
        </p:txBody>
      </p:sp>
      <p:sp>
        <p:nvSpPr>
          <p:cNvPr id="10" name="Shape 8"/>
          <p:cNvSpPr/>
          <p:nvPr/>
        </p:nvSpPr>
        <p:spPr>
          <a:xfrm>
            <a:off x="2834640" y="2103120"/>
            <a:ext cx="1737360" cy="822960"/>
          </a:xfrm>
          <a:prstGeom prst="roundRect">
            <a:avLst>
              <a:gd name="adj" fmla="val 8889"/>
            </a:avLst>
          </a:prstGeom>
          <a:solidFill>
            <a:srgbClr val="2E6E44"/>
          </a:solidFill>
          <a:ln w="12700">
            <a:solidFill>
              <a:srgbClr val="2E6E44"/>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a:p>
            <a:pPr algn="ctr" indent="0" marL="0">
              <a:buNone/>
            </a:pPr>
            <a:r>
              <a:rPr lang="en-US" sz="1600" b="1" dirty="0">
                <a:solidFill>
                  <a:srgbClr val="FFFFFF"/>
                </a:solidFill>
              </a:rPr>
              <a:t>―</a:t>
            </a:r>
            <a:endParaRPr lang="en-US" sz="1600" dirty="0"/>
          </a:p>
          <a:p>
            <a:pPr algn="ctr" indent="0" marL="0">
              <a:buNone/>
            </a:pPr>
            <a:r>
              <a:rPr lang="en-US" sz="1600" b="1" dirty="0">
                <a:solidFill>
                  <a:srgbClr val="FFFFFF"/>
                </a:solidFill>
              </a:rPr>
              <a:t>6</a:t>
            </a:r>
            <a:endParaRPr lang="en-US" sz="16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1600" b="1" dirty="0">
                <a:solidFill>
                  <a:srgbClr val="1A1A2E"/>
                </a:solidFill>
              </a:rPr>
              <a:t>1</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7</a:t>
            </a:r>
            <a:endParaRPr lang="en-US" sz="1600" dirty="0"/>
          </a:p>
        </p:txBody>
      </p:sp>
      <p:sp>
        <p:nvSpPr>
          <p:cNvPr id="14" name="Shape 12"/>
          <p:cNvSpPr/>
          <p:nvPr/>
        </p:nvSpPr>
        <p:spPr>
          <a:xfrm>
            <a:off x="6675120" y="2103120"/>
            <a:ext cx="146304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463040" cy="822960"/>
          </a:xfrm>
          <a:prstGeom prst="rect">
            <a:avLst/>
          </a:prstGeom>
          <a:noFill/>
          <a:ln/>
        </p:spPr>
        <p:txBody>
          <a:bodyPr wrap="square" lIns="0" tIns="0" rIns="0" bIns="0" rtlCol="0" anchor="ctr"/>
          <a:lstStyle/>
          <a:p>
            <a:pPr algn="ctr" indent="0" marL="0">
              <a:buNone/>
            </a:pPr>
            <a:r>
              <a:rPr lang="en-US" sz="1600" b="1" dirty="0">
                <a:solidFill>
                  <a:srgbClr val="1A1A2E"/>
                </a:solidFill>
              </a:rPr>
              <a:t>13</a:t>
            </a:r>
            <a:endParaRPr lang="en-US" sz="16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The dividend (7) becomes the numerator, and the divisor (6) becomes the denominator: numerator 7 over denominator 6.</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numerator always matches the number we started with before the division sign, and the denominator matches the number after it.</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tested it by cutting paper strips into fourths and counting pieces -- 3 pieces out of 4 total matched 3/4 every time.</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whole flatbreads getting sliced up and the pieces sliding into each hiker's pile. The fraction is just a snapshot of one pile.</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any division expression, dividend divided by divisor, can be rewritten as the fraction dividend over divisor.</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writing division as fractions and mixed numbers.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journal problems in Canvas.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you'll add fractions with unlike denominators.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5.04.01 Fractions and Division — Teacher Slides</dc:title>
  <dc:subject>PptxGenJS Presentation</dc:subject>
  <dc:creator>PptxGenJS</dc:creator>
  <cp:lastModifiedBy>PptxGenJS</cp:lastModifiedBy>
  <cp:revision>1</cp:revision>
  <dcterms:created xsi:type="dcterms:W3CDTF">2026-07-16T19:46:14Z</dcterms:created>
  <dcterms:modified xsi:type="dcterms:W3CDTF">2026-07-16T19:46:14Z</dcterms:modified>
</cp:coreProperties>
</file>