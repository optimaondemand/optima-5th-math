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warm-up (2 min). Give 60 sec silent think time. Every card can be defended -- listen for reasoning about regrouping, not a single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warm-up (2 min). Give 60 sec silent think time. Every card can be defended -- listen for reasoning about regrouping, not a single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today's vocabulary: matching denominators and remaining.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today's vocabulary: matching denominators and remaining.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mission: today we subtract mixed numbers when the fraction pieces already allow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slide (1 min). Emphasize: subtract wholes from wholes and fraction parts from fraction parts, same idea as adding.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(3 min). Confirms students can already subtract same-denominator fractions and name mixed-number parts. Transition: "Now let's subtract both parts of two mixed numbers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Pose the essential question. Take a couple of guesses before moving to the model -- don't confirm or deny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(3 min). Physically remove 2 whole strips and 1 of the 5 shaded fifths. Say out loud: "wholes come from wholes, fifths come from fifths."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(2 min). Count what's left: 2 whole strips and 2 of the 5 fifths remain -- two and two-fifths.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Confirm this only works directly when the fraction part you are subtracting is not larger than the one you start with. Watch for: students subtracting in the wrong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(2 min). Closes IP problem 2. Rename fraction parts to a common denominator FIRST, then subtract wholes and fraction parts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(2 min). Closes IP problem 3. Whenever the fraction part you start with is smaller than the one being removed, borrow one whole and rename it as an extra group of same-size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Call on students to use "remaining" and "matching denominators" in a sentence about today's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(3 min). Model 6 5/6 − 1 1/6 step by step, narrating the subtraction and simplifying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(2 min). Cold-call a student to narrate the regrouping step before revealing the answer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5.04.07 -- subtracting mixed numbers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Exit Check. Watch for students who add instead of subtract, or who try to regroup when it is not needed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Exit Check. Watch for students who add instead of subtract, or who try to regroup when it is not needed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74320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743200"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rPr>
              <a:t>WHICH ONE DOESN'T BELONG</a:t>
            </a:r>
            <a:endParaRPr lang="en-US" sz="800" dirty="0"/>
          </a:p>
        </p:txBody>
      </p:sp>
      <p:sp>
        <p:nvSpPr>
          <p:cNvPr id="5" name="Shape 3"/>
          <p:cNvSpPr/>
          <p:nvPr/>
        </p:nvSpPr>
        <p:spPr>
          <a:xfrm>
            <a:off x="2944368" y="164592"/>
            <a:ext cx="576072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944368" y="164592"/>
            <a:ext cx="5760720" cy="292608"/>
          </a:xfrm>
          <a:prstGeom prst="rect">
            <a:avLst/>
          </a:prstGeom>
          <a:noFill/>
          <a:ln/>
        </p:spPr>
        <p:txBody>
          <a:bodyPr wrap="square" lIns="0" tIns="0" rIns="0" bIns="0" rtlCol="0" anchor="ctr"/>
          <a:lstStyle/>
          <a:p>
            <a:pPr indent="0" marL="0">
              <a:buNone/>
            </a:pPr>
            <a:r>
              <a:rPr lang="en-US" sz="900" dirty="0">
                <a:solidFill>
                  <a:srgbClr val="FFFFFF"/>
                </a:solidFill>
              </a:rPr>
              <a:t>  ·  Lesson 5.04 · Subtracting Mixed Numbers</a:t>
            </a:r>
            <a:endParaRPr lang="en-US" sz="900" dirty="0"/>
          </a:p>
        </p:txBody>
      </p:sp>
      <p:sp>
        <p:nvSpPr>
          <p:cNvPr id="7" name="Shape 5"/>
          <p:cNvSpPr/>
          <p:nvPr/>
        </p:nvSpPr>
        <p:spPr>
          <a:xfrm>
            <a:off x="914400" y="1188720"/>
            <a:ext cx="3200400" cy="1371600"/>
          </a:xfrm>
          <a:prstGeom prst="roundRect">
            <a:avLst>
              <a:gd name="adj" fmla="val 6667"/>
            </a:avLst>
          </a:prstGeom>
          <a:solidFill>
            <a:srgbClr val="2A3B5A"/>
          </a:solidFill>
          <a:ln w="12700">
            <a:solidFill>
              <a:srgbClr val="4A5B8A"/>
            </a:solidFill>
            <a:prstDash val="solid"/>
          </a:ln>
        </p:spPr>
      </p:sp>
      <p:sp>
        <p:nvSpPr>
          <p:cNvPr id="8" name="Text 6"/>
          <p:cNvSpPr/>
          <p:nvPr/>
        </p:nvSpPr>
        <p:spPr>
          <a:xfrm>
            <a:off x="914400" y="11887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 3/5 − 2 1/5</a:t>
            </a:r>
            <a:endParaRPr lang="en-US" sz="2600" dirty="0"/>
          </a:p>
        </p:txBody>
      </p:sp>
      <p:sp>
        <p:nvSpPr>
          <p:cNvPr id="9" name="Shape 7"/>
          <p:cNvSpPr/>
          <p:nvPr/>
        </p:nvSpPr>
        <p:spPr>
          <a:xfrm>
            <a:off x="5029200" y="1188720"/>
            <a:ext cx="3200400" cy="1371600"/>
          </a:xfrm>
          <a:prstGeom prst="roundRect">
            <a:avLst>
              <a:gd name="adj" fmla="val 6667"/>
            </a:avLst>
          </a:prstGeom>
          <a:solidFill>
            <a:srgbClr val="2A3B5A"/>
          </a:solidFill>
          <a:ln w="12700">
            <a:solidFill>
              <a:srgbClr val="4A5B8A"/>
            </a:solidFill>
            <a:prstDash val="solid"/>
          </a:ln>
        </p:spPr>
      </p:sp>
      <p:sp>
        <p:nvSpPr>
          <p:cNvPr id="10" name="Text 8"/>
          <p:cNvSpPr/>
          <p:nvPr/>
        </p:nvSpPr>
        <p:spPr>
          <a:xfrm>
            <a:off x="5029200" y="11887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 2/5</a:t>
            </a:r>
            <a:endParaRPr lang="en-US" sz="2600" dirty="0"/>
          </a:p>
        </p:txBody>
      </p:sp>
      <p:sp>
        <p:nvSpPr>
          <p:cNvPr id="11" name="Shape 9"/>
          <p:cNvSpPr/>
          <p:nvPr/>
        </p:nvSpPr>
        <p:spPr>
          <a:xfrm>
            <a:off x="914400" y="3017520"/>
            <a:ext cx="3200400" cy="1371600"/>
          </a:xfrm>
          <a:prstGeom prst="roundRect">
            <a:avLst>
              <a:gd name="adj" fmla="val 6667"/>
            </a:avLst>
          </a:prstGeom>
          <a:solidFill>
            <a:srgbClr val="2A3B5A"/>
          </a:solidFill>
          <a:ln w="12700">
            <a:solidFill>
              <a:srgbClr val="4A5B8A"/>
            </a:solidFill>
            <a:prstDash val="solid"/>
          </a:ln>
        </p:spPr>
      </p:sp>
      <p:sp>
        <p:nvSpPr>
          <p:cNvPr id="12" name="Text 10"/>
          <p:cNvSpPr/>
          <p:nvPr/>
        </p:nvSpPr>
        <p:spPr>
          <a:xfrm>
            <a:off x="914400" y="30175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 1/4 − 2 3/4</a:t>
            </a:r>
            <a:endParaRPr lang="en-US" sz="2600" dirty="0"/>
          </a:p>
        </p:txBody>
      </p:sp>
      <p:sp>
        <p:nvSpPr>
          <p:cNvPr id="13" name="Shape 11"/>
          <p:cNvSpPr/>
          <p:nvPr/>
        </p:nvSpPr>
        <p:spPr>
          <a:xfrm>
            <a:off x="5029200" y="3017520"/>
            <a:ext cx="3200400" cy="1371600"/>
          </a:xfrm>
          <a:prstGeom prst="roundRect">
            <a:avLst>
              <a:gd name="adj" fmla="val 6667"/>
            </a:avLst>
          </a:prstGeom>
          <a:solidFill>
            <a:srgbClr val="2A3B5A"/>
          </a:solidFill>
          <a:ln w="12700">
            <a:solidFill>
              <a:srgbClr val="4A5B8A"/>
            </a:solidFill>
            <a:prstDash val="solid"/>
          </a:ln>
        </p:spPr>
      </p:sp>
      <p:sp>
        <p:nvSpPr>
          <p:cNvPr id="14" name="Text 12"/>
          <p:cNvSpPr/>
          <p:nvPr/>
        </p:nvSpPr>
        <p:spPr>
          <a:xfrm>
            <a:off x="5029200" y="30175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 12/20</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Every Answer Can Be Right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Which Doesn't Belong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60120"/>
            <a:ext cx="4069080" cy="1645920"/>
          </a:xfrm>
          <a:prstGeom prst="roundRect">
            <a:avLst>
              <a:gd name="adj" fmla="val 5556"/>
            </a:avLst>
          </a:prstGeom>
          <a:solidFill>
            <a:srgbClr val="EAE8F5"/>
          </a:solidFill>
          <a:ln w="6350">
            <a:solidFill>
              <a:srgbClr val="DDDDEE"/>
            </a:solidFill>
            <a:prstDash val="solid"/>
          </a:ln>
        </p:spPr>
      </p:sp>
      <p:sp>
        <p:nvSpPr>
          <p:cNvPr id="7" name="Text 5"/>
          <p:cNvSpPr/>
          <p:nvPr/>
        </p:nvSpPr>
        <p:spPr>
          <a:xfrm>
            <a:off x="502920" y="103327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4 3/5 − 2 1/5</a:t>
            </a:r>
            <a:endParaRPr lang="en-US" sz="1600" dirty="0"/>
          </a:p>
        </p:txBody>
      </p:sp>
      <p:sp>
        <p:nvSpPr>
          <p:cNvPr id="8" name="Text 6"/>
          <p:cNvSpPr/>
          <p:nvPr/>
        </p:nvSpPr>
        <p:spPr>
          <a:xfrm>
            <a:off x="502920" y="146304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4 3/5 − 2 1/5 -- the only expression that subtracts without needing to regroup (3/5 is already bigger than 1/5).</a:t>
            </a:r>
            <a:endParaRPr lang="en-US" sz="1200" dirty="0"/>
          </a:p>
        </p:txBody>
      </p:sp>
      <p:sp>
        <p:nvSpPr>
          <p:cNvPr id="9" name="Shape 7"/>
          <p:cNvSpPr/>
          <p:nvPr/>
        </p:nvSpPr>
        <p:spPr>
          <a:xfrm>
            <a:off x="4709160" y="960120"/>
            <a:ext cx="4069080" cy="1645920"/>
          </a:xfrm>
          <a:prstGeom prst="roundRect">
            <a:avLst>
              <a:gd name="adj" fmla="val 5556"/>
            </a:avLst>
          </a:prstGeom>
          <a:solidFill>
            <a:srgbClr val="E6F2EA"/>
          </a:solidFill>
          <a:ln w="6350">
            <a:solidFill>
              <a:srgbClr val="DDDDEE"/>
            </a:solidFill>
            <a:prstDash val="solid"/>
          </a:ln>
        </p:spPr>
      </p:sp>
      <p:sp>
        <p:nvSpPr>
          <p:cNvPr id="10" name="Text 8"/>
          <p:cNvSpPr/>
          <p:nvPr/>
        </p:nvSpPr>
        <p:spPr>
          <a:xfrm>
            <a:off x="4846320" y="103327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2 2/5</a:t>
            </a:r>
            <a:endParaRPr lang="en-US" sz="1600" dirty="0"/>
          </a:p>
        </p:txBody>
      </p:sp>
      <p:sp>
        <p:nvSpPr>
          <p:cNvPr id="11" name="Text 9"/>
          <p:cNvSpPr/>
          <p:nvPr/>
        </p:nvSpPr>
        <p:spPr>
          <a:xfrm>
            <a:off x="4846320" y="146304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2 2/5 -- the only one already written as a single mixed number in simplest form.</a:t>
            </a:r>
            <a:endParaRPr lang="en-US" sz="1200" dirty="0"/>
          </a:p>
        </p:txBody>
      </p:sp>
      <p:sp>
        <p:nvSpPr>
          <p:cNvPr id="12" name="Shape 10"/>
          <p:cNvSpPr/>
          <p:nvPr/>
        </p:nvSpPr>
        <p:spPr>
          <a:xfrm>
            <a:off x="365760" y="2743200"/>
            <a:ext cx="4069080" cy="1645920"/>
          </a:xfrm>
          <a:prstGeom prst="roundRect">
            <a:avLst>
              <a:gd name="adj" fmla="val 5556"/>
            </a:avLst>
          </a:prstGeom>
          <a:solidFill>
            <a:srgbClr val="FEF6E4"/>
          </a:solidFill>
          <a:ln w="6350">
            <a:solidFill>
              <a:srgbClr val="DDDDEE"/>
            </a:solidFill>
            <a:prstDash val="solid"/>
          </a:ln>
        </p:spPr>
      </p:sp>
      <p:sp>
        <p:nvSpPr>
          <p:cNvPr id="13" name="Text 11"/>
          <p:cNvSpPr/>
          <p:nvPr/>
        </p:nvSpPr>
        <p:spPr>
          <a:xfrm>
            <a:off x="502920" y="281635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5 1/4 − 2 3/4</a:t>
            </a:r>
            <a:endParaRPr lang="en-US" sz="1600" dirty="0"/>
          </a:p>
        </p:txBody>
      </p:sp>
      <p:sp>
        <p:nvSpPr>
          <p:cNvPr id="14" name="Text 12"/>
          <p:cNvSpPr/>
          <p:nvPr/>
        </p:nvSpPr>
        <p:spPr>
          <a:xfrm>
            <a:off x="502920" y="324612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5 1/4 − 2 3/4 -- the only expression that DOES require regrouping (1/4 is smaller than 3/4).</a:t>
            </a:r>
            <a:endParaRPr lang="en-US" sz="1200" dirty="0"/>
          </a:p>
        </p:txBody>
      </p:sp>
      <p:sp>
        <p:nvSpPr>
          <p:cNvPr id="15" name="Shape 13"/>
          <p:cNvSpPr/>
          <p:nvPr/>
        </p:nvSpPr>
        <p:spPr>
          <a:xfrm>
            <a:off x="4709160" y="2743200"/>
            <a:ext cx="4069080" cy="1645920"/>
          </a:xfrm>
          <a:prstGeom prst="roundRect">
            <a:avLst>
              <a:gd name="adj" fmla="val 5556"/>
            </a:avLst>
          </a:prstGeom>
          <a:solidFill>
            <a:srgbClr val="FEF0E6"/>
          </a:solidFill>
          <a:ln w="6350">
            <a:solidFill>
              <a:srgbClr val="DDDDEE"/>
            </a:solidFill>
            <a:prstDash val="solid"/>
          </a:ln>
        </p:spPr>
      </p:sp>
      <p:sp>
        <p:nvSpPr>
          <p:cNvPr id="16" name="Text 14"/>
          <p:cNvSpPr/>
          <p:nvPr/>
        </p:nvSpPr>
        <p:spPr>
          <a:xfrm>
            <a:off x="4846320" y="281635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2 12/20</a:t>
            </a:r>
            <a:endParaRPr lang="en-US" sz="1600" dirty="0"/>
          </a:p>
        </p:txBody>
      </p:sp>
      <p:sp>
        <p:nvSpPr>
          <p:cNvPr id="17" name="Text 15"/>
          <p:cNvSpPr/>
          <p:nvPr/>
        </p:nvSpPr>
        <p:spPr>
          <a:xfrm>
            <a:off x="4846320" y="324612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2 12/20 -- the only one that is an unsimplified equivalent of 2 2/5, not in simplest form.</a:t>
            </a:r>
            <a:endParaRPr lang="en-US" sz="1200" dirty="0"/>
          </a:p>
        </p:txBody>
      </p:sp>
      <p:sp>
        <p:nvSpPr>
          <p:cNvPr id="18" name="Shape 16"/>
          <p:cNvSpPr/>
          <p:nvPr/>
        </p:nvSpPr>
        <p:spPr>
          <a:xfrm>
            <a:off x="1828800" y="4480560"/>
            <a:ext cx="5486400" cy="438912"/>
          </a:xfrm>
          <a:prstGeom prst="roundRect">
            <a:avLst>
              <a:gd name="adj" fmla="val 12500"/>
            </a:avLst>
          </a:prstGeom>
          <a:solidFill>
            <a:srgbClr val="464EB8"/>
          </a:solidFill>
          <a:ln w="12700">
            <a:solidFill>
              <a:srgbClr val="464EB8"/>
            </a:solidFill>
            <a:prstDash val="solid"/>
          </a:ln>
        </p:spPr>
      </p:sp>
      <p:sp>
        <p:nvSpPr>
          <p:cNvPr id="19" name="Text 17"/>
          <p:cNvSpPr/>
          <p:nvPr/>
        </p:nvSpPr>
        <p:spPr>
          <a:xfrm>
            <a:off x="1828800" y="44805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pick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WHICH DOESN'T BELONG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100" kern="0" dirty="0">
                <a:solidFill>
                  <a:srgbClr val="FFFFFF"/>
                </a:solidFill>
              </a:rPr>
              <a:t>Vocabulary Connection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54480"/>
            <a:ext cx="8229600" cy="20116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4 3/5 − 2 1/5, 2 2/5, and 2 12/20 are all connected to the same difference -- only 5 1/4 − 2 3/4 leads somewhere else.</a:t>
            </a:r>
            <a:endParaRPr lang="en-US" sz="2000" dirty="0"/>
          </a:p>
        </p:txBody>
      </p:sp>
      <p:sp>
        <p:nvSpPr>
          <p:cNvPr id="8" name="Shape 6"/>
          <p:cNvSpPr/>
          <p:nvPr/>
        </p:nvSpPr>
        <p:spPr>
          <a:xfrm>
            <a:off x="1188720" y="4343400"/>
            <a:ext cx="676656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188720" y="4343400"/>
            <a:ext cx="67665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item fits the word?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WHICH DOESN'T BELONG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Shape 5"/>
          <p:cNvSpPr/>
          <p:nvPr/>
        </p:nvSpPr>
        <p:spPr>
          <a:xfrm>
            <a:off x="914400" y="1463040"/>
            <a:ext cx="3200400" cy="1280160"/>
          </a:xfrm>
          <a:prstGeom prst="roundRect">
            <a:avLst>
              <a:gd name="adj" fmla="val 7143"/>
            </a:avLst>
          </a:prstGeom>
          <a:solidFill>
            <a:srgbClr val="1A5533"/>
          </a:solidFill>
          <a:ln w="12700">
            <a:solidFill>
              <a:srgbClr val="3A7555"/>
            </a:solidFill>
            <a:prstDash val="solid"/>
          </a:ln>
        </p:spPr>
      </p:sp>
      <p:sp>
        <p:nvSpPr>
          <p:cNvPr id="8" name="Text 6"/>
          <p:cNvSpPr/>
          <p:nvPr/>
        </p:nvSpPr>
        <p:spPr>
          <a:xfrm>
            <a:off x="914400" y="146304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6 5/6 − 1 1/6</a:t>
            </a:r>
            <a:endParaRPr lang="en-US" sz="2600" dirty="0"/>
          </a:p>
        </p:txBody>
      </p:sp>
      <p:sp>
        <p:nvSpPr>
          <p:cNvPr id="9" name="Shape 7"/>
          <p:cNvSpPr/>
          <p:nvPr/>
        </p:nvSpPr>
        <p:spPr>
          <a:xfrm>
            <a:off x="5029200" y="1463040"/>
            <a:ext cx="3200400" cy="1280160"/>
          </a:xfrm>
          <a:prstGeom prst="roundRect">
            <a:avLst>
              <a:gd name="adj" fmla="val 7143"/>
            </a:avLst>
          </a:prstGeom>
          <a:solidFill>
            <a:srgbClr val="1A5533"/>
          </a:solidFill>
          <a:ln w="12700">
            <a:solidFill>
              <a:srgbClr val="3A7555"/>
            </a:solidFill>
            <a:prstDash val="solid"/>
          </a:ln>
        </p:spPr>
      </p:sp>
      <p:sp>
        <p:nvSpPr>
          <p:cNvPr id="10" name="Text 8"/>
          <p:cNvSpPr/>
          <p:nvPr/>
        </p:nvSpPr>
        <p:spPr>
          <a:xfrm>
            <a:off x="5029200" y="146304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 4/6</a:t>
            </a:r>
            <a:endParaRPr lang="en-US" sz="2600" dirty="0"/>
          </a:p>
        </p:txBody>
      </p:sp>
      <p:sp>
        <p:nvSpPr>
          <p:cNvPr id="11" name="Shape 9"/>
          <p:cNvSpPr/>
          <p:nvPr/>
        </p:nvSpPr>
        <p:spPr>
          <a:xfrm>
            <a:off x="914400" y="3108960"/>
            <a:ext cx="3200400" cy="1280160"/>
          </a:xfrm>
          <a:prstGeom prst="roundRect">
            <a:avLst>
              <a:gd name="adj" fmla="val 7143"/>
            </a:avLst>
          </a:prstGeom>
          <a:solidFill>
            <a:srgbClr val="1A5533"/>
          </a:solidFill>
          <a:ln w="12700">
            <a:solidFill>
              <a:srgbClr val="3A7555"/>
            </a:solidFill>
            <a:prstDash val="solid"/>
          </a:ln>
        </p:spPr>
      </p:sp>
      <p:sp>
        <p:nvSpPr>
          <p:cNvPr id="12" name="Text 10"/>
          <p:cNvSpPr/>
          <p:nvPr/>
        </p:nvSpPr>
        <p:spPr>
          <a:xfrm>
            <a:off x="914400" y="310896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7 1/3 − 4 5/6</a:t>
            </a:r>
            <a:endParaRPr lang="en-US" sz="2600" dirty="0"/>
          </a:p>
        </p:txBody>
      </p:sp>
      <p:sp>
        <p:nvSpPr>
          <p:cNvPr id="13" name="Shape 11"/>
          <p:cNvSpPr/>
          <p:nvPr/>
        </p:nvSpPr>
        <p:spPr>
          <a:xfrm>
            <a:off x="5029200" y="3108960"/>
            <a:ext cx="3200400" cy="1280160"/>
          </a:xfrm>
          <a:prstGeom prst="roundRect">
            <a:avLst>
              <a:gd name="adj" fmla="val 7143"/>
            </a:avLst>
          </a:prstGeom>
          <a:solidFill>
            <a:srgbClr val="1A5533"/>
          </a:solidFill>
          <a:ln w="12700">
            <a:solidFill>
              <a:srgbClr val="3A7555"/>
            </a:solidFill>
            <a:prstDash val="solid"/>
          </a:ln>
        </p:spPr>
      </p:sp>
      <p:sp>
        <p:nvSpPr>
          <p:cNvPr id="14" name="Text 12"/>
          <p:cNvSpPr/>
          <p:nvPr/>
        </p:nvSpPr>
        <p:spPr>
          <a:xfrm>
            <a:off x="5029200" y="310896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 2/3</a:t>
            </a:r>
            <a:endParaRPr lang="en-US" sz="2600" dirty="0"/>
          </a:p>
        </p:txBody>
      </p:sp>
      <p:sp>
        <p:nvSpPr>
          <p:cNvPr id="15" name="Shape 13"/>
          <p:cNvSpPr/>
          <p:nvPr/>
        </p:nvSpPr>
        <p:spPr>
          <a:xfrm>
            <a:off x="1828800" y="4434840"/>
            <a:ext cx="5486400" cy="438912"/>
          </a:xfrm>
          <a:prstGeom prst="roundRect">
            <a:avLst>
              <a:gd name="adj" fmla="val 12500"/>
            </a:avLst>
          </a:prstGeom>
          <a:solidFill>
            <a:srgbClr val="464EB8"/>
          </a:solidFill>
          <a:ln w="12700">
            <a:solidFill>
              <a:srgbClr val="464EB8"/>
            </a:solidFill>
            <a:prstDash val="solid"/>
          </a:ln>
        </p:spPr>
      </p:sp>
      <p:sp>
        <p:nvSpPr>
          <p:cNvPr id="16" name="Text 14"/>
          <p:cNvSpPr/>
          <p:nvPr/>
        </p:nvSpPr>
        <p:spPr>
          <a:xfrm>
            <a:off x="1828800" y="4434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pick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5.04.06</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Subtracting Mixed Numbers — Part 1</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4 · Fractions and Mixed Numbers</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MA.5.FR.2.2</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subtract mixed numbers by taking away whole numbers and matching fraction parts.</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“When the pieces match, subtract the whole part and the fraction part carefully.”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Readiness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371600"/>
          </a:xfrm>
          <a:prstGeom prst="roundRect">
            <a:avLst>
              <a:gd name="adj" fmla="val 6667"/>
            </a:avLst>
          </a:prstGeom>
          <a:solidFill>
            <a:srgbClr val="FFFFFF"/>
          </a:solidFill>
          <a:ln w="6350">
            <a:solidFill>
              <a:srgbClr val="DDDDEE"/>
            </a:solidFill>
            <a:prstDash val="solid"/>
          </a:ln>
        </p:spPr>
      </p:sp>
      <p:sp>
        <p:nvSpPr>
          <p:cNvPr id="7" name="Text 5"/>
          <p:cNvSpPr/>
          <p:nvPr/>
        </p:nvSpPr>
        <p:spPr>
          <a:xfrm>
            <a:off x="685800" y="1051560"/>
            <a:ext cx="7772400" cy="118872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Subtract 3/5 − 1/5. What denominator does the difference have?</a:t>
            </a:r>
            <a:endParaRPr lang="en-US" sz="1700" dirty="0"/>
          </a:p>
        </p:txBody>
      </p:sp>
      <p:sp>
        <p:nvSpPr>
          <p:cNvPr id="8" name="Shape 6"/>
          <p:cNvSpPr/>
          <p:nvPr/>
        </p:nvSpPr>
        <p:spPr>
          <a:xfrm>
            <a:off x="457200" y="2468880"/>
            <a:ext cx="8229600" cy="1371600"/>
          </a:xfrm>
          <a:prstGeom prst="roundRect">
            <a:avLst>
              <a:gd name="adj" fmla="val 6667"/>
            </a:avLst>
          </a:prstGeom>
          <a:solidFill>
            <a:srgbClr val="EAE8F5"/>
          </a:solidFill>
          <a:ln w="6350">
            <a:solidFill>
              <a:srgbClr val="DDDDEE"/>
            </a:solidFill>
            <a:prstDash val="solid"/>
          </a:ln>
        </p:spPr>
      </p:sp>
      <p:sp>
        <p:nvSpPr>
          <p:cNvPr id="9" name="Text 7"/>
          <p:cNvSpPr/>
          <p:nvPr/>
        </p:nvSpPr>
        <p:spPr>
          <a:xfrm>
            <a:off x="685800" y="2560320"/>
            <a:ext cx="7772400" cy="118872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Name the whole-number part and fraction part of 4 and 3/5.</a:t>
            </a:r>
            <a:endParaRPr lang="en-US" sz="1700" dirty="0"/>
          </a:p>
        </p:txBody>
      </p:sp>
      <p:sp>
        <p:nvSpPr>
          <p:cNvPr id="10" name="Shape 8"/>
          <p:cNvSpPr/>
          <p:nvPr/>
        </p:nvSpPr>
        <p:spPr>
          <a:xfrm>
            <a:off x="1371600" y="3977640"/>
            <a:ext cx="64008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371600" y="39776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difference 3/5 − 1/5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Mission</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Hook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103120"/>
          </a:xfrm>
          <a:prstGeom prst="roundRect">
            <a:avLst>
              <a:gd name="adj" fmla="val 4348"/>
            </a:avLst>
          </a:prstGeom>
          <a:solidFill>
            <a:srgbClr val="FFFFFF"/>
          </a:solidFill>
          <a:ln w="6350">
            <a:solidFill>
              <a:srgbClr val="DDDDEE"/>
            </a:solidFill>
            <a:prstDash val="solid"/>
          </a:ln>
        </p:spPr>
      </p:sp>
      <p:sp>
        <p:nvSpPr>
          <p:cNvPr id="7" name="Text 5"/>
          <p:cNvSpPr/>
          <p:nvPr/>
        </p:nvSpPr>
        <p:spPr>
          <a:xfrm>
            <a:off x="685800" y="1143000"/>
            <a:ext cx="7772400" cy="1828800"/>
          </a:xfrm>
          <a:prstGeom prst="rect">
            <a:avLst/>
          </a:prstGeom>
          <a:noFill/>
          <a:ln/>
        </p:spPr>
        <p:txBody>
          <a:bodyPr wrap="square" lIns="0" tIns="0" rIns="0" bIns="0" rtlCol="0" anchor="ctr"/>
          <a:lstStyle/>
          <a:p>
            <a:pPr indent="0" marL="0">
              <a:buNone/>
            </a:pPr>
            <a:r>
              <a:rPr lang="en-US" sz="2100" b="1" dirty="0">
                <a:solidFill>
                  <a:srgbClr val="4A3D8F"/>
                </a:solidFill>
                <a:latin typeface="Cambria" pitchFamily="34" charset="0"/>
                <a:ea typeface="Cambria" pitchFamily="34" charset="-122"/>
                <a:cs typeface="Cambria" pitchFamily="34" charset="-120"/>
              </a:rPr>
              <a:t>How can a model help us subtract mixed numbers without regrouping?</a:t>
            </a:r>
            <a:endParaRPr lang="en-US" sz="2100" dirty="0"/>
          </a:p>
        </p:txBody>
      </p:sp>
      <p:sp>
        <p:nvSpPr>
          <p:cNvPr id="8" name="Shape 6"/>
          <p:cNvSpPr/>
          <p:nvPr/>
        </p:nvSpPr>
        <p:spPr>
          <a:xfrm>
            <a:off x="457200" y="3291840"/>
            <a:ext cx="8229600" cy="914400"/>
          </a:xfrm>
          <a:prstGeom prst="roundRect">
            <a:avLst>
              <a:gd name="adj" fmla="val 10000"/>
            </a:avLst>
          </a:prstGeom>
          <a:solidFill>
            <a:srgbClr val="EAE8F5"/>
          </a:solidFill>
          <a:ln w="6350">
            <a:solidFill>
              <a:srgbClr val="DDDDEE"/>
            </a:solidFill>
            <a:prstDash val="solid"/>
          </a:ln>
        </p:spPr>
      </p:sp>
      <p:sp>
        <p:nvSpPr>
          <p:cNvPr id="9" name="Text 7"/>
          <p:cNvSpPr/>
          <p:nvPr/>
        </p:nvSpPr>
        <p:spPr>
          <a:xfrm>
            <a:off x="685800" y="3337560"/>
            <a:ext cx="7772400" cy="822960"/>
          </a:xfrm>
          <a:prstGeom prst="rect">
            <a:avLst/>
          </a:prstGeom>
          <a:noFill/>
          <a:ln/>
        </p:spPr>
        <p:txBody>
          <a:bodyPr wrap="square" lIns="0" tIns="0" rIns="0" bIns="0" rtlCol="0" anchor="ctr"/>
          <a:lstStyle/>
          <a:p>
            <a:pPr indent="0" marL="0">
              <a:buNone/>
            </a:pPr>
            <a:r>
              <a:rPr lang="en-US" sz="1400" i="1" dirty="0">
                <a:solidFill>
                  <a:srgbClr val="5A5A7A"/>
                </a:solidFill>
              </a:rPr>
              <a:t>A craft table starts with 4 and 3/5 yards of yarn. Students use 2 and 1/5 yards. How much yarn is left?</a:t>
            </a:r>
            <a:endParaRPr lang="en-US" sz="14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best guess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4 and 3/5 yards  −  2 and 1/5 yards  =  ?</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(Same-size pieces -- both fifths.)</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Removing Wholes and Fifths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300" b="1" dirty="0">
                <a:solidFill>
                  <a:srgbClr val="5A5A7A"/>
                </a:solidFill>
              </a:rPr>
              <a:t>Start: 4 whole yards + 3/5 of a yard</a:t>
            </a:r>
            <a:endParaRPr lang="en-US" sz="1300" dirty="0"/>
          </a:p>
        </p:txBody>
      </p:sp>
      <p:sp>
        <p:nvSpPr>
          <p:cNvPr id="8" name="Shape 6"/>
          <p:cNvSpPr/>
          <p:nvPr/>
        </p:nvSpPr>
        <p:spPr>
          <a:xfrm>
            <a:off x="548640" y="1371600"/>
            <a:ext cx="1097280" cy="640080"/>
          </a:xfrm>
          <a:prstGeom prst="rect">
            <a:avLst/>
          </a:prstGeom>
          <a:solidFill>
            <a:srgbClr val="4A3D8F"/>
          </a:solidFill>
          <a:ln w="15875">
            <a:solidFill>
              <a:srgbClr val="1B2A4A"/>
            </a:solidFill>
            <a:prstDash val="solid"/>
          </a:ln>
        </p:spPr>
      </p:sp>
      <p:sp>
        <p:nvSpPr>
          <p:cNvPr id="9" name="Shape 7"/>
          <p:cNvSpPr/>
          <p:nvPr/>
        </p:nvSpPr>
        <p:spPr>
          <a:xfrm>
            <a:off x="1828800" y="1371600"/>
            <a:ext cx="1097280" cy="640080"/>
          </a:xfrm>
          <a:prstGeom prst="rect">
            <a:avLst/>
          </a:prstGeom>
          <a:solidFill>
            <a:srgbClr val="4A3D8F"/>
          </a:solidFill>
          <a:ln w="15875">
            <a:solidFill>
              <a:srgbClr val="1B2A4A"/>
            </a:solidFill>
            <a:prstDash val="solid"/>
          </a:ln>
        </p:spPr>
      </p:sp>
      <p:sp>
        <p:nvSpPr>
          <p:cNvPr id="10" name="Shape 8"/>
          <p:cNvSpPr/>
          <p:nvPr/>
        </p:nvSpPr>
        <p:spPr>
          <a:xfrm>
            <a:off x="3108960" y="1371600"/>
            <a:ext cx="1097280" cy="640080"/>
          </a:xfrm>
          <a:prstGeom prst="rect">
            <a:avLst/>
          </a:prstGeom>
          <a:solidFill>
            <a:srgbClr val="4A3D8F"/>
          </a:solidFill>
          <a:ln w="15875">
            <a:solidFill>
              <a:srgbClr val="1B2A4A"/>
            </a:solidFill>
            <a:prstDash val="solid"/>
          </a:ln>
        </p:spPr>
      </p:sp>
      <p:sp>
        <p:nvSpPr>
          <p:cNvPr id="11" name="Shape 9"/>
          <p:cNvSpPr/>
          <p:nvPr/>
        </p:nvSpPr>
        <p:spPr>
          <a:xfrm>
            <a:off x="4389120" y="1371600"/>
            <a:ext cx="1097280" cy="640080"/>
          </a:xfrm>
          <a:prstGeom prst="rect">
            <a:avLst/>
          </a:prstGeom>
          <a:solidFill>
            <a:srgbClr val="4A3D8F"/>
          </a:solidFill>
          <a:ln w="15875">
            <a:solidFill>
              <a:srgbClr val="1B2A4A"/>
            </a:solidFill>
            <a:prstDash val="solid"/>
          </a:ln>
        </p:spPr>
      </p:sp>
      <p:sp>
        <p:nvSpPr>
          <p:cNvPr id="12" name="Shape 10"/>
          <p:cNvSpPr/>
          <p:nvPr/>
        </p:nvSpPr>
        <p:spPr>
          <a:xfrm>
            <a:off x="5852160" y="1371600"/>
            <a:ext cx="292608" cy="640080"/>
          </a:xfrm>
          <a:prstGeom prst="rect">
            <a:avLst/>
          </a:prstGeom>
          <a:solidFill>
            <a:srgbClr val="88C8F7"/>
          </a:solidFill>
          <a:ln w="15875">
            <a:solidFill>
              <a:srgbClr val="1B2A4A"/>
            </a:solidFill>
            <a:prstDash val="solid"/>
          </a:ln>
        </p:spPr>
      </p:sp>
      <p:sp>
        <p:nvSpPr>
          <p:cNvPr id="13" name="Shape 11"/>
          <p:cNvSpPr/>
          <p:nvPr/>
        </p:nvSpPr>
        <p:spPr>
          <a:xfrm>
            <a:off x="6144768" y="1371600"/>
            <a:ext cx="292608" cy="640080"/>
          </a:xfrm>
          <a:prstGeom prst="rect">
            <a:avLst/>
          </a:prstGeom>
          <a:solidFill>
            <a:srgbClr val="88C8F7"/>
          </a:solidFill>
          <a:ln w="15875">
            <a:solidFill>
              <a:srgbClr val="1B2A4A"/>
            </a:solidFill>
            <a:prstDash val="solid"/>
          </a:ln>
        </p:spPr>
      </p:sp>
      <p:sp>
        <p:nvSpPr>
          <p:cNvPr id="14" name="Shape 12"/>
          <p:cNvSpPr/>
          <p:nvPr/>
        </p:nvSpPr>
        <p:spPr>
          <a:xfrm>
            <a:off x="6437376" y="1371600"/>
            <a:ext cx="292608" cy="640080"/>
          </a:xfrm>
          <a:prstGeom prst="rect">
            <a:avLst/>
          </a:prstGeom>
          <a:solidFill>
            <a:srgbClr val="88C8F7"/>
          </a:solidFill>
          <a:ln w="15875">
            <a:solidFill>
              <a:srgbClr val="1B2A4A"/>
            </a:solidFill>
            <a:prstDash val="solid"/>
          </a:ln>
        </p:spPr>
      </p:sp>
      <p:sp>
        <p:nvSpPr>
          <p:cNvPr id="15" name="Shape 13"/>
          <p:cNvSpPr/>
          <p:nvPr/>
        </p:nvSpPr>
        <p:spPr>
          <a:xfrm>
            <a:off x="6729984" y="1371600"/>
            <a:ext cx="292608" cy="640080"/>
          </a:xfrm>
          <a:prstGeom prst="rect">
            <a:avLst/>
          </a:prstGeom>
          <a:solidFill>
            <a:srgbClr val="FFFFFF"/>
          </a:solidFill>
          <a:ln w="15875">
            <a:solidFill>
              <a:srgbClr val="1B2A4A"/>
            </a:solidFill>
            <a:prstDash val="solid"/>
          </a:ln>
        </p:spPr>
      </p:sp>
      <p:sp>
        <p:nvSpPr>
          <p:cNvPr id="16" name="Shape 14"/>
          <p:cNvSpPr/>
          <p:nvPr/>
        </p:nvSpPr>
        <p:spPr>
          <a:xfrm>
            <a:off x="7022592" y="1371600"/>
            <a:ext cx="292608" cy="640080"/>
          </a:xfrm>
          <a:prstGeom prst="rect">
            <a:avLst/>
          </a:prstGeom>
          <a:solidFill>
            <a:srgbClr val="FFFFFF"/>
          </a:solidFill>
          <a:ln w="15875">
            <a:solidFill>
              <a:srgbClr val="1B2A4A"/>
            </a:solidFill>
            <a:prstDash val="solid"/>
          </a:ln>
        </p:spPr>
      </p:sp>
      <p:sp>
        <p:nvSpPr>
          <p:cNvPr id="17" name="Text 15"/>
          <p:cNvSpPr/>
          <p:nvPr/>
        </p:nvSpPr>
        <p:spPr>
          <a:xfrm>
            <a:off x="5852160" y="2057400"/>
            <a:ext cx="1463040" cy="274320"/>
          </a:xfrm>
          <a:prstGeom prst="rect">
            <a:avLst/>
          </a:prstGeom>
          <a:noFill/>
          <a:ln/>
        </p:spPr>
        <p:txBody>
          <a:bodyPr wrap="square" lIns="0" tIns="0" rIns="0" bIns="0" rtlCol="0" anchor="ctr"/>
          <a:lstStyle/>
          <a:p>
            <a:pPr algn="ctr" indent="0" marL="0">
              <a:buNone/>
            </a:pPr>
            <a:r>
              <a:rPr lang="en-US" sz="1100" i="1" dirty="0">
                <a:solidFill>
                  <a:srgbClr val="5A5A7A"/>
                </a:solidFill>
              </a:rPr>
              <a:t>4 wholes + 3/5</a:t>
            </a:r>
            <a:endParaRPr lang="en-US" sz="1100" dirty="0"/>
          </a:p>
        </p:txBody>
      </p:sp>
      <p:sp>
        <p:nvSpPr>
          <p:cNvPr id="18" name="Shape 16"/>
          <p:cNvSpPr/>
          <p:nvPr/>
        </p:nvSpPr>
        <p:spPr>
          <a:xfrm>
            <a:off x="457200" y="2514600"/>
            <a:ext cx="8229600" cy="365760"/>
          </a:xfrm>
          <a:prstGeom prst="roundRect">
            <a:avLst>
              <a:gd name="adj" fmla="val 25000"/>
            </a:avLst>
          </a:prstGeom>
          <a:solidFill>
            <a:srgbClr val="EAE8F5"/>
          </a:solidFill>
          <a:ln w="6350">
            <a:solidFill>
              <a:srgbClr val="DDDDEE"/>
            </a:solidFill>
            <a:prstDash val="solid"/>
          </a:ln>
        </p:spPr>
      </p:sp>
      <p:sp>
        <p:nvSpPr>
          <p:cNvPr id="19" name="Text 17"/>
          <p:cNvSpPr/>
          <p:nvPr/>
        </p:nvSpPr>
        <p:spPr>
          <a:xfrm>
            <a:off x="548640" y="2514600"/>
            <a:ext cx="8046720" cy="365760"/>
          </a:xfrm>
          <a:prstGeom prst="rect">
            <a:avLst/>
          </a:prstGeom>
          <a:noFill/>
          <a:ln/>
        </p:spPr>
        <p:txBody>
          <a:bodyPr wrap="square" lIns="0" tIns="0" rIns="0" bIns="0" rtlCol="0" anchor="ctr"/>
          <a:lstStyle/>
          <a:p>
            <a:pPr algn="ctr" indent="0" marL="0">
              <a:buNone/>
            </a:pPr>
            <a:r>
              <a:rPr lang="en-US" sz="1300" b="1" dirty="0">
                <a:solidFill>
                  <a:srgbClr val="4A3D8F"/>
                </a:solidFill>
              </a:rPr>
              <a:t>Remove 2 whole yards and 1/5 of a yard</a:t>
            </a:r>
            <a:endParaRPr lang="en-US" sz="1300" dirty="0"/>
          </a:p>
        </p:txBody>
      </p:sp>
      <p:sp>
        <p:nvSpPr>
          <p:cNvPr id="20" name="Shape 18"/>
          <p:cNvSpPr/>
          <p:nvPr/>
        </p:nvSpPr>
        <p:spPr>
          <a:xfrm>
            <a:off x="548640" y="3017520"/>
            <a:ext cx="1097280" cy="640080"/>
          </a:xfrm>
          <a:prstGeom prst="rect">
            <a:avLst/>
          </a:prstGeom>
          <a:solidFill>
            <a:srgbClr val="F59C69"/>
          </a:solidFill>
          <a:ln w="15875">
            <a:solidFill>
              <a:srgbClr val="1B2A4A"/>
            </a:solidFill>
            <a:prstDash val="solid"/>
          </a:ln>
        </p:spPr>
      </p:sp>
      <p:sp>
        <p:nvSpPr>
          <p:cNvPr id="21" name="Shape 19"/>
          <p:cNvSpPr/>
          <p:nvPr/>
        </p:nvSpPr>
        <p:spPr>
          <a:xfrm>
            <a:off x="1828800" y="3017520"/>
            <a:ext cx="1097280" cy="640080"/>
          </a:xfrm>
          <a:prstGeom prst="rect">
            <a:avLst/>
          </a:prstGeom>
          <a:solidFill>
            <a:srgbClr val="F59C69"/>
          </a:solidFill>
          <a:ln w="15875">
            <a:solidFill>
              <a:srgbClr val="1B2A4A"/>
            </a:solidFill>
            <a:prstDash val="solid"/>
          </a:ln>
        </p:spPr>
      </p:sp>
      <p:sp>
        <p:nvSpPr>
          <p:cNvPr id="22" name="Shape 20"/>
          <p:cNvSpPr/>
          <p:nvPr/>
        </p:nvSpPr>
        <p:spPr>
          <a:xfrm>
            <a:off x="3108960" y="3017520"/>
            <a:ext cx="292608" cy="640080"/>
          </a:xfrm>
          <a:prstGeom prst="rect">
            <a:avLst/>
          </a:prstGeom>
          <a:solidFill>
            <a:srgbClr val="F59C69"/>
          </a:solidFill>
          <a:ln w="15875">
            <a:solidFill>
              <a:srgbClr val="1B2A4A"/>
            </a:solidFill>
            <a:prstDash val="solid"/>
          </a:ln>
        </p:spPr>
      </p:sp>
      <p:sp>
        <p:nvSpPr>
          <p:cNvPr id="23" name="Shape 21"/>
          <p:cNvSpPr/>
          <p:nvPr/>
        </p:nvSpPr>
        <p:spPr>
          <a:xfrm>
            <a:off x="3401568" y="3017520"/>
            <a:ext cx="292608" cy="640080"/>
          </a:xfrm>
          <a:prstGeom prst="rect">
            <a:avLst/>
          </a:prstGeom>
          <a:solidFill>
            <a:srgbClr val="FFFFFF"/>
          </a:solidFill>
          <a:ln w="15875">
            <a:solidFill>
              <a:srgbClr val="1B2A4A"/>
            </a:solidFill>
            <a:prstDash val="solid"/>
          </a:ln>
        </p:spPr>
      </p:sp>
      <p:sp>
        <p:nvSpPr>
          <p:cNvPr id="24" name="Shape 22"/>
          <p:cNvSpPr/>
          <p:nvPr/>
        </p:nvSpPr>
        <p:spPr>
          <a:xfrm>
            <a:off x="3694176" y="3017520"/>
            <a:ext cx="292608" cy="640080"/>
          </a:xfrm>
          <a:prstGeom prst="rect">
            <a:avLst/>
          </a:prstGeom>
          <a:solidFill>
            <a:srgbClr val="FFFFFF"/>
          </a:solidFill>
          <a:ln w="15875">
            <a:solidFill>
              <a:srgbClr val="1B2A4A"/>
            </a:solidFill>
            <a:prstDash val="solid"/>
          </a:ln>
        </p:spPr>
      </p:sp>
      <p:sp>
        <p:nvSpPr>
          <p:cNvPr id="25" name="Shape 23"/>
          <p:cNvSpPr/>
          <p:nvPr/>
        </p:nvSpPr>
        <p:spPr>
          <a:xfrm>
            <a:off x="3986784" y="3017520"/>
            <a:ext cx="292608" cy="640080"/>
          </a:xfrm>
          <a:prstGeom prst="rect">
            <a:avLst/>
          </a:prstGeom>
          <a:solidFill>
            <a:srgbClr val="FFFFFF"/>
          </a:solidFill>
          <a:ln w="15875">
            <a:solidFill>
              <a:srgbClr val="1B2A4A"/>
            </a:solidFill>
            <a:prstDash val="solid"/>
          </a:ln>
        </p:spPr>
      </p:sp>
      <p:sp>
        <p:nvSpPr>
          <p:cNvPr id="26" name="Shape 24"/>
          <p:cNvSpPr/>
          <p:nvPr/>
        </p:nvSpPr>
        <p:spPr>
          <a:xfrm>
            <a:off x="4279392" y="3017520"/>
            <a:ext cx="292608" cy="640080"/>
          </a:xfrm>
          <a:prstGeom prst="rect">
            <a:avLst/>
          </a:prstGeom>
          <a:solidFill>
            <a:srgbClr val="FFFFFF"/>
          </a:solidFill>
          <a:ln w="15875">
            <a:solidFill>
              <a:srgbClr val="1B2A4A"/>
            </a:solidFill>
            <a:prstDash val="solid"/>
          </a:ln>
        </p:spPr>
      </p:sp>
      <p:sp>
        <p:nvSpPr>
          <p:cNvPr id="27" name="Text 25"/>
          <p:cNvSpPr/>
          <p:nvPr/>
        </p:nvSpPr>
        <p:spPr>
          <a:xfrm>
            <a:off x="3108960" y="3703320"/>
            <a:ext cx="1463040" cy="274320"/>
          </a:xfrm>
          <a:prstGeom prst="rect">
            <a:avLst/>
          </a:prstGeom>
          <a:noFill/>
          <a:ln/>
        </p:spPr>
        <p:txBody>
          <a:bodyPr wrap="square" lIns="0" tIns="0" rIns="0" bIns="0" rtlCol="0" anchor="ctr"/>
          <a:lstStyle/>
          <a:p>
            <a:pPr algn="ctr" indent="0" marL="0">
              <a:buNone/>
            </a:pPr>
            <a:r>
              <a:rPr lang="en-US" sz="1100" i="1" dirty="0">
                <a:solidFill>
                  <a:srgbClr val="5A5A7A"/>
                </a:solidFill>
              </a:rPr>
              <a:t>removed: 2 wholes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What Remains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300" b="1" dirty="0">
                <a:solidFill>
                  <a:srgbClr val="5A5A7A"/>
                </a:solidFill>
              </a:rPr>
              <a:t>2 wholes remain, plus 2/5 of a yard remain</a:t>
            </a:r>
            <a:endParaRPr lang="en-US" sz="1300" dirty="0"/>
          </a:p>
        </p:txBody>
      </p:sp>
      <p:sp>
        <p:nvSpPr>
          <p:cNvPr id="8" name="Shape 6"/>
          <p:cNvSpPr/>
          <p:nvPr/>
        </p:nvSpPr>
        <p:spPr>
          <a:xfrm>
            <a:off x="1645920" y="1554480"/>
            <a:ext cx="1097280" cy="822960"/>
          </a:xfrm>
          <a:prstGeom prst="rect">
            <a:avLst/>
          </a:prstGeom>
          <a:solidFill>
            <a:srgbClr val="4A3D8F"/>
          </a:solidFill>
          <a:ln w="15875">
            <a:solidFill>
              <a:srgbClr val="1B2A4A"/>
            </a:solidFill>
            <a:prstDash val="solid"/>
          </a:ln>
        </p:spPr>
      </p:sp>
      <p:sp>
        <p:nvSpPr>
          <p:cNvPr id="9" name="Shape 7"/>
          <p:cNvSpPr/>
          <p:nvPr/>
        </p:nvSpPr>
        <p:spPr>
          <a:xfrm>
            <a:off x="2926080" y="1554480"/>
            <a:ext cx="1097280" cy="822960"/>
          </a:xfrm>
          <a:prstGeom prst="rect">
            <a:avLst/>
          </a:prstGeom>
          <a:solidFill>
            <a:srgbClr val="4A3D8F"/>
          </a:solidFill>
          <a:ln w="15875">
            <a:solidFill>
              <a:srgbClr val="1B2A4A"/>
            </a:solidFill>
            <a:prstDash val="solid"/>
          </a:ln>
        </p:spPr>
      </p:sp>
      <p:sp>
        <p:nvSpPr>
          <p:cNvPr id="10" name="Shape 8"/>
          <p:cNvSpPr/>
          <p:nvPr/>
        </p:nvSpPr>
        <p:spPr>
          <a:xfrm>
            <a:off x="5303520" y="1554480"/>
            <a:ext cx="292608" cy="822960"/>
          </a:xfrm>
          <a:prstGeom prst="rect">
            <a:avLst/>
          </a:prstGeom>
          <a:solidFill>
            <a:srgbClr val="6B3FA0"/>
          </a:solidFill>
          <a:ln w="15875">
            <a:solidFill>
              <a:srgbClr val="1B2A4A"/>
            </a:solidFill>
            <a:prstDash val="solid"/>
          </a:ln>
        </p:spPr>
      </p:sp>
      <p:sp>
        <p:nvSpPr>
          <p:cNvPr id="11" name="Shape 9"/>
          <p:cNvSpPr/>
          <p:nvPr/>
        </p:nvSpPr>
        <p:spPr>
          <a:xfrm>
            <a:off x="5596128" y="1554480"/>
            <a:ext cx="292608" cy="822960"/>
          </a:xfrm>
          <a:prstGeom prst="rect">
            <a:avLst/>
          </a:prstGeom>
          <a:solidFill>
            <a:srgbClr val="6B3FA0"/>
          </a:solidFill>
          <a:ln w="15875">
            <a:solidFill>
              <a:srgbClr val="1B2A4A"/>
            </a:solidFill>
            <a:prstDash val="solid"/>
          </a:ln>
        </p:spPr>
      </p:sp>
      <p:sp>
        <p:nvSpPr>
          <p:cNvPr id="12" name="Shape 10"/>
          <p:cNvSpPr/>
          <p:nvPr/>
        </p:nvSpPr>
        <p:spPr>
          <a:xfrm>
            <a:off x="5888736" y="1554480"/>
            <a:ext cx="292608" cy="822960"/>
          </a:xfrm>
          <a:prstGeom prst="rect">
            <a:avLst/>
          </a:prstGeom>
          <a:solidFill>
            <a:srgbClr val="FFFFFF"/>
          </a:solidFill>
          <a:ln w="15875">
            <a:solidFill>
              <a:srgbClr val="1B2A4A"/>
            </a:solidFill>
            <a:prstDash val="solid"/>
          </a:ln>
        </p:spPr>
      </p:sp>
      <p:sp>
        <p:nvSpPr>
          <p:cNvPr id="13" name="Shape 11"/>
          <p:cNvSpPr/>
          <p:nvPr/>
        </p:nvSpPr>
        <p:spPr>
          <a:xfrm>
            <a:off x="6181344" y="1554480"/>
            <a:ext cx="292608" cy="822960"/>
          </a:xfrm>
          <a:prstGeom prst="rect">
            <a:avLst/>
          </a:prstGeom>
          <a:solidFill>
            <a:srgbClr val="FFFFFF"/>
          </a:solidFill>
          <a:ln w="15875">
            <a:solidFill>
              <a:srgbClr val="1B2A4A"/>
            </a:solidFill>
            <a:prstDash val="solid"/>
          </a:ln>
        </p:spPr>
      </p:sp>
      <p:sp>
        <p:nvSpPr>
          <p:cNvPr id="14" name="Shape 12"/>
          <p:cNvSpPr/>
          <p:nvPr/>
        </p:nvSpPr>
        <p:spPr>
          <a:xfrm>
            <a:off x="6473952" y="1554480"/>
            <a:ext cx="292608" cy="822960"/>
          </a:xfrm>
          <a:prstGeom prst="rect">
            <a:avLst/>
          </a:prstGeom>
          <a:solidFill>
            <a:srgbClr val="FFFFFF"/>
          </a:solidFill>
          <a:ln w="15875">
            <a:solidFill>
              <a:srgbClr val="1B2A4A"/>
            </a:solidFill>
            <a:prstDash val="solid"/>
          </a:ln>
        </p:spPr>
      </p:sp>
      <p:sp>
        <p:nvSpPr>
          <p:cNvPr id="15" name="Text 13"/>
          <p:cNvSpPr/>
          <p:nvPr/>
        </p:nvSpPr>
        <p:spPr>
          <a:xfrm>
            <a:off x="5303520" y="2423160"/>
            <a:ext cx="1463040" cy="274320"/>
          </a:xfrm>
          <a:prstGeom prst="rect">
            <a:avLst/>
          </a:prstGeom>
          <a:noFill/>
          <a:ln/>
        </p:spPr>
        <p:txBody>
          <a:bodyPr wrap="square" lIns="0" tIns="0" rIns="0" bIns="0" rtlCol="0" anchor="ctr"/>
          <a:lstStyle/>
          <a:p>
            <a:pPr algn="ctr" indent="0" marL="0">
              <a:buNone/>
            </a:pPr>
            <a:r>
              <a:rPr lang="en-US" sz="1100" i="1" dirty="0">
                <a:solidFill>
                  <a:srgbClr val="5A5A7A"/>
                </a:solidFill>
              </a:rPr>
              <a:t>2/5 remaining</a:t>
            </a:r>
            <a:endParaRPr lang="en-US" sz="1100" dirty="0"/>
          </a:p>
        </p:txBody>
      </p:sp>
      <p:sp>
        <p:nvSpPr>
          <p:cNvPr id="16" name="Shape 14"/>
          <p:cNvSpPr/>
          <p:nvPr/>
        </p:nvSpPr>
        <p:spPr>
          <a:xfrm>
            <a:off x="1371600" y="3108960"/>
            <a:ext cx="6400800" cy="1097280"/>
          </a:xfrm>
          <a:prstGeom prst="roundRect">
            <a:avLst>
              <a:gd name="adj" fmla="val 8333"/>
            </a:avLst>
          </a:prstGeom>
          <a:solidFill>
            <a:srgbClr val="FFFFFF"/>
          </a:solidFill>
          <a:ln w="6350">
            <a:solidFill>
              <a:srgbClr val="DDDDEE"/>
            </a:solidFill>
            <a:prstDash val="solid"/>
          </a:ln>
        </p:spPr>
      </p:sp>
      <p:sp>
        <p:nvSpPr>
          <p:cNvPr id="17" name="Text 15"/>
          <p:cNvSpPr/>
          <p:nvPr/>
        </p:nvSpPr>
        <p:spPr>
          <a:xfrm>
            <a:off x="1554480" y="3200400"/>
            <a:ext cx="4206240" cy="914400"/>
          </a:xfrm>
          <a:prstGeom prst="rect">
            <a:avLst/>
          </a:prstGeom>
          <a:noFill/>
          <a:ln/>
        </p:spPr>
        <p:txBody>
          <a:bodyPr wrap="square" lIns="0" tIns="0" rIns="0" bIns="0" rtlCol="0" anchor="ctr"/>
          <a:lstStyle/>
          <a:p>
            <a:pPr indent="0" marL="0">
              <a:buNone/>
            </a:pPr>
            <a:r>
              <a:rPr lang="en-US" sz="1800" b="1" dirty="0">
                <a:solidFill>
                  <a:srgbClr val="1A1A2E"/>
                </a:solidFill>
                <a:latin typeface="Cambria" pitchFamily="34" charset="0"/>
                <a:ea typeface="Cambria" pitchFamily="34" charset="-122"/>
                <a:cs typeface="Cambria" pitchFamily="34" charset="-120"/>
              </a:rPr>
              <a:t>4 3/5 − 2 1/5  =</a:t>
            </a:r>
            <a:endParaRPr lang="en-US" sz="1800" dirty="0"/>
          </a:p>
        </p:txBody>
      </p:sp>
      <p:sp>
        <p:nvSpPr>
          <p:cNvPr id="18" name="Text 16"/>
          <p:cNvSpPr/>
          <p:nvPr/>
        </p:nvSpPr>
        <p:spPr>
          <a:xfrm>
            <a:off x="5760720" y="3246120"/>
            <a:ext cx="548640" cy="457200"/>
          </a:xfrm>
          <a:prstGeom prst="rect">
            <a:avLst/>
          </a:prstGeom>
          <a:noFill/>
          <a:ln/>
        </p:spPr>
        <p:txBody>
          <a:bodyPr wrap="square" lIns="0" tIns="0" rIns="0" bIns="0" rtlCol="0" anchor="ctr"/>
          <a:lstStyle/>
          <a:p>
            <a:pPr indent="0" marL="0">
              <a:buNone/>
            </a:pPr>
            <a:r>
              <a:rPr lang="en-US" sz="2400" b="1" dirty="0">
                <a:solidFill>
                  <a:srgbClr val="4A3D8F"/>
                </a:solidFill>
                <a:latin typeface="Cambria" pitchFamily="34" charset="0"/>
                <a:ea typeface="Cambria" pitchFamily="34" charset="-122"/>
                <a:cs typeface="Cambria" pitchFamily="34" charset="-120"/>
              </a:rPr>
              <a:t>2</a:t>
            </a:r>
            <a:endParaRPr lang="en-US" sz="2400" dirty="0"/>
          </a:p>
        </p:txBody>
      </p:sp>
      <p:sp>
        <p:nvSpPr>
          <p:cNvPr id="19" name="Text 17"/>
          <p:cNvSpPr/>
          <p:nvPr/>
        </p:nvSpPr>
        <p:spPr>
          <a:xfrm>
            <a:off x="6400800" y="3200400"/>
            <a:ext cx="914400" cy="346841"/>
          </a:xfrm>
          <a:prstGeom prst="rect">
            <a:avLst/>
          </a:prstGeom>
          <a:noFill/>
          <a:ln/>
        </p:spPr>
        <p:txBody>
          <a:bodyPr wrap="square" lIns="0" tIns="0" rIns="0" bIns="0" rtlCol="0" anchor="ctr"/>
          <a:lstStyle/>
          <a:p>
            <a:pPr algn="ctr" indent="0" marL="0">
              <a:buNone/>
            </a:pPr>
            <a:r>
              <a:rPr lang="en-US" sz="2200" b="1" dirty="0">
                <a:solidFill>
                  <a:srgbClr val="4A3D8F"/>
                </a:solidFill>
                <a:latin typeface="Cambria" pitchFamily="34" charset="0"/>
                <a:ea typeface="Cambria" pitchFamily="34" charset="-122"/>
                <a:cs typeface="Cambria" pitchFamily="34" charset="-120"/>
              </a:rPr>
              <a:t>2</a:t>
            </a:r>
            <a:endParaRPr lang="en-US" sz="2200" dirty="0"/>
          </a:p>
        </p:txBody>
      </p:sp>
      <p:sp>
        <p:nvSpPr>
          <p:cNvPr id="20" name="Shape 18"/>
          <p:cNvSpPr/>
          <p:nvPr/>
        </p:nvSpPr>
        <p:spPr>
          <a:xfrm>
            <a:off x="6510528" y="3574673"/>
            <a:ext cx="694944" cy="0"/>
          </a:xfrm>
          <a:prstGeom prst="line">
            <a:avLst/>
          </a:prstGeom>
          <a:noFill/>
          <a:ln w="19050">
            <a:solidFill>
              <a:srgbClr val="4A3D8F"/>
            </a:solidFill>
            <a:prstDash val="solid"/>
          </a:ln>
        </p:spPr>
      </p:sp>
      <p:sp>
        <p:nvSpPr>
          <p:cNvPr id="21" name="Text 19"/>
          <p:cNvSpPr/>
          <p:nvPr/>
        </p:nvSpPr>
        <p:spPr>
          <a:xfrm>
            <a:off x="6400800" y="3602105"/>
            <a:ext cx="914400" cy="346841"/>
          </a:xfrm>
          <a:prstGeom prst="rect">
            <a:avLst/>
          </a:prstGeom>
          <a:noFill/>
          <a:ln/>
        </p:spPr>
        <p:txBody>
          <a:bodyPr wrap="square" lIns="0" tIns="0" rIns="0" bIns="0" rtlCol="0" anchor="ctr"/>
          <a:lstStyle/>
          <a:p>
            <a:pPr algn="ctr" indent="0" marL="0">
              <a:buNone/>
            </a:pPr>
            <a:r>
              <a:rPr lang="en-US" sz="2200" b="1" dirty="0">
                <a:solidFill>
                  <a:srgbClr val="4A3D8F"/>
                </a:solidFill>
                <a:latin typeface="Cambria" pitchFamily="34" charset="0"/>
                <a:ea typeface="Cambria" pitchFamily="34" charset="-122"/>
                <a:cs typeface="Cambria" pitchFamily="34" charset="-120"/>
              </a:rPr>
              <a:t>5</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Two-Part Subtraction Rule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188720"/>
          </a:xfrm>
          <a:prstGeom prst="roundRect">
            <a:avLst>
              <a:gd name="adj" fmla="val 7692"/>
            </a:avLst>
          </a:prstGeom>
          <a:solidFill>
            <a:srgbClr val="EAE8F5"/>
          </a:solidFill>
          <a:ln w="6350">
            <a:solidFill>
              <a:srgbClr val="DDDDEE"/>
            </a:solidFill>
            <a:prstDash val="solid"/>
          </a:ln>
        </p:spPr>
      </p:sp>
      <p:sp>
        <p:nvSpPr>
          <p:cNvPr id="7" name="Text 5"/>
          <p:cNvSpPr/>
          <p:nvPr/>
        </p:nvSpPr>
        <p:spPr>
          <a:xfrm>
            <a:off x="640080" y="1143000"/>
            <a:ext cx="7863840" cy="914400"/>
          </a:xfrm>
          <a:prstGeom prst="rect">
            <a:avLst/>
          </a:prstGeom>
          <a:noFill/>
          <a:ln/>
        </p:spPr>
        <p:txBody>
          <a:bodyPr wrap="square" lIns="0" tIns="0" rIns="0" bIns="0" rtlCol="0" anchor="ctr"/>
          <a:lstStyle/>
          <a:p>
            <a:pPr algn="ctr" indent="0" marL="0">
              <a:buNone/>
            </a:pPr>
            <a:r>
              <a:rPr lang="en-US" sz="1600" b="1" dirty="0">
                <a:solidFill>
                  <a:srgbClr val="4A3D8F"/>
                </a:solidFill>
                <a:latin typeface="Cambria" pitchFamily="34" charset="0"/>
                <a:ea typeface="Cambria" pitchFamily="34" charset="-122"/>
                <a:cs typeface="Cambria" pitchFamily="34" charset="-120"/>
              </a:rPr>
              <a:t>4 3/5 − 2 1/5  =  (4−2) + (3/5−1/5)  =  2 2/5</a:t>
            </a:r>
            <a:endParaRPr lang="en-US" sz="1600" dirty="0"/>
          </a:p>
        </p:txBody>
      </p:sp>
      <p:sp>
        <p:nvSpPr>
          <p:cNvPr id="8" name="Shape 6"/>
          <p:cNvSpPr/>
          <p:nvPr/>
        </p:nvSpPr>
        <p:spPr>
          <a:xfrm>
            <a:off x="457200" y="2377440"/>
            <a:ext cx="8229600" cy="1737360"/>
          </a:xfrm>
          <a:prstGeom prst="roundRect">
            <a:avLst>
              <a:gd name="adj" fmla="val 5263"/>
            </a:avLst>
          </a:prstGeom>
          <a:solidFill>
            <a:srgbClr val="FFFFFF"/>
          </a:solidFill>
          <a:ln w="6350">
            <a:solidFill>
              <a:srgbClr val="DDDDEE"/>
            </a:solidFill>
            <a:prstDash val="solid"/>
          </a:ln>
        </p:spPr>
      </p:sp>
      <p:sp>
        <p:nvSpPr>
          <p:cNvPr id="9" name="Text 7"/>
          <p:cNvSpPr/>
          <p:nvPr/>
        </p:nvSpPr>
        <p:spPr>
          <a:xfrm>
            <a:off x="685800" y="2514600"/>
            <a:ext cx="7772400" cy="146304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Rule: when denominators already match and the fraction part being subtracted is smaller, subtract the whole numbers and the fraction parts separately.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When Denominators Don't Match</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Gap-Fill · Unlike Denominators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822960"/>
          </a:xfrm>
          <a:prstGeom prst="roundRect">
            <a:avLst>
              <a:gd name="adj" fmla="val 11111"/>
            </a:avLst>
          </a:prstGeom>
          <a:solidFill>
            <a:srgbClr val="FFFFFF"/>
          </a:solidFill>
          <a:ln w="6350">
            <a:solidFill>
              <a:srgbClr val="DDDDEE"/>
            </a:solidFill>
            <a:prstDash val="solid"/>
          </a:ln>
        </p:spPr>
      </p:sp>
      <p:sp>
        <p:nvSpPr>
          <p:cNvPr id="7" name="Text 5"/>
          <p:cNvSpPr/>
          <p:nvPr/>
        </p:nvSpPr>
        <p:spPr>
          <a:xfrm>
            <a:off x="640080" y="960120"/>
            <a:ext cx="7863840" cy="731520"/>
          </a:xfrm>
          <a:prstGeom prst="rect">
            <a:avLst/>
          </a:prstGeom>
          <a:noFill/>
          <a:ln/>
        </p:spPr>
        <p:txBody>
          <a:bodyPr wrap="square" lIns="0" tIns="0" rIns="0" bIns="0"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4 3/4 − 1 1/3 -- rename the fraction parts first.</a:t>
            </a:r>
            <a:endParaRPr lang="en-US" sz="1500" dirty="0"/>
          </a:p>
        </p:txBody>
      </p:sp>
      <p:sp>
        <p:nvSpPr>
          <p:cNvPr id="8" name="Shape 6"/>
          <p:cNvSpPr/>
          <p:nvPr/>
        </p:nvSpPr>
        <p:spPr>
          <a:xfrm>
            <a:off x="457200" y="1828800"/>
            <a:ext cx="8229600" cy="2331720"/>
          </a:xfrm>
          <a:prstGeom prst="roundRect">
            <a:avLst>
              <a:gd name="adj" fmla="val 3922"/>
            </a:avLst>
          </a:prstGeom>
          <a:solidFill>
            <a:srgbClr val="EAE8F5"/>
          </a:solidFill>
          <a:ln w="6350">
            <a:solidFill>
              <a:srgbClr val="DDDDEE"/>
            </a:solidFill>
            <a:prstDash val="solid"/>
          </a:ln>
        </p:spPr>
      </p:sp>
      <p:sp>
        <p:nvSpPr>
          <p:cNvPr id="9" name="Text 7"/>
          <p:cNvSpPr/>
          <p:nvPr/>
        </p:nvSpPr>
        <p:spPr>
          <a:xfrm>
            <a:off x="640080" y="1965960"/>
            <a:ext cx="7863840" cy="36576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Subtract the wholes: 4 − 1 = 3.</a:t>
            </a:r>
            <a:endParaRPr lang="en-US" sz="1400" dirty="0"/>
          </a:p>
        </p:txBody>
      </p:sp>
      <p:sp>
        <p:nvSpPr>
          <p:cNvPr id="10" name="Text 8"/>
          <p:cNvSpPr/>
          <p:nvPr/>
        </p:nvSpPr>
        <p:spPr>
          <a:xfrm>
            <a:off x="640080" y="2377440"/>
            <a:ext cx="7863840" cy="36576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LCD of 4 and 3 is 12: 3/4 = 9/12, 1/3 = 4/12.</a:t>
            </a:r>
            <a:endParaRPr lang="en-US" sz="1400" dirty="0"/>
          </a:p>
        </p:txBody>
      </p:sp>
      <p:sp>
        <p:nvSpPr>
          <p:cNvPr id="11" name="Text 9"/>
          <p:cNvSpPr/>
          <p:nvPr/>
        </p:nvSpPr>
        <p:spPr>
          <a:xfrm>
            <a:off x="640080" y="2788920"/>
            <a:ext cx="7863840" cy="36576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Subtract the fraction parts: 9/12 − 4/12 = 5/12.</a:t>
            </a:r>
            <a:endParaRPr lang="en-US" sz="1400" dirty="0"/>
          </a:p>
        </p:txBody>
      </p:sp>
      <p:sp>
        <p:nvSpPr>
          <p:cNvPr id="12" name="Text 10"/>
          <p:cNvSpPr/>
          <p:nvPr/>
        </p:nvSpPr>
        <p:spPr>
          <a:xfrm>
            <a:off x="640080" y="3200400"/>
            <a:ext cx="786384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4. Combine: 3 and 5/12.</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When the Fraction Part Is Too Small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Gap-Fill · Regrouping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822960"/>
          </a:xfrm>
          <a:prstGeom prst="roundRect">
            <a:avLst>
              <a:gd name="adj" fmla="val 11111"/>
            </a:avLst>
          </a:prstGeom>
          <a:solidFill>
            <a:srgbClr val="FFFFFF"/>
          </a:solidFill>
          <a:ln w="6350">
            <a:solidFill>
              <a:srgbClr val="DDDDEE"/>
            </a:solidFill>
            <a:prstDash val="solid"/>
          </a:ln>
        </p:spPr>
      </p:sp>
      <p:sp>
        <p:nvSpPr>
          <p:cNvPr id="7" name="Text 5"/>
          <p:cNvSpPr/>
          <p:nvPr/>
        </p:nvSpPr>
        <p:spPr>
          <a:xfrm>
            <a:off x="640080" y="960120"/>
            <a:ext cx="7863840" cy="73152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5 1/4 − 2 3/4 -- 1/4 is smaller than 3/4, so you cannot subtract yet.</a:t>
            </a:r>
            <a:endParaRPr lang="en-US" sz="1400" dirty="0"/>
          </a:p>
        </p:txBody>
      </p:sp>
      <p:sp>
        <p:nvSpPr>
          <p:cNvPr id="8" name="Shape 6"/>
          <p:cNvSpPr/>
          <p:nvPr/>
        </p:nvSpPr>
        <p:spPr>
          <a:xfrm>
            <a:off x="457200" y="1828800"/>
            <a:ext cx="8229600" cy="2377440"/>
          </a:xfrm>
          <a:prstGeom prst="roundRect">
            <a:avLst>
              <a:gd name="adj" fmla="val 3846"/>
            </a:avLst>
          </a:prstGeom>
          <a:solidFill>
            <a:srgbClr val="EAE8F5"/>
          </a:solidFill>
          <a:ln w="6350">
            <a:solidFill>
              <a:srgbClr val="DDDDEE"/>
            </a:solidFill>
            <a:prstDash val="solid"/>
          </a:ln>
        </p:spPr>
      </p:sp>
      <p:sp>
        <p:nvSpPr>
          <p:cNvPr id="9" name="Text 7"/>
          <p:cNvSpPr/>
          <p:nvPr/>
        </p:nvSpPr>
        <p:spPr>
          <a:xfrm>
            <a:off x="640080" y="1965960"/>
            <a:ext cx="7863840" cy="36576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Regroup: borrow 1 whole from 5, rename it as 4/4.</a:t>
            </a:r>
            <a:endParaRPr lang="en-US" sz="1400" dirty="0"/>
          </a:p>
        </p:txBody>
      </p:sp>
      <p:sp>
        <p:nvSpPr>
          <p:cNvPr id="10" name="Text 8"/>
          <p:cNvSpPr/>
          <p:nvPr/>
        </p:nvSpPr>
        <p:spPr>
          <a:xfrm>
            <a:off x="640080" y="2377440"/>
            <a:ext cx="7863840" cy="36576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5 1/4 becomes 4 + 4/4 + 1/4 = 4 and 5/4.</a:t>
            </a:r>
            <a:endParaRPr lang="en-US" sz="1400" dirty="0"/>
          </a:p>
        </p:txBody>
      </p:sp>
      <p:sp>
        <p:nvSpPr>
          <p:cNvPr id="11" name="Text 9"/>
          <p:cNvSpPr/>
          <p:nvPr/>
        </p:nvSpPr>
        <p:spPr>
          <a:xfrm>
            <a:off x="640080" y="2788920"/>
            <a:ext cx="7863840" cy="36576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Now subtract: (4−2) + (5/4 − 3/4) = 2 + 2/4.</a:t>
            </a:r>
            <a:endParaRPr lang="en-US" sz="1400" dirty="0"/>
          </a:p>
        </p:txBody>
      </p:sp>
      <p:sp>
        <p:nvSpPr>
          <p:cNvPr id="12" name="Text 10"/>
          <p:cNvSpPr/>
          <p:nvPr/>
        </p:nvSpPr>
        <p:spPr>
          <a:xfrm>
            <a:off x="640080" y="3200400"/>
            <a:ext cx="786384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4. Answer: 2 and 2/4 (2 and 1/2).</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subtract</a:t>
            </a:r>
            <a:endParaRPr lang="en-US" sz="1600" dirty="0"/>
          </a:p>
        </p:txBody>
      </p:sp>
      <p:sp>
        <p:nvSpPr>
          <p:cNvPr id="8" name="Text 6"/>
          <p:cNvSpPr/>
          <p:nvPr/>
        </p:nvSpPr>
        <p:spPr>
          <a:xfrm>
            <a:off x="64008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take away one amount from another.</a:t>
            </a:r>
            <a:endParaRPr lang="en-US" sz="1300" dirty="0"/>
          </a:p>
        </p:txBody>
      </p:sp>
      <p:sp>
        <p:nvSpPr>
          <p:cNvPr id="9" name="Shape 7"/>
          <p:cNvSpPr/>
          <p:nvPr/>
        </p:nvSpPr>
        <p:spPr>
          <a:xfrm>
            <a:off x="4709160" y="960120"/>
            <a:ext cx="3977640" cy="1600200"/>
          </a:xfrm>
          <a:prstGeom prst="roundRect">
            <a:avLst>
              <a:gd name="adj" fmla="val 5714"/>
            </a:avLst>
          </a:prstGeom>
          <a:solidFill>
            <a:srgbClr val="FFFFFF"/>
          </a:solidFill>
          <a:ln w="6350">
            <a:solidFill>
              <a:srgbClr val="DDDDEE"/>
            </a:solidFill>
            <a:prstDash val="solid"/>
          </a:ln>
        </p:spPr>
      </p:sp>
      <p:sp>
        <p:nvSpPr>
          <p:cNvPr id="10" name="Text 8"/>
          <p:cNvSpPr/>
          <p:nvPr/>
        </p:nvSpPr>
        <p:spPr>
          <a:xfrm>
            <a:off x="489204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remaining</a:t>
            </a:r>
            <a:endParaRPr lang="en-US" sz="1600" dirty="0"/>
          </a:p>
        </p:txBody>
      </p:sp>
      <p:sp>
        <p:nvSpPr>
          <p:cNvPr id="11" name="Text 9"/>
          <p:cNvSpPr/>
          <p:nvPr/>
        </p:nvSpPr>
        <p:spPr>
          <a:xfrm>
            <a:off x="489204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amount left after taking away.</a:t>
            </a:r>
            <a:endParaRPr lang="en-US" sz="1300" dirty="0"/>
          </a:p>
        </p:txBody>
      </p:sp>
      <p:sp>
        <p:nvSpPr>
          <p:cNvPr id="12" name="Shape 10"/>
          <p:cNvSpPr/>
          <p:nvPr/>
        </p:nvSpPr>
        <p:spPr>
          <a:xfrm>
            <a:off x="457200" y="2743200"/>
            <a:ext cx="3977640" cy="1600200"/>
          </a:xfrm>
          <a:prstGeom prst="roundRect">
            <a:avLst>
              <a:gd name="adj" fmla="val 5714"/>
            </a:avLst>
          </a:prstGeom>
          <a:solidFill>
            <a:srgbClr val="FFFFFF"/>
          </a:solidFill>
          <a:ln w="6350">
            <a:solidFill>
              <a:srgbClr val="DDDDEE"/>
            </a:solidFill>
            <a:prstDash val="solid"/>
          </a:ln>
        </p:spPr>
      </p:sp>
      <p:sp>
        <p:nvSpPr>
          <p:cNvPr id="13" name="Text 11"/>
          <p:cNvSpPr/>
          <p:nvPr/>
        </p:nvSpPr>
        <p:spPr>
          <a:xfrm>
            <a:off x="64008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fifths</a:t>
            </a:r>
            <a:endParaRPr lang="en-US" sz="1600" dirty="0"/>
          </a:p>
        </p:txBody>
      </p:sp>
      <p:sp>
        <p:nvSpPr>
          <p:cNvPr id="14" name="Text 12"/>
          <p:cNvSpPr/>
          <p:nvPr/>
        </p:nvSpPr>
        <p:spPr>
          <a:xfrm>
            <a:off x="64008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five equal parts of one whole.</a:t>
            </a:r>
            <a:endParaRPr lang="en-US" sz="1300" dirty="0"/>
          </a:p>
        </p:txBody>
      </p:sp>
      <p:sp>
        <p:nvSpPr>
          <p:cNvPr id="15" name="Shape 13"/>
          <p:cNvSpPr/>
          <p:nvPr/>
        </p:nvSpPr>
        <p:spPr>
          <a:xfrm>
            <a:off x="4709160" y="2743200"/>
            <a:ext cx="3977640" cy="1600200"/>
          </a:xfrm>
          <a:prstGeom prst="roundRect">
            <a:avLst>
              <a:gd name="adj" fmla="val 5714"/>
            </a:avLst>
          </a:prstGeom>
          <a:solidFill>
            <a:srgbClr val="FFFFFF"/>
          </a:solidFill>
          <a:ln w="6350">
            <a:solidFill>
              <a:srgbClr val="DDDDEE"/>
            </a:solidFill>
            <a:prstDash val="solid"/>
          </a:ln>
        </p:spPr>
      </p:sp>
      <p:sp>
        <p:nvSpPr>
          <p:cNvPr id="16" name="Text 14"/>
          <p:cNvSpPr/>
          <p:nvPr/>
        </p:nvSpPr>
        <p:spPr>
          <a:xfrm>
            <a:off x="489204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matching denominators</a:t>
            </a:r>
            <a:endParaRPr lang="en-US" sz="1600" dirty="0"/>
          </a:p>
        </p:txBody>
      </p:sp>
      <p:sp>
        <p:nvSpPr>
          <p:cNvPr id="17" name="Text 15"/>
          <p:cNvSpPr/>
          <p:nvPr/>
        </p:nvSpPr>
        <p:spPr>
          <a:xfrm>
            <a:off x="489204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fractions with the same piece size.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Watch &amp; Follow</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2743200"/>
          </a:xfrm>
          <a:prstGeom prst="roundRect">
            <a:avLst>
              <a:gd name="adj" fmla="val 3333"/>
            </a:avLst>
          </a:prstGeom>
          <a:solidFill>
            <a:srgbClr val="FFFFFF"/>
          </a:solidFill>
          <a:ln w="6350">
            <a:solidFill>
              <a:srgbClr val="DDDDEE"/>
            </a:solidFill>
            <a:prstDash val="solid"/>
          </a:ln>
        </p:spPr>
      </p:sp>
      <p:sp>
        <p:nvSpPr>
          <p:cNvPr id="9" name="Text 7"/>
          <p:cNvSpPr/>
          <p:nvPr/>
        </p:nvSpPr>
        <p:spPr>
          <a:xfrm>
            <a:off x="640080" y="1463040"/>
            <a:ext cx="7863840" cy="457200"/>
          </a:xfrm>
          <a:prstGeom prst="rect">
            <a:avLst/>
          </a:prstGeom>
          <a:noFill/>
          <a:ln/>
        </p:spPr>
        <p:txBody>
          <a:bodyPr wrap="square" lIns="0" tIns="0" rIns="0" bIns="0" rtlCol="0" anchor="ctr"/>
          <a:lstStyle/>
          <a:p>
            <a:pPr indent="0" marL="0">
              <a:buNone/>
            </a:pPr>
            <a:r>
              <a:rPr lang="en-US" sz="1800" b="1" dirty="0">
                <a:solidFill>
                  <a:srgbClr val="1A1A2E"/>
                </a:solidFill>
                <a:latin typeface="Cambria" pitchFamily="34" charset="0"/>
                <a:ea typeface="Cambria" pitchFamily="34" charset="-122"/>
                <a:cs typeface="Cambria" pitchFamily="34" charset="-120"/>
              </a:rPr>
              <a:t>Find 6 5/6 − 1 1/6.</a:t>
            </a:r>
            <a:endParaRPr lang="en-US" sz="1800" dirty="0"/>
          </a:p>
        </p:txBody>
      </p:sp>
      <p:sp>
        <p:nvSpPr>
          <p:cNvPr id="10" name="Text 8"/>
          <p:cNvSpPr/>
          <p:nvPr/>
        </p:nvSpPr>
        <p:spPr>
          <a:xfrm>
            <a:off x="822960" y="2103120"/>
            <a:ext cx="7498080" cy="50292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Subtract wholes: 6 − 1 = 5.</a:t>
            </a:r>
            <a:endParaRPr lang="en-US" sz="1400" dirty="0"/>
          </a:p>
        </p:txBody>
      </p:sp>
      <p:sp>
        <p:nvSpPr>
          <p:cNvPr id="11" name="Text 9"/>
          <p:cNvSpPr/>
          <p:nvPr/>
        </p:nvSpPr>
        <p:spPr>
          <a:xfrm>
            <a:off x="822960" y="2651760"/>
            <a:ext cx="7498080" cy="50292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Subtract fraction parts: 5/6 − 1/6 = 4/6.</a:t>
            </a:r>
            <a:endParaRPr lang="en-US" sz="1400" dirty="0"/>
          </a:p>
        </p:txBody>
      </p:sp>
      <p:sp>
        <p:nvSpPr>
          <p:cNvPr id="12" name="Text 10"/>
          <p:cNvSpPr/>
          <p:nvPr/>
        </p:nvSpPr>
        <p:spPr>
          <a:xfrm>
            <a:off x="822960" y="3200400"/>
            <a:ext cx="7498080" cy="50292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Simplify: 4/6 = 2/3. Combine: 5 and 2/3.</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Independent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algn="ctr" indent="0" marL="0">
              <a:buNone/>
            </a:pPr>
            <a:r>
              <a:rPr lang="en-US" sz="1800" b="1" dirty="0">
                <a:solidFill>
                  <a:srgbClr val="4A3D8F"/>
                </a:solidFill>
                <a:latin typeface="Cambria" pitchFamily="34" charset="0"/>
                <a:ea typeface="Cambria" pitchFamily="34" charset="-122"/>
                <a:cs typeface="Cambria" pitchFamily="34" charset="-120"/>
              </a:rPr>
              <a:t>Kai had 8 3/4 feet of rope. He used 3 5/6 feet to tie boxes. How much rope is left?</a:t>
            </a:r>
            <a:endParaRPr lang="en-US" sz="1800" dirty="0"/>
          </a:p>
        </p:txBody>
      </p:sp>
      <p:sp>
        <p:nvSpPr>
          <p:cNvPr id="8" name="Shape 6"/>
          <p:cNvSpPr/>
          <p:nvPr/>
        </p:nvSpPr>
        <p:spPr>
          <a:xfrm>
            <a:off x="1828800" y="329184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291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
        <p:nvSpPr>
          <p:cNvPr id="10" name="Shape 8"/>
          <p:cNvSpPr/>
          <p:nvPr/>
        </p:nvSpPr>
        <p:spPr>
          <a:xfrm>
            <a:off x="914400" y="397764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3977640"/>
            <a:ext cx="7315200" cy="457200"/>
          </a:xfrm>
          <a:prstGeom prst="rect">
            <a:avLst/>
          </a:prstGeom>
          <a:noFill/>
          <a:ln/>
        </p:spPr>
        <p:txBody>
          <a:bodyPr wrap="square" lIns="0" tIns="0" rIns="0" bIns="0" rtlCol="0" anchor="ctr"/>
          <a:lstStyle/>
          <a:p>
            <a:pPr algn="ctr" indent="0" marL="0">
              <a:buNone/>
            </a:pPr>
            <a:r>
              <a:rPr lang="en-US" sz="1100" dirty="0">
                <a:solidFill>
                  <a:srgbClr val="CCFFDD"/>
                </a:solidFill>
              </a:rPr>
              <a:t>Answer: 3/4=9/12, 5/6=10/12; since 9/12&lt;10/12, regroup 8 3/4 to 7 and 21/12; 21/12−10/12=11/12. Left: 4 and 11/12 feet.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286000"/>
          </a:xfrm>
          <a:prstGeom prst="roundRect">
            <a:avLst>
              <a:gd name="adj" fmla="val 4000"/>
            </a:avLst>
          </a:prstGeom>
          <a:solidFill>
            <a:srgbClr val="EAE8F5"/>
          </a:solidFill>
          <a:ln w="6350">
            <a:solidFill>
              <a:srgbClr val="DDDDEE"/>
            </a:solidFill>
            <a:prstDash val="solid"/>
          </a:ln>
        </p:spPr>
      </p:sp>
      <p:sp>
        <p:nvSpPr>
          <p:cNvPr id="7" name="Text 5"/>
          <p:cNvSpPr/>
          <p:nvPr/>
        </p:nvSpPr>
        <p:spPr>
          <a:xfrm>
            <a:off x="685800" y="1371600"/>
            <a:ext cx="7772400" cy="192024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Next lesson, you'll get more practice with this same regrouping move, including trickier denominators.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8 4/5 − 3 1/5 = ?</a:t>
            </a:r>
            <a:endParaRPr lang="en-US" sz="2000" dirty="0"/>
          </a:p>
        </p:txBody>
      </p:sp>
      <p:sp>
        <p:nvSpPr>
          <p:cNvPr id="8" name="Shape 6"/>
          <p:cNvSpPr/>
          <p:nvPr/>
        </p:nvSpPr>
        <p:spPr>
          <a:xfrm>
            <a:off x="640080" y="2103120"/>
            <a:ext cx="192024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640080" y="2103120"/>
            <a:ext cx="1920240" cy="822960"/>
          </a:xfrm>
          <a:prstGeom prst="rect">
            <a:avLst/>
          </a:prstGeom>
          <a:noFill/>
          <a:ln/>
        </p:spPr>
        <p:txBody>
          <a:bodyPr wrap="square" lIns="0" tIns="0" rIns="0" bIns="0" rtlCol="0" anchor="ctr"/>
          <a:lstStyle/>
          <a:p>
            <a:pPr algn="ctr" indent="0" marL="0">
              <a:buNone/>
            </a:pPr>
            <a:r>
              <a:rPr lang="en-US" sz="1600" b="1" dirty="0">
                <a:solidFill>
                  <a:srgbClr val="1A1A2E"/>
                </a:solidFill>
              </a:rPr>
              <a:t>5 and</a:t>
            </a:r>
            <a:endParaRPr lang="en-US" sz="1600" dirty="0"/>
          </a:p>
          <a:p>
            <a:pPr algn="ctr" indent="0" marL="0">
              <a:buNone/>
            </a:pPr>
            <a:r>
              <a:rPr lang="en-US" sz="1600" b="1" dirty="0">
                <a:solidFill>
                  <a:srgbClr val="1A1A2E"/>
                </a:solidFill>
              </a:rPr>
              <a:t>5</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5</a:t>
            </a:r>
            <a:endParaRPr lang="en-US" sz="1600" dirty="0"/>
          </a:p>
        </p:txBody>
      </p:sp>
      <p:sp>
        <p:nvSpPr>
          <p:cNvPr id="10" name="Shape 8"/>
          <p:cNvSpPr/>
          <p:nvPr/>
        </p:nvSpPr>
        <p:spPr>
          <a:xfrm>
            <a:off x="2697480" y="2103120"/>
            <a:ext cx="192024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697480" y="2103120"/>
            <a:ext cx="1920240" cy="822960"/>
          </a:xfrm>
          <a:prstGeom prst="rect">
            <a:avLst/>
          </a:prstGeom>
          <a:noFill/>
          <a:ln/>
        </p:spPr>
        <p:txBody>
          <a:bodyPr wrap="square" lIns="0" tIns="0" rIns="0" bIns="0" rtlCol="0" anchor="ctr"/>
          <a:lstStyle/>
          <a:p>
            <a:pPr algn="ctr" indent="0" marL="0">
              <a:buNone/>
            </a:pPr>
            <a:r>
              <a:rPr lang="en-US" sz="1600" b="1" dirty="0">
                <a:solidFill>
                  <a:srgbClr val="1A1A2E"/>
                </a:solidFill>
              </a:rPr>
              <a:t>5 and</a:t>
            </a:r>
            <a:endParaRPr lang="en-US" sz="1600" dirty="0"/>
          </a:p>
          <a:p>
            <a:pPr algn="ctr" indent="0" marL="0">
              <a:buNone/>
            </a:pPr>
            <a:r>
              <a:rPr lang="en-US" sz="1600" b="1" dirty="0">
                <a:solidFill>
                  <a:srgbClr val="1A1A2E"/>
                </a:solidFill>
              </a:rPr>
              <a:t>3</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5</a:t>
            </a:r>
            <a:endParaRPr lang="en-US" sz="1600" dirty="0"/>
          </a:p>
        </p:txBody>
      </p:sp>
      <p:sp>
        <p:nvSpPr>
          <p:cNvPr id="12" name="Shape 10"/>
          <p:cNvSpPr/>
          <p:nvPr/>
        </p:nvSpPr>
        <p:spPr>
          <a:xfrm>
            <a:off x="4754880" y="2103120"/>
            <a:ext cx="192024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920240" cy="822960"/>
          </a:xfrm>
          <a:prstGeom prst="rect">
            <a:avLst/>
          </a:prstGeom>
          <a:noFill/>
          <a:ln/>
        </p:spPr>
        <p:txBody>
          <a:bodyPr wrap="square" lIns="0" tIns="0" rIns="0" bIns="0" rtlCol="0" anchor="ctr"/>
          <a:lstStyle/>
          <a:p>
            <a:pPr algn="ctr" indent="0" marL="0">
              <a:buNone/>
            </a:pPr>
            <a:r>
              <a:rPr lang="en-US" sz="1600" b="1" dirty="0">
                <a:solidFill>
                  <a:srgbClr val="1A1A2E"/>
                </a:solidFill>
              </a:rPr>
              <a:t>11 and</a:t>
            </a:r>
            <a:endParaRPr lang="en-US" sz="1600" dirty="0"/>
          </a:p>
          <a:p>
            <a:pPr algn="ctr" indent="0" marL="0">
              <a:buNone/>
            </a:pPr>
            <a:r>
              <a:rPr lang="en-US" sz="1600" b="1" dirty="0">
                <a:solidFill>
                  <a:srgbClr val="1A1A2E"/>
                </a:solidFill>
              </a:rPr>
              <a:t>3</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5</a:t>
            </a:r>
            <a:endParaRPr lang="en-US" sz="1600" dirty="0"/>
          </a:p>
        </p:txBody>
      </p:sp>
      <p:sp>
        <p:nvSpPr>
          <p:cNvPr id="14" name="Shape 12"/>
          <p:cNvSpPr/>
          <p:nvPr/>
        </p:nvSpPr>
        <p:spPr>
          <a:xfrm>
            <a:off x="6812280" y="2103120"/>
            <a:ext cx="146304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812280" y="2103120"/>
            <a:ext cx="1463040" cy="822960"/>
          </a:xfrm>
          <a:prstGeom prst="rect">
            <a:avLst/>
          </a:prstGeom>
          <a:noFill/>
          <a:ln/>
        </p:spPr>
        <p:txBody>
          <a:bodyPr wrap="square" lIns="0" tIns="0" rIns="0" bIns="0" rtlCol="0" anchor="ctr"/>
          <a:lstStyle/>
          <a:p>
            <a:pPr algn="ctr" indent="0" marL="0">
              <a:buNone/>
            </a:pPr>
            <a:r>
              <a:rPr lang="en-US" sz="1600" b="1" dirty="0">
                <a:solidFill>
                  <a:srgbClr val="1A1A2E"/>
                </a:solidFill>
              </a:rPr>
              <a:t>5</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5</a:t>
            </a:r>
            <a:endParaRPr lang="en-US" sz="16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8 4/5 − 3 1/5 = ?</a:t>
            </a:r>
            <a:endParaRPr lang="en-US" sz="2000" dirty="0"/>
          </a:p>
        </p:txBody>
      </p:sp>
      <p:sp>
        <p:nvSpPr>
          <p:cNvPr id="8" name="Shape 6"/>
          <p:cNvSpPr/>
          <p:nvPr/>
        </p:nvSpPr>
        <p:spPr>
          <a:xfrm>
            <a:off x="640080" y="2103120"/>
            <a:ext cx="192024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640080" y="2103120"/>
            <a:ext cx="1920240" cy="822960"/>
          </a:xfrm>
          <a:prstGeom prst="rect">
            <a:avLst/>
          </a:prstGeom>
          <a:noFill/>
          <a:ln/>
        </p:spPr>
        <p:txBody>
          <a:bodyPr wrap="square" lIns="0" tIns="0" rIns="0" bIns="0" rtlCol="0" anchor="ctr"/>
          <a:lstStyle/>
          <a:p>
            <a:pPr algn="ctr" indent="0" marL="0">
              <a:buNone/>
            </a:pPr>
            <a:r>
              <a:rPr lang="en-US" sz="1600" b="1" dirty="0">
                <a:solidFill>
                  <a:srgbClr val="1A1A2E"/>
                </a:solidFill>
              </a:rPr>
              <a:t>5 and</a:t>
            </a:r>
            <a:endParaRPr lang="en-US" sz="1600" dirty="0"/>
          </a:p>
          <a:p>
            <a:pPr algn="ctr" indent="0" marL="0">
              <a:buNone/>
            </a:pPr>
            <a:r>
              <a:rPr lang="en-US" sz="1600" b="1" dirty="0">
                <a:solidFill>
                  <a:srgbClr val="1A1A2E"/>
                </a:solidFill>
              </a:rPr>
              <a:t>5</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5</a:t>
            </a:r>
            <a:endParaRPr lang="en-US" sz="1600" dirty="0"/>
          </a:p>
        </p:txBody>
      </p:sp>
      <p:sp>
        <p:nvSpPr>
          <p:cNvPr id="10" name="Shape 8"/>
          <p:cNvSpPr/>
          <p:nvPr/>
        </p:nvSpPr>
        <p:spPr>
          <a:xfrm>
            <a:off x="2697480" y="2103120"/>
            <a:ext cx="1920240" cy="822960"/>
          </a:xfrm>
          <a:prstGeom prst="roundRect">
            <a:avLst>
              <a:gd name="adj" fmla="val 8889"/>
            </a:avLst>
          </a:prstGeom>
          <a:solidFill>
            <a:srgbClr val="2E6E44"/>
          </a:solidFill>
          <a:ln w="12700">
            <a:solidFill>
              <a:srgbClr val="2E6E44"/>
            </a:solidFill>
            <a:prstDash val="solid"/>
          </a:ln>
        </p:spPr>
      </p:sp>
      <p:sp>
        <p:nvSpPr>
          <p:cNvPr id="11" name="Text 9"/>
          <p:cNvSpPr/>
          <p:nvPr/>
        </p:nvSpPr>
        <p:spPr>
          <a:xfrm>
            <a:off x="2697480" y="2103120"/>
            <a:ext cx="1920240" cy="822960"/>
          </a:xfrm>
          <a:prstGeom prst="rect">
            <a:avLst/>
          </a:prstGeom>
          <a:noFill/>
          <a:ln/>
        </p:spPr>
        <p:txBody>
          <a:bodyPr wrap="square" lIns="0" tIns="0" rIns="0" bIns="0" rtlCol="0" anchor="ctr"/>
          <a:lstStyle/>
          <a:p>
            <a:pPr algn="ctr" indent="0" marL="0">
              <a:buNone/>
            </a:pPr>
            <a:r>
              <a:rPr lang="en-US" sz="1600" b="1" dirty="0">
                <a:solidFill>
                  <a:srgbClr val="FFFFFF"/>
                </a:solidFill>
              </a:rPr>
              <a:t>5 and</a:t>
            </a:r>
            <a:endParaRPr lang="en-US" sz="1600" dirty="0"/>
          </a:p>
          <a:p>
            <a:pPr algn="ctr" indent="0" marL="0">
              <a:buNone/>
            </a:pPr>
            <a:r>
              <a:rPr lang="en-US" sz="1600" b="1" dirty="0">
                <a:solidFill>
                  <a:srgbClr val="FFFFFF"/>
                </a:solidFill>
              </a:rPr>
              <a:t>3</a:t>
            </a:r>
            <a:endParaRPr lang="en-US" sz="1600" dirty="0"/>
          </a:p>
          <a:p>
            <a:pPr algn="ctr" indent="0" marL="0">
              <a:buNone/>
            </a:pPr>
            <a:r>
              <a:rPr lang="en-US" sz="1600" b="1" dirty="0">
                <a:solidFill>
                  <a:srgbClr val="FFFFFF"/>
                </a:solidFill>
              </a:rPr>
              <a:t>―</a:t>
            </a:r>
            <a:endParaRPr lang="en-US" sz="1600" dirty="0"/>
          </a:p>
          <a:p>
            <a:pPr algn="ctr" indent="0" marL="0">
              <a:buNone/>
            </a:pPr>
            <a:r>
              <a:rPr lang="en-US" sz="1600" b="1" dirty="0">
                <a:solidFill>
                  <a:srgbClr val="FFFFFF"/>
                </a:solidFill>
              </a:rPr>
              <a:t>5</a:t>
            </a:r>
            <a:endParaRPr lang="en-US" sz="1600" dirty="0"/>
          </a:p>
        </p:txBody>
      </p:sp>
      <p:sp>
        <p:nvSpPr>
          <p:cNvPr id="12" name="Shape 10"/>
          <p:cNvSpPr/>
          <p:nvPr/>
        </p:nvSpPr>
        <p:spPr>
          <a:xfrm>
            <a:off x="4754880" y="2103120"/>
            <a:ext cx="192024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920240" cy="822960"/>
          </a:xfrm>
          <a:prstGeom prst="rect">
            <a:avLst/>
          </a:prstGeom>
          <a:noFill/>
          <a:ln/>
        </p:spPr>
        <p:txBody>
          <a:bodyPr wrap="square" lIns="0" tIns="0" rIns="0" bIns="0" rtlCol="0" anchor="ctr"/>
          <a:lstStyle/>
          <a:p>
            <a:pPr algn="ctr" indent="0" marL="0">
              <a:buNone/>
            </a:pPr>
            <a:r>
              <a:rPr lang="en-US" sz="1600" b="1" dirty="0">
                <a:solidFill>
                  <a:srgbClr val="1A1A2E"/>
                </a:solidFill>
              </a:rPr>
              <a:t>11 and</a:t>
            </a:r>
            <a:endParaRPr lang="en-US" sz="1600" dirty="0"/>
          </a:p>
          <a:p>
            <a:pPr algn="ctr" indent="0" marL="0">
              <a:buNone/>
            </a:pPr>
            <a:r>
              <a:rPr lang="en-US" sz="1600" b="1" dirty="0">
                <a:solidFill>
                  <a:srgbClr val="1A1A2E"/>
                </a:solidFill>
              </a:rPr>
              <a:t>3</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5</a:t>
            </a:r>
            <a:endParaRPr lang="en-US" sz="1600" dirty="0"/>
          </a:p>
        </p:txBody>
      </p:sp>
      <p:sp>
        <p:nvSpPr>
          <p:cNvPr id="14" name="Shape 12"/>
          <p:cNvSpPr/>
          <p:nvPr/>
        </p:nvSpPr>
        <p:spPr>
          <a:xfrm>
            <a:off x="6812280" y="2103120"/>
            <a:ext cx="146304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812280" y="2103120"/>
            <a:ext cx="1463040" cy="822960"/>
          </a:xfrm>
          <a:prstGeom prst="rect">
            <a:avLst/>
          </a:prstGeom>
          <a:noFill/>
          <a:ln/>
        </p:spPr>
        <p:txBody>
          <a:bodyPr wrap="square" lIns="0" tIns="0" rIns="0" bIns="0" rtlCol="0" anchor="ctr"/>
          <a:lstStyle/>
          <a:p>
            <a:pPr algn="ctr" indent="0" marL="0">
              <a:buNone/>
            </a:pPr>
            <a:r>
              <a:rPr lang="en-US" sz="1600" b="1" dirty="0">
                <a:solidFill>
                  <a:srgbClr val="1A1A2E"/>
                </a:solidFill>
              </a:rPr>
              <a:t>5</a:t>
            </a:r>
            <a:endParaRPr lang="en-US" sz="1600" dirty="0"/>
          </a:p>
          <a:p>
            <a:pPr algn="ctr" indent="0" marL="0">
              <a:buNone/>
            </a:pPr>
            <a:r>
              <a:rPr lang="en-US" sz="1600" b="1" dirty="0">
                <a:solidFill>
                  <a:srgbClr val="1A1A2E"/>
                </a:solidFill>
              </a:rPr>
              <a:t>―</a:t>
            </a:r>
            <a:endParaRPr lang="en-US" sz="1600" dirty="0"/>
          </a:p>
          <a:p>
            <a:pPr algn="ctr" indent="0" marL="0">
              <a:buNone/>
            </a:pPr>
            <a:r>
              <a:rPr lang="en-US" sz="1600" b="1" dirty="0">
                <a:solidFill>
                  <a:srgbClr val="1A1A2E"/>
                </a:solidFill>
              </a:rPr>
              <a:t>5</a:t>
            </a:r>
            <a:endParaRPr lang="en-US" sz="16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Wholes 8−3=5; fraction parts 4/5−1/5=3/5. No regrouping needed, so the answer is 5 and 3/5.</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that when the fraction part I'm removing is smaller than the one I start with, I can just subtract straight across -- wholes with wholes, parts with parts.</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tested it by checking which fraction part is bigger before I subtract -- if the starting part is bigger, I know I won't need to regroup.</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whole strips getting physically removed, then matching fraction pieces getting removed from the leftover strip.</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when the minuend's fraction part is equal to or greater than the subtrahend's, subtract whole numbers and fraction parts separately with no regrouping needed.</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subtracting mixed numbers, including regrouping.</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the Show What You Know journal problems in Canvas.</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tomorrow you'll get more practice subtracting mixed numbers with regrouping.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5.04.06 Subtracting Mixed Numbers Part 1 — Teacher Slides</dc:title>
  <dc:subject>PptxGenJS Presentation</dc:subject>
  <dc:creator>PptxGenJS</dc:creator>
  <cp:lastModifiedBy>PptxGenJS</cp:lastModifiedBy>
  <cp:revision>1</cp:revision>
  <dcterms:created xsi:type="dcterms:W3CDTF">2026-07-16T20:02:30Z</dcterms:created>
  <dcterms:modified xsi:type="dcterms:W3CDTF">2026-07-16T20:02:30Z</dcterms:modified>
</cp:coreProperties>
</file>