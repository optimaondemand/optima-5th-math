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Talk warm-up (2 min). Give 60 sec silent think time, thumbs up/down, then discuss.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Talk warm-up (2 min). Give 60 sec silent think time, thumbs up/down, then discuss.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rule precisely: order can swap, but the fraction itself cannot change.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rule precisely: order can swap, but the fraction itself cannot change.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Frame the mission: today we split a whole set into equal groups and take a fraction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slide (1 min). Emphasize: the whole number becomes the set we split into equal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(3 min). Confirms students can split a set into equal groups before layering on fraction language. Transition: "Today we flip the order -- a whole number of things, and we take a fraction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 min). Pose the essential question using the art card story. Take a couple of guesses before moving 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(3 min). Point out: the whole set of 12 splits evenly into 4 groups of 3. Taking 1 group is the same as taking 1/4 of the whole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Pictorial (2 min). The line is marked every 3 -- exactly the size of one group -- so 1/4 of 12 lines up perfectly with the first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(2 min). Confirm 12 x 1/4 and 1/4 x 12 give the same answer -- connect to the Number Talk rule. Watch for: students dividing before multiplying and getting confused with remainders.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Gap-fill (2 min). The IP explicitly asks students to simplify before multiplying -- name this shortcut so it isn't a surprise on independent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(2 min). Call on students to use "commutative property" in a sentence connecting today's model to yesterday's.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(3 min). Model 8 x 3/4 step by step, connecting each step back to the set-splitter model from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Try (2 min). Cold-call a student to narrate the steps before revealing the answer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Forward (1 min). Preview 5.05.03 -- same rule, applied inside story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QUESTION (give real think time before advancing; do not reveal yet)
Exit Check. Watch for students who write 18 (forgot to divide by the denominator) or 27 (multiplied by the whole fraction incorrectly).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REVEAL (advance only after students have responded in chat)
Exit Check. Watch for students who write 18 (forgot to divide by the denominator) or 27 (multiplied by the whole fraction incorrectly).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CREW (~1-2 min)
Briefly read one or two cards — whichever matches where students are in their thinking.
Give real think time before calling on students to share which crew member's approach matches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274320" y="164592"/>
            <a:ext cx="2194560" cy="292608"/>
          </a:xfrm>
          <a:prstGeom prst="roundRect">
            <a:avLst>
              <a:gd name="adj" fmla="val 18750"/>
            </a:avLst>
          </a:prstGeom>
          <a:solidFill>
            <a:srgbClr val="4A3D8F"/>
          </a:solidFill>
          <a:ln w="12700">
            <a:solidFill>
              <a:srgbClr val="4A3D8F"/>
            </a:solidFill>
            <a:prstDash val="solid"/>
          </a:ln>
        </p:spPr>
      </p:sp>
      <p:sp>
        <p:nvSpPr>
          <p:cNvPr id="4" name="Text 2"/>
          <p:cNvSpPr/>
          <p:nvPr/>
        </p:nvSpPr>
        <p:spPr>
          <a:xfrm>
            <a:off x="274320" y="164592"/>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TRUE OR FALSE</a:t>
            </a:r>
            <a:endParaRPr lang="en-US" sz="800" dirty="0"/>
          </a:p>
        </p:txBody>
      </p:sp>
      <p:sp>
        <p:nvSpPr>
          <p:cNvPr id="5" name="Shape 3"/>
          <p:cNvSpPr/>
          <p:nvPr/>
        </p:nvSpPr>
        <p:spPr>
          <a:xfrm>
            <a:off x="2395728" y="164592"/>
            <a:ext cx="6309360" cy="292608"/>
          </a:xfrm>
          <a:prstGeom prst="roundRect">
            <a:avLst>
              <a:gd name="adj" fmla="val 18750"/>
            </a:avLst>
          </a:prstGeom>
          <a:solidFill>
            <a:srgbClr val="2A3B5A"/>
          </a:solidFill>
          <a:ln w="12700">
            <a:solidFill>
              <a:srgbClr val="2A3B5A"/>
            </a:solidFill>
            <a:prstDash val="solid"/>
          </a:ln>
        </p:spPr>
      </p:sp>
      <p:sp>
        <p:nvSpPr>
          <p:cNvPr id="6" name="Text 4"/>
          <p:cNvSpPr/>
          <p:nvPr/>
        </p:nvSpPr>
        <p:spPr>
          <a:xfrm>
            <a:off x="2395728" y="164592"/>
            <a:ext cx="6309360" cy="292608"/>
          </a:xfrm>
          <a:prstGeom prst="rect">
            <a:avLst/>
          </a:prstGeom>
          <a:noFill/>
          <a:ln/>
        </p:spPr>
        <p:txBody>
          <a:bodyPr wrap="square" lIns="0" tIns="0" rIns="0" bIns="0" rtlCol="0" anchor="ctr"/>
          <a:lstStyle/>
          <a:p>
            <a:pPr indent="0" marL="0">
              <a:buNone/>
            </a:pPr>
            <a:r>
              <a:rPr lang="en-US" sz="900" dirty="0">
                <a:solidFill>
                  <a:srgbClr val="FFFFFF"/>
                </a:solidFill>
              </a:rPr>
              <a:t>  ·  Lesson 5.05 · Commutative Property</a:t>
            </a:r>
            <a:endParaRPr lang="en-US" sz="900" dirty="0"/>
          </a:p>
        </p:txBody>
      </p:sp>
      <p:sp>
        <p:nvSpPr>
          <p:cNvPr id="7" name="Text 5"/>
          <p:cNvSpPr/>
          <p:nvPr/>
        </p:nvSpPr>
        <p:spPr>
          <a:xfrm>
            <a:off x="457200" y="1097280"/>
            <a:ext cx="8229600" cy="18288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 × 2/3  =  2/3 × 6</a:t>
            </a:r>
            <a:endParaRPr lang="en-US" sz="4000" dirty="0"/>
          </a:p>
        </p:txBody>
      </p:sp>
      <p:sp>
        <p:nvSpPr>
          <p:cNvPr id="8" name="Text 6"/>
          <p:cNvSpPr/>
          <p:nvPr/>
        </p:nvSpPr>
        <p:spPr>
          <a:xfrm>
            <a:off x="457200" y="3931920"/>
            <a:ext cx="8229600" cy="640080"/>
          </a:xfrm>
          <a:prstGeom prst="rect">
            <a:avLst/>
          </a:prstGeom>
          <a:noFill/>
          <a:ln/>
        </p:spPr>
        <p:txBody>
          <a:bodyPr wrap="square" lIns="0" tIns="0" rIns="0" bIns="0" rtlCol="0" anchor="ctr"/>
          <a:lstStyle/>
          <a:p>
            <a:pPr algn="ctr" indent="0" marL="0">
              <a:buNone/>
            </a:pPr>
            <a:r>
              <a:rPr lang="en-US" sz="1500" i="1" dirty="0">
                <a:solidFill>
                  <a:srgbClr val="8899BB"/>
                </a:solidFill>
              </a:rPr>
              <a:t>Is this true or false? Be ready to prove it.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Prove It</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True or False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3931920" cy="3474720"/>
          </a:xfrm>
          <a:prstGeom prst="roundRect">
            <a:avLst>
              <a:gd name="adj" fmla="val 2632"/>
            </a:avLst>
          </a:prstGeom>
          <a:solidFill>
            <a:srgbClr val="E6F2EA"/>
          </a:solidFill>
          <a:ln w="6350">
            <a:solidFill>
              <a:srgbClr val="DDDDEE"/>
            </a:solidFill>
            <a:prstDash val="solid"/>
          </a:ln>
        </p:spPr>
      </p:sp>
      <p:sp>
        <p:nvSpPr>
          <p:cNvPr id="7" name="Text 5"/>
          <p:cNvSpPr/>
          <p:nvPr/>
        </p:nvSpPr>
        <p:spPr>
          <a:xfrm>
            <a:off x="640080" y="1051560"/>
            <a:ext cx="3566160" cy="548640"/>
          </a:xfrm>
          <a:prstGeom prst="rect">
            <a:avLst/>
          </a:prstGeom>
          <a:noFill/>
          <a:ln/>
        </p:spPr>
        <p:txBody>
          <a:bodyPr wrap="square" lIns="0" tIns="0" rIns="0" bIns="0" rtlCol="0" anchor="ctr"/>
          <a:lstStyle/>
          <a:p>
            <a:pPr indent="0" marL="0">
              <a:buNone/>
            </a:pPr>
            <a:r>
              <a:rPr lang="en-US" sz="1300" b="1" dirty="0">
                <a:solidFill>
                  <a:srgbClr val="2E6E44"/>
                </a:solidFill>
              </a:rPr>
              <a:t>Some students think TRUE because…</a:t>
            </a:r>
            <a:endParaRPr lang="en-US" sz="1300" dirty="0"/>
          </a:p>
        </p:txBody>
      </p:sp>
      <p:sp>
        <p:nvSpPr>
          <p:cNvPr id="8" name="Text 6"/>
          <p:cNvSpPr/>
          <p:nvPr/>
        </p:nvSpPr>
        <p:spPr>
          <a:xfrm>
            <a:off x="640080" y="169164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6 × 2/3 = 12/3 = 4.</a:t>
            </a:r>
            <a:endParaRPr lang="en-US" sz="1300" dirty="0"/>
          </a:p>
        </p:txBody>
      </p:sp>
      <p:sp>
        <p:nvSpPr>
          <p:cNvPr id="9" name="Text 7"/>
          <p:cNvSpPr/>
          <p:nvPr/>
        </p:nvSpPr>
        <p:spPr>
          <a:xfrm>
            <a:off x="640080" y="228600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2/3 × 6 = 12/3 = 4.</a:t>
            </a:r>
            <a:endParaRPr lang="en-US" sz="1300" dirty="0"/>
          </a:p>
        </p:txBody>
      </p:sp>
      <p:sp>
        <p:nvSpPr>
          <p:cNvPr id="10" name="Text 8"/>
          <p:cNvSpPr/>
          <p:nvPr/>
        </p:nvSpPr>
        <p:spPr>
          <a:xfrm>
            <a:off x="640080" y="288036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Same product either way the factors are ordered.</a:t>
            </a:r>
            <a:endParaRPr lang="en-US" sz="1300" dirty="0"/>
          </a:p>
        </p:txBody>
      </p:sp>
      <p:sp>
        <p:nvSpPr>
          <p:cNvPr id="11" name="Shape 9"/>
          <p:cNvSpPr/>
          <p:nvPr/>
        </p:nvSpPr>
        <p:spPr>
          <a:xfrm>
            <a:off x="4754880" y="960120"/>
            <a:ext cx="3931920" cy="3474720"/>
          </a:xfrm>
          <a:prstGeom prst="roundRect">
            <a:avLst>
              <a:gd name="adj" fmla="val 2632"/>
            </a:avLst>
          </a:prstGeom>
          <a:solidFill>
            <a:srgbClr val="FFFFFF"/>
          </a:solidFill>
          <a:ln w="6350">
            <a:solidFill>
              <a:srgbClr val="DDDDEE"/>
            </a:solidFill>
            <a:prstDash val="solid"/>
          </a:ln>
        </p:spPr>
      </p:sp>
      <p:sp>
        <p:nvSpPr>
          <p:cNvPr id="12" name="Text 10"/>
          <p:cNvSpPr/>
          <p:nvPr/>
        </p:nvSpPr>
        <p:spPr>
          <a:xfrm>
            <a:off x="4937760" y="1051560"/>
            <a:ext cx="3566160" cy="548640"/>
          </a:xfrm>
          <a:prstGeom prst="rect">
            <a:avLst/>
          </a:prstGeom>
          <a:noFill/>
          <a:ln/>
        </p:spPr>
        <p:txBody>
          <a:bodyPr wrap="square" lIns="0" tIns="0" rIns="0" bIns="0" rtlCol="0" anchor="ctr"/>
          <a:lstStyle/>
          <a:p>
            <a:pPr indent="0" marL="0">
              <a:buNone/>
            </a:pPr>
            <a:r>
              <a:rPr lang="en-US" sz="1300" b="1" dirty="0">
                <a:solidFill>
                  <a:srgbClr val="A66E10"/>
                </a:solidFill>
              </a:rPr>
              <a:t>Some students think FALSE because…</a:t>
            </a:r>
            <a:endParaRPr lang="en-US" sz="1300" dirty="0"/>
          </a:p>
        </p:txBody>
      </p:sp>
      <p:sp>
        <p:nvSpPr>
          <p:cNvPr id="13" name="Text 11"/>
          <p:cNvSpPr/>
          <p:nvPr/>
        </p:nvSpPr>
        <p:spPr>
          <a:xfrm>
            <a:off x="4937760" y="169164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Some students think order matters for fractions like it does for subtraction.</a:t>
            </a:r>
            <a:endParaRPr lang="en-US" sz="1300" dirty="0"/>
          </a:p>
        </p:txBody>
      </p:sp>
      <p:sp>
        <p:nvSpPr>
          <p:cNvPr id="14" name="Text 12"/>
          <p:cNvSpPr/>
          <p:nvPr/>
        </p:nvSpPr>
        <p:spPr>
          <a:xfrm>
            <a:off x="4937760" y="228600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Multiplication order never changes the product -- for whole numbers or fractions.</a:t>
            </a:r>
            <a:endParaRPr lang="en-US" sz="1300" dirty="0"/>
          </a:p>
        </p:txBody>
      </p:sp>
      <p:sp>
        <p:nvSpPr>
          <p:cNvPr id="15" name="Text 13"/>
          <p:cNvSpPr/>
          <p:nvPr/>
        </p:nvSpPr>
        <p:spPr>
          <a:xfrm>
            <a:off x="4937760" y="288036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The commutative property still applies.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TRUE OR FALSE</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The Rule</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508760"/>
            <a:ext cx="8229600" cy="548640"/>
          </a:xfrm>
          <a:prstGeom prst="rect">
            <a:avLst/>
          </a:prstGeom>
          <a:noFill/>
          <a:ln/>
        </p:spPr>
        <p:txBody>
          <a:bodyPr wrap="square" lIns="0" tIns="0" rIns="0" bIns="0" rtlCol="0" anchor="ctr"/>
          <a:lstStyle/>
          <a:p>
            <a:pPr indent="0" marL="0">
              <a:buNone/>
            </a:pPr>
            <a:r>
              <a:rPr lang="en-US" sz="1800" i="1" dirty="0">
                <a:solidFill>
                  <a:srgbClr val="CCCCFF"/>
                </a:solidFill>
              </a:rPr>
              <a:t>When you swap the order of the factors...</a:t>
            </a:r>
            <a:endParaRPr lang="en-US" sz="1800" dirty="0"/>
          </a:p>
        </p:txBody>
      </p:sp>
      <p:sp>
        <p:nvSpPr>
          <p:cNvPr id="8" name="Text 6"/>
          <p:cNvSpPr/>
          <p:nvPr/>
        </p:nvSpPr>
        <p:spPr>
          <a:xfrm>
            <a:off x="457200" y="2148840"/>
            <a:ext cx="8229600" cy="18288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Multiplication is commutative -- a whole number times a fraction gives the same product as the fraction times the whole number.</a:t>
            </a:r>
            <a:endParaRPr lang="en-US" sz="2200" dirty="0"/>
          </a:p>
        </p:txBody>
      </p:sp>
      <p:sp>
        <p:nvSpPr>
          <p:cNvPr id="9" name="Shape 7"/>
          <p:cNvSpPr/>
          <p:nvPr/>
        </p:nvSpPr>
        <p:spPr>
          <a:xfrm>
            <a:off x="2286000" y="4343400"/>
            <a:ext cx="4572000" cy="438912"/>
          </a:xfrm>
          <a:prstGeom prst="roundRect">
            <a:avLst>
              <a:gd name="adj" fmla="val 12500"/>
            </a:avLst>
          </a:prstGeom>
          <a:solidFill>
            <a:srgbClr val="464EB8"/>
          </a:solidFill>
          <a:ln w="12700">
            <a:solidFill>
              <a:srgbClr val="464EB8"/>
            </a:solidFill>
            <a:prstDash val="solid"/>
          </a:ln>
        </p:spPr>
      </p:sp>
      <p:sp>
        <p:nvSpPr>
          <p:cNvPr id="10" name="Text 8"/>
          <p:cNvSpPr/>
          <p:nvPr/>
        </p:nvSpPr>
        <p:spPr>
          <a:xfrm>
            <a:off x="2286000" y="434340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one word for the rule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6E44"/>
          </a:solidFill>
          <a:ln w="12700">
            <a:solidFill>
              <a:srgbClr val="2E6E44"/>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TRUE OR FALSE</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Try It</a:t>
            </a:r>
            <a:endParaRPr lang="en-US" sz="2000" dirty="0"/>
          </a:p>
        </p:txBody>
      </p:sp>
      <p:sp>
        <p:nvSpPr>
          <p:cNvPr id="6" name="Shape 4"/>
          <p:cNvSpPr/>
          <p:nvPr/>
        </p:nvSpPr>
        <p:spPr>
          <a:xfrm>
            <a:off x="457200" y="1371600"/>
            <a:ext cx="8229600" cy="0"/>
          </a:xfrm>
          <a:prstGeom prst="line">
            <a:avLst/>
          </a:prstGeom>
          <a:noFill/>
          <a:ln w="6350">
            <a:solidFill>
              <a:srgbClr val="55AA77"/>
            </a:solidFill>
            <a:prstDash val="solid"/>
          </a:ln>
        </p:spPr>
      </p:sp>
      <p:sp>
        <p:nvSpPr>
          <p:cNvPr id="7" name="Text 5"/>
          <p:cNvSpPr/>
          <p:nvPr/>
        </p:nvSpPr>
        <p:spPr>
          <a:xfrm>
            <a:off x="457200" y="1554480"/>
            <a:ext cx="8229600" cy="155448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8 × 3/4  =  4/3 × 8</a:t>
            </a:r>
            <a:endParaRPr lang="en-US" sz="3400" dirty="0"/>
          </a:p>
        </p:txBody>
      </p:sp>
      <p:sp>
        <p:nvSpPr>
          <p:cNvPr id="8" name="Shape 6"/>
          <p:cNvSpPr/>
          <p:nvPr/>
        </p:nvSpPr>
        <p:spPr>
          <a:xfrm>
            <a:off x="2286000" y="3794760"/>
            <a:ext cx="45720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2286000" y="379476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true or false?</a:t>
            </a:r>
            <a:endParaRPr lang="en-US" sz="1200" dirty="0"/>
          </a:p>
        </p:txBody>
      </p:sp>
      <p:sp>
        <p:nvSpPr>
          <p:cNvPr id="10" name="Shape 8"/>
          <p:cNvSpPr/>
          <p:nvPr/>
        </p:nvSpPr>
        <p:spPr>
          <a:xfrm>
            <a:off x="914400" y="4343400"/>
            <a:ext cx="7315200" cy="457200"/>
          </a:xfrm>
          <a:prstGeom prst="roundRect">
            <a:avLst>
              <a:gd name="adj" fmla="val 16000"/>
            </a:avLst>
          </a:prstGeom>
          <a:solidFill>
            <a:srgbClr val="1A5533"/>
          </a:solidFill>
          <a:ln w="12700">
            <a:solidFill>
              <a:srgbClr val="1A5533"/>
            </a:solidFill>
            <a:prstDash val="solid"/>
          </a:ln>
        </p:spPr>
      </p:sp>
      <p:sp>
        <p:nvSpPr>
          <p:cNvPr id="11" name="Text 9"/>
          <p:cNvSpPr/>
          <p:nvPr/>
        </p:nvSpPr>
        <p:spPr>
          <a:xfrm>
            <a:off x="914400" y="4343400"/>
            <a:ext cx="7315200" cy="457200"/>
          </a:xfrm>
          <a:prstGeom prst="rect">
            <a:avLst/>
          </a:prstGeom>
          <a:noFill/>
          <a:ln/>
        </p:spPr>
        <p:txBody>
          <a:bodyPr wrap="square" lIns="0" tIns="0" rIns="0" bIns="0" rtlCol="0" anchor="ctr"/>
          <a:lstStyle/>
          <a:p>
            <a:pPr algn="ctr" indent="0" marL="0">
              <a:buNone/>
            </a:pPr>
            <a:r>
              <a:rPr lang="en-US" sz="1300" dirty="0">
                <a:solidFill>
                  <a:srgbClr val="CCFFDD"/>
                </a:solidFill>
              </a:rPr>
              <a:t>Answer: False — 8 x 3/4 = 6, but 4/3 x 8 = 32/3, which is not 6. The fraction was flipped, not just reordered.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0" y="3474720"/>
            <a:ext cx="9144000" cy="1668780"/>
          </a:xfrm>
          <a:prstGeom prst="rect">
            <a:avLst/>
          </a:prstGeom>
          <a:solidFill>
            <a:srgbClr val="4A3D8F"/>
          </a:solidFill>
          <a:ln w="12700">
            <a:solidFill>
              <a:srgbClr val="4A3D8F"/>
            </a:solidFill>
            <a:prstDash val="solid"/>
          </a:ln>
        </p:spPr>
      </p:sp>
      <p:sp>
        <p:nvSpPr>
          <p:cNvPr id="4" name="Text 2"/>
          <p:cNvSpPr/>
          <p:nvPr/>
        </p:nvSpPr>
        <p:spPr>
          <a:xfrm>
            <a:off x="457200" y="320040"/>
            <a:ext cx="8229600" cy="365760"/>
          </a:xfrm>
          <a:prstGeom prst="rect">
            <a:avLst/>
          </a:prstGeom>
          <a:noFill/>
          <a:ln/>
        </p:spPr>
        <p:txBody>
          <a:bodyPr wrap="square" lIns="0" tIns="0" rIns="0" bIns="0" rtlCol="0" anchor="ctr"/>
          <a:lstStyle/>
          <a:p>
            <a:pPr indent="0" marL="0">
              <a:buNone/>
            </a:pPr>
            <a:r>
              <a:rPr lang="en-US" sz="1300" i="1" spc="200" kern="0" dirty="0">
                <a:solidFill>
                  <a:srgbClr val="FFFFFF"/>
                </a:solidFill>
              </a:rPr>
              <a:t>Optima Academy Online</a:t>
            </a:r>
            <a:endParaRPr lang="en-US" sz="1300" dirty="0"/>
          </a:p>
        </p:txBody>
      </p:sp>
      <p:sp>
        <p:nvSpPr>
          <p:cNvPr id="5" name="Text 3"/>
          <p:cNvSpPr/>
          <p:nvPr/>
        </p:nvSpPr>
        <p:spPr>
          <a:xfrm>
            <a:off x="457200" y="777240"/>
            <a:ext cx="8229600" cy="502920"/>
          </a:xfrm>
          <a:prstGeom prst="rect">
            <a:avLst/>
          </a:prstGeom>
          <a:noFill/>
          <a:ln/>
        </p:spPr>
        <p:txBody>
          <a:bodyPr wrap="square" lIns="0" tIns="0" rIns="0" bIns="0" rtlCol="0" anchor="ctr"/>
          <a:lstStyle/>
          <a:p>
            <a:pPr indent="0" marL="0">
              <a:buNone/>
            </a:pPr>
            <a:r>
              <a:rPr lang="en-US" sz="1800" b="1" spc="100" kern="0" dirty="0">
                <a:solidFill>
                  <a:srgbClr val="D9941A"/>
                </a:solidFill>
              </a:rPr>
              <a:t>5.05.02</a:t>
            </a:r>
            <a:endParaRPr lang="en-US" sz="1800" dirty="0"/>
          </a:p>
        </p:txBody>
      </p:sp>
      <p:sp>
        <p:nvSpPr>
          <p:cNvPr id="6" name="Text 4"/>
          <p:cNvSpPr/>
          <p:nvPr/>
        </p:nvSpPr>
        <p:spPr>
          <a:xfrm>
            <a:off x="457200" y="1325880"/>
            <a:ext cx="8229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Multiplying a Whole Number by a Fraction</a:t>
            </a:r>
            <a:endParaRPr lang="en-US" sz="3800" dirty="0"/>
          </a:p>
        </p:txBody>
      </p:sp>
      <p:sp>
        <p:nvSpPr>
          <p:cNvPr id="7" name="Text 5"/>
          <p:cNvSpPr/>
          <p:nvPr/>
        </p:nvSpPr>
        <p:spPr>
          <a:xfrm>
            <a:off x="457200" y="2697480"/>
            <a:ext cx="8229600" cy="502920"/>
          </a:xfrm>
          <a:prstGeom prst="rect">
            <a:avLst/>
          </a:prstGeom>
          <a:noFill/>
          <a:ln/>
        </p:spPr>
        <p:txBody>
          <a:bodyPr wrap="square" lIns="0" tIns="0" rIns="0" bIns="0" rtlCol="0" anchor="ctr"/>
          <a:lstStyle/>
          <a:p>
            <a:pPr indent="0" marL="0">
              <a:buNone/>
            </a:pPr>
            <a:r>
              <a:rPr lang="en-US" sz="1600" i="1" dirty="0">
                <a:solidFill>
                  <a:srgbClr val="AAAACC"/>
                </a:solidFill>
              </a:rPr>
              <a:t>Unit 5 · Fraction Multiplication</a:t>
            </a:r>
            <a:endParaRPr lang="en-US" sz="1600" dirty="0"/>
          </a:p>
        </p:txBody>
      </p:sp>
      <p:sp>
        <p:nvSpPr>
          <p:cNvPr id="8" name="Text 6"/>
          <p:cNvSpPr/>
          <p:nvPr/>
        </p:nvSpPr>
        <p:spPr>
          <a:xfrm>
            <a:off x="457200" y="3657600"/>
            <a:ext cx="8229600" cy="411480"/>
          </a:xfrm>
          <a:prstGeom prst="rect">
            <a:avLst/>
          </a:prstGeom>
          <a:noFill/>
          <a:ln/>
        </p:spPr>
        <p:txBody>
          <a:bodyPr wrap="square" lIns="0" tIns="0" rIns="0" bIns="0" rtlCol="0" anchor="ctr"/>
          <a:lstStyle/>
          <a:p>
            <a:pPr indent="0" marL="0">
              <a:buNone/>
            </a:pPr>
            <a:r>
              <a:rPr lang="en-US" sz="1300" spc="100" kern="0" dirty="0">
                <a:solidFill>
                  <a:srgbClr val="FFFFFF"/>
                </a:solidFill>
              </a:rPr>
              <a:t>MA.5.FR.2.1</a:t>
            </a:r>
            <a:endParaRPr lang="en-US" sz="1300" dirty="0"/>
          </a:p>
        </p:txBody>
      </p:sp>
      <p:sp>
        <p:nvSpPr>
          <p:cNvPr id="9" name="Text 7"/>
          <p:cNvSpPr/>
          <p:nvPr/>
        </p:nvSpPr>
        <p:spPr>
          <a:xfrm>
            <a:off x="457200" y="4206240"/>
            <a:ext cx="8229600" cy="365760"/>
          </a:xfrm>
          <a:prstGeom prst="rect">
            <a:avLst/>
          </a:prstGeom>
          <a:noFill/>
          <a:ln/>
        </p:spPr>
        <p:txBody>
          <a:bodyPr wrap="square" lIns="0" tIns="0" rIns="0" bIns="0" rtlCol="0" anchor="ctr"/>
          <a:lstStyle/>
          <a:p>
            <a:pPr indent="0" marL="0">
              <a:buNone/>
            </a:pPr>
            <a:r>
              <a:rPr lang="en-US" sz="1400" i="1" dirty="0">
                <a:solidFill>
                  <a:srgbClr val="CCCCEE"/>
                </a:solidFill>
              </a:rPr>
              <a:t>Teacher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Goal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Learning Objective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508760"/>
          </a:xfrm>
          <a:prstGeom prst="roundRect">
            <a:avLst>
              <a:gd name="adj" fmla="val 6061"/>
            </a:avLst>
          </a:prstGeom>
          <a:solidFill>
            <a:srgbClr val="EAE8F5"/>
          </a:solidFill>
          <a:ln w="6350">
            <a:solidFill>
              <a:srgbClr val="DDDDEE"/>
            </a:solidFill>
            <a:prstDash val="solid"/>
          </a:ln>
        </p:spPr>
      </p:sp>
      <p:sp>
        <p:nvSpPr>
          <p:cNvPr id="7" name="Text 5"/>
          <p:cNvSpPr/>
          <p:nvPr/>
        </p:nvSpPr>
        <p:spPr>
          <a:xfrm>
            <a:off x="685800" y="1078992"/>
            <a:ext cx="7772400" cy="347472"/>
          </a:xfrm>
          <a:prstGeom prst="rect">
            <a:avLst/>
          </a:prstGeom>
          <a:noFill/>
          <a:ln/>
        </p:spPr>
        <p:txBody>
          <a:bodyPr wrap="square" lIns="0" tIns="0" rIns="0" bIns="0" rtlCol="0" anchor="ctr"/>
          <a:lstStyle/>
          <a:p>
            <a:pPr indent="0" marL="0">
              <a:buNone/>
            </a:pPr>
            <a:r>
              <a:rPr lang="en-US" sz="1300" b="1" spc="100" kern="0" dirty="0">
                <a:solidFill>
                  <a:srgbClr val="4A3D8F"/>
                </a:solidFill>
              </a:rPr>
              <a:t>I can...</a:t>
            </a:r>
            <a:endParaRPr lang="en-US" sz="1300" dirty="0"/>
          </a:p>
        </p:txBody>
      </p:sp>
      <p:sp>
        <p:nvSpPr>
          <p:cNvPr id="8" name="Text 6"/>
          <p:cNvSpPr/>
          <p:nvPr/>
        </p:nvSpPr>
        <p:spPr>
          <a:xfrm>
            <a:off x="685800" y="1463040"/>
            <a:ext cx="7772400" cy="9601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use a set-splitting model to multiply a whole number by a fraction, and explain what the product means.</a:t>
            </a:r>
            <a:endParaRPr lang="en-US" sz="1800" dirty="0"/>
          </a:p>
        </p:txBody>
      </p:sp>
      <p:sp>
        <p:nvSpPr>
          <p:cNvPr id="9" name="Shape 7"/>
          <p:cNvSpPr/>
          <p:nvPr/>
        </p:nvSpPr>
        <p:spPr>
          <a:xfrm>
            <a:off x="457200" y="2743200"/>
            <a:ext cx="8229600" cy="1280160"/>
          </a:xfrm>
          <a:prstGeom prst="roundRect">
            <a:avLst>
              <a:gd name="adj" fmla="val 7143"/>
            </a:avLst>
          </a:prstGeom>
          <a:solidFill>
            <a:srgbClr val="FFFFFF"/>
          </a:solidFill>
          <a:ln w="6350">
            <a:solidFill>
              <a:srgbClr val="DDDDEE"/>
            </a:solidFill>
            <a:prstDash val="solid"/>
          </a:ln>
        </p:spPr>
      </p:sp>
      <p:sp>
        <p:nvSpPr>
          <p:cNvPr id="10" name="Text 8"/>
          <p:cNvSpPr/>
          <p:nvPr/>
        </p:nvSpPr>
        <p:spPr>
          <a:xfrm>
            <a:off x="685800" y="2834640"/>
            <a:ext cx="7772400" cy="1097280"/>
          </a:xfrm>
          <a:prstGeom prst="rect">
            <a:avLst/>
          </a:prstGeom>
          <a:noFill/>
          <a:ln/>
        </p:spPr>
        <p:txBody>
          <a:bodyPr wrap="square" lIns="0" tIns="0" rIns="0" bIns="0" rtlCol="0" anchor="ctr"/>
          <a:lstStyle/>
          <a:p>
            <a:pPr indent="0" marL="0">
              <a:buNone/>
            </a:pPr>
            <a:r>
              <a:rPr lang="en-US" sz="1600" i="1" dirty="0">
                <a:solidFill>
                  <a:srgbClr val="5A5A7A"/>
                </a:solidFill>
                <a:latin typeface="Cambria" pitchFamily="34" charset="0"/>
                <a:ea typeface="Cambria" pitchFamily="34" charset="-122"/>
                <a:cs typeface="Cambria" pitchFamily="34" charset="-120"/>
              </a:rPr>
              <a:t>“A fraction product is easier to trust when you can see the pieces.”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Readiness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Warm-Up · 3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1371600"/>
          </a:xfrm>
          <a:prstGeom prst="roundRect">
            <a:avLst>
              <a:gd name="adj" fmla="val 6667"/>
            </a:avLst>
          </a:prstGeom>
          <a:solidFill>
            <a:srgbClr val="FFFFFF"/>
          </a:solidFill>
          <a:ln w="6350">
            <a:solidFill>
              <a:srgbClr val="DDDDEE"/>
            </a:solidFill>
            <a:prstDash val="solid"/>
          </a:ln>
        </p:spPr>
      </p:sp>
      <p:sp>
        <p:nvSpPr>
          <p:cNvPr id="7" name="Text 5"/>
          <p:cNvSpPr/>
          <p:nvPr/>
        </p:nvSpPr>
        <p:spPr>
          <a:xfrm>
            <a:off x="685800" y="1051560"/>
            <a:ext cx="7772400" cy="11887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Split 12 counters into 4 equal groups. How many counters in each group?</a:t>
            </a:r>
            <a:endParaRPr lang="en-US" sz="1800" dirty="0"/>
          </a:p>
        </p:txBody>
      </p:sp>
      <p:sp>
        <p:nvSpPr>
          <p:cNvPr id="8" name="Shape 6"/>
          <p:cNvSpPr/>
          <p:nvPr/>
        </p:nvSpPr>
        <p:spPr>
          <a:xfrm>
            <a:off x="457200" y="2468880"/>
            <a:ext cx="8229600" cy="1371600"/>
          </a:xfrm>
          <a:prstGeom prst="roundRect">
            <a:avLst>
              <a:gd name="adj" fmla="val 6667"/>
            </a:avLst>
          </a:prstGeom>
          <a:solidFill>
            <a:srgbClr val="EAE8F5"/>
          </a:solidFill>
          <a:ln w="6350">
            <a:solidFill>
              <a:srgbClr val="DDDDEE"/>
            </a:solidFill>
            <a:prstDash val="solid"/>
          </a:ln>
        </p:spPr>
      </p:sp>
      <p:sp>
        <p:nvSpPr>
          <p:cNvPr id="9" name="Text 7"/>
          <p:cNvSpPr/>
          <p:nvPr/>
        </p:nvSpPr>
        <p:spPr>
          <a:xfrm>
            <a:off x="685800" y="2560320"/>
            <a:ext cx="7772400" cy="11887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Yesterday we multiplied a fraction by a whole number. What was the rule?</a:t>
            </a:r>
            <a:endParaRPr lang="en-US" sz="1800" dirty="0"/>
          </a:p>
        </p:txBody>
      </p:sp>
      <p:sp>
        <p:nvSpPr>
          <p:cNvPr id="10" name="Shape 8"/>
          <p:cNvSpPr/>
          <p:nvPr/>
        </p:nvSpPr>
        <p:spPr>
          <a:xfrm>
            <a:off x="1371600" y="3977640"/>
            <a:ext cx="64008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1371600" y="39776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counters per group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Mission</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Hook</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2103120"/>
          </a:xfrm>
          <a:prstGeom prst="roundRect">
            <a:avLst>
              <a:gd name="adj" fmla="val 4348"/>
            </a:avLst>
          </a:prstGeom>
          <a:solidFill>
            <a:srgbClr val="FFFFFF"/>
          </a:solidFill>
          <a:ln w="6350">
            <a:solidFill>
              <a:srgbClr val="DDDDEE"/>
            </a:solidFill>
            <a:prstDash val="solid"/>
          </a:ln>
        </p:spPr>
      </p:sp>
      <p:sp>
        <p:nvSpPr>
          <p:cNvPr id="7" name="Text 5"/>
          <p:cNvSpPr/>
          <p:nvPr/>
        </p:nvSpPr>
        <p:spPr>
          <a:xfrm>
            <a:off x="685800" y="1143000"/>
            <a:ext cx="7772400" cy="1828800"/>
          </a:xfrm>
          <a:prstGeom prst="rect">
            <a:avLst/>
          </a:prstGeom>
          <a:noFill/>
          <a:ln/>
        </p:spPr>
        <p:txBody>
          <a:bodyPr wrap="square" lIns="0" tIns="0" rIns="0" bIns="0" rtlCol="0" anchor="ctr"/>
          <a:lstStyle/>
          <a:p>
            <a:pPr indent="0" marL="0">
              <a:buNone/>
            </a:pPr>
            <a:r>
              <a:rPr lang="en-US" sz="2200" b="1" dirty="0">
                <a:solidFill>
                  <a:srgbClr val="4A3D8F"/>
                </a:solidFill>
                <a:latin typeface="Cambria" pitchFamily="34" charset="0"/>
                <a:ea typeface="Cambria" pitchFamily="34" charset="-122"/>
                <a:cs typeface="Cambria" pitchFamily="34" charset="-120"/>
              </a:rPr>
              <a:t>How can a fraction of a whole number show part of a set?</a:t>
            </a:r>
            <a:endParaRPr lang="en-US" sz="2200" dirty="0"/>
          </a:p>
        </p:txBody>
      </p:sp>
      <p:sp>
        <p:nvSpPr>
          <p:cNvPr id="8" name="Shape 6"/>
          <p:cNvSpPr/>
          <p:nvPr/>
        </p:nvSpPr>
        <p:spPr>
          <a:xfrm>
            <a:off x="457200" y="3291840"/>
            <a:ext cx="8229600" cy="914400"/>
          </a:xfrm>
          <a:prstGeom prst="roundRect">
            <a:avLst>
              <a:gd name="adj" fmla="val 10000"/>
            </a:avLst>
          </a:prstGeom>
          <a:solidFill>
            <a:srgbClr val="EAE8F5"/>
          </a:solidFill>
          <a:ln w="6350">
            <a:solidFill>
              <a:srgbClr val="DDDDEE"/>
            </a:solidFill>
            <a:prstDash val="solid"/>
          </a:ln>
        </p:spPr>
      </p:sp>
      <p:sp>
        <p:nvSpPr>
          <p:cNvPr id="9" name="Text 7"/>
          <p:cNvSpPr/>
          <p:nvPr/>
        </p:nvSpPr>
        <p:spPr>
          <a:xfrm>
            <a:off x="685800" y="3337560"/>
            <a:ext cx="7772400" cy="822960"/>
          </a:xfrm>
          <a:prstGeom prst="rect">
            <a:avLst/>
          </a:prstGeom>
          <a:noFill/>
          <a:ln/>
        </p:spPr>
        <p:txBody>
          <a:bodyPr wrap="square" lIns="0" tIns="0" rIns="0" bIns="0" rtlCol="0" anchor="ctr"/>
          <a:lstStyle/>
          <a:p>
            <a:pPr indent="0" marL="0">
              <a:buNone/>
            </a:pPr>
            <a:r>
              <a:rPr lang="en-US" sz="1500" i="1" dirty="0">
                <a:solidFill>
                  <a:srgbClr val="5A5A7A"/>
                </a:solidFill>
              </a:rPr>
              <a:t>There are 12 art cards. A teacher uses 1/4 of them for the first display.</a:t>
            </a:r>
            <a:endParaRPr lang="en-US" sz="1500" dirty="0"/>
          </a:p>
        </p:txBody>
      </p:sp>
      <p:sp>
        <p:nvSpPr>
          <p:cNvPr id="10" name="Shape 8"/>
          <p:cNvSpPr/>
          <p:nvPr/>
        </p:nvSpPr>
        <p:spPr>
          <a:xfrm>
            <a:off x="1828800" y="4343400"/>
            <a:ext cx="54864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1828800" y="434340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best guess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Notice &amp; Wonder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Warm-Up</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051560"/>
            <a:ext cx="7772400" cy="182880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12 art cards</a:t>
            </a:r>
            <a:endParaRPr lang="en-US" sz="2000" dirty="0"/>
          </a:p>
          <a:p>
            <a:pPr indent="0" marL="0">
              <a:buNone/>
            </a:pPr>
            <a:r>
              <a:rPr lang="en-US" sz="2000" dirty="0">
                <a:solidFill>
                  <a:srgbClr val="1A1A2E"/>
                </a:solidFill>
                <a:latin typeface="Cambria" pitchFamily="34" charset="0"/>
                <a:ea typeface="Cambria" pitchFamily="34" charset="-122"/>
                <a:cs typeface="Cambria" pitchFamily="34" charset="-120"/>
              </a:rPr>
              <a:t>Split into 4 equal groups</a:t>
            </a:r>
            <a:endParaRPr lang="en-US" sz="2000" dirty="0"/>
          </a:p>
          <a:p>
            <a:pPr indent="0" marL="0">
              <a:buNone/>
            </a:pPr>
            <a:r>
              <a:rPr lang="en-US" sz="2000" dirty="0">
                <a:solidFill>
                  <a:srgbClr val="1A1A2E"/>
                </a:solidFill>
                <a:latin typeface="Cambria" pitchFamily="34" charset="0"/>
                <a:ea typeface="Cambria" pitchFamily="34" charset="-122"/>
                <a:cs typeface="Cambria" pitchFamily="34" charset="-120"/>
              </a:rPr>
              <a:t>1/4 of them used for the display</a:t>
            </a:r>
            <a:endParaRPr lang="en-US" sz="2000" dirty="0"/>
          </a:p>
        </p:txBody>
      </p:sp>
      <p:sp>
        <p:nvSpPr>
          <p:cNvPr id="8" name="Shape 6"/>
          <p:cNvSpPr/>
          <p:nvPr/>
        </p:nvSpPr>
        <p:spPr>
          <a:xfrm>
            <a:off x="457200" y="3154680"/>
            <a:ext cx="3931920" cy="1508760"/>
          </a:xfrm>
          <a:prstGeom prst="roundRect">
            <a:avLst>
              <a:gd name="adj" fmla="val 6061"/>
            </a:avLst>
          </a:prstGeom>
          <a:solidFill>
            <a:srgbClr val="EAE8F5"/>
          </a:solidFill>
          <a:ln w="6350">
            <a:solidFill>
              <a:srgbClr val="DDDDEE"/>
            </a:solidFill>
            <a:prstDash val="solid"/>
          </a:ln>
        </p:spPr>
      </p:sp>
      <p:sp>
        <p:nvSpPr>
          <p:cNvPr id="9" name="Text 7"/>
          <p:cNvSpPr/>
          <p:nvPr/>
        </p:nvSpPr>
        <p:spPr>
          <a:xfrm>
            <a:off x="640080" y="3246120"/>
            <a:ext cx="3566160" cy="347472"/>
          </a:xfrm>
          <a:prstGeom prst="rect">
            <a:avLst/>
          </a:prstGeom>
          <a:noFill/>
          <a:ln/>
        </p:spPr>
        <p:txBody>
          <a:bodyPr wrap="square" lIns="0" tIns="0" rIns="0" bIns="0" rtlCol="0" anchor="ctr"/>
          <a:lstStyle/>
          <a:p>
            <a:pPr indent="0" marL="0">
              <a:buNone/>
            </a:pPr>
            <a:r>
              <a:rPr lang="en-US" sz="1300" b="1" dirty="0">
                <a:solidFill>
                  <a:srgbClr val="4A3D8F"/>
                </a:solidFill>
              </a:rPr>
              <a:t>I notice...</a:t>
            </a:r>
            <a:endParaRPr lang="en-US" sz="1300" dirty="0"/>
          </a:p>
        </p:txBody>
      </p:sp>
      <p:sp>
        <p:nvSpPr>
          <p:cNvPr id="10" name="Shape 8"/>
          <p:cNvSpPr/>
          <p:nvPr/>
        </p:nvSpPr>
        <p:spPr>
          <a:xfrm>
            <a:off x="4754880" y="3154680"/>
            <a:ext cx="3931920" cy="1508760"/>
          </a:xfrm>
          <a:prstGeom prst="roundRect">
            <a:avLst>
              <a:gd name="adj" fmla="val 6061"/>
            </a:avLst>
          </a:prstGeom>
          <a:solidFill>
            <a:srgbClr val="E6F2EA"/>
          </a:solidFill>
          <a:ln w="6350">
            <a:solidFill>
              <a:srgbClr val="DDDDEE"/>
            </a:solidFill>
            <a:prstDash val="solid"/>
          </a:ln>
        </p:spPr>
      </p:sp>
      <p:sp>
        <p:nvSpPr>
          <p:cNvPr id="11" name="Text 9"/>
          <p:cNvSpPr/>
          <p:nvPr/>
        </p:nvSpPr>
        <p:spPr>
          <a:xfrm>
            <a:off x="4937760" y="3246120"/>
            <a:ext cx="3566160" cy="347472"/>
          </a:xfrm>
          <a:prstGeom prst="rect">
            <a:avLst/>
          </a:prstGeom>
          <a:noFill/>
          <a:ln/>
        </p:spPr>
        <p:txBody>
          <a:bodyPr wrap="square" lIns="0" tIns="0" rIns="0" bIns="0" rtlCol="0" anchor="ctr"/>
          <a:lstStyle/>
          <a:p>
            <a:pPr indent="0" marL="0">
              <a:buNone/>
            </a:pPr>
            <a:r>
              <a:rPr lang="en-US" sz="1300" b="1" dirty="0">
                <a:solidFill>
                  <a:srgbClr val="2E6E44"/>
                </a:solidFill>
              </a:rPr>
              <a:t>I wonder...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Concrete: Splitting the Set</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Concrete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8229600" cy="365760"/>
          </a:xfrm>
          <a:prstGeom prst="roundRect">
            <a:avLst>
              <a:gd name="adj" fmla="val 25000"/>
            </a:avLst>
          </a:prstGeom>
          <a:solidFill>
            <a:srgbClr val="FFFFFF"/>
          </a:solidFill>
          <a:ln w="6350">
            <a:solidFill>
              <a:srgbClr val="DDDDEE"/>
            </a:solidFill>
            <a:prstDash val="solid"/>
          </a:ln>
        </p:spPr>
      </p:sp>
      <p:sp>
        <p:nvSpPr>
          <p:cNvPr id="7" name="Text 5"/>
          <p:cNvSpPr/>
          <p:nvPr/>
        </p:nvSpPr>
        <p:spPr>
          <a:xfrm>
            <a:off x="548640" y="914400"/>
            <a:ext cx="8046720" cy="365760"/>
          </a:xfrm>
          <a:prstGeom prst="rect">
            <a:avLst/>
          </a:prstGeom>
          <a:noFill/>
          <a:ln/>
        </p:spPr>
        <p:txBody>
          <a:bodyPr wrap="square" lIns="0" tIns="0" rIns="0" bIns="0" rtlCol="0" anchor="ctr"/>
          <a:lstStyle/>
          <a:p>
            <a:pPr algn="ctr" indent="0" marL="0">
              <a:buNone/>
            </a:pPr>
            <a:r>
              <a:rPr lang="en-US" sz="1200" b="1" dirty="0">
                <a:solidFill>
                  <a:srgbClr val="5A5A7A"/>
                </a:solidFill>
              </a:rPr>
              <a:t>12 cards split into 4 equal groups -- 1 group (1/4) is shaded</a:t>
            </a:r>
            <a:endParaRPr lang="en-US" sz="1200" dirty="0"/>
          </a:p>
        </p:txBody>
      </p:sp>
      <p:sp>
        <p:nvSpPr>
          <p:cNvPr id="8" name="Shape 6"/>
          <p:cNvSpPr/>
          <p:nvPr/>
        </p:nvSpPr>
        <p:spPr>
          <a:xfrm>
            <a:off x="731520" y="1463040"/>
            <a:ext cx="1817370" cy="2651760"/>
          </a:xfrm>
          <a:prstGeom prst="roundRect">
            <a:avLst>
              <a:gd name="adj" fmla="val 3019"/>
            </a:avLst>
          </a:prstGeom>
          <a:solidFill>
            <a:srgbClr val="EAE8F5"/>
          </a:solidFill>
          <a:ln w="19050">
            <a:solidFill>
              <a:srgbClr val="4A3D8F"/>
            </a:solidFill>
            <a:prstDash val="solid"/>
          </a:ln>
        </p:spPr>
      </p:sp>
      <p:sp>
        <p:nvSpPr>
          <p:cNvPr id="9" name="Shape 7"/>
          <p:cNvSpPr/>
          <p:nvPr/>
        </p:nvSpPr>
        <p:spPr>
          <a:xfrm>
            <a:off x="731520" y="1755648"/>
            <a:ext cx="881253" cy="881253"/>
          </a:xfrm>
          <a:prstGeom prst="rect">
            <a:avLst/>
          </a:prstGeom>
          <a:solidFill>
            <a:srgbClr val="4A3D8F"/>
          </a:solidFill>
          <a:ln w="9525">
            <a:solidFill>
              <a:srgbClr val="FFFFFF"/>
            </a:solidFill>
            <a:prstDash val="solid"/>
          </a:ln>
        </p:spPr>
      </p:sp>
      <p:sp>
        <p:nvSpPr>
          <p:cNvPr id="10" name="Shape 8"/>
          <p:cNvSpPr/>
          <p:nvPr/>
        </p:nvSpPr>
        <p:spPr>
          <a:xfrm>
            <a:off x="1667637" y="1755648"/>
            <a:ext cx="881253" cy="881253"/>
          </a:xfrm>
          <a:prstGeom prst="rect">
            <a:avLst/>
          </a:prstGeom>
          <a:solidFill>
            <a:srgbClr val="4A3D8F"/>
          </a:solidFill>
          <a:ln w="9525">
            <a:solidFill>
              <a:srgbClr val="FFFFFF"/>
            </a:solidFill>
            <a:prstDash val="solid"/>
          </a:ln>
        </p:spPr>
      </p:sp>
      <p:sp>
        <p:nvSpPr>
          <p:cNvPr id="11" name="Shape 9"/>
          <p:cNvSpPr/>
          <p:nvPr/>
        </p:nvSpPr>
        <p:spPr>
          <a:xfrm>
            <a:off x="731520" y="2691765"/>
            <a:ext cx="881253" cy="881253"/>
          </a:xfrm>
          <a:prstGeom prst="rect">
            <a:avLst/>
          </a:prstGeom>
          <a:solidFill>
            <a:srgbClr val="4A3D8F"/>
          </a:solidFill>
          <a:ln w="9525">
            <a:solidFill>
              <a:srgbClr val="FFFFFF"/>
            </a:solidFill>
            <a:prstDash val="solid"/>
          </a:ln>
        </p:spPr>
      </p:sp>
      <p:sp>
        <p:nvSpPr>
          <p:cNvPr id="12" name="Shape 10"/>
          <p:cNvSpPr/>
          <p:nvPr/>
        </p:nvSpPr>
        <p:spPr>
          <a:xfrm>
            <a:off x="2686050" y="1463040"/>
            <a:ext cx="1817370" cy="2651760"/>
          </a:xfrm>
          <a:prstGeom prst="roundRect">
            <a:avLst>
              <a:gd name="adj" fmla="val 3019"/>
            </a:avLst>
          </a:prstGeom>
          <a:solidFill>
            <a:srgbClr val="F5F5F8"/>
          </a:solidFill>
          <a:ln w="9525">
            <a:solidFill>
              <a:srgbClr val="CCCCCC"/>
            </a:solidFill>
            <a:prstDash val="solid"/>
          </a:ln>
        </p:spPr>
      </p:sp>
      <p:sp>
        <p:nvSpPr>
          <p:cNvPr id="13" name="Shape 11"/>
          <p:cNvSpPr/>
          <p:nvPr/>
        </p:nvSpPr>
        <p:spPr>
          <a:xfrm>
            <a:off x="2686050" y="1755648"/>
            <a:ext cx="881253" cy="881253"/>
          </a:xfrm>
          <a:prstGeom prst="rect">
            <a:avLst/>
          </a:prstGeom>
          <a:solidFill>
            <a:srgbClr val="DADAF0"/>
          </a:solidFill>
          <a:ln w="9525">
            <a:solidFill>
              <a:srgbClr val="FFFFFF"/>
            </a:solidFill>
            <a:prstDash val="solid"/>
          </a:ln>
        </p:spPr>
      </p:sp>
      <p:sp>
        <p:nvSpPr>
          <p:cNvPr id="14" name="Shape 12"/>
          <p:cNvSpPr/>
          <p:nvPr/>
        </p:nvSpPr>
        <p:spPr>
          <a:xfrm>
            <a:off x="3622167" y="1755648"/>
            <a:ext cx="881253" cy="881253"/>
          </a:xfrm>
          <a:prstGeom prst="rect">
            <a:avLst/>
          </a:prstGeom>
          <a:solidFill>
            <a:srgbClr val="DADAF0"/>
          </a:solidFill>
          <a:ln w="9525">
            <a:solidFill>
              <a:srgbClr val="FFFFFF"/>
            </a:solidFill>
            <a:prstDash val="solid"/>
          </a:ln>
        </p:spPr>
      </p:sp>
      <p:sp>
        <p:nvSpPr>
          <p:cNvPr id="15" name="Shape 13"/>
          <p:cNvSpPr/>
          <p:nvPr/>
        </p:nvSpPr>
        <p:spPr>
          <a:xfrm>
            <a:off x="2686050" y="2691765"/>
            <a:ext cx="881253" cy="881253"/>
          </a:xfrm>
          <a:prstGeom prst="rect">
            <a:avLst/>
          </a:prstGeom>
          <a:solidFill>
            <a:srgbClr val="DADAF0"/>
          </a:solidFill>
          <a:ln w="9525">
            <a:solidFill>
              <a:srgbClr val="FFFFFF"/>
            </a:solidFill>
            <a:prstDash val="solid"/>
          </a:ln>
        </p:spPr>
      </p:sp>
      <p:sp>
        <p:nvSpPr>
          <p:cNvPr id="16" name="Shape 14"/>
          <p:cNvSpPr/>
          <p:nvPr/>
        </p:nvSpPr>
        <p:spPr>
          <a:xfrm>
            <a:off x="4640580" y="1463040"/>
            <a:ext cx="1817370" cy="2651760"/>
          </a:xfrm>
          <a:prstGeom prst="roundRect">
            <a:avLst>
              <a:gd name="adj" fmla="val 3019"/>
            </a:avLst>
          </a:prstGeom>
          <a:solidFill>
            <a:srgbClr val="F5F5F8"/>
          </a:solidFill>
          <a:ln w="9525">
            <a:solidFill>
              <a:srgbClr val="CCCCCC"/>
            </a:solidFill>
            <a:prstDash val="solid"/>
          </a:ln>
        </p:spPr>
      </p:sp>
      <p:sp>
        <p:nvSpPr>
          <p:cNvPr id="17" name="Shape 15"/>
          <p:cNvSpPr/>
          <p:nvPr/>
        </p:nvSpPr>
        <p:spPr>
          <a:xfrm>
            <a:off x="4640580" y="1755648"/>
            <a:ext cx="881253" cy="881253"/>
          </a:xfrm>
          <a:prstGeom prst="rect">
            <a:avLst/>
          </a:prstGeom>
          <a:solidFill>
            <a:srgbClr val="DADAF0"/>
          </a:solidFill>
          <a:ln w="9525">
            <a:solidFill>
              <a:srgbClr val="FFFFFF"/>
            </a:solidFill>
            <a:prstDash val="solid"/>
          </a:ln>
        </p:spPr>
      </p:sp>
      <p:sp>
        <p:nvSpPr>
          <p:cNvPr id="18" name="Shape 16"/>
          <p:cNvSpPr/>
          <p:nvPr/>
        </p:nvSpPr>
        <p:spPr>
          <a:xfrm>
            <a:off x="5576697" y="1755648"/>
            <a:ext cx="881253" cy="881253"/>
          </a:xfrm>
          <a:prstGeom prst="rect">
            <a:avLst/>
          </a:prstGeom>
          <a:solidFill>
            <a:srgbClr val="DADAF0"/>
          </a:solidFill>
          <a:ln w="9525">
            <a:solidFill>
              <a:srgbClr val="FFFFFF"/>
            </a:solidFill>
            <a:prstDash val="solid"/>
          </a:ln>
        </p:spPr>
      </p:sp>
      <p:sp>
        <p:nvSpPr>
          <p:cNvPr id="19" name="Shape 17"/>
          <p:cNvSpPr/>
          <p:nvPr/>
        </p:nvSpPr>
        <p:spPr>
          <a:xfrm>
            <a:off x="4640580" y="2691765"/>
            <a:ext cx="881253" cy="881253"/>
          </a:xfrm>
          <a:prstGeom prst="rect">
            <a:avLst/>
          </a:prstGeom>
          <a:solidFill>
            <a:srgbClr val="DADAF0"/>
          </a:solidFill>
          <a:ln w="9525">
            <a:solidFill>
              <a:srgbClr val="FFFFFF"/>
            </a:solidFill>
            <a:prstDash val="solid"/>
          </a:ln>
        </p:spPr>
      </p:sp>
      <p:sp>
        <p:nvSpPr>
          <p:cNvPr id="20" name="Shape 18"/>
          <p:cNvSpPr/>
          <p:nvPr/>
        </p:nvSpPr>
        <p:spPr>
          <a:xfrm>
            <a:off x="6595110" y="1463040"/>
            <a:ext cx="1817370" cy="2651760"/>
          </a:xfrm>
          <a:prstGeom prst="roundRect">
            <a:avLst>
              <a:gd name="adj" fmla="val 3019"/>
            </a:avLst>
          </a:prstGeom>
          <a:solidFill>
            <a:srgbClr val="F5F5F8"/>
          </a:solidFill>
          <a:ln w="9525">
            <a:solidFill>
              <a:srgbClr val="CCCCCC"/>
            </a:solidFill>
            <a:prstDash val="solid"/>
          </a:ln>
        </p:spPr>
      </p:sp>
      <p:sp>
        <p:nvSpPr>
          <p:cNvPr id="21" name="Shape 19"/>
          <p:cNvSpPr/>
          <p:nvPr/>
        </p:nvSpPr>
        <p:spPr>
          <a:xfrm>
            <a:off x="6595110" y="1755648"/>
            <a:ext cx="881253" cy="881253"/>
          </a:xfrm>
          <a:prstGeom prst="rect">
            <a:avLst/>
          </a:prstGeom>
          <a:solidFill>
            <a:srgbClr val="DADAF0"/>
          </a:solidFill>
          <a:ln w="9525">
            <a:solidFill>
              <a:srgbClr val="FFFFFF"/>
            </a:solidFill>
            <a:prstDash val="solid"/>
          </a:ln>
        </p:spPr>
      </p:sp>
      <p:sp>
        <p:nvSpPr>
          <p:cNvPr id="22" name="Shape 20"/>
          <p:cNvSpPr/>
          <p:nvPr/>
        </p:nvSpPr>
        <p:spPr>
          <a:xfrm>
            <a:off x="7531227" y="1755648"/>
            <a:ext cx="881253" cy="881253"/>
          </a:xfrm>
          <a:prstGeom prst="rect">
            <a:avLst/>
          </a:prstGeom>
          <a:solidFill>
            <a:srgbClr val="DADAF0"/>
          </a:solidFill>
          <a:ln w="9525">
            <a:solidFill>
              <a:srgbClr val="FFFFFF"/>
            </a:solidFill>
            <a:prstDash val="solid"/>
          </a:ln>
        </p:spPr>
      </p:sp>
      <p:sp>
        <p:nvSpPr>
          <p:cNvPr id="23" name="Shape 21"/>
          <p:cNvSpPr/>
          <p:nvPr/>
        </p:nvSpPr>
        <p:spPr>
          <a:xfrm>
            <a:off x="6595110" y="2691765"/>
            <a:ext cx="881253" cy="881253"/>
          </a:xfrm>
          <a:prstGeom prst="rect">
            <a:avLst/>
          </a:prstGeom>
          <a:solidFill>
            <a:srgbClr val="DADAF0"/>
          </a:solidFill>
          <a:ln w="9525">
            <a:solidFill>
              <a:srgbClr val="FFFFFF"/>
            </a:solidFill>
            <a:prstDash val="solid"/>
          </a:ln>
        </p:spPr>
      </p:sp>
      <p:sp>
        <p:nvSpPr>
          <p:cNvPr id="24" name="Text 22"/>
          <p:cNvSpPr/>
          <p:nvPr/>
        </p:nvSpPr>
        <p:spPr>
          <a:xfrm>
            <a:off x="548640" y="4343400"/>
            <a:ext cx="8046720" cy="365760"/>
          </a:xfrm>
          <a:prstGeom prst="rect">
            <a:avLst/>
          </a:prstGeom>
          <a:noFill/>
          <a:ln/>
        </p:spPr>
        <p:txBody>
          <a:bodyPr wrap="square" lIns="0" tIns="0" rIns="0" bIns="0" rtlCol="0" anchor="ctr"/>
          <a:lstStyle/>
          <a:p>
            <a:pPr algn="ctr" indent="0" marL="0">
              <a:buNone/>
            </a:pPr>
            <a:r>
              <a:rPr lang="en-US" sz="1400" b="1" dirty="0">
                <a:solidFill>
                  <a:srgbClr val="4A3D8F"/>
                </a:solidFill>
              </a:rPr>
              <a:t>1/4 of 12 = 3 cards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Pictorial: The Number Line View</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Pictorial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914400" y="1874520"/>
            <a:ext cx="7315200" cy="0"/>
          </a:xfrm>
          <a:prstGeom prst="line">
            <a:avLst/>
          </a:prstGeom>
          <a:noFill/>
          <a:ln w="31750">
            <a:solidFill>
              <a:srgbClr val="1B2A4A"/>
            </a:solidFill>
            <a:prstDash val="solid"/>
          </a:ln>
        </p:spPr>
      </p:sp>
      <p:sp>
        <p:nvSpPr>
          <p:cNvPr id="7" name="Text 5"/>
          <p:cNvSpPr/>
          <p:nvPr/>
        </p:nvSpPr>
        <p:spPr>
          <a:xfrm>
            <a:off x="914400" y="1325880"/>
            <a:ext cx="7315200" cy="320040"/>
          </a:xfrm>
          <a:prstGeom prst="rect">
            <a:avLst/>
          </a:prstGeom>
          <a:noFill/>
          <a:ln/>
        </p:spPr>
        <p:txBody>
          <a:bodyPr wrap="square" lIns="0" tIns="0" rIns="0" bIns="0" rtlCol="0" anchor="ctr"/>
          <a:lstStyle/>
          <a:p>
            <a:pPr algn="ctr" indent="0" marL="0">
              <a:buNone/>
            </a:pPr>
            <a:r>
              <a:rPr lang="en-US" sz="1300" i="1" dirty="0">
                <a:solidFill>
                  <a:srgbClr val="5A5A7A"/>
                </a:solidFill>
              </a:rPr>
              <a:t>The full set of 12 cards</a:t>
            </a:r>
            <a:endParaRPr lang="en-US" sz="1300" dirty="0"/>
          </a:p>
        </p:txBody>
      </p:sp>
      <p:sp>
        <p:nvSpPr>
          <p:cNvPr id="8" name="Shape 6"/>
          <p:cNvSpPr/>
          <p:nvPr/>
        </p:nvSpPr>
        <p:spPr>
          <a:xfrm>
            <a:off x="914400" y="1764792"/>
            <a:ext cx="0" cy="219456"/>
          </a:xfrm>
          <a:prstGeom prst="line">
            <a:avLst/>
          </a:prstGeom>
          <a:noFill/>
          <a:ln w="25400">
            <a:solidFill>
              <a:srgbClr val="1B2A4A"/>
            </a:solidFill>
            <a:prstDash val="solid"/>
          </a:ln>
        </p:spPr>
      </p:sp>
      <p:sp>
        <p:nvSpPr>
          <p:cNvPr id="9" name="Text 7"/>
          <p:cNvSpPr/>
          <p:nvPr/>
        </p:nvSpPr>
        <p:spPr>
          <a:xfrm>
            <a:off x="457200" y="200253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0</a:t>
            </a:r>
            <a:endParaRPr lang="en-US" sz="1100" dirty="0"/>
          </a:p>
        </p:txBody>
      </p:sp>
      <p:sp>
        <p:nvSpPr>
          <p:cNvPr id="10" name="Shape 8"/>
          <p:cNvSpPr/>
          <p:nvPr/>
        </p:nvSpPr>
        <p:spPr>
          <a:xfrm>
            <a:off x="2743200" y="1764792"/>
            <a:ext cx="0" cy="219456"/>
          </a:xfrm>
          <a:prstGeom prst="line">
            <a:avLst/>
          </a:prstGeom>
          <a:noFill/>
          <a:ln w="25400">
            <a:solidFill>
              <a:srgbClr val="1B2A4A"/>
            </a:solidFill>
            <a:prstDash val="solid"/>
          </a:ln>
        </p:spPr>
      </p:sp>
      <p:sp>
        <p:nvSpPr>
          <p:cNvPr id="11" name="Text 9"/>
          <p:cNvSpPr/>
          <p:nvPr/>
        </p:nvSpPr>
        <p:spPr>
          <a:xfrm>
            <a:off x="2286000" y="200253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3</a:t>
            </a:r>
            <a:endParaRPr lang="en-US" sz="1100" dirty="0"/>
          </a:p>
        </p:txBody>
      </p:sp>
      <p:sp>
        <p:nvSpPr>
          <p:cNvPr id="12" name="Shape 10"/>
          <p:cNvSpPr/>
          <p:nvPr/>
        </p:nvSpPr>
        <p:spPr>
          <a:xfrm>
            <a:off x="4572000" y="1764792"/>
            <a:ext cx="0" cy="219456"/>
          </a:xfrm>
          <a:prstGeom prst="line">
            <a:avLst/>
          </a:prstGeom>
          <a:noFill/>
          <a:ln w="25400">
            <a:solidFill>
              <a:srgbClr val="1B2A4A"/>
            </a:solidFill>
            <a:prstDash val="solid"/>
          </a:ln>
        </p:spPr>
      </p:sp>
      <p:sp>
        <p:nvSpPr>
          <p:cNvPr id="13" name="Text 11"/>
          <p:cNvSpPr/>
          <p:nvPr/>
        </p:nvSpPr>
        <p:spPr>
          <a:xfrm>
            <a:off x="4114800" y="200253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6</a:t>
            </a:r>
            <a:endParaRPr lang="en-US" sz="1100" dirty="0"/>
          </a:p>
        </p:txBody>
      </p:sp>
      <p:sp>
        <p:nvSpPr>
          <p:cNvPr id="14" name="Shape 12"/>
          <p:cNvSpPr/>
          <p:nvPr/>
        </p:nvSpPr>
        <p:spPr>
          <a:xfrm>
            <a:off x="6400800" y="1764792"/>
            <a:ext cx="0" cy="219456"/>
          </a:xfrm>
          <a:prstGeom prst="line">
            <a:avLst/>
          </a:prstGeom>
          <a:noFill/>
          <a:ln w="25400">
            <a:solidFill>
              <a:srgbClr val="1B2A4A"/>
            </a:solidFill>
            <a:prstDash val="solid"/>
          </a:ln>
        </p:spPr>
      </p:sp>
      <p:sp>
        <p:nvSpPr>
          <p:cNvPr id="15" name="Text 13"/>
          <p:cNvSpPr/>
          <p:nvPr/>
        </p:nvSpPr>
        <p:spPr>
          <a:xfrm>
            <a:off x="5943600" y="200253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9</a:t>
            </a:r>
            <a:endParaRPr lang="en-US" sz="1100" dirty="0"/>
          </a:p>
        </p:txBody>
      </p:sp>
      <p:sp>
        <p:nvSpPr>
          <p:cNvPr id="16" name="Shape 14"/>
          <p:cNvSpPr/>
          <p:nvPr/>
        </p:nvSpPr>
        <p:spPr>
          <a:xfrm>
            <a:off x="8229600" y="1764792"/>
            <a:ext cx="0" cy="219456"/>
          </a:xfrm>
          <a:prstGeom prst="line">
            <a:avLst/>
          </a:prstGeom>
          <a:noFill/>
          <a:ln w="25400">
            <a:solidFill>
              <a:srgbClr val="1B2A4A"/>
            </a:solidFill>
            <a:prstDash val="solid"/>
          </a:ln>
        </p:spPr>
      </p:sp>
      <p:sp>
        <p:nvSpPr>
          <p:cNvPr id="17" name="Text 15"/>
          <p:cNvSpPr/>
          <p:nvPr/>
        </p:nvSpPr>
        <p:spPr>
          <a:xfrm>
            <a:off x="7772400" y="200253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12</a:t>
            </a:r>
            <a:endParaRPr lang="en-US" sz="1100" dirty="0"/>
          </a:p>
        </p:txBody>
      </p:sp>
      <p:sp>
        <p:nvSpPr>
          <p:cNvPr id="18" name="Shape 16"/>
          <p:cNvSpPr/>
          <p:nvPr/>
        </p:nvSpPr>
        <p:spPr>
          <a:xfrm>
            <a:off x="8147304" y="1792224"/>
            <a:ext cx="164592" cy="164592"/>
          </a:xfrm>
          <a:prstGeom prst="ellipse">
            <a:avLst/>
          </a:prstGeom>
          <a:solidFill>
            <a:srgbClr val="4A3D8F"/>
          </a:solidFill>
          <a:ln w="12700">
            <a:solidFill>
              <a:srgbClr val="FFFFFF"/>
            </a:solidFill>
            <a:prstDash val="solid"/>
          </a:ln>
        </p:spPr>
      </p:sp>
      <p:sp>
        <p:nvSpPr>
          <p:cNvPr id="19" name="Text 17"/>
          <p:cNvSpPr/>
          <p:nvPr/>
        </p:nvSpPr>
        <p:spPr>
          <a:xfrm>
            <a:off x="7543800" y="1417320"/>
            <a:ext cx="1371600" cy="274320"/>
          </a:xfrm>
          <a:prstGeom prst="rect">
            <a:avLst/>
          </a:prstGeom>
          <a:noFill/>
          <a:ln/>
        </p:spPr>
        <p:txBody>
          <a:bodyPr wrap="square" lIns="0" tIns="0" rIns="0" bIns="0" rtlCol="0" anchor="ctr"/>
          <a:lstStyle/>
          <a:p>
            <a:pPr algn="ctr" indent="0" marL="0">
              <a:buNone/>
            </a:pPr>
            <a:r>
              <a:rPr lang="en-US" sz="1200" b="1" dirty="0">
                <a:solidFill>
                  <a:srgbClr val="4A3D8F"/>
                </a:solidFill>
              </a:rPr>
              <a:t>12 (whole set)</a:t>
            </a:r>
            <a:endParaRPr lang="en-US" sz="1200" dirty="0"/>
          </a:p>
        </p:txBody>
      </p:sp>
      <p:sp>
        <p:nvSpPr>
          <p:cNvPr id="20" name="Shape 18"/>
          <p:cNvSpPr/>
          <p:nvPr/>
        </p:nvSpPr>
        <p:spPr>
          <a:xfrm>
            <a:off x="914400" y="3703320"/>
            <a:ext cx="7315200" cy="0"/>
          </a:xfrm>
          <a:prstGeom prst="line">
            <a:avLst/>
          </a:prstGeom>
          <a:noFill/>
          <a:ln w="31750">
            <a:solidFill>
              <a:srgbClr val="1B2A4A"/>
            </a:solidFill>
            <a:prstDash val="solid"/>
          </a:ln>
        </p:spPr>
      </p:sp>
      <p:sp>
        <p:nvSpPr>
          <p:cNvPr id="21" name="Text 19"/>
          <p:cNvSpPr/>
          <p:nvPr/>
        </p:nvSpPr>
        <p:spPr>
          <a:xfrm>
            <a:off x="914400" y="3154680"/>
            <a:ext cx="7315200" cy="320040"/>
          </a:xfrm>
          <a:prstGeom prst="rect">
            <a:avLst/>
          </a:prstGeom>
          <a:noFill/>
          <a:ln/>
        </p:spPr>
        <p:txBody>
          <a:bodyPr wrap="square" lIns="0" tIns="0" rIns="0" bIns="0" rtlCol="0" anchor="ctr"/>
          <a:lstStyle/>
          <a:p>
            <a:pPr algn="ctr" indent="0" marL="0">
              <a:buNone/>
            </a:pPr>
            <a:r>
              <a:rPr lang="en-US" sz="1300" i="1" dirty="0">
                <a:solidFill>
                  <a:srgbClr val="5A5A7A"/>
                </a:solidFill>
              </a:rPr>
              <a:t>1/4 of 12 lands on the first 3-card mark</a:t>
            </a:r>
            <a:endParaRPr lang="en-US" sz="1300" dirty="0"/>
          </a:p>
        </p:txBody>
      </p:sp>
      <p:sp>
        <p:nvSpPr>
          <p:cNvPr id="22" name="Shape 20"/>
          <p:cNvSpPr/>
          <p:nvPr/>
        </p:nvSpPr>
        <p:spPr>
          <a:xfrm>
            <a:off x="914400" y="3593592"/>
            <a:ext cx="0" cy="219456"/>
          </a:xfrm>
          <a:prstGeom prst="line">
            <a:avLst/>
          </a:prstGeom>
          <a:noFill/>
          <a:ln w="25400">
            <a:solidFill>
              <a:srgbClr val="1B2A4A"/>
            </a:solidFill>
            <a:prstDash val="solid"/>
          </a:ln>
        </p:spPr>
      </p:sp>
      <p:sp>
        <p:nvSpPr>
          <p:cNvPr id="23" name="Text 21"/>
          <p:cNvSpPr/>
          <p:nvPr/>
        </p:nvSpPr>
        <p:spPr>
          <a:xfrm>
            <a:off x="457200" y="383133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0</a:t>
            </a:r>
            <a:endParaRPr lang="en-US" sz="1100" dirty="0"/>
          </a:p>
        </p:txBody>
      </p:sp>
      <p:sp>
        <p:nvSpPr>
          <p:cNvPr id="24" name="Shape 22"/>
          <p:cNvSpPr/>
          <p:nvPr/>
        </p:nvSpPr>
        <p:spPr>
          <a:xfrm>
            <a:off x="2743200" y="3593592"/>
            <a:ext cx="0" cy="219456"/>
          </a:xfrm>
          <a:prstGeom prst="line">
            <a:avLst/>
          </a:prstGeom>
          <a:noFill/>
          <a:ln w="25400">
            <a:solidFill>
              <a:srgbClr val="1B2A4A"/>
            </a:solidFill>
            <a:prstDash val="solid"/>
          </a:ln>
        </p:spPr>
      </p:sp>
      <p:sp>
        <p:nvSpPr>
          <p:cNvPr id="25" name="Text 23"/>
          <p:cNvSpPr/>
          <p:nvPr/>
        </p:nvSpPr>
        <p:spPr>
          <a:xfrm>
            <a:off x="2286000" y="383133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3</a:t>
            </a:r>
            <a:endParaRPr lang="en-US" sz="1100" dirty="0"/>
          </a:p>
        </p:txBody>
      </p:sp>
      <p:sp>
        <p:nvSpPr>
          <p:cNvPr id="26" name="Shape 24"/>
          <p:cNvSpPr/>
          <p:nvPr/>
        </p:nvSpPr>
        <p:spPr>
          <a:xfrm>
            <a:off x="4572000" y="3593592"/>
            <a:ext cx="0" cy="219456"/>
          </a:xfrm>
          <a:prstGeom prst="line">
            <a:avLst/>
          </a:prstGeom>
          <a:noFill/>
          <a:ln w="25400">
            <a:solidFill>
              <a:srgbClr val="1B2A4A"/>
            </a:solidFill>
            <a:prstDash val="solid"/>
          </a:ln>
        </p:spPr>
      </p:sp>
      <p:sp>
        <p:nvSpPr>
          <p:cNvPr id="27" name="Text 25"/>
          <p:cNvSpPr/>
          <p:nvPr/>
        </p:nvSpPr>
        <p:spPr>
          <a:xfrm>
            <a:off x="4114800" y="383133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6</a:t>
            </a:r>
            <a:endParaRPr lang="en-US" sz="1100" dirty="0"/>
          </a:p>
        </p:txBody>
      </p:sp>
      <p:sp>
        <p:nvSpPr>
          <p:cNvPr id="28" name="Shape 26"/>
          <p:cNvSpPr/>
          <p:nvPr/>
        </p:nvSpPr>
        <p:spPr>
          <a:xfrm>
            <a:off x="6400800" y="3593592"/>
            <a:ext cx="0" cy="219456"/>
          </a:xfrm>
          <a:prstGeom prst="line">
            <a:avLst/>
          </a:prstGeom>
          <a:noFill/>
          <a:ln w="25400">
            <a:solidFill>
              <a:srgbClr val="1B2A4A"/>
            </a:solidFill>
            <a:prstDash val="solid"/>
          </a:ln>
        </p:spPr>
      </p:sp>
      <p:sp>
        <p:nvSpPr>
          <p:cNvPr id="29" name="Text 27"/>
          <p:cNvSpPr/>
          <p:nvPr/>
        </p:nvSpPr>
        <p:spPr>
          <a:xfrm>
            <a:off x="5943600" y="383133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9</a:t>
            </a:r>
            <a:endParaRPr lang="en-US" sz="1100" dirty="0"/>
          </a:p>
        </p:txBody>
      </p:sp>
      <p:sp>
        <p:nvSpPr>
          <p:cNvPr id="30" name="Shape 28"/>
          <p:cNvSpPr/>
          <p:nvPr/>
        </p:nvSpPr>
        <p:spPr>
          <a:xfrm>
            <a:off x="8229600" y="3593592"/>
            <a:ext cx="0" cy="219456"/>
          </a:xfrm>
          <a:prstGeom prst="line">
            <a:avLst/>
          </a:prstGeom>
          <a:noFill/>
          <a:ln w="25400">
            <a:solidFill>
              <a:srgbClr val="1B2A4A"/>
            </a:solidFill>
            <a:prstDash val="solid"/>
          </a:ln>
        </p:spPr>
      </p:sp>
      <p:sp>
        <p:nvSpPr>
          <p:cNvPr id="31" name="Text 29"/>
          <p:cNvSpPr/>
          <p:nvPr/>
        </p:nvSpPr>
        <p:spPr>
          <a:xfrm>
            <a:off x="7772400" y="383133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12</a:t>
            </a:r>
            <a:endParaRPr lang="en-US" sz="1100" dirty="0"/>
          </a:p>
        </p:txBody>
      </p:sp>
      <p:sp>
        <p:nvSpPr>
          <p:cNvPr id="32" name="Shape 30"/>
          <p:cNvSpPr/>
          <p:nvPr/>
        </p:nvSpPr>
        <p:spPr>
          <a:xfrm>
            <a:off x="2660904" y="3621024"/>
            <a:ext cx="164592" cy="164592"/>
          </a:xfrm>
          <a:prstGeom prst="ellipse">
            <a:avLst/>
          </a:prstGeom>
          <a:solidFill>
            <a:srgbClr val="4A3D8F"/>
          </a:solidFill>
          <a:ln w="12700">
            <a:solidFill>
              <a:srgbClr val="FFFFFF"/>
            </a:solidFill>
            <a:prstDash val="solid"/>
          </a:ln>
        </p:spPr>
      </p:sp>
      <p:sp>
        <p:nvSpPr>
          <p:cNvPr id="33" name="Text 31"/>
          <p:cNvSpPr/>
          <p:nvPr/>
        </p:nvSpPr>
        <p:spPr>
          <a:xfrm>
            <a:off x="2057400" y="3246120"/>
            <a:ext cx="1371600" cy="274320"/>
          </a:xfrm>
          <a:prstGeom prst="rect">
            <a:avLst/>
          </a:prstGeom>
          <a:noFill/>
          <a:ln/>
        </p:spPr>
        <p:txBody>
          <a:bodyPr wrap="square" lIns="0" tIns="0" rIns="0" bIns="0" rtlCol="0" anchor="ctr"/>
          <a:lstStyle/>
          <a:p>
            <a:pPr algn="ctr" indent="0" marL="0">
              <a:buNone/>
            </a:pPr>
            <a:r>
              <a:rPr lang="en-US" sz="1200" b="1" dirty="0">
                <a:solidFill>
                  <a:srgbClr val="4A3D8F"/>
                </a:solidFill>
              </a:rPr>
              <a:t>3 (one group)</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Abstract: The Multiplication Rule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Abstract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371600"/>
          </a:xfrm>
          <a:prstGeom prst="roundRect">
            <a:avLst>
              <a:gd name="adj" fmla="val 6667"/>
            </a:avLst>
          </a:prstGeom>
          <a:solidFill>
            <a:srgbClr val="EAE8F5"/>
          </a:solidFill>
          <a:ln w="6350">
            <a:solidFill>
              <a:srgbClr val="DDDDEE"/>
            </a:solidFill>
            <a:prstDash val="solid"/>
          </a:ln>
        </p:spPr>
      </p:sp>
      <p:sp>
        <p:nvSpPr>
          <p:cNvPr id="7" name="Text 5"/>
          <p:cNvSpPr/>
          <p:nvPr/>
        </p:nvSpPr>
        <p:spPr>
          <a:xfrm>
            <a:off x="640080" y="1143000"/>
            <a:ext cx="7863840" cy="1097280"/>
          </a:xfrm>
          <a:prstGeom prst="rect">
            <a:avLst/>
          </a:prstGeom>
          <a:noFill/>
          <a:ln/>
        </p:spPr>
        <p:txBody>
          <a:bodyPr wrap="square" lIns="0" tIns="0" rIns="0" bIns="0" rtlCol="0" anchor="ctr"/>
          <a:lstStyle/>
          <a:p>
            <a:pPr algn="ctr" indent="0" marL="0">
              <a:buNone/>
            </a:pPr>
            <a:r>
              <a:rPr lang="en-US" sz="2000" b="1" dirty="0">
                <a:solidFill>
                  <a:srgbClr val="4A3D8F"/>
                </a:solidFill>
                <a:latin typeface="Cambria" pitchFamily="34" charset="0"/>
                <a:ea typeface="Cambria" pitchFamily="34" charset="-122"/>
                <a:cs typeface="Cambria" pitchFamily="34" charset="-120"/>
              </a:rPr>
              <a:t>12 × 1/4 = (12 × 1)/4 = 12/4 = 3</a:t>
            </a:r>
            <a:endParaRPr lang="en-US" sz="2000" dirty="0"/>
          </a:p>
        </p:txBody>
      </p:sp>
      <p:sp>
        <p:nvSpPr>
          <p:cNvPr id="8" name="Shape 6"/>
          <p:cNvSpPr/>
          <p:nvPr/>
        </p:nvSpPr>
        <p:spPr>
          <a:xfrm>
            <a:off x="457200" y="2606040"/>
            <a:ext cx="8229600" cy="1554480"/>
          </a:xfrm>
          <a:prstGeom prst="roundRect">
            <a:avLst>
              <a:gd name="adj" fmla="val 5882"/>
            </a:avLst>
          </a:prstGeom>
          <a:solidFill>
            <a:srgbClr val="FFFFFF"/>
          </a:solidFill>
          <a:ln w="6350">
            <a:solidFill>
              <a:srgbClr val="DDDDEE"/>
            </a:solidFill>
            <a:prstDash val="solid"/>
          </a:ln>
        </p:spPr>
      </p:sp>
      <p:sp>
        <p:nvSpPr>
          <p:cNvPr id="9" name="Text 7"/>
          <p:cNvSpPr/>
          <p:nvPr/>
        </p:nvSpPr>
        <p:spPr>
          <a:xfrm>
            <a:off x="685800" y="2743200"/>
            <a:ext cx="7772400" cy="128016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Rule: multiply the whole number by the numerator, then divide by the denominator. Order of the factors does not change the product.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Shortcut: Simplify First</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Gap-Fill · Efficiency</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1188720"/>
          </a:xfrm>
          <a:prstGeom prst="roundRect">
            <a:avLst>
              <a:gd name="adj" fmla="val 7692"/>
            </a:avLst>
          </a:prstGeom>
          <a:solidFill>
            <a:srgbClr val="FFFFFF"/>
          </a:solidFill>
          <a:ln w="6350">
            <a:solidFill>
              <a:srgbClr val="DDDDEE"/>
            </a:solidFill>
            <a:prstDash val="solid"/>
          </a:ln>
        </p:spPr>
      </p:sp>
      <p:sp>
        <p:nvSpPr>
          <p:cNvPr id="7" name="Text 5"/>
          <p:cNvSpPr/>
          <p:nvPr/>
        </p:nvSpPr>
        <p:spPr>
          <a:xfrm>
            <a:off x="685800" y="1051560"/>
            <a:ext cx="7772400" cy="1005840"/>
          </a:xfrm>
          <a:prstGeom prst="rect">
            <a:avLst/>
          </a:prstGeom>
          <a:noFill/>
          <a:ln/>
        </p:spPr>
        <p:txBody>
          <a:bodyPr wrap="square" lIns="0" tIns="0" rIns="0" bIns="0" rtlCol="0" anchor="ctr"/>
          <a:lstStyle/>
          <a:p>
            <a:pPr indent="0" marL="0">
              <a:buNone/>
            </a:pPr>
            <a:r>
              <a:rPr lang="en-US" sz="1700" b="1" dirty="0">
                <a:solidFill>
                  <a:srgbClr val="4A3D8F"/>
                </a:solidFill>
                <a:latin typeface="Cambria" pitchFamily="34" charset="0"/>
                <a:ea typeface="Cambria" pitchFamily="34" charset="-122"/>
                <a:cs typeface="Cambria" pitchFamily="34" charset="-120"/>
              </a:rPr>
              <a:t>9 × 2/3 — 9 and 3 share a common factor of 3.</a:t>
            </a:r>
            <a:endParaRPr lang="en-US" sz="1700" dirty="0"/>
          </a:p>
        </p:txBody>
      </p:sp>
      <p:sp>
        <p:nvSpPr>
          <p:cNvPr id="8" name="Shape 6"/>
          <p:cNvSpPr/>
          <p:nvPr/>
        </p:nvSpPr>
        <p:spPr>
          <a:xfrm>
            <a:off x="457200" y="2286000"/>
            <a:ext cx="8229600" cy="1920240"/>
          </a:xfrm>
          <a:prstGeom prst="roundRect">
            <a:avLst>
              <a:gd name="adj" fmla="val 4762"/>
            </a:avLst>
          </a:prstGeom>
          <a:solidFill>
            <a:srgbClr val="EAE8F5"/>
          </a:solidFill>
          <a:ln w="6350">
            <a:solidFill>
              <a:srgbClr val="DDDDEE"/>
            </a:solidFill>
            <a:prstDash val="solid"/>
          </a:ln>
        </p:spPr>
      </p:sp>
      <p:sp>
        <p:nvSpPr>
          <p:cNvPr id="9" name="Text 7"/>
          <p:cNvSpPr/>
          <p:nvPr/>
        </p:nvSpPr>
        <p:spPr>
          <a:xfrm>
            <a:off x="685800" y="2423160"/>
            <a:ext cx="7772400" cy="530352"/>
          </a:xfrm>
          <a:prstGeom prst="rect">
            <a:avLst/>
          </a:prstGeom>
          <a:noFill/>
          <a:ln/>
        </p:spPr>
        <p:txBody>
          <a:bodyPr wrap="square" lIns="0" tIns="0" rIns="0" bIns="0" rtlCol="0" anchor="ctr"/>
          <a:lstStyle/>
          <a:p>
            <a:pPr indent="0" marL="0">
              <a:buNone/>
            </a:pPr>
            <a:r>
              <a:rPr lang="en-US" sz="1500" dirty="0">
                <a:solidFill>
                  <a:srgbClr val="1A1A2E"/>
                </a:solidFill>
                <a:latin typeface="Cambria" pitchFamily="34" charset="0"/>
                <a:ea typeface="Cambria" pitchFamily="34" charset="-122"/>
                <a:cs typeface="Cambria" pitchFamily="34" charset="-120"/>
              </a:rPr>
              <a:t>Divide 9 by 3 first: 9 ÷ 3 = 3.</a:t>
            </a:r>
            <a:endParaRPr lang="en-US" sz="1500" dirty="0"/>
          </a:p>
        </p:txBody>
      </p:sp>
      <p:sp>
        <p:nvSpPr>
          <p:cNvPr id="10" name="Text 8"/>
          <p:cNvSpPr/>
          <p:nvPr/>
        </p:nvSpPr>
        <p:spPr>
          <a:xfrm>
            <a:off x="685800" y="2990088"/>
            <a:ext cx="7772400" cy="530352"/>
          </a:xfrm>
          <a:prstGeom prst="rect">
            <a:avLst/>
          </a:prstGeom>
          <a:noFill/>
          <a:ln/>
        </p:spPr>
        <p:txBody>
          <a:bodyPr wrap="square" lIns="0" tIns="0" rIns="0" bIns="0" rtlCol="0" anchor="ctr"/>
          <a:lstStyle/>
          <a:p>
            <a:pPr indent="0" marL="0">
              <a:buNone/>
            </a:pPr>
            <a:r>
              <a:rPr lang="en-US" sz="1500" dirty="0">
                <a:solidFill>
                  <a:srgbClr val="1A1A2E"/>
                </a:solidFill>
                <a:latin typeface="Cambria" pitchFamily="34" charset="0"/>
                <a:ea typeface="Cambria" pitchFamily="34" charset="-122"/>
                <a:cs typeface="Cambria" pitchFamily="34" charset="-120"/>
              </a:rPr>
              <a:t>Now multiply: 3 × 2 = 6.</a:t>
            </a:r>
            <a:endParaRPr lang="en-US" sz="1500" dirty="0"/>
          </a:p>
        </p:txBody>
      </p:sp>
      <p:sp>
        <p:nvSpPr>
          <p:cNvPr id="11" name="Text 9"/>
          <p:cNvSpPr/>
          <p:nvPr/>
        </p:nvSpPr>
        <p:spPr>
          <a:xfrm>
            <a:off x="685800" y="3557016"/>
            <a:ext cx="7772400" cy="530352"/>
          </a:xfrm>
          <a:prstGeom prst="rect">
            <a:avLst/>
          </a:prstGeom>
          <a:noFill/>
          <a:ln/>
        </p:spPr>
        <p:txBody>
          <a:bodyPr wrap="square" lIns="0" tIns="0" rIns="0" bIns="0" rtlCol="0" anchor="ctr"/>
          <a:lstStyle/>
          <a:p>
            <a:pPr indent="0" marL="0">
              <a:buNone/>
            </a:pPr>
            <a:r>
              <a:rPr lang="en-US" sz="1500" dirty="0">
                <a:solidFill>
                  <a:srgbClr val="1A1A2E"/>
                </a:solidFill>
                <a:latin typeface="Cambria" pitchFamily="34" charset="0"/>
                <a:ea typeface="Cambria" pitchFamily="34" charset="-122"/>
                <a:cs typeface="Cambria" pitchFamily="34" charset="-120"/>
              </a:rPr>
              <a:t>9 × 2/3 = 6 — same answer, smaller numbers to work with.</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Vocabulary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Key Terms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3977640" cy="1600200"/>
          </a:xfrm>
          <a:prstGeom prst="roundRect">
            <a:avLst>
              <a:gd name="adj" fmla="val 5714"/>
            </a:avLst>
          </a:prstGeom>
          <a:solidFill>
            <a:srgbClr val="FFFFFF"/>
          </a:solidFill>
          <a:ln w="6350">
            <a:solidFill>
              <a:srgbClr val="DDDDEE"/>
            </a:solidFill>
            <a:prstDash val="solid"/>
          </a:ln>
        </p:spPr>
      </p:sp>
      <p:sp>
        <p:nvSpPr>
          <p:cNvPr id="7" name="Text 5"/>
          <p:cNvSpPr/>
          <p:nvPr/>
        </p:nvSpPr>
        <p:spPr>
          <a:xfrm>
            <a:off x="640080" y="106984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factor</a:t>
            </a:r>
            <a:endParaRPr lang="en-US" sz="1600" dirty="0"/>
          </a:p>
        </p:txBody>
      </p:sp>
      <p:sp>
        <p:nvSpPr>
          <p:cNvPr id="8" name="Text 6"/>
          <p:cNvSpPr/>
          <p:nvPr/>
        </p:nvSpPr>
        <p:spPr>
          <a:xfrm>
            <a:off x="640080" y="1581912"/>
            <a:ext cx="3657600" cy="868680"/>
          </a:xfrm>
          <a:prstGeom prst="rect">
            <a:avLst/>
          </a:prstGeom>
          <a:noFill/>
          <a:ln/>
        </p:spPr>
        <p:txBody>
          <a:bodyPr wrap="square" lIns="0" tIns="0" rIns="0" bIns="0" rtlCol="0" anchor="ctr"/>
          <a:lstStyle/>
          <a:p>
            <a:pPr indent="0" marL="0">
              <a:buNone/>
            </a:pPr>
            <a:r>
              <a:rPr lang="en-US" sz="1300" dirty="0">
                <a:solidFill>
                  <a:srgbClr val="1A1A2E"/>
                </a:solidFill>
              </a:rPr>
              <a:t>a number being multiplied.</a:t>
            </a:r>
            <a:endParaRPr lang="en-US" sz="1300" dirty="0"/>
          </a:p>
        </p:txBody>
      </p:sp>
      <p:sp>
        <p:nvSpPr>
          <p:cNvPr id="9" name="Shape 7"/>
          <p:cNvSpPr/>
          <p:nvPr/>
        </p:nvSpPr>
        <p:spPr>
          <a:xfrm>
            <a:off x="4709160" y="960120"/>
            <a:ext cx="3977640" cy="1600200"/>
          </a:xfrm>
          <a:prstGeom prst="roundRect">
            <a:avLst>
              <a:gd name="adj" fmla="val 5714"/>
            </a:avLst>
          </a:prstGeom>
          <a:solidFill>
            <a:srgbClr val="FFFFFF"/>
          </a:solidFill>
          <a:ln w="6350">
            <a:solidFill>
              <a:srgbClr val="DDDDEE"/>
            </a:solidFill>
            <a:prstDash val="solid"/>
          </a:ln>
        </p:spPr>
      </p:sp>
      <p:sp>
        <p:nvSpPr>
          <p:cNvPr id="10" name="Text 8"/>
          <p:cNvSpPr/>
          <p:nvPr/>
        </p:nvSpPr>
        <p:spPr>
          <a:xfrm>
            <a:off x="4892040" y="106984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product</a:t>
            </a:r>
            <a:endParaRPr lang="en-US" sz="1600" dirty="0"/>
          </a:p>
        </p:txBody>
      </p:sp>
      <p:sp>
        <p:nvSpPr>
          <p:cNvPr id="11" name="Text 9"/>
          <p:cNvSpPr/>
          <p:nvPr/>
        </p:nvSpPr>
        <p:spPr>
          <a:xfrm>
            <a:off x="4892040" y="1581912"/>
            <a:ext cx="3657600" cy="868680"/>
          </a:xfrm>
          <a:prstGeom prst="rect">
            <a:avLst/>
          </a:prstGeom>
          <a:noFill/>
          <a:ln/>
        </p:spPr>
        <p:txBody>
          <a:bodyPr wrap="square" lIns="0" tIns="0" rIns="0" bIns="0" rtlCol="0" anchor="ctr"/>
          <a:lstStyle/>
          <a:p>
            <a:pPr indent="0" marL="0">
              <a:buNone/>
            </a:pPr>
            <a:r>
              <a:rPr lang="en-US" sz="1300" dirty="0">
                <a:solidFill>
                  <a:srgbClr val="1A1A2E"/>
                </a:solidFill>
              </a:rPr>
              <a:t>the result of multiplication.</a:t>
            </a:r>
            <a:endParaRPr lang="en-US" sz="1300" dirty="0"/>
          </a:p>
        </p:txBody>
      </p:sp>
      <p:sp>
        <p:nvSpPr>
          <p:cNvPr id="12" name="Shape 10"/>
          <p:cNvSpPr/>
          <p:nvPr/>
        </p:nvSpPr>
        <p:spPr>
          <a:xfrm>
            <a:off x="457200" y="2743200"/>
            <a:ext cx="3977640" cy="1600200"/>
          </a:xfrm>
          <a:prstGeom prst="roundRect">
            <a:avLst>
              <a:gd name="adj" fmla="val 5714"/>
            </a:avLst>
          </a:prstGeom>
          <a:solidFill>
            <a:srgbClr val="FFFFFF"/>
          </a:solidFill>
          <a:ln w="6350">
            <a:solidFill>
              <a:srgbClr val="DDDDEE"/>
            </a:solidFill>
            <a:prstDash val="solid"/>
          </a:ln>
        </p:spPr>
      </p:sp>
      <p:sp>
        <p:nvSpPr>
          <p:cNvPr id="13" name="Text 11"/>
          <p:cNvSpPr/>
          <p:nvPr/>
        </p:nvSpPr>
        <p:spPr>
          <a:xfrm>
            <a:off x="640080" y="285292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commutative property</a:t>
            </a:r>
            <a:endParaRPr lang="en-US" sz="1600" dirty="0"/>
          </a:p>
        </p:txBody>
      </p:sp>
      <p:sp>
        <p:nvSpPr>
          <p:cNvPr id="14" name="Text 12"/>
          <p:cNvSpPr/>
          <p:nvPr/>
        </p:nvSpPr>
        <p:spPr>
          <a:xfrm>
            <a:off x="640080" y="3364992"/>
            <a:ext cx="3657600" cy="868680"/>
          </a:xfrm>
          <a:prstGeom prst="rect">
            <a:avLst/>
          </a:prstGeom>
          <a:noFill/>
          <a:ln/>
        </p:spPr>
        <p:txBody>
          <a:bodyPr wrap="square" lIns="0" tIns="0" rIns="0" bIns="0" rtlCol="0" anchor="ctr"/>
          <a:lstStyle/>
          <a:p>
            <a:pPr indent="0" marL="0">
              <a:buNone/>
            </a:pPr>
            <a:r>
              <a:rPr lang="en-US" sz="1300" dirty="0">
                <a:solidFill>
                  <a:srgbClr val="1A1A2E"/>
                </a:solidFill>
              </a:rPr>
              <a:t>changing the order of factors does not change the product.</a:t>
            </a:r>
            <a:endParaRPr lang="en-US" sz="1300" dirty="0"/>
          </a:p>
        </p:txBody>
      </p:sp>
      <p:sp>
        <p:nvSpPr>
          <p:cNvPr id="15" name="Shape 13"/>
          <p:cNvSpPr/>
          <p:nvPr/>
        </p:nvSpPr>
        <p:spPr>
          <a:xfrm>
            <a:off x="4709160" y="2743200"/>
            <a:ext cx="3977640" cy="1600200"/>
          </a:xfrm>
          <a:prstGeom prst="roundRect">
            <a:avLst>
              <a:gd name="adj" fmla="val 5714"/>
            </a:avLst>
          </a:prstGeom>
          <a:solidFill>
            <a:srgbClr val="FFFFFF"/>
          </a:solidFill>
          <a:ln w="6350">
            <a:solidFill>
              <a:srgbClr val="DDDDEE"/>
            </a:solidFill>
            <a:prstDash val="solid"/>
          </a:ln>
        </p:spPr>
      </p:sp>
      <p:sp>
        <p:nvSpPr>
          <p:cNvPr id="16" name="Text 14"/>
          <p:cNvSpPr/>
          <p:nvPr/>
        </p:nvSpPr>
        <p:spPr>
          <a:xfrm>
            <a:off x="4892040" y="285292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whole</a:t>
            </a:r>
            <a:endParaRPr lang="en-US" sz="1600" dirty="0"/>
          </a:p>
        </p:txBody>
      </p:sp>
      <p:sp>
        <p:nvSpPr>
          <p:cNvPr id="17" name="Text 15"/>
          <p:cNvSpPr/>
          <p:nvPr/>
        </p:nvSpPr>
        <p:spPr>
          <a:xfrm>
            <a:off x="4892040" y="3364992"/>
            <a:ext cx="3657600" cy="868680"/>
          </a:xfrm>
          <a:prstGeom prst="rect">
            <a:avLst/>
          </a:prstGeom>
          <a:noFill/>
          <a:ln/>
        </p:spPr>
        <p:txBody>
          <a:bodyPr wrap="square" lIns="0" tIns="0" rIns="0" bIns="0" rtlCol="0" anchor="ctr"/>
          <a:lstStyle/>
          <a:p>
            <a:pPr indent="0" marL="0">
              <a:buNone/>
            </a:pPr>
            <a:r>
              <a:rPr lang="en-US" sz="1300" dirty="0">
                <a:solidFill>
                  <a:srgbClr val="1A1A2E"/>
                </a:solidFill>
              </a:rPr>
              <a:t>the full amount or complete shape/set in the model.</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Watch &amp; Follow</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Guided Practice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D9941A"/>
          </a:solidFill>
          <a:ln w="12700">
            <a:solidFill>
              <a:srgbClr val="D9941A"/>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457200" y="1371600"/>
            <a:ext cx="8229600" cy="2743200"/>
          </a:xfrm>
          <a:prstGeom prst="roundRect">
            <a:avLst>
              <a:gd name="adj" fmla="val 3333"/>
            </a:avLst>
          </a:prstGeom>
          <a:solidFill>
            <a:srgbClr val="FFFFFF"/>
          </a:solidFill>
          <a:ln w="6350">
            <a:solidFill>
              <a:srgbClr val="DDDDEE"/>
            </a:solidFill>
            <a:prstDash val="solid"/>
          </a:ln>
        </p:spPr>
      </p:sp>
      <p:sp>
        <p:nvSpPr>
          <p:cNvPr id="9" name="Text 7"/>
          <p:cNvSpPr/>
          <p:nvPr/>
        </p:nvSpPr>
        <p:spPr>
          <a:xfrm>
            <a:off x="640080" y="1463040"/>
            <a:ext cx="7863840" cy="457200"/>
          </a:xfrm>
          <a:prstGeom prst="rect">
            <a:avLst/>
          </a:prstGeom>
          <a:noFill/>
          <a:ln/>
        </p:spPr>
        <p:txBody>
          <a:bodyPr wrap="square" lIns="0" tIns="0" rIns="0" bIns="0" rtlCol="0" anchor="ctr"/>
          <a:lstStyle/>
          <a:p>
            <a:pPr indent="0" marL="0">
              <a:buNone/>
            </a:pPr>
            <a:r>
              <a:rPr lang="en-US" sz="1800" b="1" dirty="0">
                <a:solidFill>
                  <a:srgbClr val="1A1A2E"/>
                </a:solidFill>
                <a:latin typeface="Cambria" pitchFamily="34" charset="0"/>
                <a:ea typeface="Cambria" pitchFamily="34" charset="-122"/>
                <a:cs typeface="Cambria" pitchFamily="34" charset="-120"/>
              </a:rPr>
              <a:t>Find 8 × 3/4.</a:t>
            </a:r>
            <a:endParaRPr lang="en-US" sz="1800" dirty="0"/>
          </a:p>
        </p:txBody>
      </p:sp>
      <p:sp>
        <p:nvSpPr>
          <p:cNvPr id="10" name="Text 8"/>
          <p:cNvSpPr/>
          <p:nvPr/>
        </p:nvSpPr>
        <p:spPr>
          <a:xfrm>
            <a:off x="822960" y="2057400"/>
            <a:ext cx="7498080" cy="45720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1. Multiply the whole number by the numerator: 8 x 3 = 24.</a:t>
            </a:r>
            <a:endParaRPr lang="en-US" sz="1400" dirty="0"/>
          </a:p>
        </p:txBody>
      </p:sp>
      <p:sp>
        <p:nvSpPr>
          <p:cNvPr id="11" name="Text 9"/>
          <p:cNvSpPr/>
          <p:nvPr/>
        </p:nvSpPr>
        <p:spPr>
          <a:xfrm>
            <a:off x="822960" y="2560320"/>
            <a:ext cx="7498080" cy="45720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2. Keep the denominator: 24/4.</a:t>
            </a:r>
            <a:endParaRPr lang="en-US" sz="1400" dirty="0"/>
          </a:p>
        </p:txBody>
      </p:sp>
      <p:sp>
        <p:nvSpPr>
          <p:cNvPr id="12" name="Text 10"/>
          <p:cNvSpPr/>
          <p:nvPr/>
        </p:nvSpPr>
        <p:spPr>
          <a:xfrm>
            <a:off x="822960" y="3063240"/>
            <a:ext cx="7498080" cy="45720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3. Simplify: 24/4 = 6.</a:t>
            </a:r>
            <a:endParaRPr lang="en-US" sz="1400" dirty="0"/>
          </a:p>
        </p:txBody>
      </p:sp>
      <p:sp>
        <p:nvSpPr>
          <p:cNvPr id="13" name="Text 11"/>
          <p:cNvSpPr/>
          <p:nvPr/>
        </p:nvSpPr>
        <p:spPr>
          <a:xfrm>
            <a:off x="822960" y="3566160"/>
            <a:ext cx="7498080" cy="45720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4. Product: 6.</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Students Try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Independent Turn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188720"/>
            <a:ext cx="7772400" cy="1645920"/>
          </a:xfrm>
          <a:prstGeom prst="rect">
            <a:avLst/>
          </a:prstGeom>
          <a:noFill/>
          <a:ln/>
        </p:spPr>
        <p:txBody>
          <a:bodyPr wrap="square" lIns="0" tIns="0" rIns="0" bIns="0" rtlCol="0" anchor="ctr"/>
          <a:lstStyle/>
          <a:p>
            <a:pPr algn="ctr" indent="0" marL="0">
              <a:buNone/>
            </a:pPr>
            <a:r>
              <a:rPr lang="en-US" sz="2600" b="1" dirty="0">
                <a:solidFill>
                  <a:srgbClr val="4A3D8F"/>
                </a:solidFill>
                <a:latin typeface="Cambria" pitchFamily="34" charset="0"/>
                <a:ea typeface="Cambria" pitchFamily="34" charset="-122"/>
                <a:cs typeface="Cambria" pitchFamily="34" charset="-120"/>
              </a:rPr>
              <a:t>Find 15 × 4/5.</a:t>
            </a:r>
            <a:endParaRPr lang="en-US" sz="2600" dirty="0"/>
          </a:p>
        </p:txBody>
      </p:sp>
      <p:sp>
        <p:nvSpPr>
          <p:cNvPr id="8" name="Shape 6"/>
          <p:cNvSpPr/>
          <p:nvPr/>
        </p:nvSpPr>
        <p:spPr>
          <a:xfrm>
            <a:off x="1828800" y="3291840"/>
            <a:ext cx="54864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828800" y="329184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
        <p:nvSpPr>
          <p:cNvPr id="10" name="Shape 8"/>
          <p:cNvSpPr/>
          <p:nvPr/>
        </p:nvSpPr>
        <p:spPr>
          <a:xfrm>
            <a:off x="914400" y="3977640"/>
            <a:ext cx="7315200" cy="457200"/>
          </a:xfrm>
          <a:prstGeom prst="roundRect">
            <a:avLst>
              <a:gd name="adj" fmla="val 16000"/>
            </a:avLst>
          </a:prstGeom>
          <a:solidFill>
            <a:srgbClr val="1A5533"/>
          </a:solidFill>
          <a:ln w="12700">
            <a:solidFill>
              <a:srgbClr val="1A5533"/>
            </a:solidFill>
            <a:prstDash val="solid"/>
          </a:ln>
        </p:spPr>
      </p:sp>
      <p:sp>
        <p:nvSpPr>
          <p:cNvPr id="11" name="Text 9"/>
          <p:cNvSpPr/>
          <p:nvPr/>
        </p:nvSpPr>
        <p:spPr>
          <a:xfrm>
            <a:off x="914400" y="3977640"/>
            <a:ext cx="7315200" cy="457200"/>
          </a:xfrm>
          <a:prstGeom prst="rect">
            <a:avLst/>
          </a:prstGeom>
          <a:noFill/>
          <a:ln/>
        </p:spPr>
        <p:txBody>
          <a:bodyPr wrap="square" lIns="0" tIns="0" rIns="0" bIns="0" rtlCol="0" anchor="ctr"/>
          <a:lstStyle/>
          <a:p>
            <a:pPr algn="ctr" indent="0" marL="0">
              <a:buNone/>
            </a:pPr>
            <a:r>
              <a:rPr lang="en-US" sz="1300" dirty="0">
                <a:solidFill>
                  <a:srgbClr val="CCFFDD"/>
                </a:solidFill>
              </a:rPr>
              <a:t>Answer: 12 — 15 x 4 = 60, 60/5 = 12.</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Connection Forward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Where This Leads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188720"/>
            <a:ext cx="8229600" cy="2286000"/>
          </a:xfrm>
          <a:prstGeom prst="roundRect">
            <a:avLst>
              <a:gd name="adj" fmla="val 4000"/>
            </a:avLst>
          </a:prstGeom>
          <a:solidFill>
            <a:srgbClr val="EAE8F5"/>
          </a:solidFill>
          <a:ln w="6350">
            <a:solidFill>
              <a:srgbClr val="DDDDEE"/>
            </a:solidFill>
            <a:prstDash val="solid"/>
          </a:ln>
        </p:spPr>
      </p:sp>
      <p:sp>
        <p:nvSpPr>
          <p:cNvPr id="7" name="Text 5"/>
          <p:cNvSpPr/>
          <p:nvPr/>
        </p:nvSpPr>
        <p:spPr>
          <a:xfrm>
            <a:off x="685800" y="1371600"/>
            <a:ext cx="7772400" cy="192024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Next lesson uses this same rule inside word problems -- you'll decide which number is the whole and which is the fraction.</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9 × 2/3 = ?</a:t>
            </a:r>
            <a:endParaRPr lang="en-US" sz="2000" dirty="0"/>
          </a:p>
        </p:txBody>
      </p:sp>
      <p:sp>
        <p:nvSpPr>
          <p:cNvPr id="8" name="Shape 6"/>
          <p:cNvSpPr/>
          <p:nvPr/>
        </p:nvSpPr>
        <p:spPr>
          <a:xfrm>
            <a:off x="914400" y="2103120"/>
            <a:ext cx="164592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914400" y="2103120"/>
            <a:ext cx="1645920" cy="822960"/>
          </a:xfrm>
          <a:prstGeom prst="rect">
            <a:avLst/>
          </a:prstGeom>
          <a:noFill/>
          <a:ln/>
        </p:spPr>
        <p:txBody>
          <a:bodyPr wrap="square" lIns="0" tIns="0" rIns="0" bIns="0" rtlCol="0" anchor="ctr"/>
          <a:lstStyle/>
          <a:p>
            <a:pPr algn="ctr" indent="0" marL="0">
              <a:buNone/>
            </a:pPr>
            <a:r>
              <a:rPr lang="en-US" sz="2000" b="1" dirty="0">
                <a:solidFill>
                  <a:srgbClr val="1A1A2E"/>
                </a:solidFill>
              </a:rPr>
              <a:t>6</a:t>
            </a:r>
            <a:endParaRPr lang="en-US" sz="2000" dirty="0"/>
          </a:p>
        </p:txBody>
      </p:sp>
      <p:sp>
        <p:nvSpPr>
          <p:cNvPr id="10" name="Shape 8"/>
          <p:cNvSpPr/>
          <p:nvPr/>
        </p:nvSpPr>
        <p:spPr>
          <a:xfrm>
            <a:off x="2743200" y="2103120"/>
            <a:ext cx="164592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743200" y="2103120"/>
            <a:ext cx="1645920" cy="822960"/>
          </a:xfrm>
          <a:prstGeom prst="rect">
            <a:avLst/>
          </a:prstGeom>
          <a:noFill/>
          <a:ln/>
        </p:spPr>
        <p:txBody>
          <a:bodyPr wrap="square" lIns="0" tIns="0" rIns="0" bIns="0" rtlCol="0" anchor="ctr"/>
          <a:lstStyle/>
          <a:p>
            <a:pPr algn="ctr" indent="0" marL="0">
              <a:buNone/>
            </a:pPr>
            <a:r>
              <a:rPr lang="en-US" sz="2000" b="1" dirty="0">
                <a:solidFill>
                  <a:srgbClr val="1A1A2E"/>
                </a:solidFill>
              </a:rPr>
              <a:t>18</a:t>
            </a:r>
            <a:endParaRPr lang="en-US" sz="2000" dirty="0"/>
          </a:p>
        </p:txBody>
      </p:sp>
      <p:sp>
        <p:nvSpPr>
          <p:cNvPr id="12" name="Shape 10"/>
          <p:cNvSpPr/>
          <p:nvPr/>
        </p:nvSpPr>
        <p:spPr>
          <a:xfrm>
            <a:off x="4572000" y="2103120"/>
            <a:ext cx="164592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572000" y="2103120"/>
            <a:ext cx="1645920" cy="822960"/>
          </a:xfrm>
          <a:prstGeom prst="rect">
            <a:avLst/>
          </a:prstGeom>
          <a:noFill/>
          <a:ln/>
        </p:spPr>
        <p:txBody>
          <a:bodyPr wrap="square" lIns="0" tIns="0" rIns="0" bIns="0" rtlCol="0" anchor="ctr"/>
          <a:lstStyle/>
          <a:p>
            <a:pPr algn="ctr" indent="0" marL="0">
              <a:buNone/>
            </a:pPr>
            <a:r>
              <a:rPr lang="en-US" sz="2000" b="1" dirty="0">
                <a:solidFill>
                  <a:srgbClr val="1A1A2E"/>
                </a:solidFill>
              </a:rPr>
              <a:t>27</a:t>
            </a:r>
            <a:endParaRPr lang="en-US" sz="2000" dirty="0"/>
          </a:p>
        </p:txBody>
      </p:sp>
      <p:sp>
        <p:nvSpPr>
          <p:cNvPr id="14" name="Shape 12"/>
          <p:cNvSpPr/>
          <p:nvPr/>
        </p:nvSpPr>
        <p:spPr>
          <a:xfrm>
            <a:off x="6400800" y="2103120"/>
            <a:ext cx="164592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400800" y="2103120"/>
            <a:ext cx="1645920" cy="822960"/>
          </a:xfrm>
          <a:prstGeom prst="rect">
            <a:avLst/>
          </a:prstGeom>
          <a:noFill/>
          <a:ln/>
        </p:spPr>
        <p:txBody>
          <a:bodyPr wrap="square" lIns="0" tIns="0" rIns="0" bIns="0" rtlCol="0" anchor="ctr"/>
          <a:lstStyle/>
          <a:p>
            <a:pPr algn="ctr" indent="0" marL="0">
              <a:buNone/>
            </a:pPr>
            <a:r>
              <a:rPr lang="en-US" sz="2000" b="1" dirty="0">
                <a:solidFill>
                  <a:srgbClr val="1A1A2E"/>
                </a:solidFill>
              </a:rPr>
              <a:t>3</a:t>
            </a:r>
            <a:endParaRPr lang="en-US" sz="2000" dirty="0"/>
          </a:p>
        </p:txBody>
      </p:sp>
      <p:sp>
        <p:nvSpPr>
          <p:cNvPr id="16" name="Shape 14"/>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7" name="Text 15"/>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9 × 2/3 = ?</a:t>
            </a:r>
            <a:endParaRPr lang="en-US" sz="2000" dirty="0"/>
          </a:p>
        </p:txBody>
      </p:sp>
      <p:sp>
        <p:nvSpPr>
          <p:cNvPr id="8" name="Shape 6"/>
          <p:cNvSpPr/>
          <p:nvPr/>
        </p:nvSpPr>
        <p:spPr>
          <a:xfrm>
            <a:off x="914400" y="2103120"/>
            <a:ext cx="1645920" cy="822960"/>
          </a:xfrm>
          <a:prstGeom prst="roundRect">
            <a:avLst>
              <a:gd name="adj" fmla="val 8889"/>
            </a:avLst>
          </a:prstGeom>
          <a:solidFill>
            <a:srgbClr val="2E6E44"/>
          </a:solidFill>
          <a:ln w="12700">
            <a:solidFill>
              <a:srgbClr val="2E6E44"/>
            </a:solidFill>
            <a:prstDash val="solid"/>
          </a:ln>
        </p:spPr>
      </p:sp>
      <p:sp>
        <p:nvSpPr>
          <p:cNvPr id="9" name="Text 7"/>
          <p:cNvSpPr/>
          <p:nvPr/>
        </p:nvSpPr>
        <p:spPr>
          <a:xfrm>
            <a:off x="914400" y="2103120"/>
            <a:ext cx="1645920" cy="822960"/>
          </a:xfrm>
          <a:prstGeom prst="rect">
            <a:avLst/>
          </a:prstGeom>
          <a:noFill/>
          <a:ln/>
        </p:spPr>
        <p:txBody>
          <a:bodyPr wrap="square" lIns="0" tIns="0" rIns="0" bIns="0" rtlCol="0" anchor="ctr"/>
          <a:lstStyle/>
          <a:p>
            <a:pPr algn="ctr" indent="0" marL="0">
              <a:buNone/>
            </a:pPr>
            <a:r>
              <a:rPr lang="en-US" sz="2000" b="1" dirty="0">
                <a:solidFill>
                  <a:srgbClr val="FFFFFF"/>
                </a:solidFill>
              </a:rPr>
              <a:t>6</a:t>
            </a:r>
            <a:endParaRPr lang="en-US" sz="2000" dirty="0"/>
          </a:p>
        </p:txBody>
      </p:sp>
      <p:sp>
        <p:nvSpPr>
          <p:cNvPr id="10" name="Shape 8"/>
          <p:cNvSpPr/>
          <p:nvPr/>
        </p:nvSpPr>
        <p:spPr>
          <a:xfrm>
            <a:off x="2743200" y="2103120"/>
            <a:ext cx="164592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743200" y="2103120"/>
            <a:ext cx="1645920" cy="822960"/>
          </a:xfrm>
          <a:prstGeom prst="rect">
            <a:avLst/>
          </a:prstGeom>
          <a:noFill/>
          <a:ln/>
        </p:spPr>
        <p:txBody>
          <a:bodyPr wrap="square" lIns="0" tIns="0" rIns="0" bIns="0" rtlCol="0" anchor="ctr"/>
          <a:lstStyle/>
          <a:p>
            <a:pPr algn="ctr" indent="0" marL="0">
              <a:buNone/>
            </a:pPr>
            <a:r>
              <a:rPr lang="en-US" sz="2000" b="1" dirty="0">
                <a:solidFill>
                  <a:srgbClr val="1A1A2E"/>
                </a:solidFill>
              </a:rPr>
              <a:t>18</a:t>
            </a:r>
            <a:endParaRPr lang="en-US" sz="2000" dirty="0"/>
          </a:p>
        </p:txBody>
      </p:sp>
      <p:sp>
        <p:nvSpPr>
          <p:cNvPr id="12" name="Shape 10"/>
          <p:cNvSpPr/>
          <p:nvPr/>
        </p:nvSpPr>
        <p:spPr>
          <a:xfrm>
            <a:off x="4572000" y="2103120"/>
            <a:ext cx="164592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572000" y="2103120"/>
            <a:ext cx="1645920" cy="822960"/>
          </a:xfrm>
          <a:prstGeom prst="rect">
            <a:avLst/>
          </a:prstGeom>
          <a:noFill/>
          <a:ln/>
        </p:spPr>
        <p:txBody>
          <a:bodyPr wrap="square" lIns="0" tIns="0" rIns="0" bIns="0" rtlCol="0" anchor="ctr"/>
          <a:lstStyle/>
          <a:p>
            <a:pPr algn="ctr" indent="0" marL="0">
              <a:buNone/>
            </a:pPr>
            <a:r>
              <a:rPr lang="en-US" sz="2000" b="1" dirty="0">
                <a:solidFill>
                  <a:srgbClr val="1A1A2E"/>
                </a:solidFill>
              </a:rPr>
              <a:t>27</a:t>
            </a:r>
            <a:endParaRPr lang="en-US" sz="2000" dirty="0"/>
          </a:p>
        </p:txBody>
      </p:sp>
      <p:sp>
        <p:nvSpPr>
          <p:cNvPr id="14" name="Shape 12"/>
          <p:cNvSpPr/>
          <p:nvPr/>
        </p:nvSpPr>
        <p:spPr>
          <a:xfrm>
            <a:off x="6400800" y="2103120"/>
            <a:ext cx="164592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400800" y="2103120"/>
            <a:ext cx="1645920" cy="822960"/>
          </a:xfrm>
          <a:prstGeom prst="rect">
            <a:avLst/>
          </a:prstGeom>
          <a:noFill/>
          <a:ln/>
        </p:spPr>
        <p:txBody>
          <a:bodyPr wrap="square" lIns="0" tIns="0" rIns="0" bIns="0" rtlCol="0" anchor="ctr"/>
          <a:lstStyle/>
          <a:p>
            <a:pPr algn="ctr" indent="0" marL="0">
              <a:buNone/>
            </a:pPr>
            <a:r>
              <a:rPr lang="en-US" sz="2000" b="1" dirty="0">
                <a:solidFill>
                  <a:srgbClr val="1A1A2E"/>
                </a:solidFill>
              </a:rPr>
              <a:t>3</a:t>
            </a:r>
            <a:endParaRPr lang="en-US" sz="2000" dirty="0"/>
          </a:p>
        </p:txBody>
      </p:sp>
      <p:sp>
        <p:nvSpPr>
          <p:cNvPr id="16" name="Text 14"/>
          <p:cNvSpPr/>
          <p:nvPr/>
        </p:nvSpPr>
        <p:spPr>
          <a:xfrm>
            <a:off x="914400" y="4773168"/>
            <a:ext cx="7315200" cy="365760"/>
          </a:xfrm>
          <a:prstGeom prst="rect">
            <a:avLst/>
          </a:prstGeom>
          <a:noFill/>
          <a:ln/>
        </p:spPr>
        <p:txBody>
          <a:bodyPr wrap="square" lIns="0" tIns="0" rIns="0" bIns="0" rtlCol="0" anchor="ctr"/>
          <a:lstStyle/>
          <a:p>
            <a:pPr algn="ctr" indent="0" marL="0">
              <a:buNone/>
            </a:pPr>
            <a:r>
              <a:rPr lang="en-US" sz="1200" dirty="0">
                <a:solidFill>
                  <a:srgbClr val="5A5A7A"/>
                </a:solidFill>
              </a:rPr>
              <a:t>9 and 3 share a common factor of 3: 9 ÷ 3 = 3, then 3 x 2 = 6.</a:t>
            </a:r>
            <a:endParaRPr lang="en-US" sz="1200" dirty="0"/>
          </a:p>
        </p:txBody>
      </p:sp>
      <p:sp>
        <p:nvSpPr>
          <p:cNvPr id="17" name="Shape 15"/>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Math Crew — What Do They Think?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 Perspectives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28600" y="914400"/>
            <a:ext cx="41605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365760" y="1005840"/>
            <a:ext cx="3886200" cy="320040"/>
          </a:xfrm>
          <a:prstGeom prst="rect">
            <a:avLst/>
          </a:prstGeom>
          <a:noFill/>
          <a:ln/>
        </p:spPr>
        <p:txBody>
          <a:bodyPr wrap="square" lIns="0" tIns="0" rIns="0" bIns="0" rtlCol="0" anchor="ctr"/>
          <a:lstStyle/>
          <a:p>
            <a:pPr indent="0" marL="0">
              <a:buNone/>
            </a:pPr>
            <a:r>
              <a:rPr lang="en-US" sz="1400" b="1" dirty="0">
                <a:solidFill>
                  <a:srgbClr val="4A3D8F"/>
                </a:solidFill>
              </a:rPr>
              <a:t>Atlas</a:t>
            </a:r>
            <a:endParaRPr lang="en-US" sz="1400" dirty="0"/>
          </a:p>
        </p:txBody>
      </p:sp>
      <p:sp>
        <p:nvSpPr>
          <p:cNvPr id="8" name="Text 6"/>
          <p:cNvSpPr/>
          <p:nvPr/>
        </p:nvSpPr>
        <p:spPr>
          <a:xfrm>
            <a:off x="36576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pattern-spotter</a:t>
            </a:r>
            <a:endParaRPr lang="en-US" sz="900" dirty="0"/>
          </a:p>
        </p:txBody>
      </p:sp>
      <p:sp>
        <p:nvSpPr>
          <p:cNvPr id="9" name="Shape 7"/>
          <p:cNvSpPr/>
          <p:nvPr/>
        </p:nvSpPr>
        <p:spPr>
          <a:xfrm>
            <a:off x="365760" y="1572768"/>
            <a:ext cx="3886200" cy="0"/>
          </a:xfrm>
          <a:prstGeom prst="line">
            <a:avLst/>
          </a:prstGeom>
          <a:noFill/>
          <a:ln w="6350">
            <a:solidFill>
              <a:srgbClr val="CCCCCC"/>
            </a:solidFill>
            <a:prstDash val="solid"/>
          </a:ln>
        </p:spPr>
      </p:sp>
      <p:sp>
        <p:nvSpPr>
          <p:cNvPr id="10" name="Text 8"/>
          <p:cNvSpPr/>
          <p:nvPr/>
        </p:nvSpPr>
        <p:spPr>
          <a:xfrm>
            <a:off x="36576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noticed the set always splits evenly into groups the size of the denominator -- the numerator tells me how many groups to keep.</a:t>
            </a:r>
            <a:endParaRPr lang="en-US" sz="1000" dirty="0"/>
          </a:p>
        </p:txBody>
      </p:sp>
      <p:sp>
        <p:nvSpPr>
          <p:cNvPr id="11" name="Shape 9"/>
          <p:cNvSpPr/>
          <p:nvPr/>
        </p:nvSpPr>
        <p:spPr>
          <a:xfrm>
            <a:off x="4709160" y="914400"/>
            <a:ext cx="4160520" cy="1554480"/>
          </a:xfrm>
          <a:prstGeom prst="roundRect">
            <a:avLst>
              <a:gd name="adj" fmla="val 5882"/>
            </a:avLst>
          </a:prstGeom>
          <a:solidFill>
            <a:srgbClr val="E6F2EA"/>
          </a:solidFill>
          <a:ln w="6350">
            <a:solidFill>
              <a:srgbClr val="DDDDEE"/>
            </a:solidFill>
            <a:prstDash val="solid"/>
          </a:ln>
        </p:spPr>
      </p:sp>
      <p:sp>
        <p:nvSpPr>
          <p:cNvPr id="12" name="Text 10"/>
          <p:cNvSpPr/>
          <p:nvPr/>
        </p:nvSpPr>
        <p:spPr>
          <a:xfrm>
            <a:off x="4846320" y="1005840"/>
            <a:ext cx="3886200" cy="320040"/>
          </a:xfrm>
          <a:prstGeom prst="rect">
            <a:avLst/>
          </a:prstGeom>
          <a:noFill/>
          <a:ln/>
        </p:spPr>
        <p:txBody>
          <a:bodyPr wrap="square" lIns="0" tIns="0" rIns="0" bIns="0" rtlCol="0" anchor="ctr"/>
          <a:lstStyle/>
          <a:p>
            <a:pPr indent="0" marL="0">
              <a:buNone/>
            </a:pPr>
            <a:r>
              <a:rPr lang="en-US" sz="1400" b="1" dirty="0">
                <a:solidFill>
                  <a:srgbClr val="2E6E44"/>
                </a:solidFill>
              </a:rPr>
              <a:t>Felix</a:t>
            </a:r>
            <a:endParaRPr lang="en-US" sz="1400" dirty="0"/>
          </a:p>
        </p:txBody>
      </p:sp>
      <p:sp>
        <p:nvSpPr>
          <p:cNvPr id="13" name="Text 11"/>
          <p:cNvSpPr/>
          <p:nvPr/>
        </p:nvSpPr>
        <p:spPr>
          <a:xfrm>
            <a:off x="484632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method-tester</a:t>
            </a:r>
            <a:endParaRPr lang="en-US" sz="900" dirty="0"/>
          </a:p>
        </p:txBody>
      </p:sp>
      <p:sp>
        <p:nvSpPr>
          <p:cNvPr id="14" name="Shape 12"/>
          <p:cNvSpPr/>
          <p:nvPr/>
        </p:nvSpPr>
        <p:spPr>
          <a:xfrm>
            <a:off x="4846320" y="1572768"/>
            <a:ext cx="3886200" cy="0"/>
          </a:xfrm>
          <a:prstGeom prst="line">
            <a:avLst/>
          </a:prstGeom>
          <a:noFill/>
          <a:ln w="6350">
            <a:solidFill>
              <a:srgbClr val="CCCCCC"/>
            </a:solidFill>
            <a:prstDash val="solid"/>
          </a:ln>
        </p:spPr>
      </p:sp>
      <p:sp>
        <p:nvSpPr>
          <p:cNvPr id="15" name="Text 13"/>
          <p:cNvSpPr/>
          <p:nvPr/>
        </p:nvSpPr>
        <p:spPr>
          <a:xfrm>
            <a:off x="484632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tested the commutative property by multiplying both orders -- 9 x 2/3 and 2/3 x 9 both gave me 6.</a:t>
            </a:r>
            <a:endParaRPr lang="en-US" sz="1000" dirty="0"/>
          </a:p>
        </p:txBody>
      </p:sp>
      <p:sp>
        <p:nvSpPr>
          <p:cNvPr id="16" name="Shape 14"/>
          <p:cNvSpPr/>
          <p:nvPr/>
        </p:nvSpPr>
        <p:spPr>
          <a:xfrm>
            <a:off x="228600" y="2578608"/>
            <a:ext cx="4160520" cy="1554480"/>
          </a:xfrm>
          <a:prstGeom prst="roundRect">
            <a:avLst>
              <a:gd name="adj" fmla="val 5882"/>
            </a:avLst>
          </a:prstGeom>
          <a:solidFill>
            <a:srgbClr val="FEF6E4"/>
          </a:solidFill>
          <a:ln w="6350">
            <a:solidFill>
              <a:srgbClr val="DDDDEE"/>
            </a:solidFill>
            <a:prstDash val="solid"/>
          </a:ln>
        </p:spPr>
      </p:sp>
      <p:sp>
        <p:nvSpPr>
          <p:cNvPr id="17" name="Text 15"/>
          <p:cNvSpPr/>
          <p:nvPr/>
        </p:nvSpPr>
        <p:spPr>
          <a:xfrm>
            <a:off x="365760" y="2670048"/>
            <a:ext cx="3886200" cy="320040"/>
          </a:xfrm>
          <a:prstGeom prst="rect">
            <a:avLst/>
          </a:prstGeom>
          <a:noFill/>
          <a:ln/>
        </p:spPr>
        <p:txBody>
          <a:bodyPr wrap="square" lIns="0" tIns="0" rIns="0" bIns="0" rtlCol="0" anchor="ctr"/>
          <a:lstStyle/>
          <a:p>
            <a:pPr indent="0" marL="0">
              <a:buNone/>
            </a:pPr>
            <a:r>
              <a:rPr lang="en-US" sz="1400" b="1" dirty="0">
                <a:solidFill>
                  <a:srgbClr val="D9941A"/>
                </a:solidFill>
              </a:rPr>
              <a:t>Hazel</a:t>
            </a:r>
            <a:endParaRPr lang="en-US" sz="1400" dirty="0"/>
          </a:p>
        </p:txBody>
      </p:sp>
      <p:sp>
        <p:nvSpPr>
          <p:cNvPr id="18" name="Text 16"/>
          <p:cNvSpPr/>
          <p:nvPr/>
        </p:nvSpPr>
        <p:spPr>
          <a:xfrm>
            <a:off x="36576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visual thinker</a:t>
            </a:r>
            <a:endParaRPr lang="en-US" sz="900" dirty="0"/>
          </a:p>
        </p:txBody>
      </p:sp>
      <p:sp>
        <p:nvSpPr>
          <p:cNvPr id="19" name="Shape 17"/>
          <p:cNvSpPr/>
          <p:nvPr/>
        </p:nvSpPr>
        <p:spPr>
          <a:xfrm>
            <a:off x="365760" y="3236976"/>
            <a:ext cx="3886200" cy="0"/>
          </a:xfrm>
          <a:prstGeom prst="line">
            <a:avLst/>
          </a:prstGeom>
          <a:noFill/>
          <a:ln w="6350">
            <a:solidFill>
              <a:srgbClr val="CCCCCC"/>
            </a:solidFill>
            <a:prstDash val="solid"/>
          </a:ln>
        </p:spPr>
      </p:sp>
      <p:sp>
        <p:nvSpPr>
          <p:cNvPr id="20" name="Text 18"/>
          <p:cNvSpPr/>
          <p:nvPr/>
        </p:nvSpPr>
        <p:spPr>
          <a:xfrm>
            <a:off x="36576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picture the whole set of cards getting sorted into equal piles, then I just count the piles I need.</a:t>
            </a:r>
            <a:endParaRPr lang="en-US" sz="1000" dirty="0"/>
          </a:p>
        </p:txBody>
      </p:sp>
      <p:sp>
        <p:nvSpPr>
          <p:cNvPr id="21" name="Shape 19"/>
          <p:cNvSpPr/>
          <p:nvPr/>
        </p:nvSpPr>
        <p:spPr>
          <a:xfrm>
            <a:off x="4709160" y="2578608"/>
            <a:ext cx="4160520" cy="1554480"/>
          </a:xfrm>
          <a:prstGeom prst="roundRect">
            <a:avLst>
              <a:gd name="adj" fmla="val 5882"/>
            </a:avLst>
          </a:prstGeom>
          <a:solidFill>
            <a:srgbClr val="FEF0E6"/>
          </a:solidFill>
          <a:ln w="6350">
            <a:solidFill>
              <a:srgbClr val="DDDDEE"/>
            </a:solidFill>
            <a:prstDash val="solid"/>
          </a:ln>
        </p:spPr>
      </p:sp>
      <p:sp>
        <p:nvSpPr>
          <p:cNvPr id="22" name="Text 20"/>
          <p:cNvSpPr/>
          <p:nvPr/>
        </p:nvSpPr>
        <p:spPr>
          <a:xfrm>
            <a:off x="4846320" y="2670048"/>
            <a:ext cx="3886200" cy="320040"/>
          </a:xfrm>
          <a:prstGeom prst="rect">
            <a:avLst/>
          </a:prstGeom>
          <a:noFill/>
          <a:ln/>
        </p:spPr>
        <p:txBody>
          <a:bodyPr wrap="square" lIns="0" tIns="0" rIns="0" bIns="0" rtlCol="0" anchor="ctr"/>
          <a:lstStyle/>
          <a:p>
            <a:pPr indent="0" marL="0">
              <a:buNone/>
            </a:pPr>
            <a:r>
              <a:rPr lang="en-US" sz="1400" b="1" dirty="0">
                <a:solidFill>
                  <a:srgbClr val="C05818"/>
                </a:solidFill>
              </a:rPr>
              <a:t>Cora</a:t>
            </a:r>
            <a:endParaRPr lang="en-US" sz="1400" dirty="0"/>
          </a:p>
        </p:txBody>
      </p:sp>
      <p:sp>
        <p:nvSpPr>
          <p:cNvPr id="23" name="Text 21"/>
          <p:cNvSpPr/>
          <p:nvPr/>
        </p:nvSpPr>
        <p:spPr>
          <a:xfrm>
            <a:off x="484632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precise explainer</a:t>
            </a:r>
            <a:endParaRPr lang="en-US" sz="900" dirty="0"/>
          </a:p>
        </p:txBody>
      </p:sp>
      <p:sp>
        <p:nvSpPr>
          <p:cNvPr id="24" name="Shape 22"/>
          <p:cNvSpPr/>
          <p:nvPr/>
        </p:nvSpPr>
        <p:spPr>
          <a:xfrm>
            <a:off x="4846320" y="3236976"/>
            <a:ext cx="3886200" cy="0"/>
          </a:xfrm>
          <a:prstGeom prst="line">
            <a:avLst/>
          </a:prstGeom>
          <a:noFill/>
          <a:ln w="6350">
            <a:solidFill>
              <a:srgbClr val="CCCCCC"/>
            </a:solidFill>
            <a:prstDash val="solid"/>
          </a:ln>
        </p:spPr>
      </p:sp>
      <p:sp>
        <p:nvSpPr>
          <p:cNvPr id="25" name="Text 23"/>
          <p:cNvSpPr/>
          <p:nvPr/>
        </p:nvSpPr>
        <p:spPr>
          <a:xfrm>
            <a:off x="484632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The precise way to say it: multiplying a whole number by a fraction is the same as taking that fractional part of the whole set.</a:t>
            </a:r>
            <a:endParaRPr lang="en-US" sz="1000" dirty="0"/>
          </a:p>
        </p:txBody>
      </p:sp>
      <p:sp>
        <p:nvSpPr>
          <p:cNvPr id="26" name="Shape 24"/>
          <p:cNvSpPr/>
          <p:nvPr/>
        </p:nvSpPr>
        <p:spPr>
          <a:xfrm>
            <a:off x="914400" y="4315968"/>
            <a:ext cx="7315200" cy="438912"/>
          </a:xfrm>
          <a:prstGeom prst="roundRect">
            <a:avLst>
              <a:gd name="adj" fmla="val 12500"/>
            </a:avLst>
          </a:prstGeom>
          <a:solidFill>
            <a:srgbClr val="464EB8"/>
          </a:solidFill>
          <a:ln w="12700">
            <a:solidFill>
              <a:srgbClr val="464EB8"/>
            </a:solidFill>
            <a:prstDash val="solid"/>
          </a:ln>
        </p:spPr>
      </p:sp>
      <p:sp>
        <p:nvSpPr>
          <p:cNvPr id="27" name="Text 25"/>
          <p:cNvSpPr/>
          <p:nvPr/>
        </p:nvSpPr>
        <p:spPr>
          <a:xfrm>
            <a:off x="914400" y="4315968"/>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crew member thinks most like you today?</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Before Next Class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Dismissal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EAE8F5"/>
          </a:solidFill>
          <a:ln w="6350">
            <a:solidFill>
              <a:srgbClr val="DDDDEE"/>
            </a:solidFill>
            <a:prstDash val="solid"/>
          </a:ln>
        </p:spPr>
      </p:sp>
      <p:sp>
        <p:nvSpPr>
          <p:cNvPr id="7" name="Text 5"/>
          <p:cNvSpPr/>
          <p:nvPr/>
        </p:nvSpPr>
        <p:spPr>
          <a:xfrm>
            <a:off x="685800" y="1024128"/>
            <a:ext cx="7772400" cy="804672"/>
          </a:xfrm>
          <a:prstGeom prst="rect">
            <a:avLst/>
          </a:prstGeom>
          <a:noFill/>
          <a:ln/>
        </p:spPr>
        <p:txBody>
          <a:bodyPr wrap="square" lIns="0" tIns="0" rIns="0" bIns="0" rtlCol="0" anchor="ctr"/>
          <a:lstStyle/>
          <a:p>
            <a:pPr indent="0" marL="0">
              <a:buNone/>
            </a:pPr>
            <a:r>
              <a:rPr lang="en-US" sz="1700" b="1" dirty="0">
                <a:solidFill>
                  <a:srgbClr val="4A3D8F"/>
                </a:solidFill>
              </a:rPr>
              <a:t>Complete before your next class:</a:t>
            </a:r>
            <a:endParaRPr lang="en-US" sz="1700" dirty="0"/>
          </a:p>
        </p:txBody>
      </p:sp>
      <p:sp>
        <p:nvSpPr>
          <p:cNvPr id="8" name="Shape 6"/>
          <p:cNvSpPr/>
          <p:nvPr/>
        </p:nvSpPr>
        <p:spPr>
          <a:xfrm>
            <a:off x="457200" y="2057400"/>
            <a:ext cx="8229600" cy="731520"/>
          </a:xfrm>
          <a:prstGeom prst="roundRect">
            <a:avLst>
              <a:gd name="adj" fmla="val 12500"/>
            </a:avLst>
          </a:prstGeom>
          <a:solidFill>
            <a:srgbClr val="FFFFFF"/>
          </a:solidFill>
          <a:ln w="6350">
            <a:solidFill>
              <a:srgbClr val="DDDDEE"/>
            </a:solidFill>
            <a:prstDash val="solid"/>
          </a:ln>
        </p:spPr>
      </p:sp>
      <p:sp>
        <p:nvSpPr>
          <p:cNvPr id="9" name="Text 7"/>
          <p:cNvSpPr/>
          <p:nvPr/>
        </p:nvSpPr>
        <p:spPr>
          <a:xfrm>
            <a:off x="685800" y="2103120"/>
            <a:ext cx="7772400" cy="640080"/>
          </a:xfrm>
          <a:prstGeom prst="rect">
            <a:avLst/>
          </a:prstGeom>
          <a:noFill/>
          <a:ln/>
        </p:spPr>
        <p:txBody>
          <a:bodyPr wrap="square" lIns="0" tIns="0" rIns="0" bIns="0" rtlCol="0" anchor="ctr"/>
          <a:lstStyle/>
          <a:p>
            <a:pPr indent="0" marL="0">
              <a:buNone/>
            </a:pPr>
            <a:r>
              <a:rPr lang="en-US" sz="1500" dirty="0">
                <a:solidFill>
                  <a:srgbClr val="1A1A2E"/>
                </a:solidFill>
              </a:rPr>
              <a:t>1.  Complete the Independent Practice: multiply a whole number by a fraction.</a:t>
            </a:r>
            <a:endParaRPr lang="en-US" sz="1500" dirty="0"/>
          </a:p>
        </p:txBody>
      </p:sp>
      <p:sp>
        <p:nvSpPr>
          <p:cNvPr id="10" name="Shape 8"/>
          <p:cNvSpPr/>
          <p:nvPr/>
        </p:nvSpPr>
        <p:spPr>
          <a:xfrm>
            <a:off x="457200" y="2926080"/>
            <a:ext cx="8229600" cy="731520"/>
          </a:xfrm>
          <a:prstGeom prst="roundRect">
            <a:avLst>
              <a:gd name="adj" fmla="val 12500"/>
            </a:avLst>
          </a:prstGeom>
          <a:solidFill>
            <a:srgbClr val="FFFFFF"/>
          </a:solidFill>
          <a:ln w="6350">
            <a:solidFill>
              <a:srgbClr val="DDDDEE"/>
            </a:solidFill>
            <a:prstDash val="solid"/>
          </a:ln>
        </p:spPr>
      </p:sp>
      <p:sp>
        <p:nvSpPr>
          <p:cNvPr id="11" name="Text 9"/>
          <p:cNvSpPr/>
          <p:nvPr/>
        </p:nvSpPr>
        <p:spPr>
          <a:xfrm>
            <a:off x="685800" y="2971800"/>
            <a:ext cx="7772400" cy="640080"/>
          </a:xfrm>
          <a:prstGeom prst="rect">
            <a:avLst/>
          </a:prstGeom>
          <a:noFill/>
          <a:ln/>
        </p:spPr>
        <p:txBody>
          <a:bodyPr wrap="square" lIns="0" tIns="0" rIns="0" bIns="0" rtlCol="0" anchor="ctr"/>
          <a:lstStyle/>
          <a:p>
            <a:pPr indent="0" marL="0">
              <a:buNone/>
            </a:pPr>
            <a:r>
              <a:rPr lang="en-US" sz="1500" dirty="0">
                <a:solidFill>
                  <a:srgbClr val="1A1A2E"/>
                </a:solidFill>
              </a:rPr>
              <a:t>2.  Finish the Show What You Know journal problems in Canvas.</a:t>
            </a:r>
            <a:endParaRPr lang="en-US" sz="1500" dirty="0"/>
          </a:p>
        </p:txBody>
      </p:sp>
      <p:sp>
        <p:nvSpPr>
          <p:cNvPr id="12" name="Shape 10"/>
          <p:cNvSpPr/>
          <p:nvPr/>
        </p:nvSpPr>
        <p:spPr>
          <a:xfrm>
            <a:off x="457200" y="3794760"/>
            <a:ext cx="8229600" cy="731520"/>
          </a:xfrm>
          <a:prstGeom prst="roundRect">
            <a:avLst>
              <a:gd name="adj" fmla="val 12500"/>
            </a:avLst>
          </a:prstGeom>
          <a:solidFill>
            <a:srgbClr val="FFFFFF"/>
          </a:solidFill>
          <a:ln w="6350">
            <a:solidFill>
              <a:srgbClr val="DDDDEE"/>
            </a:solidFill>
            <a:prstDash val="solid"/>
          </a:ln>
        </p:spPr>
      </p:sp>
      <p:sp>
        <p:nvSpPr>
          <p:cNvPr id="13" name="Text 11"/>
          <p:cNvSpPr/>
          <p:nvPr/>
        </p:nvSpPr>
        <p:spPr>
          <a:xfrm>
            <a:off x="685800" y="3840480"/>
            <a:ext cx="7772400" cy="640080"/>
          </a:xfrm>
          <a:prstGeom prst="rect">
            <a:avLst/>
          </a:prstGeom>
          <a:noFill/>
          <a:ln/>
        </p:spPr>
        <p:txBody>
          <a:bodyPr wrap="square" lIns="0" tIns="0" rIns="0" bIns="0" rtlCol="0" anchor="ctr"/>
          <a:lstStyle/>
          <a:p>
            <a:pPr indent="0" marL="0">
              <a:buNone/>
            </a:pPr>
            <a:r>
              <a:rPr lang="en-US" sz="1500" dirty="0">
                <a:solidFill>
                  <a:srgbClr val="1A1A2E"/>
                </a:solidFill>
              </a:rPr>
              <a:t>3.  Preview: tomorrow we apply this rule inside word problems.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5.05.02 Multiplying a Whole Number by a Fraction — Teacher Slides</dc:title>
  <dc:subject>PptxGenJS Presentation</dc:subject>
  <dc:creator>PptxGenJS</dc:creator>
  <cp:lastModifiedBy>PptxGenJS</cp:lastModifiedBy>
  <cp:revision>1</cp:revision>
  <dcterms:created xsi:type="dcterms:W3CDTF">2026-07-16T19:47:16Z</dcterms:created>
  <dcterms:modified xsi:type="dcterms:W3CDTF">2026-07-16T19:47:16Z</dcterms:modified>
</cp:coreProperties>
</file>