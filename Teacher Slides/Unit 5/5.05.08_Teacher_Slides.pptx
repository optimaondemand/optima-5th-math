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String warm-up (2 min). Reveal problems one at a time -- notice the whole changes from a whole number to a mixed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String warm-up (2 min). Reveal problems one at a time -- notice the whole changes from a whole number to a mixed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insight precisely: the rule never changes, only the form of the whole.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insight precisely: the rule never changes, only the form of the whole.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Frame the mission: today we choose the right model -- whole number, unit fraction, fraction, or mixed number -- for each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slide (1 min). Emphasize: this lesson doesn't teach a new rule -- it asks students to select from everything learned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(3 min). Confirms mixed-to-improper conversion is fluent before today's mixed-model word problems. Transition: "Today you decide which model each story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 min). Pose the essential question using the poster board story. Take a couple of guesses before moving 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(3 min). Point out: we take 3/5 of the whole-foot part AND 3/5 of the fraction part separately, then combine.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Pictorial (2 min). The design covers a bit more than half the poster width -- a quick reasonableness check against the exact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(2 min). Confirm this matches the split-region total from the concrete slide. Watch for: students unsure whether to convert the whole number or the mixed number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Gap-fill (2 min). The IP asks for a single expression with three factors -- name explicitly that you can multiply left to right, one pair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(2 min). Have students write today's poster board story as an "expression" before solving.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(3 min). Model identifying the whole and the fraction in a money story before multiplying.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Try (2 min). Cold-call a student to convert 5 2/3 to an improper fraction before revealing the answer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 Forward (1 min). Preview the shift ahead -- fraction division builds directly on this week's multiplication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QUESTION (give real think time before advancing; do not reveal yet)
Exit Check. Watch for students who add the mixed numbers instead of multiplying, or who forget to convert both to improper fractions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REVEAL (advance only after students have responded in chat)
Exit Check. Watch for students who add the mixed numbers instead of multiplying, or who forget to convert both to improper fractions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CREW (~1-2 min)
Briefly read one or two cards — whichever matches where students are in their thinking.
Give real think time before calling on students to share which crew member's approach matches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274320" y="164592"/>
            <a:ext cx="2377440" cy="292608"/>
          </a:xfrm>
          <a:prstGeom prst="roundRect">
            <a:avLst>
              <a:gd name="adj" fmla="val 18750"/>
            </a:avLst>
          </a:prstGeom>
          <a:solidFill>
            <a:srgbClr val="4A3D8F"/>
          </a:solidFill>
          <a:ln w="12700">
            <a:solidFill>
              <a:srgbClr val="4A3D8F"/>
            </a:solidFill>
            <a:prstDash val="solid"/>
          </a:ln>
        </p:spPr>
      </p:sp>
      <p:sp>
        <p:nvSpPr>
          <p:cNvPr id="4" name="Text 2"/>
          <p:cNvSpPr/>
          <p:nvPr/>
        </p:nvSpPr>
        <p:spPr>
          <a:xfrm>
            <a:off x="274320" y="164592"/>
            <a:ext cx="23774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STRING</a:t>
            </a:r>
            <a:endParaRPr lang="en-US" sz="800" dirty="0"/>
          </a:p>
        </p:txBody>
      </p:sp>
      <p:sp>
        <p:nvSpPr>
          <p:cNvPr id="5" name="Shape 3"/>
          <p:cNvSpPr/>
          <p:nvPr/>
        </p:nvSpPr>
        <p:spPr>
          <a:xfrm>
            <a:off x="2578608" y="164592"/>
            <a:ext cx="6126480" cy="292608"/>
          </a:xfrm>
          <a:prstGeom prst="roundRect">
            <a:avLst>
              <a:gd name="adj" fmla="val 18750"/>
            </a:avLst>
          </a:prstGeom>
          <a:solidFill>
            <a:srgbClr val="2A3B5A"/>
          </a:solidFill>
          <a:ln w="12700">
            <a:solidFill>
              <a:srgbClr val="2A3B5A"/>
            </a:solidFill>
            <a:prstDash val="solid"/>
          </a:ln>
        </p:spPr>
      </p:sp>
      <p:sp>
        <p:nvSpPr>
          <p:cNvPr id="6" name="Text 4"/>
          <p:cNvSpPr/>
          <p:nvPr/>
        </p:nvSpPr>
        <p:spPr>
          <a:xfrm>
            <a:off x="2578608" y="164592"/>
            <a:ext cx="6126480" cy="292608"/>
          </a:xfrm>
          <a:prstGeom prst="rect">
            <a:avLst/>
          </a:prstGeom>
          <a:noFill/>
          <a:ln/>
        </p:spPr>
        <p:txBody>
          <a:bodyPr wrap="square" lIns="0" tIns="0" rIns="0" bIns="0" rtlCol="0" anchor="ctr"/>
          <a:lstStyle/>
          <a:p>
            <a:pPr indent="0" marL="0">
              <a:buNone/>
            </a:pPr>
            <a:r>
              <a:rPr lang="en-US" sz="900" dirty="0">
                <a:solidFill>
                  <a:srgbClr val="FFFFFF"/>
                </a:solidFill>
              </a:rPr>
              <a:t>  ·  Lesson 5.05 · Choosing the Model</a:t>
            </a:r>
            <a:endParaRPr lang="en-US" sz="900" dirty="0"/>
          </a:p>
        </p:txBody>
      </p:sp>
      <p:sp>
        <p:nvSpPr>
          <p:cNvPr id="7" name="Text 5"/>
          <p:cNvSpPr/>
          <p:nvPr/>
        </p:nvSpPr>
        <p:spPr>
          <a:xfrm>
            <a:off x="457200" y="1371600"/>
            <a:ext cx="8229600" cy="1828800"/>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3/4 of 8</a:t>
            </a:r>
            <a:endParaRPr lang="en-US" sz="3600" dirty="0"/>
          </a:p>
        </p:txBody>
      </p:sp>
      <p:sp>
        <p:nvSpPr>
          <p:cNvPr id="8" name="Text 6"/>
          <p:cNvSpPr/>
          <p:nvPr/>
        </p:nvSpPr>
        <p:spPr>
          <a:xfrm>
            <a:off x="457200" y="3749040"/>
            <a:ext cx="8229600" cy="640080"/>
          </a:xfrm>
          <a:prstGeom prst="rect">
            <a:avLst/>
          </a:prstGeom>
          <a:noFill/>
          <a:ln/>
        </p:spPr>
        <p:txBody>
          <a:bodyPr wrap="square" lIns="0" tIns="0" rIns="0" bIns="0" rtlCol="0" anchor="ctr"/>
          <a:lstStyle/>
          <a:p>
            <a:pPr algn="ctr" indent="0" marL="0">
              <a:buNone/>
            </a:pPr>
            <a:r>
              <a:rPr lang="en-US" sz="1500" i="1" dirty="0">
                <a:solidFill>
                  <a:srgbClr val="8899BB"/>
                </a:solidFill>
              </a:rPr>
              <a:t>Solve the first problem. What strategy did you use?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The String Unfolds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Number String</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868680"/>
          </a:xfrm>
          <a:prstGeom prst="roundRect">
            <a:avLst>
              <a:gd name="adj" fmla="val 10526"/>
            </a:avLst>
          </a:prstGeom>
          <a:solidFill>
            <a:srgbClr val="FFFFFF"/>
          </a:solidFill>
          <a:ln w="6350">
            <a:solidFill>
              <a:srgbClr val="DDDDEE"/>
            </a:solidFill>
            <a:prstDash val="solid"/>
          </a:ln>
        </p:spPr>
      </p:sp>
      <p:sp>
        <p:nvSpPr>
          <p:cNvPr id="7" name="Text 5"/>
          <p:cNvSpPr/>
          <p:nvPr/>
        </p:nvSpPr>
        <p:spPr>
          <a:xfrm>
            <a:off x="685800" y="960120"/>
            <a:ext cx="4114800" cy="868680"/>
          </a:xfrm>
          <a:prstGeom prst="rect">
            <a:avLst/>
          </a:prstGeom>
          <a:noFill/>
          <a:ln/>
        </p:spPr>
        <p:txBody>
          <a:bodyPr wrap="square" lIns="0" tIns="0" rIns="0" bIns="0" rtlCol="0" anchor="ctr"/>
          <a:lstStyle/>
          <a:p>
            <a:pPr indent="0" marL="0">
              <a:buNone/>
            </a:pPr>
            <a:r>
              <a:rPr lang="en-US" sz="2000" b="1" dirty="0">
                <a:solidFill>
                  <a:srgbClr val="4A3D8F"/>
                </a:solidFill>
                <a:latin typeface="Cambria" pitchFamily="34" charset="0"/>
                <a:ea typeface="Cambria" pitchFamily="34" charset="-122"/>
                <a:cs typeface="Cambria" pitchFamily="34" charset="-120"/>
              </a:rPr>
              <a:t>3/4 of 8</a:t>
            </a:r>
            <a:endParaRPr lang="en-US" sz="2000" dirty="0"/>
          </a:p>
        </p:txBody>
      </p:sp>
      <p:sp>
        <p:nvSpPr>
          <p:cNvPr id="8" name="Text 6"/>
          <p:cNvSpPr/>
          <p:nvPr/>
        </p:nvSpPr>
        <p:spPr>
          <a:xfrm>
            <a:off x="5029200" y="960120"/>
            <a:ext cx="1828800" cy="86868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 6</a:t>
            </a:r>
            <a:endParaRPr lang="en-US" sz="2000" dirty="0"/>
          </a:p>
        </p:txBody>
      </p:sp>
      <p:sp>
        <p:nvSpPr>
          <p:cNvPr id="9" name="Shape 7"/>
          <p:cNvSpPr/>
          <p:nvPr/>
        </p:nvSpPr>
        <p:spPr>
          <a:xfrm>
            <a:off x="457200" y="2011680"/>
            <a:ext cx="8229600" cy="868680"/>
          </a:xfrm>
          <a:prstGeom prst="roundRect">
            <a:avLst>
              <a:gd name="adj" fmla="val 10526"/>
            </a:avLst>
          </a:prstGeom>
          <a:solidFill>
            <a:srgbClr val="FFFFFF"/>
          </a:solidFill>
          <a:ln w="6350">
            <a:solidFill>
              <a:srgbClr val="DDDDEE"/>
            </a:solidFill>
            <a:prstDash val="solid"/>
          </a:ln>
        </p:spPr>
      </p:sp>
      <p:sp>
        <p:nvSpPr>
          <p:cNvPr id="10" name="Text 8"/>
          <p:cNvSpPr/>
          <p:nvPr/>
        </p:nvSpPr>
        <p:spPr>
          <a:xfrm>
            <a:off x="685800" y="2011680"/>
            <a:ext cx="4114800" cy="868680"/>
          </a:xfrm>
          <a:prstGeom prst="rect">
            <a:avLst/>
          </a:prstGeom>
          <a:noFill/>
          <a:ln/>
        </p:spPr>
        <p:txBody>
          <a:bodyPr wrap="square" lIns="0" tIns="0" rIns="0" bIns="0" rtlCol="0" anchor="ctr"/>
          <a:lstStyle/>
          <a:p>
            <a:pPr indent="0" marL="0">
              <a:buNone/>
            </a:pPr>
            <a:r>
              <a:rPr lang="en-US" sz="2000" b="1" dirty="0">
                <a:solidFill>
                  <a:srgbClr val="4A3D8F"/>
                </a:solidFill>
                <a:latin typeface="Cambria" pitchFamily="34" charset="0"/>
                <a:ea typeface="Cambria" pitchFamily="34" charset="-122"/>
                <a:cs typeface="Cambria" pitchFamily="34" charset="-120"/>
              </a:rPr>
              <a:t>3/4 of 2 1/3</a:t>
            </a:r>
            <a:endParaRPr lang="en-US" sz="2000" dirty="0"/>
          </a:p>
        </p:txBody>
      </p:sp>
      <p:sp>
        <p:nvSpPr>
          <p:cNvPr id="11" name="Text 9"/>
          <p:cNvSpPr/>
          <p:nvPr/>
        </p:nvSpPr>
        <p:spPr>
          <a:xfrm>
            <a:off x="5029200" y="2011680"/>
            <a:ext cx="1828800" cy="86868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 1 3/4</a:t>
            </a:r>
            <a:endParaRPr lang="en-US" sz="2000" dirty="0"/>
          </a:p>
        </p:txBody>
      </p:sp>
      <p:sp>
        <p:nvSpPr>
          <p:cNvPr id="12" name="Shape 10"/>
          <p:cNvSpPr/>
          <p:nvPr/>
        </p:nvSpPr>
        <p:spPr>
          <a:xfrm>
            <a:off x="137160" y="1920240"/>
            <a:ext cx="0" cy="137160"/>
          </a:xfrm>
          <a:prstGeom prst="line">
            <a:avLst/>
          </a:prstGeom>
          <a:noFill/>
          <a:ln w="25400">
            <a:solidFill>
              <a:srgbClr val="D9941A"/>
            </a:solidFill>
            <a:prstDash val="solid"/>
            <a:tailEnd type="triangle"/>
          </a:ln>
        </p:spPr>
      </p:sp>
      <p:sp>
        <p:nvSpPr>
          <p:cNvPr id="13" name="Shape 11"/>
          <p:cNvSpPr/>
          <p:nvPr/>
        </p:nvSpPr>
        <p:spPr>
          <a:xfrm>
            <a:off x="457200" y="3063240"/>
            <a:ext cx="8229600" cy="868680"/>
          </a:xfrm>
          <a:prstGeom prst="roundRect">
            <a:avLst>
              <a:gd name="adj" fmla="val 10526"/>
            </a:avLst>
          </a:prstGeom>
          <a:solidFill>
            <a:srgbClr val="FFFFFF"/>
          </a:solidFill>
          <a:ln w="6350">
            <a:solidFill>
              <a:srgbClr val="DDDDEE"/>
            </a:solidFill>
            <a:prstDash val="solid"/>
          </a:ln>
        </p:spPr>
      </p:sp>
      <p:sp>
        <p:nvSpPr>
          <p:cNvPr id="14" name="Text 12"/>
          <p:cNvSpPr/>
          <p:nvPr/>
        </p:nvSpPr>
        <p:spPr>
          <a:xfrm>
            <a:off x="685800" y="3063240"/>
            <a:ext cx="4114800" cy="868680"/>
          </a:xfrm>
          <a:prstGeom prst="rect">
            <a:avLst/>
          </a:prstGeom>
          <a:noFill/>
          <a:ln/>
        </p:spPr>
        <p:txBody>
          <a:bodyPr wrap="square" lIns="0" tIns="0" rIns="0" bIns="0" rtlCol="0" anchor="ctr"/>
          <a:lstStyle/>
          <a:p>
            <a:pPr indent="0" marL="0">
              <a:buNone/>
            </a:pPr>
            <a:r>
              <a:rPr lang="en-US" sz="2000" b="1" dirty="0">
                <a:solidFill>
                  <a:srgbClr val="4A3D8F"/>
                </a:solidFill>
                <a:latin typeface="Cambria" pitchFamily="34" charset="0"/>
                <a:ea typeface="Cambria" pitchFamily="34" charset="-122"/>
                <a:cs typeface="Cambria" pitchFamily="34" charset="-120"/>
              </a:rPr>
              <a:t>3/4 × 5 2/3</a:t>
            </a:r>
            <a:endParaRPr lang="en-US" sz="2000" dirty="0"/>
          </a:p>
        </p:txBody>
      </p:sp>
      <p:sp>
        <p:nvSpPr>
          <p:cNvPr id="15" name="Text 13"/>
          <p:cNvSpPr/>
          <p:nvPr/>
        </p:nvSpPr>
        <p:spPr>
          <a:xfrm>
            <a:off x="5029200" y="3063240"/>
            <a:ext cx="1828800" cy="86868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 4 1/4</a:t>
            </a:r>
            <a:endParaRPr lang="en-US" sz="2000" dirty="0"/>
          </a:p>
        </p:txBody>
      </p:sp>
      <p:sp>
        <p:nvSpPr>
          <p:cNvPr id="16" name="Shape 14"/>
          <p:cNvSpPr/>
          <p:nvPr/>
        </p:nvSpPr>
        <p:spPr>
          <a:xfrm>
            <a:off x="137160" y="2971800"/>
            <a:ext cx="0" cy="137160"/>
          </a:xfrm>
          <a:prstGeom prst="line">
            <a:avLst/>
          </a:prstGeom>
          <a:noFill/>
          <a:ln w="25400">
            <a:solidFill>
              <a:srgbClr val="D9941A"/>
            </a:solidFill>
            <a:prstDash val="solid"/>
            <a:tailEnd type="triangle"/>
          </a:ln>
        </p:spPr>
      </p:sp>
      <p:sp>
        <p:nvSpPr>
          <p:cNvPr id="17" name="Shape 15"/>
          <p:cNvSpPr/>
          <p:nvPr/>
        </p:nvSpPr>
        <p:spPr>
          <a:xfrm>
            <a:off x="1371600" y="4279392"/>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79392"/>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what changed each time?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STRING</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The Pattern</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508760"/>
            <a:ext cx="8229600" cy="548640"/>
          </a:xfrm>
          <a:prstGeom prst="rect">
            <a:avLst/>
          </a:prstGeom>
          <a:noFill/>
          <a:ln/>
        </p:spPr>
        <p:txBody>
          <a:bodyPr wrap="square" lIns="0" tIns="0" rIns="0" bIns="0" rtlCol="0" anchor="ctr"/>
          <a:lstStyle/>
          <a:p>
            <a:pPr indent="0" marL="0">
              <a:buNone/>
            </a:pPr>
            <a:r>
              <a:rPr lang="en-US" sz="1800" i="1" dirty="0">
                <a:solidFill>
                  <a:srgbClr val="CCCCFF"/>
                </a:solidFill>
              </a:rPr>
              <a:t>Whether the whole is a whole number or a mixed number...</a:t>
            </a:r>
            <a:endParaRPr lang="en-US" sz="1800" dirty="0"/>
          </a:p>
        </p:txBody>
      </p:sp>
      <p:sp>
        <p:nvSpPr>
          <p:cNvPr id="8" name="Text 6"/>
          <p:cNvSpPr/>
          <p:nvPr/>
        </p:nvSpPr>
        <p:spPr>
          <a:xfrm>
            <a:off x="457200" y="2148840"/>
            <a:ext cx="8229600" cy="18288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the same fraction-of-a-whole rule applies -- you just need to convert mixed numbers to improper fractions first.</a:t>
            </a:r>
            <a:endParaRPr lang="en-US" sz="2200" dirty="0"/>
          </a:p>
        </p:txBody>
      </p:sp>
      <p:sp>
        <p:nvSpPr>
          <p:cNvPr id="9" name="Shape 7"/>
          <p:cNvSpPr/>
          <p:nvPr/>
        </p:nvSpPr>
        <p:spPr>
          <a:xfrm>
            <a:off x="2286000" y="4343400"/>
            <a:ext cx="4572000" cy="438912"/>
          </a:xfrm>
          <a:prstGeom prst="roundRect">
            <a:avLst>
              <a:gd name="adj" fmla="val 12500"/>
            </a:avLst>
          </a:prstGeom>
          <a:solidFill>
            <a:srgbClr val="464EB8"/>
          </a:solidFill>
          <a:ln w="12700">
            <a:solidFill>
              <a:srgbClr val="464EB8"/>
            </a:solidFill>
            <a:prstDash val="solid"/>
          </a:ln>
        </p:spPr>
      </p:sp>
      <p:sp>
        <p:nvSpPr>
          <p:cNvPr id="10" name="Text 8"/>
          <p:cNvSpPr/>
          <p:nvPr/>
        </p:nvSpPr>
        <p:spPr>
          <a:xfrm>
            <a:off x="2286000" y="434340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one word for the pattern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6E44"/>
          </a:solidFill>
          <a:ln w="12700">
            <a:solidFill>
              <a:srgbClr val="2E6E44"/>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NUMBER STRING</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Try the Next String</a:t>
            </a:r>
            <a:endParaRPr lang="en-US" sz="2000" dirty="0"/>
          </a:p>
        </p:txBody>
      </p:sp>
      <p:sp>
        <p:nvSpPr>
          <p:cNvPr id="6" name="Shape 4"/>
          <p:cNvSpPr/>
          <p:nvPr/>
        </p:nvSpPr>
        <p:spPr>
          <a:xfrm>
            <a:off x="457200" y="1371600"/>
            <a:ext cx="8229600" cy="0"/>
          </a:xfrm>
          <a:prstGeom prst="line">
            <a:avLst/>
          </a:prstGeom>
          <a:noFill/>
          <a:ln w="6350">
            <a:solidFill>
              <a:srgbClr val="55AA77"/>
            </a:solidFill>
            <a:prstDash val="solid"/>
          </a:ln>
        </p:spPr>
      </p:sp>
      <p:sp>
        <p:nvSpPr>
          <p:cNvPr id="7" name="Text 5"/>
          <p:cNvSpPr/>
          <p:nvPr/>
        </p:nvSpPr>
        <p:spPr>
          <a:xfrm>
            <a:off x="457200" y="1554480"/>
            <a:ext cx="822960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2/3 of 9</a:t>
            </a:r>
            <a:endParaRPr lang="en-US" sz="2600" dirty="0"/>
          </a:p>
        </p:txBody>
      </p:sp>
      <p:sp>
        <p:nvSpPr>
          <p:cNvPr id="8" name="Text 6"/>
          <p:cNvSpPr/>
          <p:nvPr/>
        </p:nvSpPr>
        <p:spPr>
          <a:xfrm>
            <a:off x="457200" y="2240280"/>
            <a:ext cx="822960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2/3 of 4 1/2</a:t>
            </a:r>
            <a:endParaRPr lang="en-US" sz="2600" dirty="0"/>
          </a:p>
        </p:txBody>
      </p:sp>
      <p:sp>
        <p:nvSpPr>
          <p:cNvPr id="9" name="Shape 7"/>
          <p:cNvSpPr/>
          <p:nvPr/>
        </p:nvSpPr>
        <p:spPr>
          <a:xfrm>
            <a:off x="1828800" y="4343400"/>
            <a:ext cx="5486400" cy="438912"/>
          </a:xfrm>
          <a:prstGeom prst="roundRect">
            <a:avLst>
              <a:gd name="adj" fmla="val 12500"/>
            </a:avLst>
          </a:prstGeom>
          <a:solidFill>
            <a:srgbClr val="464EB8"/>
          </a:solidFill>
          <a:ln w="12700">
            <a:solidFill>
              <a:srgbClr val="464EB8"/>
            </a:solidFill>
            <a:prstDash val="solid"/>
          </a:ln>
        </p:spPr>
      </p:sp>
      <p:sp>
        <p:nvSpPr>
          <p:cNvPr id="10" name="Text 8"/>
          <p:cNvSpPr/>
          <p:nvPr/>
        </p:nvSpPr>
        <p:spPr>
          <a:xfrm>
            <a:off x="1828800" y="434340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0" y="3474720"/>
            <a:ext cx="9144000" cy="1668780"/>
          </a:xfrm>
          <a:prstGeom prst="rect">
            <a:avLst/>
          </a:prstGeom>
          <a:solidFill>
            <a:srgbClr val="4A3D8F"/>
          </a:solidFill>
          <a:ln w="12700">
            <a:solidFill>
              <a:srgbClr val="4A3D8F"/>
            </a:solidFill>
            <a:prstDash val="solid"/>
          </a:ln>
        </p:spPr>
      </p:sp>
      <p:sp>
        <p:nvSpPr>
          <p:cNvPr id="4" name="Text 2"/>
          <p:cNvSpPr/>
          <p:nvPr/>
        </p:nvSpPr>
        <p:spPr>
          <a:xfrm>
            <a:off x="457200" y="320040"/>
            <a:ext cx="8229600" cy="365760"/>
          </a:xfrm>
          <a:prstGeom prst="rect">
            <a:avLst/>
          </a:prstGeom>
          <a:noFill/>
          <a:ln/>
        </p:spPr>
        <p:txBody>
          <a:bodyPr wrap="square" lIns="0" tIns="0" rIns="0" bIns="0" rtlCol="0" anchor="ctr"/>
          <a:lstStyle/>
          <a:p>
            <a:pPr indent="0" marL="0">
              <a:buNone/>
            </a:pPr>
            <a:r>
              <a:rPr lang="en-US" sz="1300" i="1" spc="200" kern="0" dirty="0">
                <a:solidFill>
                  <a:srgbClr val="FFFFFF"/>
                </a:solidFill>
              </a:rPr>
              <a:t>Optima Academy Online</a:t>
            </a:r>
            <a:endParaRPr lang="en-US" sz="1300" dirty="0"/>
          </a:p>
        </p:txBody>
      </p:sp>
      <p:sp>
        <p:nvSpPr>
          <p:cNvPr id="5" name="Text 3"/>
          <p:cNvSpPr/>
          <p:nvPr/>
        </p:nvSpPr>
        <p:spPr>
          <a:xfrm>
            <a:off x="457200" y="777240"/>
            <a:ext cx="8229600" cy="502920"/>
          </a:xfrm>
          <a:prstGeom prst="rect">
            <a:avLst/>
          </a:prstGeom>
          <a:noFill/>
          <a:ln/>
        </p:spPr>
        <p:txBody>
          <a:bodyPr wrap="square" lIns="0" tIns="0" rIns="0" bIns="0" rtlCol="0" anchor="ctr"/>
          <a:lstStyle/>
          <a:p>
            <a:pPr indent="0" marL="0">
              <a:buNone/>
            </a:pPr>
            <a:r>
              <a:rPr lang="en-US" sz="1800" b="1" spc="100" kern="0" dirty="0">
                <a:solidFill>
                  <a:srgbClr val="D9941A"/>
                </a:solidFill>
              </a:rPr>
              <a:t>5.05.08</a:t>
            </a:r>
            <a:endParaRPr lang="en-US" sz="1800" dirty="0"/>
          </a:p>
        </p:txBody>
      </p:sp>
      <p:sp>
        <p:nvSpPr>
          <p:cNvPr id="6" name="Text 4"/>
          <p:cNvSpPr/>
          <p:nvPr/>
        </p:nvSpPr>
        <p:spPr>
          <a:xfrm>
            <a:off x="457200" y="1325880"/>
            <a:ext cx="8229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Word Problems, Part 2</a:t>
            </a:r>
            <a:endParaRPr lang="en-US" sz="3800" dirty="0"/>
          </a:p>
        </p:txBody>
      </p:sp>
      <p:sp>
        <p:nvSpPr>
          <p:cNvPr id="7" name="Text 5"/>
          <p:cNvSpPr/>
          <p:nvPr/>
        </p:nvSpPr>
        <p:spPr>
          <a:xfrm>
            <a:off x="457200" y="2697480"/>
            <a:ext cx="8229600" cy="502920"/>
          </a:xfrm>
          <a:prstGeom prst="rect">
            <a:avLst/>
          </a:prstGeom>
          <a:noFill/>
          <a:ln/>
        </p:spPr>
        <p:txBody>
          <a:bodyPr wrap="square" lIns="0" tIns="0" rIns="0" bIns="0" rtlCol="0" anchor="ctr"/>
          <a:lstStyle/>
          <a:p>
            <a:pPr indent="0" marL="0">
              <a:buNone/>
            </a:pPr>
            <a:r>
              <a:rPr lang="en-US" sz="1600" i="1" dirty="0">
                <a:solidFill>
                  <a:srgbClr val="AAAACC"/>
                </a:solidFill>
              </a:rPr>
              <a:t>Unit 5 · Fraction Multiplication</a:t>
            </a:r>
            <a:endParaRPr lang="en-US" sz="1600" dirty="0"/>
          </a:p>
        </p:txBody>
      </p:sp>
      <p:sp>
        <p:nvSpPr>
          <p:cNvPr id="8" name="Text 6"/>
          <p:cNvSpPr/>
          <p:nvPr/>
        </p:nvSpPr>
        <p:spPr>
          <a:xfrm>
            <a:off x="457200" y="3657600"/>
            <a:ext cx="8229600" cy="411480"/>
          </a:xfrm>
          <a:prstGeom prst="rect">
            <a:avLst/>
          </a:prstGeom>
          <a:noFill/>
          <a:ln/>
        </p:spPr>
        <p:txBody>
          <a:bodyPr wrap="square" lIns="0" tIns="0" rIns="0" bIns="0" rtlCol="0" anchor="ctr"/>
          <a:lstStyle/>
          <a:p>
            <a:pPr indent="0" marL="0">
              <a:buNone/>
            </a:pPr>
            <a:r>
              <a:rPr lang="en-US" sz="1300" spc="100" kern="0" dirty="0">
                <a:solidFill>
                  <a:srgbClr val="FFFFFF"/>
                </a:solidFill>
              </a:rPr>
              <a:t>MA.5.FR.2.1   ·   MA.5.FR.2.3</a:t>
            </a:r>
            <a:endParaRPr lang="en-US" sz="1300" dirty="0"/>
          </a:p>
        </p:txBody>
      </p:sp>
      <p:sp>
        <p:nvSpPr>
          <p:cNvPr id="9" name="Text 7"/>
          <p:cNvSpPr/>
          <p:nvPr/>
        </p:nvSpPr>
        <p:spPr>
          <a:xfrm>
            <a:off x="457200" y="4206240"/>
            <a:ext cx="8229600" cy="365760"/>
          </a:xfrm>
          <a:prstGeom prst="rect">
            <a:avLst/>
          </a:prstGeom>
          <a:noFill/>
          <a:ln/>
        </p:spPr>
        <p:txBody>
          <a:bodyPr wrap="square" lIns="0" tIns="0" rIns="0" bIns="0" rtlCol="0" anchor="ctr"/>
          <a:lstStyle/>
          <a:p>
            <a:pPr indent="0" marL="0">
              <a:buNone/>
            </a:pPr>
            <a:r>
              <a:rPr lang="en-US" sz="1400" i="1" dirty="0">
                <a:solidFill>
                  <a:srgbClr val="CCCCEE"/>
                </a:solidFill>
              </a:rPr>
              <a:t>Teacher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Goal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Learning Objective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508760"/>
          </a:xfrm>
          <a:prstGeom prst="roundRect">
            <a:avLst>
              <a:gd name="adj" fmla="val 6061"/>
            </a:avLst>
          </a:prstGeom>
          <a:solidFill>
            <a:srgbClr val="EAE8F5"/>
          </a:solidFill>
          <a:ln w="6350">
            <a:solidFill>
              <a:srgbClr val="DDDDEE"/>
            </a:solidFill>
            <a:prstDash val="solid"/>
          </a:ln>
        </p:spPr>
      </p:sp>
      <p:sp>
        <p:nvSpPr>
          <p:cNvPr id="7" name="Text 5"/>
          <p:cNvSpPr/>
          <p:nvPr/>
        </p:nvSpPr>
        <p:spPr>
          <a:xfrm>
            <a:off x="685800" y="1078992"/>
            <a:ext cx="7772400" cy="347472"/>
          </a:xfrm>
          <a:prstGeom prst="rect">
            <a:avLst/>
          </a:prstGeom>
          <a:noFill/>
          <a:ln/>
        </p:spPr>
        <p:txBody>
          <a:bodyPr wrap="square" lIns="0" tIns="0" rIns="0" bIns="0" rtlCol="0" anchor="ctr"/>
          <a:lstStyle/>
          <a:p>
            <a:pPr indent="0" marL="0">
              <a:buNone/>
            </a:pPr>
            <a:r>
              <a:rPr lang="en-US" sz="1300" b="1" spc="100" kern="0" dirty="0">
                <a:solidFill>
                  <a:srgbClr val="4A3D8F"/>
                </a:solidFill>
              </a:rPr>
              <a:t>I can...</a:t>
            </a:r>
            <a:endParaRPr lang="en-US" sz="1300" dirty="0"/>
          </a:p>
        </p:txBody>
      </p:sp>
      <p:sp>
        <p:nvSpPr>
          <p:cNvPr id="8" name="Text 6"/>
          <p:cNvSpPr/>
          <p:nvPr/>
        </p:nvSpPr>
        <p:spPr>
          <a:xfrm>
            <a:off x="685800" y="1463040"/>
            <a:ext cx="7772400" cy="9601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read a word problem, choose the correct fraction-multiplication model, and solve it -- even when the whole is a mixed number.</a:t>
            </a:r>
            <a:endParaRPr lang="en-US" sz="1800" dirty="0"/>
          </a:p>
        </p:txBody>
      </p:sp>
      <p:sp>
        <p:nvSpPr>
          <p:cNvPr id="9" name="Shape 7"/>
          <p:cNvSpPr/>
          <p:nvPr/>
        </p:nvSpPr>
        <p:spPr>
          <a:xfrm>
            <a:off x="457200" y="2743200"/>
            <a:ext cx="8229600" cy="1280160"/>
          </a:xfrm>
          <a:prstGeom prst="roundRect">
            <a:avLst>
              <a:gd name="adj" fmla="val 7143"/>
            </a:avLst>
          </a:prstGeom>
          <a:solidFill>
            <a:srgbClr val="FFFFFF"/>
          </a:solidFill>
          <a:ln w="6350">
            <a:solidFill>
              <a:srgbClr val="DDDDEE"/>
            </a:solidFill>
            <a:prstDash val="solid"/>
          </a:ln>
        </p:spPr>
      </p:sp>
      <p:sp>
        <p:nvSpPr>
          <p:cNvPr id="10" name="Text 8"/>
          <p:cNvSpPr/>
          <p:nvPr/>
        </p:nvSpPr>
        <p:spPr>
          <a:xfrm>
            <a:off x="685800" y="2834640"/>
            <a:ext cx="7772400" cy="1097280"/>
          </a:xfrm>
          <a:prstGeom prst="rect">
            <a:avLst/>
          </a:prstGeom>
          <a:noFill/>
          <a:ln/>
        </p:spPr>
        <p:txBody>
          <a:bodyPr wrap="square" lIns="0" tIns="0" rIns="0" bIns="0" rtlCol="0" anchor="ctr"/>
          <a:lstStyle/>
          <a:p>
            <a:pPr indent="0" marL="0">
              <a:buNone/>
            </a:pPr>
            <a:r>
              <a:rPr lang="en-US" sz="1600" i="1" dirty="0">
                <a:solidFill>
                  <a:srgbClr val="5A5A7A"/>
                </a:solidFill>
                <a:latin typeface="Cambria" pitchFamily="34" charset="0"/>
                <a:ea typeface="Cambria" pitchFamily="34" charset="-122"/>
                <a:cs typeface="Cambria" pitchFamily="34" charset="-120"/>
              </a:rPr>
              <a:t>“A fraction product is easier to trust when you can see the pieces.”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Readiness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Warm-Up · 3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1371600"/>
          </a:xfrm>
          <a:prstGeom prst="roundRect">
            <a:avLst>
              <a:gd name="adj" fmla="val 6667"/>
            </a:avLst>
          </a:prstGeom>
          <a:solidFill>
            <a:srgbClr val="FFFFFF"/>
          </a:solidFill>
          <a:ln w="6350">
            <a:solidFill>
              <a:srgbClr val="DDDDEE"/>
            </a:solidFill>
            <a:prstDash val="solid"/>
          </a:ln>
        </p:spPr>
      </p:sp>
      <p:sp>
        <p:nvSpPr>
          <p:cNvPr id="7" name="Text 5"/>
          <p:cNvSpPr/>
          <p:nvPr/>
        </p:nvSpPr>
        <p:spPr>
          <a:xfrm>
            <a:off x="685800" y="1051560"/>
            <a:ext cx="7772400" cy="11887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Convert 2 1/2 to an improper fraction.</a:t>
            </a:r>
            <a:endParaRPr lang="en-US" sz="1800" dirty="0"/>
          </a:p>
        </p:txBody>
      </p:sp>
      <p:sp>
        <p:nvSpPr>
          <p:cNvPr id="8" name="Shape 6"/>
          <p:cNvSpPr/>
          <p:nvPr/>
        </p:nvSpPr>
        <p:spPr>
          <a:xfrm>
            <a:off x="457200" y="2468880"/>
            <a:ext cx="8229600" cy="1371600"/>
          </a:xfrm>
          <a:prstGeom prst="roundRect">
            <a:avLst>
              <a:gd name="adj" fmla="val 6667"/>
            </a:avLst>
          </a:prstGeom>
          <a:solidFill>
            <a:srgbClr val="EAE8F5"/>
          </a:solidFill>
          <a:ln w="6350">
            <a:solidFill>
              <a:srgbClr val="DDDDEE"/>
            </a:solidFill>
            <a:prstDash val="solid"/>
          </a:ln>
        </p:spPr>
      </p:sp>
      <p:sp>
        <p:nvSpPr>
          <p:cNvPr id="9" name="Text 7"/>
          <p:cNvSpPr/>
          <p:nvPr/>
        </p:nvSpPr>
        <p:spPr>
          <a:xfrm>
            <a:off x="685800" y="2560320"/>
            <a:ext cx="7772400" cy="11887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This week, what were the four different kinds of "wholes" we multiplied a fraction by?</a:t>
            </a:r>
            <a:endParaRPr lang="en-US" sz="1800" dirty="0"/>
          </a:p>
        </p:txBody>
      </p:sp>
      <p:sp>
        <p:nvSpPr>
          <p:cNvPr id="10" name="Shape 8"/>
          <p:cNvSpPr/>
          <p:nvPr/>
        </p:nvSpPr>
        <p:spPr>
          <a:xfrm>
            <a:off x="1371600" y="3977640"/>
            <a:ext cx="640080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1371600" y="39776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2 1/2 as an improper fraction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Mission</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Hook</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2103120"/>
          </a:xfrm>
          <a:prstGeom prst="roundRect">
            <a:avLst>
              <a:gd name="adj" fmla="val 4348"/>
            </a:avLst>
          </a:prstGeom>
          <a:solidFill>
            <a:srgbClr val="FFFFFF"/>
          </a:solidFill>
          <a:ln w="6350">
            <a:solidFill>
              <a:srgbClr val="DDDDEE"/>
            </a:solidFill>
            <a:prstDash val="solid"/>
          </a:ln>
        </p:spPr>
      </p:sp>
      <p:sp>
        <p:nvSpPr>
          <p:cNvPr id="7" name="Text 5"/>
          <p:cNvSpPr/>
          <p:nvPr/>
        </p:nvSpPr>
        <p:spPr>
          <a:xfrm>
            <a:off x="685800" y="1143000"/>
            <a:ext cx="7772400" cy="1828800"/>
          </a:xfrm>
          <a:prstGeom prst="rect">
            <a:avLst/>
          </a:prstGeom>
          <a:noFill/>
          <a:ln/>
        </p:spPr>
        <p:txBody>
          <a:bodyPr wrap="square" lIns="0" tIns="0" rIns="0" bIns="0" rtlCol="0" anchor="ctr"/>
          <a:lstStyle/>
          <a:p>
            <a:pPr indent="0" marL="0">
              <a:buNone/>
            </a:pPr>
            <a:r>
              <a:rPr lang="en-US" sz="2200" b="1" dirty="0">
                <a:solidFill>
                  <a:srgbClr val="4A3D8F"/>
                </a:solidFill>
                <a:latin typeface="Cambria" pitchFamily="34" charset="0"/>
                <a:ea typeface="Cambria" pitchFamily="34" charset="-122"/>
                <a:cs typeface="Cambria" pitchFamily="34" charset="-120"/>
              </a:rPr>
              <a:t>How do we choose the right fraction multiplication model for a story?</a:t>
            </a:r>
            <a:endParaRPr lang="en-US" sz="2200" dirty="0"/>
          </a:p>
        </p:txBody>
      </p:sp>
      <p:sp>
        <p:nvSpPr>
          <p:cNvPr id="8" name="Shape 6"/>
          <p:cNvSpPr/>
          <p:nvPr/>
        </p:nvSpPr>
        <p:spPr>
          <a:xfrm>
            <a:off x="457200" y="3291840"/>
            <a:ext cx="8229600" cy="914400"/>
          </a:xfrm>
          <a:prstGeom prst="roundRect">
            <a:avLst>
              <a:gd name="adj" fmla="val 10000"/>
            </a:avLst>
          </a:prstGeom>
          <a:solidFill>
            <a:srgbClr val="EAE8F5"/>
          </a:solidFill>
          <a:ln w="6350">
            <a:solidFill>
              <a:srgbClr val="DDDDEE"/>
            </a:solidFill>
            <a:prstDash val="solid"/>
          </a:ln>
        </p:spPr>
      </p:sp>
      <p:sp>
        <p:nvSpPr>
          <p:cNvPr id="9" name="Text 7"/>
          <p:cNvSpPr/>
          <p:nvPr/>
        </p:nvSpPr>
        <p:spPr>
          <a:xfrm>
            <a:off x="685800" y="3337560"/>
            <a:ext cx="7772400" cy="822960"/>
          </a:xfrm>
          <a:prstGeom prst="rect">
            <a:avLst/>
          </a:prstGeom>
          <a:noFill/>
          <a:ln/>
        </p:spPr>
        <p:txBody>
          <a:bodyPr wrap="square" lIns="0" tIns="0" rIns="0" bIns="0" rtlCol="0" anchor="ctr"/>
          <a:lstStyle/>
          <a:p>
            <a:pPr indent="0" marL="0">
              <a:buNone/>
            </a:pPr>
            <a:r>
              <a:rPr lang="en-US" sz="1500" i="1" dirty="0">
                <a:solidFill>
                  <a:srgbClr val="5A5A7A"/>
                </a:solidFill>
              </a:rPr>
              <a:t>A poster board is 2 1/2 feet wide. A design covers 3/5 of the width.</a:t>
            </a:r>
            <a:endParaRPr lang="en-US" sz="1500" dirty="0"/>
          </a:p>
        </p:txBody>
      </p:sp>
      <p:sp>
        <p:nvSpPr>
          <p:cNvPr id="10" name="Shape 8"/>
          <p:cNvSpPr/>
          <p:nvPr/>
        </p:nvSpPr>
        <p:spPr>
          <a:xfrm>
            <a:off x="1828800" y="4343400"/>
            <a:ext cx="548640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1828800" y="434340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best guess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Notice &amp; Wonder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Warm-Up</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051560"/>
            <a:ext cx="7772400" cy="1828800"/>
          </a:xfrm>
          <a:prstGeom prst="rect">
            <a:avLst/>
          </a:prstGeom>
          <a:noFill/>
          <a:ln/>
        </p:spPr>
        <p:txBody>
          <a:bodyPr wrap="square" lIns="0" tIns="0" rIns="0" bIns="0" rtlCol="0" anchor="ctr"/>
          <a:lstStyle/>
          <a:p>
            <a:pPr indent="0" marL="0">
              <a:buNone/>
            </a:pPr>
            <a:r>
              <a:rPr lang="en-US" sz="2000" dirty="0">
                <a:solidFill>
                  <a:srgbClr val="1A1A2E"/>
                </a:solidFill>
                <a:latin typeface="Cambria" pitchFamily="34" charset="0"/>
                <a:ea typeface="Cambria" pitchFamily="34" charset="-122"/>
                <a:cs typeface="Cambria" pitchFamily="34" charset="-120"/>
              </a:rPr>
              <a:t>Poster board: 2 1/2 feet wide</a:t>
            </a:r>
            <a:endParaRPr lang="en-US" sz="2000" dirty="0"/>
          </a:p>
          <a:p>
            <a:pPr indent="0" marL="0">
              <a:buNone/>
            </a:pPr>
            <a:r>
              <a:rPr lang="en-US" sz="2000" dirty="0">
                <a:solidFill>
                  <a:srgbClr val="1A1A2E"/>
                </a:solidFill>
                <a:latin typeface="Cambria" pitchFamily="34" charset="0"/>
                <a:ea typeface="Cambria" pitchFamily="34" charset="-122"/>
                <a:cs typeface="Cambria" pitchFamily="34" charset="-120"/>
              </a:rPr>
              <a:t>Design covers 3/5 of the width</a:t>
            </a:r>
            <a:endParaRPr lang="en-US" sz="2000" dirty="0"/>
          </a:p>
          <a:p>
            <a:pPr indent="0" marL="0">
              <a:buNone/>
            </a:pPr>
            <a:r>
              <a:rPr lang="en-US" sz="2000" dirty="0">
                <a:solidFill>
                  <a:srgbClr val="1A1A2E"/>
                </a:solidFill>
                <a:latin typeface="Cambria" pitchFamily="34" charset="0"/>
                <a:ea typeface="Cambria" pitchFamily="34" charset="-122"/>
                <a:cs typeface="Cambria" pitchFamily="34" charset="-120"/>
              </a:rPr>
              <a:t>The whole this time is a MIXED number</a:t>
            </a:r>
            <a:endParaRPr lang="en-US" sz="2000" dirty="0"/>
          </a:p>
        </p:txBody>
      </p:sp>
      <p:sp>
        <p:nvSpPr>
          <p:cNvPr id="8" name="Shape 6"/>
          <p:cNvSpPr/>
          <p:nvPr/>
        </p:nvSpPr>
        <p:spPr>
          <a:xfrm>
            <a:off x="457200" y="3154680"/>
            <a:ext cx="3931920" cy="1508760"/>
          </a:xfrm>
          <a:prstGeom prst="roundRect">
            <a:avLst>
              <a:gd name="adj" fmla="val 6061"/>
            </a:avLst>
          </a:prstGeom>
          <a:solidFill>
            <a:srgbClr val="EAE8F5"/>
          </a:solidFill>
          <a:ln w="6350">
            <a:solidFill>
              <a:srgbClr val="DDDDEE"/>
            </a:solidFill>
            <a:prstDash val="solid"/>
          </a:ln>
        </p:spPr>
      </p:sp>
      <p:sp>
        <p:nvSpPr>
          <p:cNvPr id="9" name="Text 7"/>
          <p:cNvSpPr/>
          <p:nvPr/>
        </p:nvSpPr>
        <p:spPr>
          <a:xfrm>
            <a:off x="640080" y="3246120"/>
            <a:ext cx="3566160" cy="347472"/>
          </a:xfrm>
          <a:prstGeom prst="rect">
            <a:avLst/>
          </a:prstGeom>
          <a:noFill/>
          <a:ln/>
        </p:spPr>
        <p:txBody>
          <a:bodyPr wrap="square" lIns="0" tIns="0" rIns="0" bIns="0" rtlCol="0" anchor="ctr"/>
          <a:lstStyle/>
          <a:p>
            <a:pPr indent="0" marL="0">
              <a:buNone/>
            </a:pPr>
            <a:r>
              <a:rPr lang="en-US" sz="1300" b="1" dirty="0">
                <a:solidFill>
                  <a:srgbClr val="4A3D8F"/>
                </a:solidFill>
              </a:rPr>
              <a:t>I notice...</a:t>
            </a:r>
            <a:endParaRPr lang="en-US" sz="1300" dirty="0"/>
          </a:p>
        </p:txBody>
      </p:sp>
      <p:sp>
        <p:nvSpPr>
          <p:cNvPr id="10" name="Shape 8"/>
          <p:cNvSpPr/>
          <p:nvPr/>
        </p:nvSpPr>
        <p:spPr>
          <a:xfrm>
            <a:off x="4754880" y="3154680"/>
            <a:ext cx="3931920" cy="1508760"/>
          </a:xfrm>
          <a:prstGeom prst="roundRect">
            <a:avLst>
              <a:gd name="adj" fmla="val 6061"/>
            </a:avLst>
          </a:prstGeom>
          <a:solidFill>
            <a:srgbClr val="E6F2EA"/>
          </a:solidFill>
          <a:ln w="6350">
            <a:solidFill>
              <a:srgbClr val="DDDDEE"/>
            </a:solidFill>
            <a:prstDash val="solid"/>
          </a:ln>
        </p:spPr>
      </p:sp>
      <p:sp>
        <p:nvSpPr>
          <p:cNvPr id="11" name="Text 9"/>
          <p:cNvSpPr/>
          <p:nvPr/>
        </p:nvSpPr>
        <p:spPr>
          <a:xfrm>
            <a:off x="4937760" y="3246120"/>
            <a:ext cx="3566160" cy="347472"/>
          </a:xfrm>
          <a:prstGeom prst="rect">
            <a:avLst/>
          </a:prstGeom>
          <a:noFill/>
          <a:ln/>
        </p:spPr>
        <p:txBody>
          <a:bodyPr wrap="square" lIns="0" tIns="0" rIns="0" bIns="0" rtlCol="0" anchor="ctr"/>
          <a:lstStyle/>
          <a:p>
            <a:pPr indent="0" marL="0">
              <a:buNone/>
            </a:pPr>
            <a:r>
              <a:rPr lang="en-US" sz="1300" b="1" dirty="0">
                <a:solidFill>
                  <a:srgbClr val="2E6E44"/>
                </a:solidFill>
              </a:rPr>
              <a:t>I wonder...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Concrete: Splitting a Mixed-Number Whole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Concrete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8229600" cy="365760"/>
          </a:xfrm>
          <a:prstGeom prst="roundRect">
            <a:avLst>
              <a:gd name="adj" fmla="val 25000"/>
            </a:avLst>
          </a:prstGeom>
          <a:solidFill>
            <a:srgbClr val="FFFFFF"/>
          </a:solidFill>
          <a:ln w="6350">
            <a:solidFill>
              <a:srgbClr val="DDDDEE"/>
            </a:solidFill>
            <a:prstDash val="solid"/>
          </a:ln>
        </p:spPr>
      </p:sp>
      <p:sp>
        <p:nvSpPr>
          <p:cNvPr id="7" name="Text 5"/>
          <p:cNvSpPr/>
          <p:nvPr/>
        </p:nvSpPr>
        <p:spPr>
          <a:xfrm>
            <a:off x="548640" y="914400"/>
            <a:ext cx="8046720" cy="365760"/>
          </a:xfrm>
          <a:prstGeom prst="rect">
            <a:avLst/>
          </a:prstGeom>
          <a:noFill/>
          <a:ln/>
        </p:spPr>
        <p:txBody>
          <a:bodyPr wrap="square" lIns="0" tIns="0" rIns="0" bIns="0" rtlCol="0" anchor="ctr"/>
          <a:lstStyle/>
          <a:p>
            <a:pPr algn="ctr" indent="0" marL="0">
              <a:buNone/>
            </a:pPr>
            <a:r>
              <a:rPr lang="en-US" sz="1200" b="1" dirty="0">
                <a:solidFill>
                  <a:srgbClr val="5A5A7A"/>
                </a:solidFill>
              </a:rPr>
              <a:t>2 1/2 feet = a whole part (2 ft) and a fraction part (1/2 ft) -- take 3/5 of each</a:t>
            </a:r>
            <a:endParaRPr lang="en-US" sz="1200" dirty="0"/>
          </a:p>
        </p:txBody>
      </p:sp>
      <p:sp>
        <p:nvSpPr>
          <p:cNvPr id="8" name="Shape 6"/>
          <p:cNvSpPr/>
          <p:nvPr/>
        </p:nvSpPr>
        <p:spPr>
          <a:xfrm>
            <a:off x="914400" y="1554480"/>
            <a:ext cx="3566160" cy="2377440"/>
          </a:xfrm>
          <a:prstGeom prst="roundRect">
            <a:avLst>
              <a:gd name="adj" fmla="val 3846"/>
            </a:avLst>
          </a:prstGeom>
          <a:solidFill>
            <a:srgbClr val="EAE8F5"/>
          </a:solidFill>
          <a:ln w="6350">
            <a:solidFill>
              <a:srgbClr val="DDDDEE"/>
            </a:solidFill>
            <a:prstDash val="solid"/>
          </a:ln>
        </p:spPr>
      </p:sp>
      <p:sp>
        <p:nvSpPr>
          <p:cNvPr id="9" name="Text 7"/>
          <p:cNvSpPr/>
          <p:nvPr/>
        </p:nvSpPr>
        <p:spPr>
          <a:xfrm>
            <a:off x="1097280" y="1691640"/>
            <a:ext cx="3200400" cy="365760"/>
          </a:xfrm>
          <a:prstGeom prst="rect">
            <a:avLst/>
          </a:prstGeom>
          <a:noFill/>
          <a:ln/>
        </p:spPr>
        <p:txBody>
          <a:bodyPr wrap="square" lIns="0" tIns="0" rIns="0" bIns="0" rtlCol="0" anchor="ctr"/>
          <a:lstStyle/>
          <a:p>
            <a:pPr indent="0" marL="0">
              <a:buNone/>
            </a:pPr>
            <a:r>
              <a:rPr lang="en-US" sz="1300" b="1" dirty="0">
                <a:solidFill>
                  <a:srgbClr val="4A3D8F"/>
                </a:solidFill>
              </a:rPr>
              <a:t>3/5 of the 2 whole feet</a:t>
            </a:r>
            <a:endParaRPr lang="en-US" sz="1300" dirty="0"/>
          </a:p>
        </p:txBody>
      </p:sp>
      <p:sp>
        <p:nvSpPr>
          <p:cNvPr id="10" name="Text 8"/>
          <p:cNvSpPr/>
          <p:nvPr/>
        </p:nvSpPr>
        <p:spPr>
          <a:xfrm>
            <a:off x="1097280" y="2651760"/>
            <a:ext cx="3200400" cy="548640"/>
          </a:xfrm>
          <a:prstGeom prst="rect">
            <a:avLst/>
          </a:prstGeom>
          <a:noFill/>
          <a:ln/>
        </p:spPr>
        <p:txBody>
          <a:bodyPr wrap="square" lIns="0" tIns="0" rIns="0" bIns="0" rtlCol="0" anchor="ctr"/>
          <a:lstStyle/>
          <a:p>
            <a:pPr indent="0" marL="0">
              <a:buNone/>
            </a:pPr>
            <a:r>
              <a:rPr lang="en-US" sz="1600" b="1" dirty="0">
                <a:solidFill>
                  <a:srgbClr val="1A1A2E"/>
                </a:solidFill>
                <a:latin typeface="Cambria" pitchFamily="34" charset="0"/>
                <a:ea typeface="Cambria" pitchFamily="34" charset="-122"/>
                <a:cs typeface="Cambria" pitchFamily="34" charset="-120"/>
              </a:rPr>
              <a:t>3/5 × 2 = 6/5 = 1 1/5 ft</a:t>
            </a:r>
            <a:endParaRPr lang="en-US" sz="1600" dirty="0"/>
          </a:p>
        </p:txBody>
      </p:sp>
      <p:sp>
        <p:nvSpPr>
          <p:cNvPr id="11" name="Shape 9"/>
          <p:cNvSpPr/>
          <p:nvPr/>
        </p:nvSpPr>
        <p:spPr>
          <a:xfrm>
            <a:off x="4663440" y="1554480"/>
            <a:ext cx="3566160" cy="2377440"/>
          </a:xfrm>
          <a:prstGeom prst="roundRect">
            <a:avLst>
              <a:gd name="adj" fmla="val 3846"/>
            </a:avLst>
          </a:prstGeom>
          <a:solidFill>
            <a:srgbClr val="E6F2EA"/>
          </a:solidFill>
          <a:ln w="6350">
            <a:solidFill>
              <a:srgbClr val="DDDDEE"/>
            </a:solidFill>
            <a:prstDash val="solid"/>
          </a:ln>
        </p:spPr>
      </p:sp>
      <p:sp>
        <p:nvSpPr>
          <p:cNvPr id="12" name="Text 10"/>
          <p:cNvSpPr/>
          <p:nvPr/>
        </p:nvSpPr>
        <p:spPr>
          <a:xfrm>
            <a:off x="4846320" y="1691640"/>
            <a:ext cx="3200400" cy="365760"/>
          </a:xfrm>
          <a:prstGeom prst="rect">
            <a:avLst/>
          </a:prstGeom>
          <a:noFill/>
          <a:ln/>
        </p:spPr>
        <p:txBody>
          <a:bodyPr wrap="square" lIns="0" tIns="0" rIns="0" bIns="0" rtlCol="0" anchor="ctr"/>
          <a:lstStyle/>
          <a:p>
            <a:pPr indent="0" marL="0">
              <a:buNone/>
            </a:pPr>
            <a:r>
              <a:rPr lang="en-US" sz="1300" b="1" dirty="0">
                <a:solidFill>
                  <a:srgbClr val="2E6E44"/>
                </a:solidFill>
              </a:rPr>
              <a:t>3/5 of the 1/2 foot left</a:t>
            </a:r>
            <a:endParaRPr lang="en-US" sz="1300" dirty="0"/>
          </a:p>
        </p:txBody>
      </p:sp>
      <p:sp>
        <p:nvSpPr>
          <p:cNvPr id="13" name="Text 11"/>
          <p:cNvSpPr/>
          <p:nvPr/>
        </p:nvSpPr>
        <p:spPr>
          <a:xfrm>
            <a:off x="4846320" y="2651760"/>
            <a:ext cx="3200400" cy="548640"/>
          </a:xfrm>
          <a:prstGeom prst="rect">
            <a:avLst/>
          </a:prstGeom>
          <a:noFill/>
          <a:ln/>
        </p:spPr>
        <p:txBody>
          <a:bodyPr wrap="square" lIns="0" tIns="0" rIns="0" bIns="0" rtlCol="0" anchor="ctr"/>
          <a:lstStyle/>
          <a:p>
            <a:pPr indent="0" marL="0">
              <a:buNone/>
            </a:pPr>
            <a:r>
              <a:rPr lang="en-US" sz="1600" b="1" dirty="0">
                <a:solidFill>
                  <a:srgbClr val="1A1A2E"/>
                </a:solidFill>
                <a:latin typeface="Cambria" pitchFamily="34" charset="0"/>
                <a:ea typeface="Cambria" pitchFamily="34" charset="-122"/>
                <a:cs typeface="Cambria" pitchFamily="34" charset="-120"/>
              </a:rPr>
              <a:t>3/5 × 1/2 = 3/10 ft</a:t>
            </a:r>
            <a:endParaRPr lang="en-US" sz="1600" dirty="0"/>
          </a:p>
        </p:txBody>
      </p:sp>
      <p:sp>
        <p:nvSpPr>
          <p:cNvPr id="14" name="Text 12"/>
          <p:cNvSpPr/>
          <p:nvPr/>
        </p:nvSpPr>
        <p:spPr>
          <a:xfrm>
            <a:off x="548640" y="4343400"/>
            <a:ext cx="8046720" cy="365760"/>
          </a:xfrm>
          <a:prstGeom prst="rect">
            <a:avLst/>
          </a:prstGeom>
          <a:noFill/>
          <a:ln/>
        </p:spPr>
        <p:txBody>
          <a:bodyPr wrap="square" lIns="0" tIns="0" rIns="0" bIns="0" rtlCol="0" anchor="ctr"/>
          <a:lstStyle/>
          <a:p>
            <a:pPr algn="ctr" indent="0" marL="0">
              <a:buNone/>
            </a:pPr>
            <a:r>
              <a:rPr lang="en-US" sz="1400" b="1" dirty="0">
                <a:solidFill>
                  <a:srgbClr val="4A3D8F"/>
                </a:solidFill>
              </a:rPr>
              <a:t>1 1/5 + 3/10 = 1 1/2 feet covered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Pictorial: The Number Line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Pictorial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914400" y="1874520"/>
            <a:ext cx="7315200" cy="0"/>
          </a:xfrm>
          <a:prstGeom prst="line">
            <a:avLst/>
          </a:prstGeom>
          <a:noFill/>
          <a:ln w="31750">
            <a:solidFill>
              <a:srgbClr val="1B2A4A"/>
            </a:solidFill>
            <a:prstDash val="solid"/>
          </a:ln>
        </p:spPr>
      </p:sp>
      <p:sp>
        <p:nvSpPr>
          <p:cNvPr id="7" name="Text 5"/>
          <p:cNvSpPr/>
          <p:nvPr/>
        </p:nvSpPr>
        <p:spPr>
          <a:xfrm>
            <a:off x="914400" y="1325880"/>
            <a:ext cx="7315200" cy="320040"/>
          </a:xfrm>
          <a:prstGeom prst="rect">
            <a:avLst/>
          </a:prstGeom>
          <a:noFill/>
          <a:ln/>
        </p:spPr>
        <p:txBody>
          <a:bodyPr wrap="square" lIns="0" tIns="0" rIns="0" bIns="0" rtlCol="0" anchor="ctr"/>
          <a:lstStyle/>
          <a:p>
            <a:pPr algn="ctr" indent="0" marL="0">
              <a:buNone/>
            </a:pPr>
            <a:r>
              <a:rPr lang="en-US" sz="1300" i="1" dirty="0">
                <a:solidFill>
                  <a:srgbClr val="5A5A7A"/>
                </a:solidFill>
              </a:rPr>
              <a:t>The full poster board width</a:t>
            </a:r>
            <a:endParaRPr lang="en-US" sz="1300" dirty="0"/>
          </a:p>
        </p:txBody>
      </p:sp>
      <p:sp>
        <p:nvSpPr>
          <p:cNvPr id="8" name="Shape 6"/>
          <p:cNvSpPr/>
          <p:nvPr/>
        </p:nvSpPr>
        <p:spPr>
          <a:xfrm>
            <a:off x="914400" y="1764792"/>
            <a:ext cx="0" cy="219456"/>
          </a:xfrm>
          <a:prstGeom prst="line">
            <a:avLst/>
          </a:prstGeom>
          <a:noFill/>
          <a:ln w="25400">
            <a:solidFill>
              <a:srgbClr val="1B2A4A"/>
            </a:solidFill>
            <a:prstDash val="solid"/>
          </a:ln>
        </p:spPr>
      </p:sp>
      <p:sp>
        <p:nvSpPr>
          <p:cNvPr id="9" name="Text 7"/>
          <p:cNvSpPr/>
          <p:nvPr/>
        </p:nvSpPr>
        <p:spPr>
          <a:xfrm>
            <a:off x="457200" y="200253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0</a:t>
            </a:r>
            <a:endParaRPr lang="en-US" sz="1100" dirty="0"/>
          </a:p>
        </p:txBody>
      </p:sp>
      <p:sp>
        <p:nvSpPr>
          <p:cNvPr id="10" name="Shape 8"/>
          <p:cNvSpPr/>
          <p:nvPr/>
        </p:nvSpPr>
        <p:spPr>
          <a:xfrm>
            <a:off x="3352800" y="1764792"/>
            <a:ext cx="0" cy="219456"/>
          </a:xfrm>
          <a:prstGeom prst="line">
            <a:avLst/>
          </a:prstGeom>
          <a:noFill/>
          <a:ln w="25400">
            <a:solidFill>
              <a:srgbClr val="1B2A4A"/>
            </a:solidFill>
            <a:prstDash val="solid"/>
          </a:ln>
        </p:spPr>
      </p:sp>
      <p:sp>
        <p:nvSpPr>
          <p:cNvPr id="11" name="Text 9"/>
          <p:cNvSpPr/>
          <p:nvPr/>
        </p:nvSpPr>
        <p:spPr>
          <a:xfrm>
            <a:off x="2895600" y="200253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1</a:t>
            </a:r>
            <a:endParaRPr lang="en-US" sz="1100" dirty="0"/>
          </a:p>
        </p:txBody>
      </p:sp>
      <p:sp>
        <p:nvSpPr>
          <p:cNvPr id="12" name="Shape 10"/>
          <p:cNvSpPr/>
          <p:nvPr/>
        </p:nvSpPr>
        <p:spPr>
          <a:xfrm>
            <a:off x="5791200" y="1764792"/>
            <a:ext cx="0" cy="219456"/>
          </a:xfrm>
          <a:prstGeom prst="line">
            <a:avLst/>
          </a:prstGeom>
          <a:noFill/>
          <a:ln w="25400">
            <a:solidFill>
              <a:srgbClr val="1B2A4A"/>
            </a:solidFill>
            <a:prstDash val="solid"/>
          </a:ln>
        </p:spPr>
      </p:sp>
      <p:sp>
        <p:nvSpPr>
          <p:cNvPr id="13" name="Text 11"/>
          <p:cNvSpPr/>
          <p:nvPr/>
        </p:nvSpPr>
        <p:spPr>
          <a:xfrm>
            <a:off x="5334000" y="200253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2</a:t>
            </a:r>
            <a:endParaRPr lang="en-US" sz="1100" dirty="0"/>
          </a:p>
        </p:txBody>
      </p:sp>
      <p:sp>
        <p:nvSpPr>
          <p:cNvPr id="14" name="Shape 12"/>
          <p:cNvSpPr/>
          <p:nvPr/>
        </p:nvSpPr>
        <p:spPr>
          <a:xfrm>
            <a:off x="8229600" y="1764792"/>
            <a:ext cx="0" cy="219456"/>
          </a:xfrm>
          <a:prstGeom prst="line">
            <a:avLst/>
          </a:prstGeom>
          <a:noFill/>
          <a:ln w="25400">
            <a:solidFill>
              <a:srgbClr val="1B2A4A"/>
            </a:solidFill>
            <a:prstDash val="solid"/>
          </a:ln>
        </p:spPr>
      </p:sp>
      <p:sp>
        <p:nvSpPr>
          <p:cNvPr id="15" name="Text 13"/>
          <p:cNvSpPr/>
          <p:nvPr/>
        </p:nvSpPr>
        <p:spPr>
          <a:xfrm>
            <a:off x="7772400" y="200253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3</a:t>
            </a:r>
            <a:endParaRPr lang="en-US" sz="1100" dirty="0"/>
          </a:p>
        </p:txBody>
      </p:sp>
      <p:sp>
        <p:nvSpPr>
          <p:cNvPr id="16" name="Shape 14"/>
          <p:cNvSpPr/>
          <p:nvPr/>
        </p:nvSpPr>
        <p:spPr>
          <a:xfrm>
            <a:off x="6928104" y="1792224"/>
            <a:ext cx="164592" cy="164592"/>
          </a:xfrm>
          <a:prstGeom prst="ellipse">
            <a:avLst/>
          </a:prstGeom>
          <a:solidFill>
            <a:srgbClr val="4A3D8F"/>
          </a:solidFill>
          <a:ln w="12700">
            <a:solidFill>
              <a:srgbClr val="FFFFFF"/>
            </a:solidFill>
            <a:prstDash val="solid"/>
          </a:ln>
        </p:spPr>
      </p:sp>
      <p:sp>
        <p:nvSpPr>
          <p:cNvPr id="17" name="Text 15"/>
          <p:cNvSpPr/>
          <p:nvPr/>
        </p:nvSpPr>
        <p:spPr>
          <a:xfrm>
            <a:off x="6324600" y="1417320"/>
            <a:ext cx="1371600" cy="274320"/>
          </a:xfrm>
          <a:prstGeom prst="rect">
            <a:avLst/>
          </a:prstGeom>
          <a:noFill/>
          <a:ln/>
        </p:spPr>
        <p:txBody>
          <a:bodyPr wrap="square" lIns="0" tIns="0" rIns="0" bIns="0" rtlCol="0" anchor="ctr"/>
          <a:lstStyle/>
          <a:p>
            <a:pPr algn="ctr" indent="0" marL="0">
              <a:buNone/>
            </a:pPr>
            <a:r>
              <a:rPr lang="en-US" sz="1200" b="1" dirty="0">
                <a:solidFill>
                  <a:srgbClr val="4A3D8F"/>
                </a:solidFill>
              </a:rPr>
              <a:t>2 1/2 (whole width)</a:t>
            </a:r>
            <a:endParaRPr lang="en-US" sz="1200" dirty="0"/>
          </a:p>
        </p:txBody>
      </p:sp>
      <p:sp>
        <p:nvSpPr>
          <p:cNvPr id="18" name="Shape 16"/>
          <p:cNvSpPr/>
          <p:nvPr/>
        </p:nvSpPr>
        <p:spPr>
          <a:xfrm>
            <a:off x="914400" y="3703320"/>
            <a:ext cx="7315200" cy="0"/>
          </a:xfrm>
          <a:prstGeom prst="line">
            <a:avLst/>
          </a:prstGeom>
          <a:noFill/>
          <a:ln w="31750">
            <a:solidFill>
              <a:srgbClr val="1B2A4A"/>
            </a:solidFill>
            <a:prstDash val="solid"/>
          </a:ln>
        </p:spPr>
      </p:sp>
      <p:sp>
        <p:nvSpPr>
          <p:cNvPr id="19" name="Text 17"/>
          <p:cNvSpPr/>
          <p:nvPr/>
        </p:nvSpPr>
        <p:spPr>
          <a:xfrm>
            <a:off x="914400" y="3154680"/>
            <a:ext cx="7315200" cy="320040"/>
          </a:xfrm>
          <a:prstGeom prst="rect">
            <a:avLst/>
          </a:prstGeom>
          <a:noFill/>
          <a:ln/>
        </p:spPr>
        <p:txBody>
          <a:bodyPr wrap="square" lIns="0" tIns="0" rIns="0" bIns="0" rtlCol="0" anchor="ctr"/>
          <a:lstStyle/>
          <a:p>
            <a:pPr algn="ctr" indent="0" marL="0">
              <a:buNone/>
            </a:pPr>
            <a:r>
              <a:rPr lang="en-US" sz="1300" i="1" dirty="0">
                <a:solidFill>
                  <a:srgbClr val="5A5A7A"/>
                </a:solidFill>
              </a:rPr>
              <a:t>3/5 of 2 1/2 lands at 1 1/2 -- just over halfway</a:t>
            </a:r>
            <a:endParaRPr lang="en-US" sz="1300" dirty="0"/>
          </a:p>
        </p:txBody>
      </p:sp>
      <p:sp>
        <p:nvSpPr>
          <p:cNvPr id="20" name="Shape 18"/>
          <p:cNvSpPr/>
          <p:nvPr/>
        </p:nvSpPr>
        <p:spPr>
          <a:xfrm>
            <a:off x="914400" y="3593592"/>
            <a:ext cx="0" cy="219456"/>
          </a:xfrm>
          <a:prstGeom prst="line">
            <a:avLst/>
          </a:prstGeom>
          <a:noFill/>
          <a:ln w="25400">
            <a:solidFill>
              <a:srgbClr val="1B2A4A"/>
            </a:solidFill>
            <a:prstDash val="solid"/>
          </a:ln>
        </p:spPr>
      </p:sp>
      <p:sp>
        <p:nvSpPr>
          <p:cNvPr id="21" name="Text 19"/>
          <p:cNvSpPr/>
          <p:nvPr/>
        </p:nvSpPr>
        <p:spPr>
          <a:xfrm>
            <a:off x="457200" y="383133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0</a:t>
            </a:r>
            <a:endParaRPr lang="en-US" sz="1100" dirty="0"/>
          </a:p>
        </p:txBody>
      </p:sp>
      <p:sp>
        <p:nvSpPr>
          <p:cNvPr id="22" name="Shape 20"/>
          <p:cNvSpPr/>
          <p:nvPr/>
        </p:nvSpPr>
        <p:spPr>
          <a:xfrm>
            <a:off x="3352800" y="3593592"/>
            <a:ext cx="0" cy="219456"/>
          </a:xfrm>
          <a:prstGeom prst="line">
            <a:avLst/>
          </a:prstGeom>
          <a:noFill/>
          <a:ln w="25400">
            <a:solidFill>
              <a:srgbClr val="1B2A4A"/>
            </a:solidFill>
            <a:prstDash val="solid"/>
          </a:ln>
        </p:spPr>
      </p:sp>
      <p:sp>
        <p:nvSpPr>
          <p:cNvPr id="23" name="Text 21"/>
          <p:cNvSpPr/>
          <p:nvPr/>
        </p:nvSpPr>
        <p:spPr>
          <a:xfrm>
            <a:off x="2895600" y="383133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1</a:t>
            </a:r>
            <a:endParaRPr lang="en-US" sz="1100" dirty="0"/>
          </a:p>
        </p:txBody>
      </p:sp>
      <p:sp>
        <p:nvSpPr>
          <p:cNvPr id="24" name="Shape 22"/>
          <p:cNvSpPr/>
          <p:nvPr/>
        </p:nvSpPr>
        <p:spPr>
          <a:xfrm>
            <a:off x="5791200" y="3593592"/>
            <a:ext cx="0" cy="219456"/>
          </a:xfrm>
          <a:prstGeom prst="line">
            <a:avLst/>
          </a:prstGeom>
          <a:noFill/>
          <a:ln w="25400">
            <a:solidFill>
              <a:srgbClr val="1B2A4A"/>
            </a:solidFill>
            <a:prstDash val="solid"/>
          </a:ln>
        </p:spPr>
      </p:sp>
      <p:sp>
        <p:nvSpPr>
          <p:cNvPr id="25" name="Text 23"/>
          <p:cNvSpPr/>
          <p:nvPr/>
        </p:nvSpPr>
        <p:spPr>
          <a:xfrm>
            <a:off x="5334000" y="383133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2</a:t>
            </a:r>
            <a:endParaRPr lang="en-US" sz="1100" dirty="0"/>
          </a:p>
        </p:txBody>
      </p:sp>
      <p:sp>
        <p:nvSpPr>
          <p:cNvPr id="26" name="Shape 24"/>
          <p:cNvSpPr/>
          <p:nvPr/>
        </p:nvSpPr>
        <p:spPr>
          <a:xfrm>
            <a:off x="8229600" y="3593592"/>
            <a:ext cx="0" cy="219456"/>
          </a:xfrm>
          <a:prstGeom prst="line">
            <a:avLst/>
          </a:prstGeom>
          <a:noFill/>
          <a:ln w="25400">
            <a:solidFill>
              <a:srgbClr val="1B2A4A"/>
            </a:solidFill>
            <a:prstDash val="solid"/>
          </a:ln>
        </p:spPr>
      </p:sp>
      <p:sp>
        <p:nvSpPr>
          <p:cNvPr id="27" name="Text 25"/>
          <p:cNvSpPr/>
          <p:nvPr/>
        </p:nvSpPr>
        <p:spPr>
          <a:xfrm>
            <a:off x="7772400" y="3831336"/>
            <a:ext cx="914400" cy="274320"/>
          </a:xfrm>
          <a:prstGeom prst="rect">
            <a:avLst/>
          </a:prstGeom>
          <a:noFill/>
          <a:ln/>
        </p:spPr>
        <p:txBody>
          <a:bodyPr wrap="square" lIns="0" tIns="0" rIns="0" bIns="0" rtlCol="0" anchor="ctr"/>
          <a:lstStyle/>
          <a:p>
            <a:pPr algn="ctr" indent="0" marL="0">
              <a:buNone/>
            </a:pPr>
            <a:r>
              <a:rPr lang="en-US" sz="1100" dirty="0">
                <a:solidFill>
                  <a:srgbClr val="1A1A2E"/>
                </a:solidFill>
              </a:rPr>
              <a:t>3</a:t>
            </a:r>
            <a:endParaRPr lang="en-US" sz="1100" dirty="0"/>
          </a:p>
        </p:txBody>
      </p:sp>
      <p:sp>
        <p:nvSpPr>
          <p:cNvPr id="28" name="Shape 26"/>
          <p:cNvSpPr/>
          <p:nvPr/>
        </p:nvSpPr>
        <p:spPr>
          <a:xfrm>
            <a:off x="4489704" y="3621024"/>
            <a:ext cx="164592" cy="164592"/>
          </a:xfrm>
          <a:prstGeom prst="ellipse">
            <a:avLst/>
          </a:prstGeom>
          <a:solidFill>
            <a:srgbClr val="4A3D8F"/>
          </a:solidFill>
          <a:ln w="12700">
            <a:solidFill>
              <a:srgbClr val="FFFFFF"/>
            </a:solidFill>
            <a:prstDash val="solid"/>
          </a:ln>
        </p:spPr>
      </p:sp>
      <p:sp>
        <p:nvSpPr>
          <p:cNvPr id="29" name="Text 27"/>
          <p:cNvSpPr/>
          <p:nvPr/>
        </p:nvSpPr>
        <p:spPr>
          <a:xfrm>
            <a:off x="3886200" y="3246120"/>
            <a:ext cx="1371600" cy="274320"/>
          </a:xfrm>
          <a:prstGeom prst="rect">
            <a:avLst/>
          </a:prstGeom>
          <a:noFill/>
          <a:ln/>
        </p:spPr>
        <p:txBody>
          <a:bodyPr wrap="square" lIns="0" tIns="0" rIns="0" bIns="0" rtlCol="0" anchor="ctr"/>
          <a:lstStyle/>
          <a:p>
            <a:pPr algn="ctr" indent="0" marL="0">
              <a:buNone/>
            </a:pPr>
            <a:r>
              <a:rPr lang="en-US" sz="1200" b="1" dirty="0">
                <a:solidFill>
                  <a:srgbClr val="4A3D8F"/>
                </a:solidFill>
              </a:rPr>
              <a:t>1 1/2 (design width)</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Abstract: One Rule for Every Whole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Abstract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371600"/>
          </a:xfrm>
          <a:prstGeom prst="roundRect">
            <a:avLst>
              <a:gd name="adj" fmla="val 6667"/>
            </a:avLst>
          </a:prstGeom>
          <a:solidFill>
            <a:srgbClr val="EAE8F5"/>
          </a:solidFill>
          <a:ln w="6350">
            <a:solidFill>
              <a:srgbClr val="DDDDEE"/>
            </a:solidFill>
            <a:prstDash val="solid"/>
          </a:ln>
        </p:spPr>
      </p:sp>
      <p:sp>
        <p:nvSpPr>
          <p:cNvPr id="7" name="Text 5"/>
          <p:cNvSpPr/>
          <p:nvPr/>
        </p:nvSpPr>
        <p:spPr>
          <a:xfrm>
            <a:off x="640080" y="1143000"/>
            <a:ext cx="7863840" cy="1097280"/>
          </a:xfrm>
          <a:prstGeom prst="rect">
            <a:avLst/>
          </a:prstGeom>
          <a:noFill/>
          <a:ln/>
        </p:spPr>
        <p:txBody>
          <a:bodyPr wrap="square" lIns="0" tIns="0" rIns="0" bIns="0" rtlCol="0" anchor="ctr"/>
          <a:lstStyle/>
          <a:p>
            <a:pPr algn="ctr" indent="0" marL="0">
              <a:buNone/>
            </a:pPr>
            <a:r>
              <a:rPr lang="en-US" sz="1900" b="1" dirty="0">
                <a:solidFill>
                  <a:srgbClr val="4A3D8F"/>
                </a:solidFill>
                <a:latin typeface="Cambria" pitchFamily="34" charset="0"/>
                <a:ea typeface="Cambria" pitchFamily="34" charset="-122"/>
                <a:cs typeface="Cambria" pitchFamily="34" charset="-120"/>
              </a:rPr>
              <a:t>3/5 × 2 1/2 = 3/5 × 5/2 = 15/10 = 1 1/2</a:t>
            </a:r>
            <a:endParaRPr lang="en-US" sz="1900" dirty="0"/>
          </a:p>
        </p:txBody>
      </p:sp>
      <p:sp>
        <p:nvSpPr>
          <p:cNvPr id="8" name="Shape 6"/>
          <p:cNvSpPr/>
          <p:nvPr/>
        </p:nvSpPr>
        <p:spPr>
          <a:xfrm>
            <a:off x="457200" y="2606040"/>
            <a:ext cx="8229600" cy="1554480"/>
          </a:xfrm>
          <a:prstGeom prst="roundRect">
            <a:avLst>
              <a:gd name="adj" fmla="val 5882"/>
            </a:avLst>
          </a:prstGeom>
          <a:solidFill>
            <a:srgbClr val="FFFFFF"/>
          </a:solidFill>
          <a:ln w="6350">
            <a:solidFill>
              <a:srgbClr val="DDDDEE"/>
            </a:solidFill>
            <a:prstDash val="solid"/>
          </a:ln>
        </p:spPr>
      </p:sp>
      <p:sp>
        <p:nvSpPr>
          <p:cNvPr id="9" name="Text 7"/>
          <p:cNvSpPr/>
          <p:nvPr/>
        </p:nvSpPr>
        <p:spPr>
          <a:xfrm>
            <a:off x="685800" y="2743200"/>
            <a:ext cx="7772400" cy="128016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Rule: convert any mixed number to an improper fraction first. After that, every word problem uses the exact same multiply-then-simplify rule.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Three Factors in One Story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Gap-Fill · Multi-Factor Expressions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1188720"/>
          </a:xfrm>
          <a:prstGeom prst="roundRect">
            <a:avLst>
              <a:gd name="adj" fmla="val 7692"/>
            </a:avLst>
          </a:prstGeom>
          <a:solidFill>
            <a:srgbClr val="FFFFFF"/>
          </a:solidFill>
          <a:ln w="6350">
            <a:solidFill>
              <a:srgbClr val="DDDDEE"/>
            </a:solidFill>
            <a:prstDash val="solid"/>
          </a:ln>
        </p:spPr>
      </p:sp>
      <p:sp>
        <p:nvSpPr>
          <p:cNvPr id="7" name="Text 5"/>
          <p:cNvSpPr/>
          <p:nvPr/>
        </p:nvSpPr>
        <p:spPr>
          <a:xfrm>
            <a:off x="685800" y="1051560"/>
            <a:ext cx="7772400" cy="1005840"/>
          </a:xfrm>
          <a:prstGeom prst="rect">
            <a:avLst/>
          </a:prstGeom>
          <a:noFill/>
          <a:ln/>
        </p:spPr>
        <p:txBody>
          <a:bodyPr wrap="square" lIns="0" tIns="0" rIns="0" bIns="0" rtlCol="0" anchor="ctr"/>
          <a:lstStyle/>
          <a:p>
            <a:pPr indent="0" marL="0">
              <a:buNone/>
            </a:pPr>
            <a:r>
              <a:rPr lang="en-US" sz="1500" b="1" dirty="0">
                <a:solidFill>
                  <a:srgbClr val="4A3D8F"/>
                </a:solidFill>
                <a:latin typeface="Cambria" pitchFamily="34" charset="0"/>
                <a:ea typeface="Cambria" pitchFamily="34" charset="-122"/>
                <a:cs typeface="Cambria" pitchFamily="34" charset="-120"/>
              </a:rPr>
              <a:t>Leo practices piano 1 1/4 hours each day, 5 days a week, for 3 weeks. How many hours total?</a:t>
            </a:r>
            <a:endParaRPr lang="en-US" sz="1500" dirty="0"/>
          </a:p>
        </p:txBody>
      </p:sp>
      <p:sp>
        <p:nvSpPr>
          <p:cNvPr id="8" name="Shape 6"/>
          <p:cNvSpPr/>
          <p:nvPr/>
        </p:nvSpPr>
        <p:spPr>
          <a:xfrm>
            <a:off x="457200" y="2286000"/>
            <a:ext cx="8229600" cy="1920240"/>
          </a:xfrm>
          <a:prstGeom prst="roundRect">
            <a:avLst>
              <a:gd name="adj" fmla="val 4762"/>
            </a:avLst>
          </a:prstGeom>
          <a:solidFill>
            <a:srgbClr val="EAE8F5"/>
          </a:solidFill>
          <a:ln w="6350">
            <a:solidFill>
              <a:srgbClr val="DDDDEE"/>
            </a:solidFill>
            <a:prstDash val="solid"/>
          </a:ln>
        </p:spPr>
      </p:sp>
      <p:sp>
        <p:nvSpPr>
          <p:cNvPr id="9" name="Text 7"/>
          <p:cNvSpPr/>
          <p:nvPr/>
        </p:nvSpPr>
        <p:spPr>
          <a:xfrm>
            <a:off x="685800" y="2423160"/>
            <a:ext cx="7772400" cy="530352"/>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Write one expression: 1 1/4 × 5 × 3.</a:t>
            </a:r>
            <a:endParaRPr lang="en-US" sz="1400" dirty="0"/>
          </a:p>
        </p:txBody>
      </p:sp>
      <p:sp>
        <p:nvSpPr>
          <p:cNvPr id="10" name="Text 8"/>
          <p:cNvSpPr/>
          <p:nvPr/>
        </p:nvSpPr>
        <p:spPr>
          <a:xfrm>
            <a:off x="685800" y="2990088"/>
            <a:ext cx="7772400" cy="530352"/>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Multiply left to right: 1 1/4 × 5 = 25/4 = 6 1/4 hours per week.</a:t>
            </a:r>
            <a:endParaRPr lang="en-US" sz="1400" dirty="0"/>
          </a:p>
        </p:txBody>
      </p:sp>
      <p:sp>
        <p:nvSpPr>
          <p:cNvPr id="11" name="Text 9"/>
          <p:cNvSpPr/>
          <p:nvPr/>
        </p:nvSpPr>
        <p:spPr>
          <a:xfrm>
            <a:off x="685800" y="3557016"/>
            <a:ext cx="7772400" cy="530352"/>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6 1/4 × 3 = 75/4 = 18 3/4 hours in 3 weeks.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Vocabulary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Key Terms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3977640" cy="1600200"/>
          </a:xfrm>
          <a:prstGeom prst="roundRect">
            <a:avLst>
              <a:gd name="adj" fmla="val 5714"/>
            </a:avLst>
          </a:prstGeom>
          <a:solidFill>
            <a:srgbClr val="FFFFFF"/>
          </a:solidFill>
          <a:ln w="6350">
            <a:solidFill>
              <a:srgbClr val="DDDDEE"/>
            </a:solidFill>
            <a:prstDash val="solid"/>
          </a:ln>
        </p:spPr>
      </p:sp>
      <p:sp>
        <p:nvSpPr>
          <p:cNvPr id="7" name="Text 5"/>
          <p:cNvSpPr/>
          <p:nvPr/>
        </p:nvSpPr>
        <p:spPr>
          <a:xfrm>
            <a:off x="640080" y="1069848"/>
            <a:ext cx="3657600" cy="457200"/>
          </a:xfrm>
          <a:prstGeom prst="rect">
            <a:avLst/>
          </a:prstGeom>
          <a:noFill/>
          <a:ln/>
        </p:spPr>
        <p:txBody>
          <a:bodyPr wrap="square" lIns="0" tIns="0" rIns="0" bIns="0" rtlCol="0" anchor="ctr"/>
          <a:lstStyle/>
          <a:p>
            <a:pPr indent="0" marL="0">
              <a:buNone/>
            </a:pPr>
            <a:r>
              <a:rPr lang="en-US" sz="1500" b="1" dirty="0">
                <a:solidFill>
                  <a:srgbClr val="4A3D8F"/>
                </a:solidFill>
                <a:latin typeface="Cambria" pitchFamily="34" charset="0"/>
                <a:ea typeface="Cambria" pitchFamily="34" charset="-122"/>
                <a:cs typeface="Cambria" pitchFamily="34" charset="-120"/>
              </a:rPr>
              <a:t>whole</a:t>
            </a:r>
            <a:endParaRPr lang="en-US" sz="1500" dirty="0"/>
          </a:p>
        </p:txBody>
      </p:sp>
      <p:sp>
        <p:nvSpPr>
          <p:cNvPr id="8" name="Text 6"/>
          <p:cNvSpPr/>
          <p:nvPr/>
        </p:nvSpPr>
        <p:spPr>
          <a:xfrm>
            <a:off x="640080" y="1581912"/>
            <a:ext cx="3657600" cy="868680"/>
          </a:xfrm>
          <a:prstGeom prst="rect">
            <a:avLst/>
          </a:prstGeom>
          <a:noFill/>
          <a:ln/>
        </p:spPr>
        <p:txBody>
          <a:bodyPr wrap="square" lIns="0" tIns="0" rIns="0" bIns="0" rtlCol="0" anchor="ctr"/>
          <a:lstStyle/>
          <a:p>
            <a:pPr indent="0" marL="0">
              <a:buNone/>
            </a:pPr>
            <a:r>
              <a:rPr lang="en-US" sz="1300" dirty="0">
                <a:solidFill>
                  <a:srgbClr val="1A1A2E"/>
                </a:solidFill>
              </a:rPr>
              <a:t>the total quantity a fraction is taken from -- can be a whole number or a mixed number.</a:t>
            </a:r>
            <a:endParaRPr lang="en-US" sz="1300" dirty="0"/>
          </a:p>
        </p:txBody>
      </p:sp>
      <p:sp>
        <p:nvSpPr>
          <p:cNvPr id="9" name="Shape 7"/>
          <p:cNvSpPr/>
          <p:nvPr/>
        </p:nvSpPr>
        <p:spPr>
          <a:xfrm>
            <a:off x="4709160" y="960120"/>
            <a:ext cx="3977640" cy="1600200"/>
          </a:xfrm>
          <a:prstGeom prst="roundRect">
            <a:avLst>
              <a:gd name="adj" fmla="val 5714"/>
            </a:avLst>
          </a:prstGeom>
          <a:solidFill>
            <a:srgbClr val="FFFFFF"/>
          </a:solidFill>
          <a:ln w="6350">
            <a:solidFill>
              <a:srgbClr val="DDDDEE"/>
            </a:solidFill>
            <a:prstDash val="solid"/>
          </a:ln>
        </p:spPr>
      </p:sp>
      <p:sp>
        <p:nvSpPr>
          <p:cNvPr id="10" name="Text 8"/>
          <p:cNvSpPr/>
          <p:nvPr/>
        </p:nvSpPr>
        <p:spPr>
          <a:xfrm>
            <a:off x="4892040" y="1069848"/>
            <a:ext cx="3657600" cy="457200"/>
          </a:xfrm>
          <a:prstGeom prst="rect">
            <a:avLst/>
          </a:prstGeom>
          <a:noFill/>
          <a:ln/>
        </p:spPr>
        <p:txBody>
          <a:bodyPr wrap="square" lIns="0" tIns="0" rIns="0" bIns="0" rtlCol="0" anchor="ctr"/>
          <a:lstStyle/>
          <a:p>
            <a:pPr indent="0" marL="0">
              <a:buNone/>
            </a:pPr>
            <a:r>
              <a:rPr lang="en-US" sz="1500" b="1" dirty="0">
                <a:solidFill>
                  <a:srgbClr val="4A3D8F"/>
                </a:solidFill>
                <a:latin typeface="Cambria" pitchFamily="34" charset="0"/>
                <a:ea typeface="Cambria" pitchFamily="34" charset="-122"/>
                <a:cs typeface="Cambria" pitchFamily="34" charset="-120"/>
              </a:rPr>
              <a:t>expression</a:t>
            </a:r>
            <a:endParaRPr lang="en-US" sz="1500" dirty="0"/>
          </a:p>
        </p:txBody>
      </p:sp>
      <p:sp>
        <p:nvSpPr>
          <p:cNvPr id="11" name="Text 9"/>
          <p:cNvSpPr/>
          <p:nvPr/>
        </p:nvSpPr>
        <p:spPr>
          <a:xfrm>
            <a:off x="4892040" y="1581912"/>
            <a:ext cx="3657600" cy="868680"/>
          </a:xfrm>
          <a:prstGeom prst="rect">
            <a:avLst/>
          </a:prstGeom>
          <a:noFill/>
          <a:ln/>
        </p:spPr>
        <p:txBody>
          <a:bodyPr wrap="square" lIns="0" tIns="0" rIns="0" bIns="0" rtlCol="0" anchor="ctr"/>
          <a:lstStyle/>
          <a:p>
            <a:pPr indent="0" marL="0">
              <a:buNone/>
            </a:pPr>
            <a:r>
              <a:rPr lang="en-US" sz="1300" dirty="0">
                <a:solidFill>
                  <a:srgbClr val="1A1A2E"/>
                </a:solidFill>
              </a:rPr>
              <a:t>a math phrase like 1 1/4 × 5 × 3 that represents a problem without solving it yet.</a:t>
            </a:r>
            <a:endParaRPr lang="en-US" sz="1300" dirty="0"/>
          </a:p>
        </p:txBody>
      </p:sp>
      <p:sp>
        <p:nvSpPr>
          <p:cNvPr id="12" name="Shape 10"/>
          <p:cNvSpPr/>
          <p:nvPr/>
        </p:nvSpPr>
        <p:spPr>
          <a:xfrm>
            <a:off x="457200" y="2743200"/>
            <a:ext cx="3977640" cy="1600200"/>
          </a:xfrm>
          <a:prstGeom prst="roundRect">
            <a:avLst>
              <a:gd name="adj" fmla="val 5714"/>
            </a:avLst>
          </a:prstGeom>
          <a:solidFill>
            <a:srgbClr val="FFFFFF"/>
          </a:solidFill>
          <a:ln w="6350">
            <a:solidFill>
              <a:srgbClr val="DDDDEE"/>
            </a:solidFill>
            <a:prstDash val="solid"/>
          </a:ln>
        </p:spPr>
      </p:sp>
      <p:sp>
        <p:nvSpPr>
          <p:cNvPr id="13" name="Text 11"/>
          <p:cNvSpPr/>
          <p:nvPr/>
        </p:nvSpPr>
        <p:spPr>
          <a:xfrm>
            <a:off x="640080" y="2852928"/>
            <a:ext cx="3657600" cy="457200"/>
          </a:xfrm>
          <a:prstGeom prst="rect">
            <a:avLst/>
          </a:prstGeom>
          <a:noFill/>
          <a:ln/>
        </p:spPr>
        <p:txBody>
          <a:bodyPr wrap="square" lIns="0" tIns="0" rIns="0" bIns="0" rtlCol="0" anchor="ctr"/>
          <a:lstStyle/>
          <a:p>
            <a:pPr indent="0" marL="0">
              <a:buNone/>
            </a:pPr>
            <a:r>
              <a:rPr lang="en-US" sz="1500" b="1" dirty="0">
                <a:solidFill>
                  <a:srgbClr val="4A3D8F"/>
                </a:solidFill>
                <a:latin typeface="Cambria" pitchFamily="34" charset="0"/>
                <a:ea typeface="Cambria" pitchFamily="34" charset="-122"/>
                <a:cs typeface="Cambria" pitchFamily="34" charset="-120"/>
              </a:rPr>
              <a:t>improper fraction</a:t>
            </a:r>
            <a:endParaRPr lang="en-US" sz="1500" dirty="0"/>
          </a:p>
        </p:txBody>
      </p:sp>
      <p:sp>
        <p:nvSpPr>
          <p:cNvPr id="14" name="Text 12"/>
          <p:cNvSpPr/>
          <p:nvPr/>
        </p:nvSpPr>
        <p:spPr>
          <a:xfrm>
            <a:off x="640080" y="3364992"/>
            <a:ext cx="3657600" cy="868680"/>
          </a:xfrm>
          <a:prstGeom prst="rect">
            <a:avLst/>
          </a:prstGeom>
          <a:noFill/>
          <a:ln/>
        </p:spPr>
        <p:txBody>
          <a:bodyPr wrap="square" lIns="0" tIns="0" rIns="0" bIns="0" rtlCol="0" anchor="ctr"/>
          <a:lstStyle/>
          <a:p>
            <a:pPr indent="0" marL="0">
              <a:buNone/>
            </a:pPr>
            <a:r>
              <a:rPr lang="en-US" sz="1300" dirty="0">
                <a:solidFill>
                  <a:srgbClr val="1A1A2E"/>
                </a:solidFill>
              </a:rPr>
              <a:t>a fraction with a numerator equal to or greater than its denominator.</a:t>
            </a:r>
            <a:endParaRPr lang="en-US" sz="1300" dirty="0"/>
          </a:p>
        </p:txBody>
      </p:sp>
      <p:sp>
        <p:nvSpPr>
          <p:cNvPr id="15" name="Shape 13"/>
          <p:cNvSpPr/>
          <p:nvPr/>
        </p:nvSpPr>
        <p:spPr>
          <a:xfrm>
            <a:off x="4709160" y="2743200"/>
            <a:ext cx="3977640" cy="1600200"/>
          </a:xfrm>
          <a:prstGeom prst="roundRect">
            <a:avLst>
              <a:gd name="adj" fmla="val 5714"/>
            </a:avLst>
          </a:prstGeom>
          <a:solidFill>
            <a:srgbClr val="FFFFFF"/>
          </a:solidFill>
          <a:ln w="6350">
            <a:solidFill>
              <a:srgbClr val="DDDDEE"/>
            </a:solidFill>
            <a:prstDash val="solid"/>
          </a:ln>
        </p:spPr>
      </p:sp>
      <p:sp>
        <p:nvSpPr>
          <p:cNvPr id="16" name="Text 14"/>
          <p:cNvSpPr/>
          <p:nvPr/>
        </p:nvSpPr>
        <p:spPr>
          <a:xfrm>
            <a:off x="4892040" y="2852928"/>
            <a:ext cx="3657600" cy="457200"/>
          </a:xfrm>
          <a:prstGeom prst="rect">
            <a:avLst/>
          </a:prstGeom>
          <a:noFill/>
          <a:ln/>
        </p:spPr>
        <p:txBody>
          <a:bodyPr wrap="square" lIns="0" tIns="0" rIns="0" bIns="0" rtlCol="0" anchor="ctr"/>
          <a:lstStyle/>
          <a:p>
            <a:pPr indent="0" marL="0">
              <a:buNone/>
            </a:pPr>
            <a:r>
              <a:rPr lang="en-US" sz="1500" b="1" dirty="0">
                <a:solidFill>
                  <a:srgbClr val="4A3D8F"/>
                </a:solidFill>
                <a:latin typeface="Cambria" pitchFamily="34" charset="0"/>
                <a:ea typeface="Cambria" pitchFamily="34" charset="-122"/>
                <a:cs typeface="Cambria" pitchFamily="34" charset="-120"/>
              </a:rPr>
              <a:t>product</a:t>
            </a:r>
            <a:endParaRPr lang="en-US" sz="1500" dirty="0"/>
          </a:p>
        </p:txBody>
      </p:sp>
      <p:sp>
        <p:nvSpPr>
          <p:cNvPr id="17" name="Text 15"/>
          <p:cNvSpPr/>
          <p:nvPr/>
        </p:nvSpPr>
        <p:spPr>
          <a:xfrm>
            <a:off x="4892040" y="3364992"/>
            <a:ext cx="3657600" cy="868680"/>
          </a:xfrm>
          <a:prstGeom prst="rect">
            <a:avLst/>
          </a:prstGeom>
          <a:noFill/>
          <a:ln/>
        </p:spPr>
        <p:txBody>
          <a:bodyPr wrap="square" lIns="0" tIns="0" rIns="0" bIns="0" rtlCol="0" anchor="ctr"/>
          <a:lstStyle/>
          <a:p>
            <a:pPr indent="0" marL="0">
              <a:buNone/>
            </a:pPr>
            <a:r>
              <a:rPr lang="en-US" sz="1300" dirty="0">
                <a:solidFill>
                  <a:srgbClr val="1A1A2E"/>
                </a:solidFill>
              </a:rPr>
              <a:t>the result of multiplication.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Watch &amp; Follow</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Guided Practice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D9941A"/>
          </a:solidFill>
          <a:ln w="12700">
            <a:solidFill>
              <a:srgbClr val="D9941A"/>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457200" y="1371600"/>
            <a:ext cx="8229600" cy="2743200"/>
          </a:xfrm>
          <a:prstGeom prst="roundRect">
            <a:avLst>
              <a:gd name="adj" fmla="val 3333"/>
            </a:avLst>
          </a:prstGeom>
          <a:solidFill>
            <a:srgbClr val="FFFFFF"/>
          </a:solidFill>
          <a:ln w="6350">
            <a:solidFill>
              <a:srgbClr val="DDDDEE"/>
            </a:solidFill>
            <a:prstDash val="solid"/>
          </a:ln>
        </p:spPr>
      </p:sp>
      <p:sp>
        <p:nvSpPr>
          <p:cNvPr id="9" name="Text 7"/>
          <p:cNvSpPr/>
          <p:nvPr/>
        </p:nvSpPr>
        <p:spPr>
          <a:xfrm>
            <a:off x="640080" y="1463040"/>
            <a:ext cx="7863840" cy="685800"/>
          </a:xfrm>
          <a:prstGeom prst="rect">
            <a:avLst/>
          </a:prstGeom>
          <a:noFill/>
          <a:ln/>
        </p:spPr>
        <p:txBody>
          <a:bodyPr wrap="square" lIns="0" tIns="0" rIns="0" bIns="0" rtlCol="0" anchor="ctr"/>
          <a:lstStyle/>
          <a:p>
            <a:pPr indent="0" marL="0">
              <a:buNone/>
            </a:pPr>
            <a:r>
              <a:rPr lang="en-US" sz="1500" b="1" dirty="0">
                <a:solidFill>
                  <a:srgbClr val="1A1A2E"/>
                </a:solidFill>
                <a:latin typeface="Cambria" pitchFamily="34" charset="0"/>
                <a:ea typeface="Cambria" pitchFamily="34" charset="-122"/>
                <a:cs typeface="Cambria" pitchFamily="34" charset="-120"/>
              </a:rPr>
              <a:t>A jacket costs $48, on sale for 3/4 of the original price. What is the sale price?</a:t>
            </a:r>
            <a:endParaRPr lang="en-US" sz="1500" dirty="0"/>
          </a:p>
        </p:txBody>
      </p:sp>
      <p:sp>
        <p:nvSpPr>
          <p:cNvPr id="10" name="Text 8"/>
          <p:cNvSpPr/>
          <p:nvPr/>
        </p:nvSpPr>
        <p:spPr>
          <a:xfrm>
            <a:off x="822960" y="2194560"/>
            <a:ext cx="7498080" cy="41148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1. The whole is $48. The fraction is 3/4.</a:t>
            </a:r>
            <a:endParaRPr lang="en-US" sz="1400" dirty="0"/>
          </a:p>
        </p:txBody>
      </p:sp>
      <p:sp>
        <p:nvSpPr>
          <p:cNvPr id="11" name="Text 9"/>
          <p:cNvSpPr/>
          <p:nvPr/>
        </p:nvSpPr>
        <p:spPr>
          <a:xfrm>
            <a:off x="822960" y="2651760"/>
            <a:ext cx="7498080" cy="41148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2. Multiply: 48 × 3/4 = 144/4.</a:t>
            </a:r>
            <a:endParaRPr lang="en-US" sz="1400" dirty="0"/>
          </a:p>
        </p:txBody>
      </p:sp>
      <p:sp>
        <p:nvSpPr>
          <p:cNvPr id="12" name="Text 10"/>
          <p:cNvSpPr/>
          <p:nvPr/>
        </p:nvSpPr>
        <p:spPr>
          <a:xfrm>
            <a:off x="822960" y="3108960"/>
            <a:ext cx="7498080" cy="41148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3. Simplify: 144/4 = 36.</a:t>
            </a:r>
            <a:endParaRPr lang="en-US" sz="1400" dirty="0"/>
          </a:p>
        </p:txBody>
      </p:sp>
      <p:sp>
        <p:nvSpPr>
          <p:cNvPr id="13" name="Text 11"/>
          <p:cNvSpPr/>
          <p:nvPr/>
        </p:nvSpPr>
        <p:spPr>
          <a:xfrm>
            <a:off x="822960" y="3566160"/>
            <a:ext cx="7498080" cy="411480"/>
          </a:xfrm>
          <a:prstGeom prst="rect">
            <a:avLst/>
          </a:prstGeom>
          <a:noFill/>
          <a:ln/>
        </p:spPr>
        <p:txBody>
          <a:bodyPr wrap="square" lIns="0" tIns="0" rIns="0" bIns="0" rtlCol="0" anchor="ctr"/>
          <a:lstStyle/>
          <a:p>
            <a:pPr indent="0" marL="0">
              <a:buNone/>
            </a:pPr>
            <a:r>
              <a:rPr lang="en-US" sz="1400" dirty="0">
                <a:solidFill>
                  <a:srgbClr val="1A1A2E"/>
                </a:solidFill>
                <a:latin typeface="Cambria" pitchFamily="34" charset="0"/>
                <a:ea typeface="Cambria" pitchFamily="34" charset="-122"/>
                <a:cs typeface="Cambria" pitchFamily="34" charset="-120"/>
              </a:rPr>
              <a:t>4. The sale price is $36.</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Students Try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Independent Turn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188720"/>
            <a:ext cx="7772400" cy="1645920"/>
          </a:xfrm>
          <a:prstGeom prst="rect">
            <a:avLst/>
          </a:prstGeom>
          <a:noFill/>
          <a:ln/>
        </p:spPr>
        <p:txBody>
          <a:bodyPr wrap="square" lIns="0" tIns="0" rIns="0" bIns="0" rtlCol="0" anchor="ctr"/>
          <a:lstStyle/>
          <a:p>
            <a:pPr algn="ctr" indent="0" marL="0">
              <a:buNone/>
            </a:pPr>
            <a:r>
              <a:rPr lang="en-US" sz="2000" b="1" dirty="0">
                <a:solidFill>
                  <a:srgbClr val="4A3D8F"/>
                </a:solidFill>
                <a:latin typeface="Cambria" pitchFamily="34" charset="0"/>
                <a:ea typeface="Cambria" pitchFamily="34" charset="-122"/>
                <a:cs typeface="Cambria" pitchFamily="34" charset="-120"/>
              </a:rPr>
              <a:t>A rope is 5 2/3 feet long. Kai uses 3/4 of it. How long is the piece he uses?</a:t>
            </a:r>
            <a:endParaRPr lang="en-US" sz="2000" dirty="0"/>
          </a:p>
        </p:txBody>
      </p:sp>
      <p:sp>
        <p:nvSpPr>
          <p:cNvPr id="8" name="Shape 6"/>
          <p:cNvSpPr/>
          <p:nvPr/>
        </p:nvSpPr>
        <p:spPr>
          <a:xfrm>
            <a:off x="1828800" y="3291840"/>
            <a:ext cx="54864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1828800" y="329184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
        <p:nvSpPr>
          <p:cNvPr id="10" name="Shape 8"/>
          <p:cNvSpPr/>
          <p:nvPr/>
        </p:nvSpPr>
        <p:spPr>
          <a:xfrm>
            <a:off x="914400" y="3977640"/>
            <a:ext cx="7315200" cy="457200"/>
          </a:xfrm>
          <a:prstGeom prst="roundRect">
            <a:avLst>
              <a:gd name="adj" fmla="val 16000"/>
            </a:avLst>
          </a:prstGeom>
          <a:solidFill>
            <a:srgbClr val="1A5533"/>
          </a:solidFill>
          <a:ln w="12700">
            <a:solidFill>
              <a:srgbClr val="1A5533"/>
            </a:solidFill>
            <a:prstDash val="solid"/>
          </a:ln>
        </p:spPr>
      </p:sp>
      <p:sp>
        <p:nvSpPr>
          <p:cNvPr id="11" name="Text 9"/>
          <p:cNvSpPr/>
          <p:nvPr/>
        </p:nvSpPr>
        <p:spPr>
          <a:xfrm>
            <a:off x="914400" y="3977640"/>
            <a:ext cx="7315200" cy="457200"/>
          </a:xfrm>
          <a:prstGeom prst="rect">
            <a:avLst/>
          </a:prstGeom>
          <a:noFill/>
          <a:ln/>
        </p:spPr>
        <p:txBody>
          <a:bodyPr wrap="square" lIns="0" tIns="0" rIns="0" bIns="0" rtlCol="0" anchor="ctr"/>
          <a:lstStyle/>
          <a:p>
            <a:pPr algn="ctr" indent="0" marL="0">
              <a:buNone/>
            </a:pPr>
            <a:r>
              <a:rPr lang="en-US" sz="1300" dirty="0">
                <a:solidFill>
                  <a:srgbClr val="CCFFDD"/>
                </a:solidFill>
              </a:rPr>
              <a:t>Answer: 4 1/4 feet — 3/4 x 17/3 = 51/12 = 4 1/4.</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Connection Forward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Where This Leads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188720"/>
            <a:ext cx="8229600" cy="2286000"/>
          </a:xfrm>
          <a:prstGeom prst="roundRect">
            <a:avLst>
              <a:gd name="adj" fmla="val 4000"/>
            </a:avLst>
          </a:prstGeom>
          <a:solidFill>
            <a:srgbClr val="EAE8F5"/>
          </a:solidFill>
          <a:ln w="6350">
            <a:solidFill>
              <a:srgbClr val="DDDDEE"/>
            </a:solidFill>
            <a:prstDash val="solid"/>
          </a:ln>
        </p:spPr>
      </p:sp>
      <p:sp>
        <p:nvSpPr>
          <p:cNvPr id="7" name="Text 5"/>
          <p:cNvSpPr/>
          <p:nvPr/>
        </p:nvSpPr>
        <p:spPr>
          <a:xfrm>
            <a:off x="685800" y="1371600"/>
            <a:ext cx="7772400" cy="192024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You've now multiplied every combination of whole numbers, unit fractions, fractions, and mixed numbers. Next, the unit turns this around: dividing with fractions.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1700" b="1" dirty="0">
                <a:solidFill>
                  <a:srgbClr val="1A1A2E"/>
                </a:solidFill>
                <a:latin typeface="Cambria" pitchFamily="34" charset="0"/>
                <a:ea typeface="Cambria" pitchFamily="34" charset="-122"/>
                <a:cs typeface="Cambria" pitchFamily="34" charset="-120"/>
              </a:rPr>
              <a:t>A rectangle is 3 1/2 cm long and 2 2/5 cm wide. What is its area?</a:t>
            </a:r>
            <a:endParaRPr lang="en-US" sz="1700" dirty="0"/>
          </a:p>
        </p:txBody>
      </p:sp>
      <p:sp>
        <p:nvSpPr>
          <p:cNvPr id="8" name="Shape 6"/>
          <p:cNvSpPr/>
          <p:nvPr/>
        </p:nvSpPr>
        <p:spPr>
          <a:xfrm>
            <a:off x="914400" y="2103120"/>
            <a:ext cx="182880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91440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8 2/5</a:t>
            </a:r>
            <a:endParaRPr lang="en-US" sz="2000" dirty="0"/>
          </a:p>
        </p:txBody>
      </p:sp>
      <p:sp>
        <p:nvSpPr>
          <p:cNvPr id="10" name="Shape 8"/>
          <p:cNvSpPr/>
          <p:nvPr/>
        </p:nvSpPr>
        <p:spPr>
          <a:xfrm>
            <a:off x="2834640" y="2103120"/>
            <a:ext cx="182880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83464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5 9/10</a:t>
            </a:r>
            <a:endParaRPr lang="en-US" sz="2000" dirty="0"/>
          </a:p>
        </p:txBody>
      </p:sp>
      <p:sp>
        <p:nvSpPr>
          <p:cNvPr id="12" name="Shape 10"/>
          <p:cNvSpPr/>
          <p:nvPr/>
        </p:nvSpPr>
        <p:spPr>
          <a:xfrm>
            <a:off x="4754880" y="2103120"/>
            <a:ext cx="182880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75488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7</a:t>
            </a:r>
            <a:endParaRPr lang="en-US" sz="2000" dirty="0"/>
          </a:p>
        </p:txBody>
      </p:sp>
      <p:sp>
        <p:nvSpPr>
          <p:cNvPr id="14" name="Shape 12"/>
          <p:cNvSpPr/>
          <p:nvPr/>
        </p:nvSpPr>
        <p:spPr>
          <a:xfrm>
            <a:off x="6675120" y="2103120"/>
            <a:ext cx="182880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67512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6 1/5</a:t>
            </a:r>
            <a:endParaRPr lang="en-US" sz="2000" dirty="0"/>
          </a:p>
        </p:txBody>
      </p:sp>
      <p:sp>
        <p:nvSpPr>
          <p:cNvPr id="16" name="Shape 14"/>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7" name="Text 15"/>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1700" b="1" dirty="0">
                <a:solidFill>
                  <a:srgbClr val="1A1A2E"/>
                </a:solidFill>
                <a:latin typeface="Cambria" pitchFamily="34" charset="0"/>
                <a:ea typeface="Cambria" pitchFamily="34" charset="-122"/>
                <a:cs typeface="Cambria" pitchFamily="34" charset="-120"/>
              </a:rPr>
              <a:t>A rectangle is 3 1/2 cm long and 2 2/5 cm wide. What is its area?</a:t>
            </a:r>
            <a:endParaRPr lang="en-US" sz="1700" dirty="0"/>
          </a:p>
        </p:txBody>
      </p:sp>
      <p:sp>
        <p:nvSpPr>
          <p:cNvPr id="8" name="Shape 6"/>
          <p:cNvSpPr/>
          <p:nvPr/>
        </p:nvSpPr>
        <p:spPr>
          <a:xfrm>
            <a:off x="914400" y="2103120"/>
            <a:ext cx="1828800" cy="822960"/>
          </a:xfrm>
          <a:prstGeom prst="roundRect">
            <a:avLst>
              <a:gd name="adj" fmla="val 8889"/>
            </a:avLst>
          </a:prstGeom>
          <a:solidFill>
            <a:srgbClr val="2E6E44"/>
          </a:solidFill>
          <a:ln w="12700">
            <a:solidFill>
              <a:srgbClr val="2E6E44"/>
            </a:solidFill>
            <a:prstDash val="solid"/>
          </a:ln>
        </p:spPr>
      </p:sp>
      <p:sp>
        <p:nvSpPr>
          <p:cNvPr id="9" name="Text 7"/>
          <p:cNvSpPr/>
          <p:nvPr/>
        </p:nvSpPr>
        <p:spPr>
          <a:xfrm>
            <a:off x="914400" y="2103120"/>
            <a:ext cx="1828800" cy="822960"/>
          </a:xfrm>
          <a:prstGeom prst="rect">
            <a:avLst/>
          </a:prstGeom>
          <a:noFill/>
          <a:ln/>
        </p:spPr>
        <p:txBody>
          <a:bodyPr wrap="square" lIns="0" tIns="0" rIns="0" bIns="0" rtlCol="0" anchor="ctr"/>
          <a:lstStyle/>
          <a:p>
            <a:pPr algn="ctr" indent="0" marL="0">
              <a:buNone/>
            </a:pPr>
            <a:r>
              <a:rPr lang="en-US" sz="2000" b="1" dirty="0">
                <a:solidFill>
                  <a:srgbClr val="FFFFFF"/>
                </a:solidFill>
              </a:rPr>
              <a:t>8 2/5</a:t>
            </a:r>
            <a:endParaRPr lang="en-US" sz="2000" dirty="0"/>
          </a:p>
        </p:txBody>
      </p:sp>
      <p:sp>
        <p:nvSpPr>
          <p:cNvPr id="10" name="Shape 8"/>
          <p:cNvSpPr/>
          <p:nvPr/>
        </p:nvSpPr>
        <p:spPr>
          <a:xfrm>
            <a:off x="2834640" y="2103120"/>
            <a:ext cx="182880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83464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5 9/10</a:t>
            </a:r>
            <a:endParaRPr lang="en-US" sz="2000" dirty="0"/>
          </a:p>
        </p:txBody>
      </p:sp>
      <p:sp>
        <p:nvSpPr>
          <p:cNvPr id="12" name="Shape 10"/>
          <p:cNvSpPr/>
          <p:nvPr/>
        </p:nvSpPr>
        <p:spPr>
          <a:xfrm>
            <a:off x="4754880" y="2103120"/>
            <a:ext cx="182880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75488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7</a:t>
            </a:r>
            <a:endParaRPr lang="en-US" sz="2000" dirty="0"/>
          </a:p>
        </p:txBody>
      </p:sp>
      <p:sp>
        <p:nvSpPr>
          <p:cNvPr id="14" name="Shape 12"/>
          <p:cNvSpPr/>
          <p:nvPr/>
        </p:nvSpPr>
        <p:spPr>
          <a:xfrm>
            <a:off x="6675120" y="2103120"/>
            <a:ext cx="182880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67512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6 1/5</a:t>
            </a:r>
            <a:endParaRPr lang="en-US" sz="2000" dirty="0"/>
          </a:p>
        </p:txBody>
      </p:sp>
      <p:sp>
        <p:nvSpPr>
          <p:cNvPr id="16" name="Text 14"/>
          <p:cNvSpPr/>
          <p:nvPr/>
        </p:nvSpPr>
        <p:spPr>
          <a:xfrm>
            <a:off x="914400" y="4773168"/>
            <a:ext cx="7315200" cy="365760"/>
          </a:xfrm>
          <a:prstGeom prst="rect">
            <a:avLst/>
          </a:prstGeom>
          <a:noFill/>
          <a:ln/>
        </p:spPr>
        <p:txBody>
          <a:bodyPr wrap="square" lIns="0" tIns="0" rIns="0" bIns="0" rtlCol="0" anchor="ctr"/>
          <a:lstStyle/>
          <a:p>
            <a:pPr algn="ctr" indent="0" marL="0">
              <a:buNone/>
            </a:pPr>
            <a:r>
              <a:rPr lang="en-US" sz="1200" dirty="0">
                <a:solidFill>
                  <a:srgbClr val="5A5A7A"/>
                </a:solidFill>
              </a:rPr>
              <a:t>7/2 x 12/5 = 84/10 = 8 2/5 square centimeters.</a:t>
            </a:r>
            <a:endParaRPr lang="en-US" sz="1200" dirty="0"/>
          </a:p>
        </p:txBody>
      </p:sp>
      <p:sp>
        <p:nvSpPr>
          <p:cNvPr id="17" name="Shape 15"/>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Math Crew — What Do They Think?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 Perspectives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28600" y="914400"/>
            <a:ext cx="41605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365760" y="1005840"/>
            <a:ext cx="3886200" cy="320040"/>
          </a:xfrm>
          <a:prstGeom prst="rect">
            <a:avLst/>
          </a:prstGeom>
          <a:noFill/>
          <a:ln/>
        </p:spPr>
        <p:txBody>
          <a:bodyPr wrap="square" lIns="0" tIns="0" rIns="0" bIns="0" rtlCol="0" anchor="ctr"/>
          <a:lstStyle/>
          <a:p>
            <a:pPr indent="0" marL="0">
              <a:buNone/>
            </a:pPr>
            <a:r>
              <a:rPr lang="en-US" sz="1400" b="1" dirty="0">
                <a:solidFill>
                  <a:srgbClr val="4A3D8F"/>
                </a:solidFill>
              </a:rPr>
              <a:t>Atlas</a:t>
            </a:r>
            <a:endParaRPr lang="en-US" sz="1400" dirty="0"/>
          </a:p>
        </p:txBody>
      </p:sp>
      <p:sp>
        <p:nvSpPr>
          <p:cNvPr id="8" name="Text 6"/>
          <p:cNvSpPr/>
          <p:nvPr/>
        </p:nvSpPr>
        <p:spPr>
          <a:xfrm>
            <a:off x="36576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pattern-spotter</a:t>
            </a:r>
            <a:endParaRPr lang="en-US" sz="900" dirty="0"/>
          </a:p>
        </p:txBody>
      </p:sp>
      <p:sp>
        <p:nvSpPr>
          <p:cNvPr id="9" name="Shape 7"/>
          <p:cNvSpPr/>
          <p:nvPr/>
        </p:nvSpPr>
        <p:spPr>
          <a:xfrm>
            <a:off x="365760" y="1572768"/>
            <a:ext cx="3886200" cy="0"/>
          </a:xfrm>
          <a:prstGeom prst="line">
            <a:avLst/>
          </a:prstGeom>
          <a:noFill/>
          <a:ln w="6350">
            <a:solidFill>
              <a:srgbClr val="CCCCCC"/>
            </a:solidFill>
            <a:prstDash val="solid"/>
          </a:ln>
        </p:spPr>
      </p:sp>
      <p:sp>
        <p:nvSpPr>
          <p:cNvPr id="10" name="Text 8"/>
          <p:cNvSpPr/>
          <p:nvPr/>
        </p:nvSpPr>
        <p:spPr>
          <a:xfrm>
            <a:off x="36576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noticed this week's stories always have one whole and one fraction, no matter whether the whole is a number, a unit fraction, a fraction, or a mixed number.</a:t>
            </a:r>
            <a:endParaRPr lang="en-US" sz="1000" dirty="0"/>
          </a:p>
        </p:txBody>
      </p:sp>
      <p:sp>
        <p:nvSpPr>
          <p:cNvPr id="11" name="Shape 9"/>
          <p:cNvSpPr/>
          <p:nvPr/>
        </p:nvSpPr>
        <p:spPr>
          <a:xfrm>
            <a:off x="4709160" y="914400"/>
            <a:ext cx="4160520" cy="1554480"/>
          </a:xfrm>
          <a:prstGeom prst="roundRect">
            <a:avLst>
              <a:gd name="adj" fmla="val 5882"/>
            </a:avLst>
          </a:prstGeom>
          <a:solidFill>
            <a:srgbClr val="E6F2EA"/>
          </a:solidFill>
          <a:ln w="6350">
            <a:solidFill>
              <a:srgbClr val="DDDDEE"/>
            </a:solidFill>
            <a:prstDash val="solid"/>
          </a:ln>
        </p:spPr>
      </p:sp>
      <p:sp>
        <p:nvSpPr>
          <p:cNvPr id="12" name="Text 10"/>
          <p:cNvSpPr/>
          <p:nvPr/>
        </p:nvSpPr>
        <p:spPr>
          <a:xfrm>
            <a:off x="4846320" y="1005840"/>
            <a:ext cx="3886200" cy="320040"/>
          </a:xfrm>
          <a:prstGeom prst="rect">
            <a:avLst/>
          </a:prstGeom>
          <a:noFill/>
          <a:ln/>
        </p:spPr>
        <p:txBody>
          <a:bodyPr wrap="square" lIns="0" tIns="0" rIns="0" bIns="0" rtlCol="0" anchor="ctr"/>
          <a:lstStyle/>
          <a:p>
            <a:pPr indent="0" marL="0">
              <a:buNone/>
            </a:pPr>
            <a:r>
              <a:rPr lang="en-US" sz="1400" b="1" dirty="0">
                <a:solidFill>
                  <a:srgbClr val="2E6E44"/>
                </a:solidFill>
              </a:rPr>
              <a:t>Felix</a:t>
            </a:r>
            <a:endParaRPr lang="en-US" sz="1400" dirty="0"/>
          </a:p>
        </p:txBody>
      </p:sp>
      <p:sp>
        <p:nvSpPr>
          <p:cNvPr id="13" name="Text 11"/>
          <p:cNvSpPr/>
          <p:nvPr/>
        </p:nvSpPr>
        <p:spPr>
          <a:xfrm>
            <a:off x="484632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method-tester</a:t>
            </a:r>
            <a:endParaRPr lang="en-US" sz="900" dirty="0"/>
          </a:p>
        </p:txBody>
      </p:sp>
      <p:sp>
        <p:nvSpPr>
          <p:cNvPr id="14" name="Shape 12"/>
          <p:cNvSpPr/>
          <p:nvPr/>
        </p:nvSpPr>
        <p:spPr>
          <a:xfrm>
            <a:off x="4846320" y="1572768"/>
            <a:ext cx="3886200" cy="0"/>
          </a:xfrm>
          <a:prstGeom prst="line">
            <a:avLst/>
          </a:prstGeom>
          <a:noFill/>
          <a:ln w="6350">
            <a:solidFill>
              <a:srgbClr val="CCCCCC"/>
            </a:solidFill>
            <a:prstDash val="solid"/>
          </a:ln>
        </p:spPr>
      </p:sp>
      <p:sp>
        <p:nvSpPr>
          <p:cNvPr id="15" name="Text 13"/>
          <p:cNvSpPr/>
          <p:nvPr/>
        </p:nvSpPr>
        <p:spPr>
          <a:xfrm>
            <a:off x="484632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tested my final answer against my number-line estimate every time -- if the exact answer wasn't close to my estimate, I knew to recheck my work.</a:t>
            </a:r>
            <a:endParaRPr lang="en-US" sz="1000" dirty="0"/>
          </a:p>
        </p:txBody>
      </p:sp>
      <p:sp>
        <p:nvSpPr>
          <p:cNvPr id="16" name="Shape 14"/>
          <p:cNvSpPr/>
          <p:nvPr/>
        </p:nvSpPr>
        <p:spPr>
          <a:xfrm>
            <a:off x="228600" y="2578608"/>
            <a:ext cx="4160520" cy="1554480"/>
          </a:xfrm>
          <a:prstGeom prst="roundRect">
            <a:avLst>
              <a:gd name="adj" fmla="val 5882"/>
            </a:avLst>
          </a:prstGeom>
          <a:solidFill>
            <a:srgbClr val="FEF6E4"/>
          </a:solidFill>
          <a:ln w="6350">
            <a:solidFill>
              <a:srgbClr val="DDDDEE"/>
            </a:solidFill>
            <a:prstDash val="solid"/>
          </a:ln>
        </p:spPr>
      </p:sp>
      <p:sp>
        <p:nvSpPr>
          <p:cNvPr id="17" name="Text 15"/>
          <p:cNvSpPr/>
          <p:nvPr/>
        </p:nvSpPr>
        <p:spPr>
          <a:xfrm>
            <a:off x="365760" y="2670048"/>
            <a:ext cx="3886200" cy="320040"/>
          </a:xfrm>
          <a:prstGeom prst="rect">
            <a:avLst/>
          </a:prstGeom>
          <a:noFill/>
          <a:ln/>
        </p:spPr>
        <p:txBody>
          <a:bodyPr wrap="square" lIns="0" tIns="0" rIns="0" bIns="0" rtlCol="0" anchor="ctr"/>
          <a:lstStyle/>
          <a:p>
            <a:pPr indent="0" marL="0">
              <a:buNone/>
            </a:pPr>
            <a:r>
              <a:rPr lang="en-US" sz="1400" b="1" dirty="0">
                <a:solidFill>
                  <a:srgbClr val="D9941A"/>
                </a:solidFill>
              </a:rPr>
              <a:t>Hazel</a:t>
            </a:r>
            <a:endParaRPr lang="en-US" sz="1400" dirty="0"/>
          </a:p>
        </p:txBody>
      </p:sp>
      <p:sp>
        <p:nvSpPr>
          <p:cNvPr id="18" name="Text 16"/>
          <p:cNvSpPr/>
          <p:nvPr/>
        </p:nvSpPr>
        <p:spPr>
          <a:xfrm>
            <a:off x="36576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visual thinker</a:t>
            </a:r>
            <a:endParaRPr lang="en-US" sz="900" dirty="0"/>
          </a:p>
        </p:txBody>
      </p:sp>
      <p:sp>
        <p:nvSpPr>
          <p:cNvPr id="19" name="Shape 17"/>
          <p:cNvSpPr/>
          <p:nvPr/>
        </p:nvSpPr>
        <p:spPr>
          <a:xfrm>
            <a:off x="365760" y="3236976"/>
            <a:ext cx="3886200" cy="0"/>
          </a:xfrm>
          <a:prstGeom prst="line">
            <a:avLst/>
          </a:prstGeom>
          <a:noFill/>
          <a:ln w="6350">
            <a:solidFill>
              <a:srgbClr val="CCCCCC"/>
            </a:solidFill>
            <a:prstDash val="solid"/>
          </a:ln>
        </p:spPr>
      </p:sp>
      <p:sp>
        <p:nvSpPr>
          <p:cNvPr id="20" name="Text 18"/>
          <p:cNvSpPr/>
          <p:nvPr/>
        </p:nvSpPr>
        <p:spPr>
          <a:xfrm>
            <a:off x="36576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picture every story as the model that fits it best -- bars for repeated fractions, grids for fraction times fraction, split rectangles for mixed numbers.</a:t>
            </a:r>
            <a:endParaRPr lang="en-US" sz="1000" dirty="0"/>
          </a:p>
        </p:txBody>
      </p:sp>
      <p:sp>
        <p:nvSpPr>
          <p:cNvPr id="21" name="Shape 19"/>
          <p:cNvSpPr/>
          <p:nvPr/>
        </p:nvSpPr>
        <p:spPr>
          <a:xfrm>
            <a:off x="4709160" y="2578608"/>
            <a:ext cx="4160520" cy="1554480"/>
          </a:xfrm>
          <a:prstGeom prst="roundRect">
            <a:avLst>
              <a:gd name="adj" fmla="val 5882"/>
            </a:avLst>
          </a:prstGeom>
          <a:solidFill>
            <a:srgbClr val="FEF0E6"/>
          </a:solidFill>
          <a:ln w="6350">
            <a:solidFill>
              <a:srgbClr val="DDDDEE"/>
            </a:solidFill>
            <a:prstDash val="solid"/>
          </a:ln>
        </p:spPr>
      </p:sp>
      <p:sp>
        <p:nvSpPr>
          <p:cNvPr id="22" name="Text 20"/>
          <p:cNvSpPr/>
          <p:nvPr/>
        </p:nvSpPr>
        <p:spPr>
          <a:xfrm>
            <a:off x="4846320" y="2670048"/>
            <a:ext cx="3886200" cy="320040"/>
          </a:xfrm>
          <a:prstGeom prst="rect">
            <a:avLst/>
          </a:prstGeom>
          <a:noFill/>
          <a:ln/>
        </p:spPr>
        <p:txBody>
          <a:bodyPr wrap="square" lIns="0" tIns="0" rIns="0" bIns="0" rtlCol="0" anchor="ctr"/>
          <a:lstStyle/>
          <a:p>
            <a:pPr indent="0" marL="0">
              <a:buNone/>
            </a:pPr>
            <a:r>
              <a:rPr lang="en-US" sz="1400" b="1" dirty="0">
                <a:solidFill>
                  <a:srgbClr val="C05818"/>
                </a:solidFill>
              </a:rPr>
              <a:t>Cora</a:t>
            </a:r>
            <a:endParaRPr lang="en-US" sz="1400" dirty="0"/>
          </a:p>
        </p:txBody>
      </p:sp>
      <p:sp>
        <p:nvSpPr>
          <p:cNvPr id="23" name="Text 21"/>
          <p:cNvSpPr/>
          <p:nvPr/>
        </p:nvSpPr>
        <p:spPr>
          <a:xfrm>
            <a:off x="484632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precise explainer</a:t>
            </a:r>
            <a:endParaRPr lang="en-US" sz="900" dirty="0"/>
          </a:p>
        </p:txBody>
      </p:sp>
      <p:sp>
        <p:nvSpPr>
          <p:cNvPr id="24" name="Shape 22"/>
          <p:cNvSpPr/>
          <p:nvPr/>
        </p:nvSpPr>
        <p:spPr>
          <a:xfrm>
            <a:off x="4846320" y="3236976"/>
            <a:ext cx="3886200" cy="0"/>
          </a:xfrm>
          <a:prstGeom prst="line">
            <a:avLst/>
          </a:prstGeom>
          <a:noFill/>
          <a:ln w="6350">
            <a:solidFill>
              <a:srgbClr val="CCCCCC"/>
            </a:solidFill>
            <a:prstDash val="solid"/>
          </a:ln>
        </p:spPr>
      </p:sp>
      <p:sp>
        <p:nvSpPr>
          <p:cNvPr id="25" name="Text 23"/>
          <p:cNvSpPr/>
          <p:nvPr/>
        </p:nvSpPr>
        <p:spPr>
          <a:xfrm>
            <a:off x="484632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The precise way to say it: no matter the form of the whole, converting to fractions first lets one multiplication rule solve every story.</a:t>
            </a:r>
            <a:endParaRPr lang="en-US" sz="1000" dirty="0"/>
          </a:p>
        </p:txBody>
      </p:sp>
      <p:sp>
        <p:nvSpPr>
          <p:cNvPr id="26" name="Shape 24"/>
          <p:cNvSpPr/>
          <p:nvPr/>
        </p:nvSpPr>
        <p:spPr>
          <a:xfrm>
            <a:off x="914400" y="4315968"/>
            <a:ext cx="7315200" cy="438912"/>
          </a:xfrm>
          <a:prstGeom prst="roundRect">
            <a:avLst>
              <a:gd name="adj" fmla="val 12500"/>
            </a:avLst>
          </a:prstGeom>
          <a:solidFill>
            <a:srgbClr val="464EB8"/>
          </a:solidFill>
          <a:ln w="12700">
            <a:solidFill>
              <a:srgbClr val="464EB8"/>
            </a:solidFill>
            <a:prstDash val="solid"/>
          </a:ln>
        </p:spPr>
      </p:sp>
      <p:sp>
        <p:nvSpPr>
          <p:cNvPr id="27" name="Text 25"/>
          <p:cNvSpPr/>
          <p:nvPr/>
        </p:nvSpPr>
        <p:spPr>
          <a:xfrm>
            <a:off x="914400" y="4315968"/>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crew member thinks most like you today?</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Before Next Class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Dismissal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60120"/>
          </a:xfrm>
          <a:prstGeom prst="roundRect">
            <a:avLst>
              <a:gd name="adj" fmla="val 9524"/>
            </a:avLst>
          </a:prstGeom>
          <a:solidFill>
            <a:srgbClr val="EAE8F5"/>
          </a:solidFill>
          <a:ln w="6350">
            <a:solidFill>
              <a:srgbClr val="DDDDEE"/>
            </a:solidFill>
            <a:prstDash val="solid"/>
          </a:ln>
        </p:spPr>
      </p:sp>
      <p:sp>
        <p:nvSpPr>
          <p:cNvPr id="7" name="Text 5"/>
          <p:cNvSpPr/>
          <p:nvPr/>
        </p:nvSpPr>
        <p:spPr>
          <a:xfrm>
            <a:off x="685800" y="1024128"/>
            <a:ext cx="7772400" cy="804672"/>
          </a:xfrm>
          <a:prstGeom prst="rect">
            <a:avLst/>
          </a:prstGeom>
          <a:noFill/>
          <a:ln/>
        </p:spPr>
        <p:txBody>
          <a:bodyPr wrap="square" lIns="0" tIns="0" rIns="0" bIns="0" rtlCol="0" anchor="ctr"/>
          <a:lstStyle/>
          <a:p>
            <a:pPr indent="0" marL="0">
              <a:buNone/>
            </a:pPr>
            <a:r>
              <a:rPr lang="en-US" sz="1700" b="1" dirty="0">
                <a:solidFill>
                  <a:srgbClr val="4A3D8F"/>
                </a:solidFill>
              </a:rPr>
              <a:t>Complete before your next class:</a:t>
            </a:r>
            <a:endParaRPr lang="en-US" sz="1700" dirty="0"/>
          </a:p>
        </p:txBody>
      </p:sp>
      <p:sp>
        <p:nvSpPr>
          <p:cNvPr id="8" name="Shape 6"/>
          <p:cNvSpPr/>
          <p:nvPr/>
        </p:nvSpPr>
        <p:spPr>
          <a:xfrm>
            <a:off x="457200" y="2057400"/>
            <a:ext cx="8229600" cy="731520"/>
          </a:xfrm>
          <a:prstGeom prst="roundRect">
            <a:avLst>
              <a:gd name="adj" fmla="val 12500"/>
            </a:avLst>
          </a:prstGeom>
          <a:solidFill>
            <a:srgbClr val="FFFFFF"/>
          </a:solidFill>
          <a:ln w="6350">
            <a:solidFill>
              <a:srgbClr val="DDDDEE"/>
            </a:solidFill>
            <a:prstDash val="solid"/>
          </a:ln>
        </p:spPr>
      </p:sp>
      <p:sp>
        <p:nvSpPr>
          <p:cNvPr id="9" name="Text 7"/>
          <p:cNvSpPr/>
          <p:nvPr/>
        </p:nvSpPr>
        <p:spPr>
          <a:xfrm>
            <a:off x="685800" y="2103120"/>
            <a:ext cx="7772400" cy="640080"/>
          </a:xfrm>
          <a:prstGeom prst="rect">
            <a:avLst/>
          </a:prstGeom>
          <a:noFill/>
          <a:ln/>
        </p:spPr>
        <p:txBody>
          <a:bodyPr wrap="square" lIns="0" tIns="0" rIns="0" bIns="0" rtlCol="0" anchor="ctr"/>
          <a:lstStyle/>
          <a:p>
            <a:pPr indent="0" marL="0">
              <a:buNone/>
            </a:pPr>
            <a:r>
              <a:rPr lang="en-US" sz="1500" dirty="0">
                <a:solidFill>
                  <a:srgbClr val="1A1A2E"/>
                </a:solidFill>
              </a:rPr>
              <a:t>1.  Complete the Independent Practice: fraction multiplication word problems with mixed numbers.</a:t>
            </a:r>
            <a:endParaRPr lang="en-US" sz="1500" dirty="0"/>
          </a:p>
        </p:txBody>
      </p:sp>
      <p:sp>
        <p:nvSpPr>
          <p:cNvPr id="10" name="Shape 8"/>
          <p:cNvSpPr/>
          <p:nvPr/>
        </p:nvSpPr>
        <p:spPr>
          <a:xfrm>
            <a:off x="457200" y="2926080"/>
            <a:ext cx="8229600" cy="731520"/>
          </a:xfrm>
          <a:prstGeom prst="roundRect">
            <a:avLst>
              <a:gd name="adj" fmla="val 12500"/>
            </a:avLst>
          </a:prstGeom>
          <a:solidFill>
            <a:srgbClr val="FFFFFF"/>
          </a:solidFill>
          <a:ln w="6350">
            <a:solidFill>
              <a:srgbClr val="DDDDEE"/>
            </a:solidFill>
            <a:prstDash val="solid"/>
          </a:ln>
        </p:spPr>
      </p:sp>
      <p:sp>
        <p:nvSpPr>
          <p:cNvPr id="11" name="Text 9"/>
          <p:cNvSpPr/>
          <p:nvPr/>
        </p:nvSpPr>
        <p:spPr>
          <a:xfrm>
            <a:off x="685800" y="2971800"/>
            <a:ext cx="7772400" cy="640080"/>
          </a:xfrm>
          <a:prstGeom prst="rect">
            <a:avLst/>
          </a:prstGeom>
          <a:noFill/>
          <a:ln/>
        </p:spPr>
        <p:txBody>
          <a:bodyPr wrap="square" lIns="0" tIns="0" rIns="0" bIns="0" rtlCol="0" anchor="ctr"/>
          <a:lstStyle/>
          <a:p>
            <a:pPr indent="0" marL="0">
              <a:buNone/>
            </a:pPr>
            <a:r>
              <a:rPr lang="en-US" sz="1500" dirty="0">
                <a:solidFill>
                  <a:srgbClr val="1A1A2E"/>
                </a:solidFill>
              </a:rPr>
              <a:t>2.  Finish the Show What You Know journal problems in Canvas.</a:t>
            </a:r>
            <a:endParaRPr lang="en-US" sz="1500" dirty="0"/>
          </a:p>
        </p:txBody>
      </p:sp>
      <p:sp>
        <p:nvSpPr>
          <p:cNvPr id="12" name="Shape 10"/>
          <p:cNvSpPr/>
          <p:nvPr/>
        </p:nvSpPr>
        <p:spPr>
          <a:xfrm>
            <a:off x="457200" y="3794760"/>
            <a:ext cx="8229600" cy="731520"/>
          </a:xfrm>
          <a:prstGeom prst="roundRect">
            <a:avLst>
              <a:gd name="adj" fmla="val 12500"/>
            </a:avLst>
          </a:prstGeom>
          <a:solidFill>
            <a:srgbClr val="FFFFFF"/>
          </a:solidFill>
          <a:ln w="6350">
            <a:solidFill>
              <a:srgbClr val="DDDDEE"/>
            </a:solidFill>
            <a:prstDash val="solid"/>
          </a:ln>
        </p:spPr>
      </p:sp>
      <p:sp>
        <p:nvSpPr>
          <p:cNvPr id="13" name="Text 11"/>
          <p:cNvSpPr/>
          <p:nvPr/>
        </p:nvSpPr>
        <p:spPr>
          <a:xfrm>
            <a:off x="685800" y="3840480"/>
            <a:ext cx="7772400" cy="640080"/>
          </a:xfrm>
          <a:prstGeom prst="rect">
            <a:avLst/>
          </a:prstGeom>
          <a:noFill/>
          <a:ln/>
        </p:spPr>
        <p:txBody>
          <a:bodyPr wrap="square" lIns="0" tIns="0" rIns="0" bIns="0" rtlCol="0" anchor="ctr"/>
          <a:lstStyle/>
          <a:p>
            <a:pPr indent="0" marL="0">
              <a:buNone/>
            </a:pPr>
            <a:r>
              <a:rPr lang="en-US" sz="1500" dirty="0">
                <a:solidFill>
                  <a:srgbClr val="1A1A2E"/>
                </a:solidFill>
              </a:rPr>
              <a:t>3.  Preview: next unit flips the operation to fraction division.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5.05.08 Word Problems, Part 2 — Teacher Slides</dc:title>
  <dc:subject>PptxGenJS Presentation</dc:subject>
  <dc:creator>PptxGenJS</dc:creator>
  <cp:lastModifiedBy>PptxGenJS</cp:lastModifiedBy>
  <cp:revision>1</cp:revision>
  <dcterms:created xsi:type="dcterms:W3CDTF">2026-07-16T19:59:27Z</dcterms:created>
  <dcterms:modified xsi:type="dcterms:W3CDTF">2026-07-16T19:59:27Z</dcterms:modified>
</cp:coreProperties>
</file>