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Solve It (5-7 min). Present 'four ninths divided by two.' Give 60 seconds of silent think time. Anticipated: some students will try to divide the numerator by 2 (wrong — 4 doesn't split evenly). Common error: dividing 9 by 2 instead of multiplying. Transition: 'Let's see two ways to get there.'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— Solve It (5-7 min). Present 'four ninths divided by two.' Give 60 seconds of silent think time. Anticipated: some students will try to divide the numerator by 2 (wrong — 4 doesn't split evenly). Common error: dividing 9 by 2 instead of multiplying. Transition: 'Let's see two ways to get there.'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in one word each (e.g. 'flip', 'multiply', 'bigger-bottom'). Common error: saying you multiply the numerator too — correct this before moving on. Transition: 'Let's try a cousin problem using the same rule.'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(2 min). Have 2-3 students paraphrase in one word each (e.g. 'flip', 'multiply', 'bigger-bottom'). Common error: saying you multiply the numerator too — correct this before moving on. Transition: 'Let's try a cousin problem using the same rule.'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(30 sec). Frame the lesson: today every shaded piece gets cut, not just one. Transition: 'Let's look at today's goal.'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min). Read the I Can statement aloud. Point out the word 'every' — that's the new part compared to 5.06.01. Transition: 'Let's warm up with what you already know.'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min). Q1 checks vocabulary retention. Q2 is a straight review of 5.06.01 (answer: one twelfth). Q3 previews today's key distinction — non-unit fraction (numerator greater than 1). Common error: calling three fourths a unit fraction because it 'looks like one piece color.' Transition: 'Today's model handles fractions with MORE than one shaded piece.'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Show the strip: two of three sections charged. Ask students to guess before any math. Anticipated: guesses ranging from one sixth to one third. Common error: guessing 'two fourths' by matching the whole-number 4 to the numerator. Transition: 'Let's notice and wonder about this scenario before we build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min). Collect a few verbal notices (two shaded sections, 4 robots) and wonders (do we cut each section, or split them into 4 robots some other way?). Transition: 'Let's build it and find out.'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min). Physically trace: 3 shaded fourths, each cut into 2 halves = 6 pieces total (eighths). Circle one slice from each of the 3 cut pieces — that circled set of 3 is one full share (3/8). KEY DIFFERENCE FROM 5.06.01: in the unit-fraction case only one piece existed, so the cuts directly WERE the shares; here every shaded piece gets cut, and a share is collected across all of them. Common error: students think 'one share' means just one tiny slice, not one slice from each piece. Transition: 'Let's see the same idea with a bar model.'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min). Re-draw the same strip cut into tenths (each fifth becomes 2 tenths) and split the 8 shaded tenths into 2 equal groups of 4. Point out the dashed divider is the SAME idea as the concrete cuts, drawn as a picture instead of physical pieces. Common error: splitting into 2 groups by count of shaded pieces (4 and 4) without renaming the denominator to tenths first. Transition: 'Now let's name the rule this picture is showing.'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(3 min). Connect the notation directly back to the concrete and pictorial cuts: multiplying the denominator by the whole number is exactly the same action as cutting every piece into that many shares. Common error: multiplying BOTH numerator and denominator by the whole number. Transition: 'Let's name the vocabulary that goes with this rule.'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In today's example (5/8 ÷ 5), 5/8 is the dividend, 5 is the divisor, 1/8 is the quotient. Multiplying by the reciprocal of 5 (one fifth) is what actually produces the quotient. Transition: 'Let's work through a full example together.'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min). Narrate every cut out loud as you point to the strip. This reuses the exact model from the Concrete slide with new numbers, reinforcing 'cut every shaded piece.' Common error: stopping at 5/40 without simplifying. Transition: 'Now let's try one with a real-world story.'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min). This is the ribbon problem from the Independent Practice (Problem 4) — walk it fully so students see the story-to-model connection. Common error: writing the answer as 3/24 and stopping, without simplifying to 1/8. Transition: 'Your turn — try one on your own.'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(4 min). Students build independently: cut each of the 2 shaded thirds into 4 shares (12 pieces total), take one slice from each of the 2 cut pieces (2 twelfths = 1 sixth). Anticipated: most will land on 'one sixth.' Common error: dividing the numerator 2 by 4 instead of multiplying the denominator. Cold-call 2-3 students to explain their cuts before revealing. Transition: 'Let's connect this to what comes next.'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(2 min). This slide closes the Independent Practice reasoning question (Problem 5): the quotient shrinks because the same shaded amount is being split into more, smaller shares. Preview tomorrow's flip in operation (whole ÷ unit fraction) so students aren't surprised the model looks different. Transition: 'Time for your exit check.'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Common error: students pick 'five ninths' by adding 3 to the denominator instead of multiplying, or pick 'five sixths' by not changing the denominator at all. Give real silent think time before advancing to the reveal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Common error: students pick 'five ninths' by adding 3 to the denominator instead of multiplying, or pick 'five sixths' by not changing the denominator at all. Give real silent think time before advancing to the reveal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5.06 · Fraction ÷ Whole Number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ninths divided by two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Split each piece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each of the 4 shaded ninths into 2 equal shares.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makes 18 equal pieces in the whole strip.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slice from each of the 4 pieces = 4 eighteenths.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eighteenths simplifies to 2 ninths.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Multiply by the reciprocal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four ninths the same.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one half (the reciprocal of 2).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numerators: 4 × 1 = 4.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1089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denominators: 9 × 2 = 18 → 2 ninths.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divide a fraction by a whole number, you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fraction by a whole number multiplies the denominator by that whole number — the numerator stays the same.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sevenths divided by three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Two sevenths — the denominator becomes 7×3=21, the numerator stays 6, and 6/21 simplifies to 2/7.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5.06.02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Fraction by a Whole Number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6 · Division of Fractions · Lesson 2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MA.5.FR.2.3   ·   MTR.2.1   ·   MTR.5.1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divide a fraction by a whole number by cutting every shaded piece into equal shares.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“Dividing a fraction by a whole number multiplies the denominator by that whole number and keeps the numerator the same.”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1.  In Lesson 5.06.01 you divided a unit fraction by a whole number. In your own words, what makes a fraction a “unit fraction”?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2.  Quick review: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34717" y="2423160"/>
            <a:ext cx="41696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632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÷ 3 = 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3.  Look at this fraction. Is it a unit fraction or a non-unit fraction? How do you know?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246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56755" y="3611880"/>
            <a:ext cx="62545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robotics club has two thirds of a battery pack left and wants to share it evenly across 4 identical robots.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2133600" cy="82296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05200" y="2377440"/>
            <a:ext cx="2133600" cy="82296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8800" y="2377440"/>
            <a:ext cx="2133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two thirds of the battery pack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 — what fraction of the whole battery does one robot get?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Robotics Battery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thirds of a battery pack, shared evenly among 4 robots — how would you cut the strip to show this fairly?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Cut Every Shaded Piece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34440"/>
            <a:ext cx="1828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234440"/>
            <a:ext cx="1828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1234440"/>
            <a:ext cx="914400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34440"/>
            <a:ext cx="1828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three fourths of a pan of brownies, shared between 2 bakers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1234440"/>
            <a:ext cx="914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234440"/>
            <a:ext cx="914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234440"/>
            <a:ext cx="914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One share = one slice from EACH cut piece (3 slices in all).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094330" y="31546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0332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÷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2336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3484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=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060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77410" y="315468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" y="3703320"/>
            <a:ext cx="7863840" cy="1234440"/>
          </a:xfrm>
          <a:prstGeom prst="roundRect">
            <a:avLst>
              <a:gd name="adj" fmla="val 740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767328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How this is different from Lesson 5.06.01: there, only ONE piece was shaded, so cutting that single piece made the shares directly. Today THREE pieces are shaded — every shaded piece must be cut, and one share is built by taking one slice from each cut piece.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Bar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Four fifths of a garden bed, split into 2 equal groups: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146304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371600"/>
            <a:ext cx="146304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371600"/>
            <a:ext cx="146304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371600"/>
            <a:ext cx="146304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371600"/>
            <a:ext cx="1463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four fifths (before cutting)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788920"/>
            <a:ext cx="731520" cy="640080"/>
          </a:xfrm>
          <a:prstGeom prst="rect">
            <a:avLst/>
          </a:prstGeom>
          <a:solidFill>
            <a:srgbClr val="2E6E4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788920"/>
            <a:ext cx="731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2788920"/>
            <a:ext cx="731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0" y="2743200"/>
            <a:ext cx="0" cy="731520"/>
          </a:xfrm>
          <a:prstGeom prst="line">
            <a:avLst/>
          </a:prstGeom>
          <a:noFill/>
          <a:ln w="31750">
            <a:solidFill>
              <a:srgbClr val="1B2A4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440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Group 1 — 4 tenths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Group 2 — 4 tenths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39776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539850" y="422910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22910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48840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423160" y="39776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88920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08960" y="39776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85770" y="422910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422910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94760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114800" y="397764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91610" y="422910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422910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Rule as Notation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33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Fraction ÷ whole number = numerator over (denominator × whole number).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21024" y="1874520"/>
            <a:ext cx="2084832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denominator × whole number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Worked example: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5723" y="3177540"/>
            <a:ext cx="451714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775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29260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14600" y="2926080"/>
            <a:ext cx="685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96896" y="3177540"/>
            <a:ext cx="521208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177540"/>
            <a:ext cx="685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×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9184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292608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83203" y="3177540"/>
            <a:ext cx="451714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17754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51960" y="2926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292608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37837" y="3177540"/>
            <a:ext cx="416966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1775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This is the same as multiplying by the reciprocal of the whole number — the numerator never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amount being divided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size or number of groups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9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dividing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80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8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33832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fraction flipped so the numerator and denominator switch places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Teacher-Led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0" y="91440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91610" y="1165860"/>
            <a:ext cx="486461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165860"/>
            <a:ext cx="6400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÷ 5 = 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5316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72768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1600200"/>
            <a:ext cx="93726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0220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7672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5124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2576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0028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60220" y="1600200"/>
            <a:ext cx="93726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4932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72384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59836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47288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1600200"/>
            <a:ext cx="93726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4740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22192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09644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97096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4548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34740" y="1600200"/>
            <a:ext cx="93726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9452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46904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34356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21808" y="1600200"/>
            <a:ext cx="187452" cy="914400"/>
          </a:xfrm>
          <a:prstGeom prst="rect">
            <a:avLst/>
          </a:prstGeom>
          <a:solidFill>
            <a:srgbClr val="4A3D8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1600200"/>
            <a:ext cx="93726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09260" y="1600200"/>
            <a:ext cx="9372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1600200"/>
            <a:ext cx="9372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83780" y="1600200"/>
            <a:ext cx="9372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97864" y="1600200"/>
            <a:ext cx="187452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35124" y="1600200"/>
            <a:ext cx="187452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72384" y="1600200"/>
            <a:ext cx="187452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09644" y="1600200"/>
            <a:ext cx="187452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600200"/>
            <a:ext cx="187452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269748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2761488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cut each of the 5 shaded eighths into 5 equal shares — that's 40 equal pieces in all.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one slice from each of the 5 cut pieces makes one full share: 5 fortieths.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5 fortieths simplifies to 1 eighth.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66560" y="3566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32397" y="3794760"/>
            <a:ext cx="416966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3794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Mira has three eighths of a meter of ribbon. She cuts it into 3 equal pieces. How long is each piece?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066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260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2331720"/>
            <a:ext cx="84582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454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1648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842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34540" y="2331720"/>
            <a:ext cx="84582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4240" y="2331720"/>
            <a:ext cx="281940" cy="822960"/>
          </a:xfrm>
          <a:prstGeom prst="rect">
            <a:avLst/>
          </a:prstGeom>
          <a:solidFill>
            <a:srgbClr val="2E6E4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2331720"/>
            <a:ext cx="84582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6180" y="2331720"/>
            <a:ext cx="8458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331720"/>
            <a:ext cx="8458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7820" y="2331720"/>
            <a:ext cx="8458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331720"/>
            <a:ext cx="8458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9460" y="2331720"/>
            <a:ext cx="8458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70660" y="2331720"/>
            <a:ext cx="281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6480" y="2331720"/>
            <a:ext cx="281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300" y="2331720"/>
            <a:ext cx="28194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D994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42900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63163" y="3680460"/>
            <a:ext cx="451714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680460"/>
            <a:ext cx="594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31920" y="3429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÷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206240" y="34290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0" y="3429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=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892040" y="342900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57877" y="3680460"/>
            <a:ext cx="416966" cy="0"/>
          </a:xfrm>
          <a:prstGeom prst="line">
            <a:avLst/>
          </a:prstGeom>
          <a:noFill/>
          <a:ln w="19050">
            <a:solidFill>
              <a:srgbClr val="2E6E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68046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Answer: each piece is one eighth of a meter long.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Student-Led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on your own: two thirds divided by four.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1524000" cy="82296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0" y="2286000"/>
            <a:ext cx="1524000" cy="822960"/>
          </a:xfrm>
          <a:prstGeom prst="rect">
            <a:avLst/>
          </a:prstGeom>
          <a:solidFill>
            <a:srgbClr val="4A3D8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34000" y="2286000"/>
            <a:ext cx="1524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start here — two thirds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quotient (say it in words, like ‘three tenths’) AND how many total pieces you cut the strip into.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Notice: dividing by a whole number greater than 1 always makes the quotient smaller — the same starting amount gets shared into more, smaller pieces.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flips the operation: you will divide a WHOLE NUMBER by a UNIT FRACTION instead of a fraction by a whole number.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8620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sentence explaining why today's quotients kept getting smaller.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five sixths divided by three?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five eighteenths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five ninths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five sixths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one half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five sixths divided by three?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five eighteenths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five ninths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five sixths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210312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031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one half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The denominator is multiplied by 3 (6×3=18); the numerator stays 5, giving five eighteenths.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every time we divide a fraction by a whole number, the denominator gets multiplied by that whole number — the pieces get smaller and there are more of them, but the numerator never changes.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answer by multiplying it back by the whole number I divided by. Five eighteenths times three should rebuild five sixths — and it did.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every shaded piece getting sliced into equal shares, then I trace one slice from each piece to see the share. That's how I actually SEE the answer instead of just calculating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to divide a fraction by a whole number, multiply the fraction by the reciprocal of that whole number, since dividing by a number is the same as multiplying by its reciprocal.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 for 5.06.02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Watch for tomorrow's flip: whole number divided by a unit fraction.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Keep your Strip Splitter journal entry — you'll compare it to tomorrow's model.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5.06.02 Dividing a Fraction by a Whole Number — Teacher Slides</dc:title>
  <dc:subject>PptxGenJS Presentation</dc:subject>
  <dc:creator>PptxGenJS</dc:creator>
  <cp:lastModifiedBy>PptxGenJS</cp:lastModifiedBy>
  <cp:revision>1</cp:revision>
  <dcterms:created xsi:type="dcterms:W3CDTF">2026-09-23T16:43:22Z</dcterms:created>
  <dcterms:modified xsi:type="dcterms:W3CDTF">2026-09-23T16:43:22Z</dcterms:modified>
</cp:coreProperties>
</file>