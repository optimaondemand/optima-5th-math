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 STRING (5-7 min). Reveal 'eight divided by one fourth' first. Give 45 seconds of think time (answer: 32, since 32 fourths make 8 wholes). Then reveal the second and third problems one at a time, confirming each answer before moving on. Anticipated: some students expect the quotient to grow along with the numerator — it shrinks instead. Common error: multiplying 8 by the numerator instead of using the full reciprocal. Transition: 'What pattern connects these three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 STRING (5-7 min). Reveal 'eight divided by one fourth' first. Give 45 seconds of think time (answer: 32, since 32 fourths make 8 wholes). Then reveal the second and third problems one at a time, confirming each answer before moving on. Anticipated: some students expect the quotient to grow along with the numerator — it shrinks instead. Common error: multiplying 8 by the numerator instead of using the full reciprocal. Transition: 'What pattern connects these three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THE NEXT STRING (2 min). Same pattern, new denominator (sixths of twelve). Expect 72, 36, 24. Common error: losing track of the pattern's direction (larger divisor fraction → smaller quotient). Transition: 'Let's see today's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THE NEXT STRING (2 min). Same pattern, new denominator (sixths of twelve). Expect 72, 36, 24. Common error: losing track of the pattern's direction (larger divisor fraction → smaller quotient). Transition: 'Let's see today's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(30 sec). Frame the lesson: yesterday each group was ONE fraction piece; today each group is made of SEVERAL pieces banded together. Transition: 'Let's look at today's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(1 min). Read the I Can statement aloud. Point out that 'groups of that fraction' can now mean groups of MORE than one piece. Transition: 'Let's warm up with what you already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WARM-UP (3 min). Q1 reviews the unit-fraction case (answer: 18). Q2 previews today's key distinction — non-unit fraction, numerator greater than 1 (answer: three fourths). Q3 confirms the cutting vocabulary (answer: 5). Common error on Q2: picking one fourth because it 'looks smaller.' Transition: 'Today's fractions have MORE than one shaded piece as the divisor.'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(2 min). Show one scoop as two shaded thirds. Ask for a guess before any math. Anticipated: guesses from 4 to 8. Common error: guessing '4' by matching the whole-number 4 to the number of scoops. Transition: 'Let's notice and wonder about this scenario before we build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&amp; WONDER (2 min). Collect notices (4 whole cups, each scoop uses 2 pieces) and wonders (do we cut every cup the same way? what do we do with leftover pieces?). Transition: 'Let's build it and find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CONCRETE (4 min). Physically trace: 4 wholes, each cut into 3 equal thirds = 12 segments total. Band every 2 consecutive segments together — count 6 complete bands, so 4 ÷ two thirds = 6. KEY DIFFERENCE FROM 5.06.03: there groupSize was 1 (a single segment = one unit-fraction group); here groupSize is 2, matching the divisor's numerator, so a 'group' is now a PAIR of segments banded together. Common error: counting 12 individual segments instead of 6 bands. Transition: 'Let's see the same idea with a different fraction.'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PICTORIAL (3 min). Same banding action, new numbers, tied directly to Independent Practice Problem 3. Count 15 total segments (3 wholes × 5 fifths), banded in groups of 3 (matching the numerator), giving 5 complete groups. This is the answer key for the IP model problem. Common error: counting segments instead of bands, or banding in groups of 5 instead of 3. Transition: 'Now let's name the rule this picture is showing.'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ABSTRACT (3 min). Connect the flip directly back to the concrete and pictorial banding: multiplying by the reciprocal is the same action as counting how many groups of the fraction's size fit into the whole number. Common error: flipping the whole number instead of the fraction, or forgetting to flip at all and just multiplying straight across. Transition: 'Let's check whether an answer like this is even reasonable.'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GAP-FILL — REASONABLENESS (3 min). This closes Independent Practice Problem 5. Teach the estimation shortcut: dividing by a fraction close to one whole gives a quotient close to the original number. Common error: not checking at all, or assuming any answer with the right numbers is correct. Transition: 'Let's name the vocabulary that goes with all of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(2 min). In today's example (4 ÷ two thirds), 4 is the dividend, two thirds is the divisor, and 6 is the quotient. Multiplying by the reciprocal (three halves) is what actually produces the quotient. Transition: 'Let's work through a full example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A (4 min). Narrate every cut and band out loud. This reuses the exact banding model from the Concrete slide with new numbers, reinforcing 'band groups sized to the numerator.' Common error: banding in groups of 4 instead of 3, or forgetting to flip the fraction when checking with the reciprocal. Transition: 'Now let's try one with a real-world story that doesn't divide evenly.'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B (4 min). This is the oats problem from the Independent Practice (Problem 4) — the quotient is not a whole number, so this introduces the PARTIAL GROUP idea: when a division doesn't come out even, you round DOWN to the number of full groups for a 'how many full servings' question. Common error: rounding up to 8, or reporting 7.5 as the final answer without addressing what the leftover fifth means in context. Transition: 'Your turn — try one on your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TRY (4 min). Students build independently: cut 9 wholes into fourths (36 segments), band every 3 consecutive fourths (12 complete bands), so nine ÷ three fourths = 12. Anticipated: most will land on '12.' Common error: banding in groups of 4 instead of 3, or dividing 9 by 3 and ignoring the fourths. Cold-call 2-3 students to explain their bands before revealing. Transition: 'Let's connect this to what comes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CONNECTION FORWARD (2 min). Reinforce the big-picture pattern from the Number String: dividing by a fraction less than one whole always grows the quotient. Preview that 5.06.05 mixes all of Unit 6's division types into word problems, so students must identify which model fits each story. Transition: 'Time for your exit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CHECK -- QUESTION (give real think time before advancing; do not reveal yet)
Common error: 'two' comes from dividing 6 by the numerator 3 and ignoring the denominator. 'Eighteen' comes from multiplying 6 by the numerator without flipping the fraction. 'Eleven' comes from adding instead of dividing. Give real silent think time before advancing to the reveal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CHECK -- REVEAL (advance only after students have responded in chat)
Common error: 'two' comes from dividing 6 by the numerator 3 and ignoring the denominator. 'Eighteen' comes from multiplying 6 by the numerator without flipping the fraction. 'Eleven' comes from adding instead of dividing. Give real silent think time before advancing to the reveal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MATH CREW (~1-2 min)
Briefly read one or two cards — whichever matches where students are in their thinking.
Give real think time before calling on students to share which crew member's approach matches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w="12700">
            <a:solidFill>
              <a:srgbClr val="1B2A4A"/>
            </a:solidFill>
            <a:prstDash val="solid"/>
          </a:ln>
        </p:spPr>
      </p:sp>
      <p:sp>
        <p:nvSpPr>
          <p:cNvPr id="3" name="Shape 1"/>
          <p:cNvSpPr/>
          <p:nvPr/>
        </p:nvSpPr>
        <p:spPr>
          <a:xfrm>
            <a:off x="274320" y="164592"/>
            <a:ext cx="2377440" cy="292608"/>
          </a:xfrm>
          <a:prstGeom prst="roundRect">
            <a:avLst>
              <a:gd name="adj" fmla="val 18750"/>
            </a:avLst>
          </a:prstGeom>
          <a:solidFill>
            <a:srgbClr val="4A3D8F"/>
          </a:solidFill>
          <a:ln w="12700">
            <a:solidFill>
              <a:srgbClr val="4A3D8F"/>
            </a:solidFill>
            <a:prstDash val="solid"/>
          </a:ln>
        </p:spPr>
      </p:sp>
      <p:sp>
        <p:nvSpPr>
          <p:cNvPr id="4" name="Text 2"/>
          <p:cNvSpPr/>
          <p:nvPr/>
        </p:nvSpPr>
        <p:spPr>
          <a:xfrm>
            <a:off x="274320" y="164592"/>
            <a:ext cx="237744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NUMBER STRING</a:t>
            </a:r>
            <a:endParaRPr lang="en-US" sz="800" dirty="0"/>
          </a:p>
        </p:txBody>
      </p:sp>
      <p:sp>
        <p:nvSpPr>
          <p:cNvPr id="5" name="Shape 3"/>
          <p:cNvSpPr/>
          <p:nvPr/>
        </p:nvSpPr>
        <p:spPr>
          <a:xfrm>
            <a:off x="2578608" y="164592"/>
            <a:ext cx="6126480" cy="292608"/>
          </a:xfrm>
          <a:prstGeom prst="roundRect">
            <a:avLst>
              <a:gd name="adj" fmla="val 18750"/>
            </a:avLst>
          </a:prstGeom>
          <a:solidFill>
            <a:srgbClr val="2A3B5A"/>
          </a:solidFill>
          <a:ln w="12700">
            <a:solidFill>
              <a:srgbClr val="2A3B5A"/>
            </a:solidFill>
            <a:prstDash val="solid"/>
          </a:ln>
        </p:spPr>
      </p:sp>
      <p:sp>
        <p:nvSpPr>
          <p:cNvPr id="6" name="Text 4"/>
          <p:cNvSpPr/>
          <p:nvPr/>
        </p:nvSpPr>
        <p:spPr>
          <a:xfrm>
            <a:off x="2578608" y="164592"/>
            <a:ext cx="6126480" cy="292608"/>
          </a:xfrm>
          <a:prstGeom prst="rect">
            <a:avLst/>
          </a:prstGeom>
          <a:noFill/>
          <a:ln/>
        </p:spPr>
        <p:txBody>
          <a:bodyPr wrap="square" lIns="0" tIns="0" rIns="0" bIns="0" rtlCol="0" anchor="ctr"/>
          <a:lstStyle/>
          <a:p>
            <a:pPr indent="0" marL="0">
              <a:buNone/>
            </a:pPr>
            <a:r>
              <a:rPr lang="en-US" sz="900" dirty="0">
                <a:solidFill>
                  <a:srgbClr val="FFFFFF"/>
                </a:solidFill>
              </a:rPr>
              <a:t>  ·  Lesson 5.06 · Whole Number ÷ Fraction</a:t>
            </a:r>
            <a:endParaRPr lang="en-US" sz="900" dirty="0"/>
          </a:p>
        </p:txBody>
      </p:sp>
      <p:sp>
        <p:nvSpPr>
          <p:cNvPr id="7" name="Text 5"/>
          <p:cNvSpPr/>
          <p:nvPr/>
        </p:nvSpPr>
        <p:spPr>
          <a:xfrm>
            <a:off x="457200" y="1371600"/>
            <a:ext cx="8229600" cy="1828800"/>
          </a:xfrm>
          <a:prstGeom prst="rect">
            <a:avLst/>
          </a:prstGeom>
          <a:noFill/>
          <a:ln/>
        </p:spPr>
        <p:txBody>
          <a:bodyPr wrap="square" lIns="0" tIns="0" rIns="0" bIns="0" rtlCol="0" anchor="ctr"/>
          <a:lstStyle/>
          <a:p>
            <a:pPr algn="ctr" indent="0" marL="0">
              <a:buNone/>
            </a:pPr>
            <a:r>
              <a:rPr lang="en-US" sz="4800" b="1" dirty="0">
                <a:solidFill>
                  <a:srgbClr val="FFFFFF"/>
                </a:solidFill>
                <a:latin typeface="Cambria" pitchFamily="34" charset="0"/>
                <a:ea typeface="Cambria" pitchFamily="34" charset="-122"/>
                <a:cs typeface="Cambria" pitchFamily="34" charset="-120"/>
              </a:rPr>
              <a:t>Eight divided by one fourth</a:t>
            </a:r>
            <a:endParaRPr lang="en-US" sz="4800" dirty="0"/>
          </a:p>
        </p:txBody>
      </p:sp>
      <p:sp>
        <p:nvSpPr>
          <p:cNvPr id="8" name="Text 6"/>
          <p:cNvSpPr/>
          <p:nvPr/>
        </p:nvSpPr>
        <p:spPr>
          <a:xfrm>
            <a:off x="457200" y="3749040"/>
            <a:ext cx="8229600" cy="640080"/>
          </a:xfrm>
          <a:prstGeom prst="rect">
            <a:avLst/>
          </a:prstGeom>
          <a:noFill/>
          <a:ln/>
        </p:spPr>
        <p:txBody>
          <a:bodyPr wrap="square" lIns="0" tIns="0" rIns="0" bIns="0" rtlCol="0" anchor="ctr"/>
          <a:lstStyle/>
          <a:p>
            <a:pPr algn="ctr" indent="0" marL="0">
              <a:buNone/>
            </a:pPr>
            <a:r>
              <a:rPr lang="en-US" sz="1500" i="1" dirty="0">
                <a:solidFill>
                  <a:srgbClr val="8899BB"/>
                </a:solidFill>
              </a:rPr>
              <a:t>Solve the first problem. What strategy did you use?</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The String Unfolds</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Number String</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8229600" cy="868680"/>
          </a:xfrm>
          <a:prstGeom prst="roundRect">
            <a:avLst>
              <a:gd name="adj" fmla="val 10526"/>
            </a:avLst>
          </a:prstGeom>
          <a:solidFill>
            <a:srgbClr val="FFFFFF"/>
          </a:solidFill>
          <a:ln w="6350">
            <a:solidFill>
              <a:srgbClr val="DDDDEE"/>
            </a:solidFill>
            <a:prstDash val="solid"/>
          </a:ln>
        </p:spPr>
      </p:sp>
      <p:sp>
        <p:nvSpPr>
          <p:cNvPr id="7" name="Text 5"/>
          <p:cNvSpPr/>
          <p:nvPr/>
        </p:nvSpPr>
        <p:spPr>
          <a:xfrm>
            <a:off x="685800" y="960120"/>
            <a:ext cx="4114800" cy="868680"/>
          </a:xfrm>
          <a:prstGeom prst="rect">
            <a:avLst/>
          </a:prstGeom>
          <a:noFill/>
          <a:ln/>
        </p:spPr>
        <p:txBody>
          <a:bodyPr wrap="square" lIns="0" tIns="0" rIns="0" bIns="0" rtlCol="0" anchor="ctr"/>
          <a:lstStyle/>
          <a:p>
            <a:pPr indent="0" marL="0">
              <a:buNone/>
            </a:pPr>
            <a:r>
              <a:rPr lang="en-US" sz="2000" b="1" dirty="0">
                <a:solidFill>
                  <a:srgbClr val="4A3D8F"/>
                </a:solidFill>
                <a:latin typeface="Cambria" pitchFamily="34" charset="0"/>
                <a:ea typeface="Cambria" pitchFamily="34" charset="-122"/>
                <a:cs typeface="Cambria" pitchFamily="34" charset="-120"/>
              </a:rPr>
              <a:t>Eight divided by one fourth</a:t>
            </a:r>
            <a:endParaRPr lang="en-US" sz="2000" dirty="0"/>
          </a:p>
        </p:txBody>
      </p:sp>
      <p:sp>
        <p:nvSpPr>
          <p:cNvPr id="8" name="Text 6"/>
          <p:cNvSpPr/>
          <p:nvPr/>
        </p:nvSpPr>
        <p:spPr>
          <a:xfrm>
            <a:off x="5029200" y="960120"/>
            <a:ext cx="1828800" cy="868680"/>
          </a:xfrm>
          <a:prstGeom prst="rect">
            <a:avLst/>
          </a:prstGeom>
          <a:noFill/>
          <a:ln/>
        </p:spPr>
        <p:txBody>
          <a:bodyPr wrap="square" lIns="0" tIns="0" rIns="0" bIns="0" rtlCol="0" anchor="ctr"/>
          <a:lstStyle/>
          <a:p>
            <a:pPr indent="0" marL="0">
              <a:buNone/>
            </a:pPr>
            <a:r>
              <a:rPr lang="en-US" sz="2000" b="1" dirty="0">
                <a:solidFill>
                  <a:srgbClr val="1A1A2E"/>
                </a:solidFill>
                <a:latin typeface="Cambria" pitchFamily="34" charset="0"/>
                <a:ea typeface="Cambria" pitchFamily="34" charset="-122"/>
                <a:cs typeface="Cambria" pitchFamily="34" charset="-120"/>
              </a:rPr>
              <a:t>= 32</a:t>
            </a:r>
            <a:endParaRPr lang="en-US" sz="2000" dirty="0"/>
          </a:p>
        </p:txBody>
      </p:sp>
      <p:sp>
        <p:nvSpPr>
          <p:cNvPr id="9" name="Shape 7"/>
          <p:cNvSpPr/>
          <p:nvPr/>
        </p:nvSpPr>
        <p:spPr>
          <a:xfrm>
            <a:off x="457200" y="2011680"/>
            <a:ext cx="8229600" cy="868680"/>
          </a:xfrm>
          <a:prstGeom prst="roundRect">
            <a:avLst>
              <a:gd name="adj" fmla="val 10526"/>
            </a:avLst>
          </a:prstGeom>
          <a:solidFill>
            <a:srgbClr val="FFFFFF"/>
          </a:solidFill>
          <a:ln w="6350">
            <a:solidFill>
              <a:srgbClr val="DDDDEE"/>
            </a:solidFill>
            <a:prstDash val="solid"/>
          </a:ln>
        </p:spPr>
      </p:sp>
      <p:sp>
        <p:nvSpPr>
          <p:cNvPr id="10" name="Text 8"/>
          <p:cNvSpPr/>
          <p:nvPr/>
        </p:nvSpPr>
        <p:spPr>
          <a:xfrm>
            <a:off x="685800" y="2011680"/>
            <a:ext cx="4114800" cy="868680"/>
          </a:xfrm>
          <a:prstGeom prst="rect">
            <a:avLst/>
          </a:prstGeom>
          <a:noFill/>
          <a:ln/>
        </p:spPr>
        <p:txBody>
          <a:bodyPr wrap="square" lIns="0" tIns="0" rIns="0" bIns="0" rtlCol="0" anchor="ctr"/>
          <a:lstStyle/>
          <a:p>
            <a:pPr indent="0" marL="0">
              <a:buNone/>
            </a:pPr>
            <a:r>
              <a:rPr lang="en-US" sz="2000" b="1" dirty="0">
                <a:solidFill>
                  <a:srgbClr val="4A3D8F"/>
                </a:solidFill>
                <a:latin typeface="Cambria" pitchFamily="34" charset="0"/>
                <a:ea typeface="Cambria" pitchFamily="34" charset="-122"/>
                <a:cs typeface="Cambria" pitchFamily="34" charset="-120"/>
              </a:rPr>
              <a:t>Eight divided by two fourths</a:t>
            </a:r>
            <a:endParaRPr lang="en-US" sz="2000" dirty="0"/>
          </a:p>
        </p:txBody>
      </p:sp>
      <p:sp>
        <p:nvSpPr>
          <p:cNvPr id="11" name="Text 9"/>
          <p:cNvSpPr/>
          <p:nvPr/>
        </p:nvSpPr>
        <p:spPr>
          <a:xfrm>
            <a:off x="5029200" y="2011680"/>
            <a:ext cx="1828800" cy="868680"/>
          </a:xfrm>
          <a:prstGeom prst="rect">
            <a:avLst/>
          </a:prstGeom>
          <a:noFill/>
          <a:ln/>
        </p:spPr>
        <p:txBody>
          <a:bodyPr wrap="square" lIns="0" tIns="0" rIns="0" bIns="0" rtlCol="0" anchor="ctr"/>
          <a:lstStyle/>
          <a:p>
            <a:pPr indent="0" marL="0">
              <a:buNone/>
            </a:pPr>
            <a:r>
              <a:rPr lang="en-US" sz="2000" b="1" dirty="0">
                <a:solidFill>
                  <a:srgbClr val="1A1A2E"/>
                </a:solidFill>
                <a:latin typeface="Cambria" pitchFamily="34" charset="0"/>
                <a:ea typeface="Cambria" pitchFamily="34" charset="-122"/>
                <a:cs typeface="Cambria" pitchFamily="34" charset="-120"/>
              </a:rPr>
              <a:t>= 16</a:t>
            </a:r>
            <a:endParaRPr lang="en-US" sz="2000" dirty="0"/>
          </a:p>
        </p:txBody>
      </p:sp>
      <p:sp>
        <p:nvSpPr>
          <p:cNvPr id="12" name="Shape 10"/>
          <p:cNvSpPr/>
          <p:nvPr/>
        </p:nvSpPr>
        <p:spPr>
          <a:xfrm>
            <a:off x="137160" y="1920240"/>
            <a:ext cx="0" cy="137160"/>
          </a:xfrm>
          <a:prstGeom prst="line">
            <a:avLst/>
          </a:prstGeom>
          <a:noFill/>
          <a:ln w="25400">
            <a:solidFill>
              <a:srgbClr val="D9941A"/>
            </a:solidFill>
            <a:prstDash val="solid"/>
            <a:tailEnd type="triangle"/>
          </a:ln>
        </p:spPr>
      </p:sp>
      <p:sp>
        <p:nvSpPr>
          <p:cNvPr id="13" name="Shape 11"/>
          <p:cNvSpPr/>
          <p:nvPr/>
        </p:nvSpPr>
        <p:spPr>
          <a:xfrm>
            <a:off x="457200" y="3063240"/>
            <a:ext cx="8229600" cy="868680"/>
          </a:xfrm>
          <a:prstGeom prst="roundRect">
            <a:avLst>
              <a:gd name="adj" fmla="val 10526"/>
            </a:avLst>
          </a:prstGeom>
          <a:solidFill>
            <a:srgbClr val="FFFFFF"/>
          </a:solidFill>
          <a:ln w="6350">
            <a:solidFill>
              <a:srgbClr val="DDDDEE"/>
            </a:solidFill>
            <a:prstDash val="solid"/>
          </a:ln>
        </p:spPr>
      </p:sp>
      <p:sp>
        <p:nvSpPr>
          <p:cNvPr id="14" name="Text 12"/>
          <p:cNvSpPr/>
          <p:nvPr/>
        </p:nvSpPr>
        <p:spPr>
          <a:xfrm>
            <a:off x="685800" y="3063240"/>
            <a:ext cx="4114800" cy="868680"/>
          </a:xfrm>
          <a:prstGeom prst="rect">
            <a:avLst/>
          </a:prstGeom>
          <a:noFill/>
          <a:ln/>
        </p:spPr>
        <p:txBody>
          <a:bodyPr wrap="square" lIns="0" tIns="0" rIns="0" bIns="0" rtlCol="0" anchor="ctr"/>
          <a:lstStyle/>
          <a:p>
            <a:pPr indent="0" marL="0">
              <a:buNone/>
            </a:pPr>
            <a:r>
              <a:rPr lang="en-US" sz="2000" b="1" dirty="0">
                <a:solidFill>
                  <a:srgbClr val="4A3D8F"/>
                </a:solidFill>
                <a:latin typeface="Cambria" pitchFamily="34" charset="0"/>
                <a:ea typeface="Cambria" pitchFamily="34" charset="-122"/>
                <a:cs typeface="Cambria" pitchFamily="34" charset="-120"/>
              </a:rPr>
              <a:t>Eight divided by four fourths</a:t>
            </a:r>
            <a:endParaRPr lang="en-US" sz="2000" dirty="0"/>
          </a:p>
        </p:txBody>
      </p:sp>
      <p:sp>
        <p:nvSpPr>
          <p:cNvPr id="15" name="Text 13"/>
          <p:cNvSpPr/>
          <p:nvPr/>
        </p:nvSpPr>
        <p:spPr>
          <a:xfrm>
            <a:off x="5029200" y="3063240"/>
            <a:ext cx="1828800" cy="868680"/>
          </a:xfrm>
          <a:prstGeom prst="rect">
            <a:avLst/>
          </a:prstGeom>
          <a:noFill/>
          <a:ln/>
        </p:spPr>
        <p:txBody>
          <a:bodyPr wrap="square" lIns="0" tIns="0" rIns="0" bIns="0" rtlCol="0" anchor="ctr"/>
          <a:lstStyle/>
          <a:p>
            <a:pPr indent="0" marL="0">
              <a:buNone/>
            </a:pPr>
            <a:r>
              <a:rPr lang="en-US" sz="2000" b="1" dirty="0">
                <a:solidFill>
                  <a:srgbClr val="1A1A2E"/>
                </a:solidFill>
                <a:latin typeface="Cambria" pitchFamily="34" charset="0"/>
                <a:ea typeface="Cambria" pitchFamily="34" charset="-122"/>
                <a:cs typeface="Cambria" pitchFamily="34" charset="-120"/>
              </a:rPr>
              <a:t>= 8</a:t>
            </a:r>
            <a:endParaRPr lang="en-US" sz="2000" dirty="0"/>
          </a:p>
        </p:txBody>
      </p:sp>
      <p:sp>
        <p:nvSpPr>
          <p:cNvPr id="16" name="Shape 14"/>
          <p:cNvSpPr/>
          <p:nvPr/>
        </p:nvSpPr>
        <p:spPr>
          <a:xfrm>
            <a:off x="137160" y="2971800"/>
            <a:ext cx="0" cy="137160"/>
          </a:xfrm>
          <a:prstGeom prst="line">
            <a:avLst/>
          </a:prstGeom>
          <a:noFill/>
          <a:ln w="25400">
            <a:solidFill>
              <a:srgbClr val="D9941A"/>
            </a:solidFill>
            <a:prstDash val="solid"/>
            <a:tailEnd type="triangle"/>
          </a:ln>
        </p:spPr>
      </p:sp>
      <p:sp>
        <p:nvSpPr>
          <p:cNvPr id="17" name="Shape 15"/>
          <p:cNvSpPr/>
          <p:nvPr/>
        </p:nvSpPr>
        <p:spPr>
          <a:xfrm>
            <a:off x="1371600" y="4279392"/>
            <a:ext cx="6400800" cy="438912"/>
          </a:xfrm>
          <a:prstGeom prst="roundRect">
            <a:avLst>
              <a:gd name="adj" fmla="val 12500"/>
            </a:avLst>
          </a:prstGeom>
          <a:solidFill>
            <a:srgbClr val="464EB8"/>
          </a:solidFill>
          <a:ln w="12700">
            <a:solidFill>
              <a:srgbClr val="464EB8"/>
            </a:solidFill>
            <a:prstDash val="solid"/>
          </a:ln>
        </p:spPr>
      </p:sp>
      <p:sp>
        <p:nvSpPr>
          <p:cNvPr id="18" name="Text 16"/>
          <p:cNvSpPr/>
          <p:nvPr/>
        </p:nvSpPr>
        <p:spPr>
          <a:xfrm>
            <a:off x="1371600" y="4279392"/>
            <a:ext cx="64008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what changed each time?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4A3D8F"/>
          </a:solidFill>
          <a:ln w="12700">
            <a:solidFill>
              <a:srgbClr val="4A3D8F"/>
            </a:solidFill>
            <a:prstDash val="solid"/>
          </a:ln>
        </p:spPr>
      </p:sp>
      <p:sp>
        <p:nvSpPr>
          <p:cNvPr id="3" name="Shape 1"/>
          <p:cNvSpPr/>
          <p:nvPr/>
        </p:nvSpPr>
        <p:spPr>
          <a:xfrm>
            <a:off x="457200" y="320040"/>
            <a:ext cx="2194560" cy="292608"/>
          </a:xfrm>
          <a:prstGeom prst="roundRect">
            <a:avLst>
              <a:gd name="adj" fmla="val 18750"/>
            </a:avLst>
          </a:prstGeom>
          <a:solidFill>
            <a:srgbClr val="000000">
              <a:alpha val="35000"/>
            </a:srgbClr>
          </a:solidFill>
          <a:ln w="9525">
            <a:solidFill>
              <a:srgbClr val="FFFFFF"/>
            </a:solidFill>
            <a:prstDash val="solid"/>
          </a:ln>
        </p:spPr>
      </p:sp>
      <p:sp>
        <p:nvSpPr>
          <p:cNvPr id="4" name="Text 2"/>
          <p:cNvSpPr/>
          <p:nvPr/>
        </p:nvSpPr>
        <p:spPr>
          <a:xfrm>
            <a:off x="457200" y="320040"/>
            <a:ext cx="219456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NUMBER STRING</a:t>
            </a:r>
            <a:endParaRPr lang="en-US" sz="800" dirty="0"/>
          </a:p>
        </p:txBody>
      </p:sp>
      <p:sp>
        <p:nvSpPr>
          <p:cNvPr id="5" name="Text 3"/>
          <p:cNvSpPr/>
          <p:nvPr/>
        </p:nvSpPr>
        <p:spPr>
          <a:xfrm>
            <a:off x="457200" y="777240"/>
            <a:ext cx="8229600" cy="548640"/>
          </a:xfrm>
          <a:prstGeom prst="rect">
            <a:avLst/>
          </a:prstGeom>
          <a:noFill/>
          <a:ln/>
        </p:spPr>
        <p:txBody>
          <a:bodyPr wrap="square" lIns="0" tIns="0" rIns="0" bIns="0" rtlCol="0" anchor="ctr"/>
          <a:lstStyle/>
          <a:p>
            <a:pPr indent="0" marL="0">
              <a:buNone/>
            </a:pPr>
            <a:r>
              <a:rPr lang="en-US" sz="2000" b="1" spc="200" kern="0" dirty="0">
                <a:solidFill>
                  <a:srgbClr val="FFFFFF"/>
                </a:solidFill>
              </a:rPr>
              <a:t>The Pattern</a:t>
            </a:r>
            <a:endParaRPr lang="en-US" sz="2000" dirty="0"/>
          </a:p>
        </p:txBody>
      </p:sp>
      <p:sp>
        <p:nvSpPr>
          <p:cNvPr id="6" name="Shape 4"/>
          <p:cNvSpPr/>
          <p:nvPr/>
        </p:nvSpPr>
        <p:spPr>
          <a:xfrm>
            <a:off x="457200" y="1371600"/>
            <a:ext cx="8229600" cy="0"/>
          </a:xfrm>
          <a:prstGeom prst="line">
            <a:avLst/>
          </a:prstGeom>
          <a:noFill/>
          <a:ln w="6350">
            <a:solidFill>
              <a:srgbClr val="8888CC"/>
            </a:solidFill>
            <a:prstDash val="solid"/>
          </a:ln>
        </p:spPr>
      </p:sp>
      <p:sp>
        <p:nvSpPr>
          <p:cNvPr id="7" name="Text 5"/>
          <p:cNvSpPr/>
          <p:nvPr/>
        </p:nvSpPr>
        <p:spPr>
          <a:xfrm>
            <a:off x="457200" y="1508760"/>
            <a:ext cx="8229600" cy="548640"/>
          </a:xfrm>
          <a:prstGeom prst="rect">
            <a:avLst/>
          </a:prstGeom>
          <a:noFill/>
          <a:ln/>
        </p:spPr>
        <p:txBody>
          <a:bodyPr wrap="square" lIns="0" tIns="0" rIns="0" bIns="0" rtlCol="0" anchor="ctr"/>
          <a:lstStyle/>
          <a:p>
            <a:pPr indent="0" marL="0">
              <a:buNone/>
            </a:pPr>
            <a:r>
              <a:rPr lang="en-US" sz="1800" i="1" dirty="0">
                <a:solidFill>
                  <a:srgbClr val="CCCCFF"/>
                </a:solidFill>
              </a:rPr>
              <a:t>Every time the divisor fraction gets bigger (closer to one whole), you ___</a:t>
            </a:r>
            <a:endParaRPr lang="en-US" sz="1800" dirty="0"/>
          </a:p>
        </p:txBody>
      </p:sp>
      <p:sp>
        <p:nvSpPr>
          <p:cNvPr id="8" name="Text 6"/>
          <p:cNvSpPr/>
          <p:nvPr/>
        </p:nvSpPr>
        <p:spPr>
          <a:xfrm>
            <a:off x="457200" y="2148840"/>
            <a:ext cx="8229600" cy="18288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get a smaller quotient — bigger fraction pieces mean fewer of them fit inside eight.</a:t>
            </a:r>
            <a:endParaRPr lang="en-US" sz="2200" dirty="0"/>
          </a:p>
        </p:txBody>
      </p:sp>
      <p:sp>
        <p:nvSpPr>
          <p:cNvPr id="9" name="Shape 7"/>
          <p:cNvSpPr/>
          <p:nvPr/>
        </p:nvSpPr>
        <p:spPr>
          <a:xfrm>
            <a:off x="2286000" y="4343400"/>
            <a:ext cx="4572000" cy="438912"/>
          </a:xfrm>
          <a:prstGeom prst="roundRect">
            <a:avLst>
              <a:gd name="adj" fmla="val 12500"/>
            </a:avLst>
          </a:prstGeom>
          <a:solidFill>
            <a:srgbClr val="464EB8"/>
          </a:solidFill>
          <a:ln w="12700">
            <a:solidFill>
              <a:srgbClr val="464EB8"/>
            </a:solidFill>
            <a:prstDash val="solid"/>
          </a:ln>
        </p:spPr>
      </p:sp>
      <p:sp>
        <p:nvSpPr>
          <p:cNvPr id="10" name="Text 8"/>
          <p:cNvSpPr/>
          <p:nvPr/>
        </p:nvSpPr>
        <p:spPr>
          <a:xfrm>
            <a:off x="2286000" y="4343400"/>
            <a:ext cx="45720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one word for the pattern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E6E44"/>
          </a:solidFill>
          <a:ln w="12700">
            <a:solidFill>
              <a:srgbClr val="2E6E44"/>
            </a:solidFill>
            <a:prstDash val="solid"/>
          </a:ln>
        </p:spPr>
      </p:sp>
      <p:sp>
        <p:nvSpPr>
          <p:cNvPr id="3" name="Shape 1"/>
          <p:cNvSpPr/>
          <p:nvPr/>
        </p:nvSpPr>
        <p:spPr>
          <a:xfrm>
            <a:off x="457200" y="320040"/>
            <a:ext cx="2194560" cy="292608"/>
          </a:xfrm>
          <a:prstGeom prst="roundRect">
            <a:avLst>
              <a:gd name="adj" fmla="val 18750"/>
            </a:avLst>
          </a:prstGeom>
          <a:solidFill>
            <a:srgbClr val="000000">
              <a:alpha val="35000"/>
            </a:srgbClr>
          </a:solidFill>
          <a:ln w="9525">
            <a:solidFill>
              <a:srgbClr val="FFFFFF"/>
            </a:solidFill>
            <a:prstDash val="solid"/>
          </a:ln>
        </p:spPr>
      </p:sp>
      <p:sp>
        <p:nvSpPr>
          <p:cNvPr id="4" name="Text 2"/>
          <p:cNvSpPr/>
          <p:nvPr/>
        </p:nvSpPr>
        <p:spPr>
          <a:xfrm>
            <a:off x="457200" y="320040"/>
            <a:ext cx="219456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NUMBER STRING</a:t>
            </a:r>
            <a:endParaRPr lang="en-US" sz="800" dirty="0"/>
          </a:p>
        </p:txBody>
      </p:sp>
      <p:sp>
        <p:nvSpPr>
          <p:cNvPr id="5" name="Text 3"/>
          <p:cNvSpPr/>
          <p:nvPr/>
        </p:nvSpPr>
        <p:spPr>
          <a:xfrm>
            <a:off x="457200" y="777240"/>
            <a:ext cx="8229600" cy="548640"/>
          </a:xfrm>
          <a:prstGeom prst="rect">
            <a:avLst/>
          </a:prstGeom>
          <a:noFill/>
          <a:ln/>
        </p:spPr>
        <p:txBody>
          <a:bodyPr wrap="square" lIns="0" tIns="0" rIns="0" bIns="0" rtlCol="0" anchor="ctr"/>
          <a:lstStyle/>
          <a:p>
            <a:pPr indent="0" marL="0">
              <a:buNone/>
            </a:pPr>
            <a:r>
              <a:rPr lang="en-US" sz="2000" b="1" spc="200" kern="0" dirty="0">
                <a:solidFill>
                  <a:srgbClr val="FFFFFF"/>
                </a:solidFill>
              </a:rPr>
              <a:t>Try the Next String</a:t>
            </a:r>
            <a:endParaRPr lang="en-US" sz="2000" dirty="0"/>
          </a:p>
        </p:txBody>
      </p:sp>
      <p:sp>
        <p:nvSpPr>
          <p:cNvPr id="6" name="Shape 4"/>
          <p:cNvSpPr/>
          <p:nvPr/>
        </p:nvSpPr>
        <p:spPr>
          <a:xfrm>
            <a:off x="457200" y="1371600"/>
            <a:ext cx="8229600" cy="0"/>
          </a:xfrm>
          <a:prstGeom prst="line">
            <a:avLst/>
          </a:prstGeom>
          <a:noFill/>
          <a:ln w="6350">
            <a:solidFill>
              <a:srgbClr val="55AA77"/>
            </a:solidFill>
            <a:prstDash val="solid"/>
          </a:ln>
        </p:spPr>
      </p:sp>
      <p:sp>
        <p:nvSpPr>
          <p:cNvPr id="7" name="Text 5"/>
          <p:cNvSpPr/>
          <p:nvPr/>
        </p:nvSpPr>
        <p:spPr>
          <a:xfrm>
            <a:off x="457200" y="1554480"/>
            <a:ext cx="8229600" cy="64008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Twelve divided by one sixth</a:t>
            </a:r>
            <a:endParaRPr lang="en-US" sz="2600" dirty="0"/>
          </a:p>
        </p:txBody>
      </p:sp>
      <p:sp>
        <p:nvSpPr>
          <p:cNvPr id="8" name="Text 6"/>
          <p:cNvSpPr/>
          <p:nvPr/>
        </p:nvSpPr>
        <p:spPr>
          <a:xfrm>
            <a:off x="457200" y="2240280"/>
            <a:ext cx="8229600" cy="64008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Twelve divided by two sixths</a:t>
            </a:r>
            <a:endParaRPr lang="en-US" sz="2600" dirty="0"/>
          </a:p>
        </p:txBody>
      </p:sp>
      <p:sp>
        <p:nvSpPr>
          <p:cNvPr id="9" name="Text 7"/>
          <p:cNvSpPr/>
          <p:nvPr/>
        </p:nvSpPr>
        <p:spPr>
          <a:xfrm>
            <a:off x="457200" y="2926080"/>
            <a:ext cx="8229600" cy="64008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Twelve divided by three sixths</a:t>
            </a:r>
            <a:endParaRPr lang="en-US" sz="2600" dirty="0"/>
          </a:p>
        </p:txBody>
      </p:sp>
      <p:sp>
        <p:nvSpPr>
          <p:cNvPr id="10" name="Shape 8"/>
          <p:cNvSpPr/>
          <p:nvPr/>
        </p:nvSpPr>
        <p:spPr>
          <a:xfrm>
            <a:off x="1828800" y="4343400"/>
            <a:ext cx="5486400" cy="438912"/>
          </a:xfrm>
          <a:prstGeom prst="roundRect">
            <a:avLst>
              <a:gd name="adj" fmla="val 12500"/>
            </a:avLst>
          </a:prstGeom>
          <a:solidFill>
            <a:srgbClr val="464EB8"/>
          </a:solidFill>
          <a:ln w="12700">
            <a:solidFill>
              <a:srgbClr val="464EB8"/>
            </a:solidFill>
            <a:prstDash val="solid"/>
          </a:ln>
        </p:spPr>
      </p:sp>
      <p:sp>
        <p:nvSpPr>
          <p:cNvPr id="11" name="Text 9"/>
          <p:cNvSpPr/>
          <p:nvPr/>
        </p:nvSpPr>
        <p:spPr>
          <a:xfrm>
            <a:off x="1828800" y="4343400"/>
            <a:ext cx="54864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answers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w="12700">
            <a:solidFill>
              <a:srgbClr val="1B2A4A"/>
            </a:solidFill>
            <a:prstDash val="solid"/>
          </a:ln>
        </p:spPr>
      </p:sp>
      <p:sp>
        <p:nvSpPr>
          <p:cNvPr id="3" name="Shape 1"/>
          <p:cNvSpPr/>
          <p:nvPr/>
        </p:nvSpPr>
        <p:spPr>
          <a:xfrm>
            <a:off x="0" y="3474720"/>
            <a:ext cx="9144000" cy="1668780"/>
          </a:xfrm>
          <a:prstGeom prst="rect">
            <a:avLst/>
          </a:prstGeom>
          <a:solidFill>
            <a:srgbClr val="4A3D8F"/>
          </a:solidFill>
          <a:ln w="12700">
            <a:solidFill>
              <a:srgbClr val="4A3D8F"/>
            </a:solidFill>
            <a:prstDash val="solid"/>
          </a:ln>
        </p:spPr>
      </p:sp>
      <p:sp>
        <p:nvSpPr>
          <p:cNvPr id="4" name="Text 2"/>
          <p:cNvSpPr/>
          <p:nvPr/>
        </p:nvSpPr>
        <p:spPr>
          <a:xfrm>
            <a:off x="457200" y="320040"/>
            <a:ext cx="8229600" cy="365760"/>
          </a:xfrm>
          <a:prstGeom prst="rect">
            <a:avLst/>
          </a:prstGeom>
          <a:noFill/>
          <a:ln/>
        </p:spPr>
        <p:txBody>
          <a:bodyPr wrap="square" lIns="0" tIns="0" rIns="0" bIns="0" rtlCol="0" anchor="ctr"/>
          <a:lstStyle/>
          <a:p>
            <a:pPr indent="0" marL="0">
              <a:buNone/>
            </a:pPr>
            <a:r>
              <a:rPr lang="en-US" sz="1300" i="1" spc="200" kern="0" dirty="0">
                <a:solidFill>
                  <a:srgbClr val="FFFFFF"/>
                </a:solidFill>
              </a:rPr>
              <a:t>Optima Academy Online</a:t>
            </a:r>
            <a:endParaRPr lang="en-US" sz="1300" dirty="0"/>
          </a:p>
        </p:txBody>
      </p:sp>
      <p:sp>
        <p:nvSpPr>
          <p:cNvPr id="5" name="Text 3"/>
          <p:cNvSpPr/>
          <p:nvPr/>
        </p:nvSpPr>
        <p:spPr>
          <a:xfrm>
            <a:off x="457200" y="777240"/>
            <a:ext cx="8229600" cy="502920"/>
          </a:xfrm>
          <a:prstGeom prst="rect">
            <a:avLst/>
          </a:prstGeom>
          <a:noFill/>
          <a:ln/>
        </p:spPr>
        <p:txBody>
          <a:bodyPr wrap="square" lIns="0" tIns="0" rIns="0" bIns="0" rtlCol="0" anchor="ctr"/>
          <a:lstStyle/>
          <a:p>
            <a:pPr indent="0" marL="0">
              <a:buNone/>
            </a:pPr>
            <a:r>
              <a:rPr lang="en-US" sz="1800" b="1" spc="100" kern="0" dirty="0">
                <a:solidFill>
                  <a:srgbClr val="D9941A"/>
                </a:solidFill>
              </a:rPr>
              <a:t>5.06.04</a:t>
            </a:r>
            <a:endParaRPr lang="en-US" sz="1800" dirty="0"/>
          </a:p>
        </p:txBody>
      </p:sp>
      <p:sp>
        <p:nvSpPr>
          <p:cNvPr id="6" name="Text 4"/>
          <p:cNvSpPr/>
          <p:nvPr/>
        </p:nvSpPr>
        <p:spPr>
          <a:xfrm>
            <a:off x="457200" y="1325880"/>
            <a:ext cx="8229600" cy="12801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Dividing a Whole Number by a Fraction</a:t>
            </a:r>
            <a:endParaRPr lang="en-US" sz="3800" dirty="0"/>
          </a:p>
        </p:txBody>
      </p:sp>
      <p:sp>
        <p:nvSpPr>
          <p:cNvPr id="7" name="Text 5"/>
          <p:cNvSpPr/>
          <p:nvPr/>
        </p:nvSpPr>
        <p:spPr>
          <a:xfrm>
            <a:off x="457200" y="2697480"/>
            <a:ext cx="8229600" cy="502920"/>
          </a:xfrm>
          <a:prstGeom prst="rect">
            <a:avLst/>
          </a:prstGeom>
          <a:noFill/>
          <a:ln/>
        </p:spPr>
        <p:txBody>
          <a:bodyPr wrap="square" lIns="0" tIns="0" rIns="0" bIns="0" rtlCol="0" anchor="ctr"/>
          <a:lstStyle/>
          <a:p>
            <a:pPr indent="0" marL="0">
              <a:buNone/>
            </a:pPr>
            <a:r>
              <a:rPr lang="en-US" sz="1600" i="1" dirty="0">
                <a:solidFill>
                  <a:srgbClr val="AAAACC"/>
                </a:solidFill>
              </a:rPr>
              <a:t>Unit 6 · Division of Fractions · Lesson 4 of 5</a:t>
            </a:r>
            <a:endParaRPr lang="en-US" sz="1600" dirty="0"/>
          </a:p>
        </p:txBody>
      </p:sp>
      <p:sp>
        <p:nvSpPr>
          <p:cNvPr id="8" name="Text 6"/>
          <p:cNvSpPr/>
          <p:nvPr/>
        </p:nvSpPr>
        <p:spPr>
          <a:xfrm>
            <a:off x="457200" y="3657600"/>
            <a:ext cx="8229600" cy="411480"/>
          </a:xfrm>
          <a:prstGeom prst="rect">
            <a:avLst/>
          </a:prstGeom>
          <a:noFill/>
          <a:ln/>
        </p:spPr>
        <p:txBody>
          <a:bodyPr wrap="square" lIns="0" tIns="0" rIns="0" bIns="0" rtlCol="0" anchor="ctr"/>
          <a:lstStyle/>
          <a:p>
            <a:pPr indent="0" marL="0">
              <a:buNone/>
            </a:pPr>
            <a:r>
              <a:rPr lang="en-US" sz="1300" spc="100" kern="0" dirty="0">
                <a:solidFill>
                  <a:srgbClr val="FFFFFF"/>
                </a:solidFill>
              </a:rPr>
              <a:t>MA.5.FR.2.3   ·   MTR.2.1   ·   MTR.5.1</a:t>
            </a:r>
            <a:endParaRPr lang="en-US" sz="1300" dirty="0"/>
          </a:p>
        </p:txBody>
      </p:sp>
      <p:sp>
        <p:nvSpPr>
          <p:cNvPr id="9" name="Text 7"/>
          <p:cNvSpPr/>
          <p:nvPr/>
        </p:nvSpPr>
        <p:spPr>
          <a:xfrm>
            <a:off x="457200" y="4206240"/>
            <a:ext cx="8229600" cy="365760"/>
          </a:xfrm>
          <a:prstGeom prst="rect">
            <a:avLst/>
          </a:prstGeom>
          <a:noFill/>
          <a:ln/>
        </p:spPr>
        <p:txBody>
          <a:bodyPr wrap="square" lIns="0" tIns="0" rIns="0" bIns="0" rtlCol="0" anchor="ctr"/>
          <a:lstStyle/>
          <a:p>
            <a:pPr indent="0" marL="0">
              <a:buNone/>
            </a:pPr>
            <a:r>
              <a:rPr lang="en-US" sz="1400" i="1" dirty="0">
                <a:solidFill>
                  <a:srgbClr val="CCCCEE"/>
                </a:solidFill>
              </a:rPr>
              <a:t>Teacher Slides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Today's Goal</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Learning Objective</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005840"/>
            <a:ext cx="8229600" cy="1508760"/>
          </a:xfrm>
          <a:prstGeom prst="roundRect">
            <a:avLst>
              <a:gd name="adj" fmla="val 6061"/>
            </a:avLst>
          </a:prstGeom>
          <a:solidFill>
            <a:srgbClr val="EAE8F5"/>
          </a:solidFill>
          <a:ln w="6350">
            <a:solidFill>
              <a:srgbClr val="DDDDEE"/>
            </a:solidFill>
            <a:prstDash val="solid"/>
          </a:ln>
        </p:spPr>
      </p:sp>
      <p:sp>
        <p:nvSpPr>
          <p:cNvPr id="7" name="Text 5"/>
          <p:cNvSpPr/>
          <p:nvPr/>
        </p:nvSpPr>
        <p:spPr>
          <a:xfrm>
            <a:off x="685800" y="1078992"/>
            <a:ext cx="7772400" cy="347472"/>
          </a:xfrm>
          <a:prstGeom prst="rect">
            <a:avLst/>
          </a:prstGeom>
          <a:noFill/>
          <a:ln/>
        </p:spPr>
        <p:txBody>
          <a:bodyPr wrap="square" lIns="0" tIns="0" rIns="0" bIns="0" rtlCol="0" anchor="ctr"/>
          <a:lstStyle/>
          <a:p>
            <a:pPr indent="0" marL="0">
              <a:buNone/>
            </a:pPr>
            <a:r>
              <a:rPr lang="en-US" sz="1300" b="1" spc="100" kern="0" dirty="0">
                <a:solidFill>
                  <a:srgbClr val="4A3D8F"/>
                </a:solidFill>
              </a:rPr>
              <a:t>I can...</a:t>
            </a:r>
            <a:endParaRPr lang="en-US" sz="1300" dirty="0"/>
          </a:p>
        </p:txBody>
      </p:sp>
      <p:sp>
        <p:nvSpPr>
          <p:cNvPr id="8" name="Text 6"/>
          <p:cNvSpPr/>
          <p:nvPr/>
        </p:nvSpPr>
        <p:spPr>
          <a:xfrm>
            <a:off x="685800" y="1463040"/>
            <a:ext cx="7772400" cy="960120"/>
          </a:xfrm>
          <a:prstGeom prst="rect">
            <a:avLst/>
          </a:prstGeom>
          <a:noFill/>
          <a:ln/>
        </p:spPr>
        <p:txBody>
          <a:bodyPr wrap="square" lIns="0" tIns="0" rIns="0" bIns="0" rtlCol="0" anchor="ctr"/>
          <a:lstStyle/>
          <a:p>
            <a:pPr indent="0" marL="0">
              <a:buNone/>
            </a:pPr>
            <a:r>
              <a:rPr lang="en-US" sz="1800" dirty="0">
                <a:solidFill>
                  <a:srgbClr val="1A1A2E"/>
                </a:solidFill>
                <a:latin typeface="Cambria" pitchFamily="34" charset="0"/>
                <a:ea typeface="Cambria" pitchFamily="34" charset="-122"/>
                <a:cs typeface="Cambria" pitchFamily="34" charset="-120"/>
              </a:rPr>
              <a:t>I can divide a whole number by a fraction by finding how many groups of that fraction fit inside the whole number.</a:t>
            </a:r>
            <a:endParaRPr lang="en-US" sz="1800" dirty="0"/>
          </a:p>
        </p:txBody>
      </p:sp>
      <p:sp>
        <p:nvSpPr>
          <p:cNvPr id="9" name="Shape 7"/>
          <p:cNvSpPr/>
          <p:nvPr/>
        </p:nvSpPr>
        <p:spPr>
          <a:xfrm>
            <a:off x="457200" y="2743200"/>
            <a:ext cx="8229600" cy="1280160"/>
          </a:xfrm>
          <a:prstGeom prst="roundRect">
            <a:avLst>
              <a:gd name="adj" fmla="val 7143"/>
            </a:avLst>
          </a:prstGeom>
          <a:solidFill>
            <a:srgbClr val="FFFFFF"/>
          </a:solidFill>
          <a:ln w="6350">
            <a:solidFill>
              <a:srgbClr val="DDDDEE"/>
            </a:solidFill>
            <a:prstDash val="solid"/>
          </a:ln>
        </p:spPr>
      </p:sp>
      <p:sp>
        <p:nvSpPr>
          <p:cNvPr id="10" name="Text 8"/>
          <p:cNvSpPr/>
          <p:nvPr/>
        </p:nvSpPr>
        <p:spPr>
          <a:xfrm>
            <a:off x="685800" y="2834640"/>
            <a:ext cx="7772400" cy="1097280"/>
          </a:xfrm>
          <a:prstGeom prst="rect">
            <a:avLst/>
          </a:prstGeom>
          <a:noFill/>
          <a:ln/>
        </p:spPr>
        <p:txBody>
          <a:bodyPr wrap="square" lIns="0" tIns="0" rIns="0" bIns="0" rtlCol="0" anchor="ctr"/>
          <a:lstStyle/>
          <a:p>
            <a:pPr indent="0" marL="0">
              <a:buNone/>
            </a:pPr>
            <a:r>
              <a:rPr lang="en-US" sz="1600" i="1" dirty="0">
                <a:solidFill>
                  <a:srgbClr val="5A5A7A"/>
                </a:solidFill>
                <a:latin typeface="Cambria" pitchFamily="34" charset="0"/>
                <a:ea typeface="Cambria" pitchFamily="34" charset="-122"/>
                <a:cs typeface="Cambria" pitchFamily="34" charset="-120"/>
              </a:rPr>
              <a:t>“Dividing a whole number by a fraction means multiplying by the fraction's reciprocal — flip the fraction, then multiply.”</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Warm-Up</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Readiness Check · 3 min</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8229600" cy="960120"/>
          </a:xfrm>
          <a:prstGeom prst="roundRect">
            <a:avLst>
              <a:gd name="adj" fmla="val 9524"/>
            </a:avLst>
          </a:prstGeom>
          <a:solidFill>
            <a:srgbClr val="FFFFFF"/>
          </a:solidFill>
          <a:ln w="6350">
            <a:solidFill>
              <a:srgbClr val="DDDDEE"/>
            </a:solidFill>
            <a:prstDash val="solid"/>
          </a:ln>
        </p:spPr>
      </p:sp>
      <p:sp>
        <p:nvSpPr>
          <p:cNvPr id="7" name="Text 5"/>
          <p:cNvSpPr/>
          <p:nvPr/>
        </p:nvSpPr>
        <p:spPr>
          <a:xfrm>
            <a:off x="640080" y="1024128"/>
            <a:ext cx="4480560" cy="822960"/>
          </a:xfrm>
          <a:prstGeom prst="rect">
            <a:avLst/>
          </a:prstGeom>
          <a:noFill/>
          <a:ln/>
        </p:spPr>
        <p:txBody>
          <a:bodyPr wrap="square" lIns="0" tIns="0" rIns="0" bIns="0" rtlCol="0" anchor="ctr"/>
          <a:lstStyle/>
          <a:p>
            <a:pPr indent="0" marL="0">
              <a:buNone/>
            </a:pPr>
            <a:r>
              <a:rPr lang="en-US" sz="1300" dirty="0">
                <a:solidFill>
                  <a:srgbClr val="1A1A2E"/>
                </a:solidFill>
              </a:rPr>
              <a:t>1.  Quick review from Lesson 5.06.03 (whole number ÷ unit fraction):</a:t>
            </a:r>
            <a:endParaRPr lang="en-US" sz="1300" dirty="0"/>
          </a:p>
        </p:txBody>
      </p:sp>
      <p:sp>
        <p:nvSpPr>
          <p:cNvPr id="8" name="Text 6"/>
          <p:cNvSpPr/>
          <p:nvPr/>
        </p:nvSpPr>
        <p:spPr>
          <a:xfrm>
            <a:off x="5212080" y="1097280"/>
            <a:ext cx="548640" cy="548640"/>
          </a:xfrm>
          <a:prstGeom prst="rect">
            <a:avLst/>
          </a:prstGeom>
          <a:noFill/>
          <a:ln/>
        </p:spPr>
        <p:txBody>
          <a:bodyPr wrap="square" lIns="0" tIns="0" rIns="0" bIns="0" rtlCol="0" anchor="ctr"/>
          <a:lstStyle/>
          <a:p>
            <a:pPr algn="ctr" indent="0" marL="0">
              <a:buNone/>
            </a:pPr>
            <a:r>
              <a:rPr lang="en-US" sz="1800" b="1" dirty="0">
                <a:solidFill>
                  <a:srgbClr val="1A1A2E"/>
                </a:solidFill>
                <a:latin typeface="Cambria" pitchFamily="34" charset="0"/>
                <a:ea typeface="Cambria" pitchFamily="34" charset="-122"/>
                <a:cs typeface="Cambria" pitchFamily="34" charset="-120"/>
              </a:rPr>
              <a:t>6</a:t>
            </a:r>
            <a:endParaRPr lang="en-US" sz="1800" dirty="0"/>
          </a:p>
        </p:txBody>
      </p:sp>
      <p:sp>
        <p:nvSpPr>
          <p:cNvPr id="9" name="Text 7"/>
          <p:cNvSpPr/>
          <p:nvPr/>
        </p:nvSpPr>
        <p:spPr>
          <a:xfrm>
            <a:off x="5779008" y="1097280"/>
            <a:ext cx="365760" cy="548640"/>
          </a:xfrm>
          <a:prstGeom prst="rect">
            <a:avLst/>
          </a:prstGeom>
          <a:noFill/>
          <a:ln/>
        </p:spPr>
        <p:txBody>
          <a:bodyPr wrap="square" lIns="0" tIns="0" rIns="0" bIns="0" rtlCol="0" anchor="ctr"/>
          <a:lstStyle/>
          <a:p>
            <a:pPr algn="ctr" indent="0" marL="0">
              <a:buNone/>
            </a:pPr>
            <a:r>
              <a:rPr lang="en-US" sz="1800" b="1" dirty="0">
                <a:solidFill>
                  <a:srgbClr val="1A1A2E"/>
                </a:solidFill>
              </a:rPr>
              <a:t>÷</a:t>
            </a:r>
            <a:endParaRPr lang="en-US" sz="1800" dirty="0"/>
          </a:p>
        </p:txBody>
      </p:sp>
      <p:sp>
        <p:nvSpPr>
          <p:cNvPr id="10" name="Text 8"/>
          <p:cNvSpPr/>
          <p:nvPr/>
        </p:nvSpPr>
        <p:spPr>
          <a:xfrm>
            <a:off x="6172200" y="1078992"/>
            <a:ext cx="594360" cy="283464"/>
          </a:xfrm>
          <a:prstGeom prst="rect">
            <a:avLst/>
          </a:prstGeom>
          <a:noFill/>
          <a:ln/>
        </p:spPr>
        <p:txBody>
          <a:bodyPr wrap="square" lIns="0" tIns="0" rIns="0" bIns="0" rtlCol="0" anchor="b"/>
          <a:lstStyle/>
          <a:p>
            <a:pPr algn="ctr" indent="0" marL="0">
              <a:buNone/>
            </a:pPr>
            <a:r>
              <a:rPr lang="en-US" sz="1400" b="1" dirty="0">
                <a:solidFill>
                  <a:srgbClr val="4A3D8F"/>
                </a:solidFill>
                <a:latin typeface="Cambria" pitchFamily="34" charset="0"/>
                <a:ea typeface="Cambria" pitchFamily="34" charset="-122"/>
                <a:cs typeface="Cambria" pitchFamily="34" charset="-120"/>
              </a:rPr>
              <a:t>1</a:t>
            </a:r>
            <a:endParaRPr lang="en-US" sz="1400" dirty="0"/>
          </a:p>
        </p:txBody>
      </p:sp>
      <p:sp>
        <p:nvSpPr>
          <p:cNvPr id="11" name="Shape 9"/>
          <p:cNvSpPr/>
          <p:nvPr/>
        </p:nvSpPr>
        <p:spPr>
          <a:xfrm>
            <a:off x="6243523" y="1362456"/>
            <a:ext cx="451714" cy="0"/>
          </a:xfrm>
          <a:prstGeom prst="line">
            <a:avLst/>
          </a:prstGeom>
          <a:noFill/>
          <a:ln w="19050">
            <a:solidFill>
              <a:srgbClr val="4A3D8F"/>
            </a:solidFill>
            <a:prstDash val="solid"/>
          </a:ln>
        </p:spPr>
      </p:sp>
      <p:sp>
        <p:nvSpPr>
          <p:cNvPr id="12" name="Text 10"/>
          <p:cNvSpPr/>
          <p:nvPr/>
        </p:nvSpPr>
        <p:spPr>
          <a:xfrm>
            <a:off x="6172200" y="1362456"/>
            <a:ext cx="594360" cy="283464"/>
          </a:xfrm>
          <a:prstGeom prst="rect">
            <a:avLst/>
          </a:prstGeom>
          <a:noFill/>
          <a:ln/>
        </p:spPr>
        <p:txBody>
          <a:bodyPr wrap="square" lIns="0" tIns="0" rIns="0" bIns="0" rtlCol="0" anchor="t"/>
          <a:lstStyle/>
          <a:p>
            <a:pPr algn="ctr" indent="0" marL="0">
              <a:buNone/>
            </a:pPr>
            <a:r>
              <a:rPr lang="en-US" sz="1400" b="1" dirty="0">
                <a:solidFill>
                  <a:srgbClr val="4A3D8F"/>
                </a:solidFill>
                <a:latin typeface="Cambria" pitchFamily="34" charset="0"/>
                <a:ea typeface="Cambria" pitchFamily="34" charset="-122"/>
                <a:cs typeface="Cambria" pitchFamily="34" charset="-120"/>
              </a:rPr>
              <a:t>3</a:t>
            </a:r>
            <a:endParaRPr lang="en-US" sz="1400" dirty="0"/>
          </a:p>
        </p:txBody>
      </p:sp>
      <p:sp>
        <p:nvSpPr>
          <p:cNvPr id="13" name="Text 11"/>
          <p:cNvSpPr/>
          <p:nvPr/>
        </p:nvSpPr>
        <p:spPr>
          <a:xfrm>
            <a:off x="6858000" y="1097280"/>
            <a:ext cx="365760" cy="548640"/>
          </a:xfrm>
          <a:prstGeom prst="rect">
            <a:avLst/>
          </a:prstGeom>
          <a:noFill/>
          <a:ln/>
        </p:spPr>
        <p:txBody>
          <a:bodyPr wrap="square" lIns="0" tIns="0" rIns="0" bIns="0" rtlCol="0" anchor="ctr"/>
          <a:lstStyle/>
          <a:p>
            <a:pPr algn="ctr" indent="0" marL="0">
              <a:buNone/>
            </a:pPr>
            <a:r>
              <a:rPr lang="en-US" sz="1800" b="1" dirty="0">
                <a:solidFill>
                  <a:srgbClr val="1A1A2E"/>
                </a:solidFill>
              </a:rPr>
              <a:t>=</a:t>
            </a:r>
            <a:endParaRPr lang="en-US" sz="1800" dirty="0"/>
          </a:p>
        </p:txBody>
      </p:sp>
      <p:sp>
        <p:nvSpPr>
          <p:cNvPr id="14" name="Text 12"/>
          <p:cNvSpPr/>
          <p:nvPr/>
        </p:nvSpPr>
        <p:spPr>
          <a:xfrm>
            <a:off x="7269480" y="1097280"/>
            <a:ext cx="2011680" cy="548640"/>
          </a:xfrm>
          <a:prstGeom prst="rect">
            <a:avLst/>
          </a:prstGeom>
          <a:noFill/>
          <a:ln/>
        </p:spPr>
        <p:txBody>
          <a:bodyPr wrap="square" lIns="0" tIns="0" rIns="0" bIns="0" rtlCol="0" anchor="ctr"/>
          <a:lstStyle/>
          <a:p>
            <a:pPr algn="l" indent="0" marL="0">
              <a:buNone/>
            </a:pPr>
            <a:r>
              <a:rPr lang="en-US" sz="1800" b="1" dirty="0">
                <a:solidFill>
                  <a:srgbClr val="2E6E44"/>
                </a:solidFill>
                <a:latin typeface="Cambria" pitchFamily="34" charset="0"/>
                <a:ea typeface="Cambria" pitchFamily="34" charset="-122"/>
                <a:cs typeface="Cambria" pitchFamily="34" charset="-120"/>
              </a:rPr>
              <a:t>?</a:t>
            </a:r>
            <a:endParaRPr lang="en-US" sz="1800" dirty="0"/>
          </a:p>
        </p:txBody>
      </p:sp>
      <p:sp>
        <p:nvSpPr>
          <p:cNvPr id="15" name="Shape 13"/>
          <p:cNvSpPr/>
          <p:nvPr/>
        </p:nvSpPr>
        <p:spPr>
          <a:xfrm>
            <a:off x="457200" y="2011680"/>
            <a:ext cx="8229600" cy="1051560"/>
          </a:xfrm>
          <a:prstGeom prst="roundRect">
            <a:avLst>
              <a:gd name="adj" fmla="val 8696"/>
            </a:avLst>
          </a:prstGeom>
          <a:solidFill>
            <a:srgbClr val="FFFFFF"/>
          </a:solidFill>
          <a:ln w="6350">
            <a:solidFill>
              <a:srgbClr val="DDDDEE"/>
            </a:solidFill>
            <a:prstDash val="solid"/>
          </a:ln>
        </p:spPr>
      </p:sp>
      <p:sp>
        <p:nvSpPr>
          <p:cNvPr id="16" name="Text 14"/>
          <p:cNvSpPr/>
          <p:nvPr/>
        </p:nvSpPr>
        <p:spPr>
          <a:xfrm>
            <a:off x="640080" y="2075688"/>
            <a:ext cx="5120640" cy="914400"/>
          </a:xfrm>
          <a:prstGeom prst="rect">
            <a:avLst/>
          </a:prstGeom>
          <a:noFill/>
          <a:ln/>
        </p:spPr>
        <p:txBody>
          <a:bodyPr wrap="square" lIns="0" tIns="0" rIns="0" bIns="0" rtlCol="0" anchor="ctr"/>
          <a:lstStyle/>
          <a:p>
            <a:pPr indent="0" marL="0">
              <a:buNone/>
            </a:pPr>
            <a:r>
              <a:rPr lang="en-US" sz="1300" dirty="0">
                <a:solidFill>
                  <a:srgbClr val="1A1A2E"/>
                </a:solidFill>
              </a:rPr>
              <a:t>2.  Which of these is a NON-unit fraction — a fraction with a numerator greater than 1?</a:t>
            </a:r>
            <a:endParaRPr lang="en-US" sz="1300" dirty="0"/>
          </a:p>
        </p:txBody>
      </p:sp>
      <p:sp>
        <p:nvSpPr>
          <p:cNvPr id="17" name="Text 15"/>
          <p:cNvSpPr/>
          <p:nvPr/>
        </p:nvSpPr>
        <p:spPr>
          <a:xfrm>
            <a:off x="5943600" y="2148840"/>
            <a:ext cx="640080" cy="297180"/>
          </a:xfrm>
          <a:prstGeom prst="rect">
            <a:avLst/>
          </a:prstGeom>
          <a:noFill/>
          <a:ln/>
        </p:spPr>
        <p:txBody>
          <a:bodyPr wrap="square" lIns="0" tIns="0" rIns="0" bIns="0" rtlCol="0" anchor="b"/>
          <a:lstStyle/>
          <a:p>
            <a:pPr algn="ctr" indent="0" marL="0">
              <a:buNone/>
            </a:pPr>
            <a:r>
              <a:rPr lang="en-US" sz="1800" b="1" dirty="0">
                <a:solidFill>
                  <a:srgbClr val="1A1A2E"/>
                </a:solidFill>
                <a:latin typeface="Cambria" pitchFamily="34" charset="0"/>
                <a:ea typeface="Cambria" pitchFamily="34" charset="-122"/>
                <a:cs typeface="Cambria" pitchFamily="34" charset="-120"/>
              </a:rPr>
              <a:t>1</a:t>
            </a:r>
            <a:endParaRPr lang="en-US" sz="1800" dirty="0"/>
          </a:p>
        </p:txBody>
      </p:sp>
      <p:sp>
        <p:nvSpPr>
          <p:cNvPr id="18" name="Shape 16"/>
          <p:cNvSpPr/>
          <p:nvPr/>
        </p:nvSpPr>
        <p:spPr>
          <a:xfrm>
            <a:off x="6020410" y="2446020"/>
            <a:ext cx="486461" cy="0"/>
          </a:xfrm>
          <a:prstGeom prst="line">
            <a:avLst/>
          </a:prstGeom>
          <a:noFill/>
          <a:ln w="19050">
            <a:solidFill>
              <a:srgbClr val="1A1A2E"/>
            </a:solidFill>
            <a:prstDash val="solid"/>
          </a:ln>
        </p:spPr>
      </p:sp>
      <p:sp>
        <p:nvSpPr>
          <p:cNvPr id="19" name="Text 17"/>
          <p:cNvSpPr/>
          <p:nvPr/>
        </p:nvSpPr>
        <p:spPr>
          <a:xfrm>
            <a:off x="5943600" y="2446020"/>
            <a:ext cx="640080" cy="297180"/>
          </a:xfrm>
          <a:prstGeom prst="rect">
            <a:avLst/>
          </a:prstGeom>
          <a:noFill/>
          <a:ln/>
        </p:spPr>
        <p:txBody>
          <a:bodyPr wrap="square" lIns="0" tIns="0" rIns="0" bIns="0" rtlCol="0" anchor="t"/>
          <a:lstStyle/>
          <a:p>
            <a:pPr algn="ctr" indent="0" marL="0">
              <a:buNone/>
            </a:pPr>
            <a:r>
              <a:rPr lang="en-US" sz="1800" b="1" dirty="0">
                <a:solidFill>
                  <a:srgbClr val="1A1A2E"/>
                </a:solidFill>
                <a:latin typeface="Cambria" pitchFamily="34" charset="0"/>
                <a:ea typeface="Cambria" pitchFamily="34" charset="-122"/>
                <a:cs typeface="Cambria" pitchFamily="34" charset="-120"/>
              </a:rPr>
              <a:t>4</a:t>
            </a:r>
            <a:endParaRPr lang="en-US" sz="1800" dirty="0"/>
          </a:p>
        </p:txBody>
      </p:sp>
      <p:sp>
        <p:nvSpPr>
          <p:cNvPr id="20" name="Text 18"/>
          <p:cNvSpPr/>
          <p:nvPr/>
        </p:nvSpPr>
        <p:spPr>
          <a:xfrm>
            <a:off x="6629400" y="2148840"/>
            <a:ext cx="365760" cy="594360"/>
          </a:xfrm>
          <a:prstGeom prst="rect">
            <a:avLst/>
          </a:prstGeom>
          <a:noFill/>
          <a:ln/>
        </p:spPr>
        <p:txBody>
          <a:bodyPr wrap="square" lIns="0" tIns="0" rIns="0" bIns="0" rtlCol="0" anchor="ctr"/>
          <a:lstStyle/>
          <a:p>
            <a:pPr algn="ctr" indent="0" marL="0">
              <a:buNone/>
            </a:pPr>
            <a:r>
              <a:rPr lang="en-US" sz="1400" i="1" dirty="0">
                <a:solidFill>
                  <a:srgbClr val="5A5A7A"/>
                </a:solidFill>
              </a:rPr>
              <a:t>or</a:t>
            </a:r>
            <a:endParaRPr lang="en-US" sz="1400" dirty="0"/>
          </a:p>
        </p:txBody>
      </p:sp>
      <p:sp>
        <p:nvSpPr>
          <p:cNvPr id="21" name="Text 19"/>
          <p:cNvSpPr/>
          <p:nvPr/>
        </p:nvSpPr>
        <p:spPr>
          <a:xfrm>
            <a:off x="7040880" y="2148840"/>
            <a:ext cx="640080" cy="297180"/>
          </a:xfrm>
          <a:prstGeom prst="rect">
            <a:avLst/>
          </a:prstGeom>
          <a:noFill/>
          <a:ln/>
        </p:spPr>
        <p:txBody>
          <a:bodyPr wrap="square" lIns="0" tIns="0" rIns="0" bIns="0" rtlCol="0" anchor="b"/>
          <a:lstStyle/>
          <a:p>
            <a:pPr algn="ctr" indent="0" marL="0">
              <a:buNone/>
            </a:pPr>
            <a:r>
              <a:rPr lang="en-US" sz="1800" b="1" dirty="0">
                <a:solidFill>
                  <a:srgbClr val="1A1A2E"/>
                </a:solidFill>
                <a:latin typeface="Cambria" pitchFamily="34" charset="0"/>
                <a:ea typeface="Cambria" pitchFamily="34" charset="-122"/>
                <a:cs typeface="Cambria" pitchFamily="34" charset="-120"/>
              </a:rPr>
              <a:t>3</a:t>
            </a:r>
            <a:endParaRPr lang="en-US" sz="1800" dirty="0"/>
          </a:p>
        </p:txBody>
      </p:sp>
      <p:sp>
        <p:nvSpPr>
          <p:cNvPr id="22" name="Shape 20"/>
          <p:cNvSpPr/>
          <p:nvPr/>
        </p:nvSpPr>
        <p:spPr>
          <a:xfrm>
            <a:off x="7117690" y="2446020"/>
            <a:ext cx="486461" cy="0"/>
          </a:xfrm>
          <a:prstGeom prst="line">
            <a:avLst/>
          </a:prstGeom>
          <a:noFill/>
          <a:ln w="19050">
            <a:solidFill>
              <a:srgbClr val="1A1A2E"/>
            </a:solidFill>
            <a:prstDash val="solid"/>
          </a:ln>
        </p:spPr>
      </p:sp>
      <p:sp>
        <p:nvSpPr>
          <p:cNvPr id="23" name="Text 21"/>
          <p:cNvSpPr/>
          <p:nvPr/>
        </p:nvSpPr>
        <p:spPr>
          <a:xfrm>
            <a:off x="7040880" y="2446020"/>
            <a:ext cx="640080" cy="297180"/>
          </a:xfrm>
          <a:prstGeom prst="rect">
            <a:avLst/>
          </a:prstGeom>
          <a:noFill/>
          <a:ln/>
        </p:spPr>
        <p:txBody>
          <a:bodyPr wrap="square" lIns="0" tIns="0" rIns="0" bIns="0" rtlCol="0" anchor="t"/>
          <a:lstStyle/>
          <a:p>
            <a:pPr algn="ctr" indent="0" marL="0">
              <a:buNone/>
            </a:pPr>
            <a:r>
              <a:rPr lang="en-US" sz="1800" b="1" dirty="0">
                <a:solidFill>
                  <a:srgbClr val="1A1A2E"/>
                </a:solidFill>
                <a:latin typeface="Cambria" pitchFamily="34" charset="0"/>
                <a:ea typeface="Cambria" pitchFamily="34" charset="-122"/>
                <a:cs typeface="Cambria" pitchFamily="34" charset="-120"/>
              </a:rPr>
              <a:t>4</a:t>
            </a:r>
            <a:endParaRPr lang="en-US" sz="1800" dirty="0"/>
          </a:p>
        </p:txBody>
      </p:sp>
      <p:sp>
        <p:nvSpPr>
          <p:cNvPr id="24" name="Shape 22"/>
          <p:cNvSpPr/>
          <p:nvPr/>
        </p:nvSpPr>
        <p:spPr>
          <a:xfrm>
            <a:off x="457200" y="3200400"/>
            <a:ext cx="8229600" cy="960120"/>
          </a:xfrm>
          <a:prstGeom prst="roundRect">
            <a:avLst>
              <a:gd name="adj" fmla="val 9524"/>
            </a:avLst>
          </a:prstGeom>
          <a:solidFill>
            <a:srgbClr val="FFFFFF"/>
          </a:solidFill>
          <a:ln w="6350">
            <a:solidFill>
              <a:srgbClr val="DDDDEE"/>
            </a:solidFill>
            <a:prstDash val="solid"/>
          </a:ln>
        </p:spPr>
      </p:sp>
      <p:sp>
        <p:nvSpPr>
          <p:cNvPr id="25" name="Text 23"/>
          <p:cNvSpPr/>
          <p:nvPr/>
        </p:nvSpPr>
        <p:spPr>
          <a:xfrm>
            <a:off x="640080" y="3264408"/>
            <a:ext cx="7863840" cy="822960"/>
          </a:xfrm>
          <a:prstGeom prst="rect">
            <a:avLst/>
          </a:prstGeom>
          <a:noFill/>
          <a:ln/>
        </p:spPr>
        <p:txBody>
          <a:bodyPr wrap="square" lIns="0" tIns="0" rIns="0" bIns="0" rtlCol="0" anchor="ctr"/>
          <a:lstStyle/>
          <a:p>
            <a:pPr indent="0" marL="0">
              <a:buNone/>
            </a:pPr>
            <a:r>
              <a:rPr lang="en-US" sz="1300" dirty="0">
                <a:solidFill>
                  <a:srgbClr val="1A1A2E"/>
                </a:solidFill>
              </a:rPr>
              <a:t>3.  If a whole bar is cut into fifths, how many equal-sized pieces make up one whole bar?</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Hook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Real-World Context</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8229600" cy="1051560"/>
          </a:xfrm>
          <a:prstGeom prst="roundRect">
            <a:avLst>
              <a:gd name="adj" fmla="val 8696"/>
            </a:avLst>
          </a:prstGeom>
          <a:solidFill>
            <a:srgbClr val="EAE8F5"/>
          </a:solidFill>
          <a:ln w="6350">
            <a:solidFill>
              <a:srgbClr val="DDDDEE"/>
            </a:solidFill>
            <a:prstDash val="solid"/>
          </a:ln>
        </p:spPr>
      </p:sp>
      <p:sp>
        <p:nvSpPr>
          <p:cNvPr id="7" name="Text 5"/>
          <p:cNvSpPr/>
          <p:nvPr/>
        </p:nvSpPr>
        <p:spPr>
          <a:xfrm>
            <a:off x="640080" y="1033272"/>
            <a:ext cx="7863840" cy="914400"/>
          </a:xfrm>
          <a:prstGeom prst="rect">
            <a:avLst/>
          </a:prstGeom>
          <a:noFill/>
          <a:ln/>
        </p:spPr>
        <p:txBody>
          <a:bodyPr wrap="square" lIns="0" tIns="0" rIns="0" bIns="0" rtlCol="0" anchor="ctr"/>
          <a:lstStyle/>
          <a:p>
            <a:pPr indent="0" marL="0">
              <a:buNone/>
            </a:pPr>
            <a:r>
              <a:rPr lang="en-US" sz="1600" dirty="0">
                <a:solidFill>
                  <a:srgbClr val="1A1A2E"/>
                </a:solidFill>
                <a:latin typeface="Cambria" pitchFamily="34" charset="0"/>
                <a:ea typeface="Cambria" pitchFamily="34" charset="-122"/>
                <a:cs typeface="Cambria" pitchFamily="34" charset="-120"/>
              </a:rPr>
              <a:t>A trail-mix stand scoops out two thirds of a cup at a time. How many full scoops fit in four cups of trail mix?</a:t>
            </a:r>
            <a:endParaRPr lang="en-US" sz="1600" dirty="0"/>
          </a:p>
        </p:txBody>
      </p:sp>
      <p:sp>
        <p:nvSpPr>
          <p:cNvPr id="8" name="Shape 6"/>
          <p:cNvSpPr/>
          <p:nvPr/>
        </p:nvSpPr>
        <p:spPr>
          <a:xfrm>
            <a:off x="1371600" y="2286000"/>
            <a:ext cx="2133600" cy="822960"/>
          </a:xfrm>
          <a:prstGeom prst="rect">
            <a:avLst/>
          </a:prstGeom>
          <a:solidFill>
            <a:srgbClr val="4A3D8F"/>
          </a:solidFill>
          <a:ln w="12700">
            <a:solidFill>
              <a:srgbClr val="888888"/>
            </a:solidFill>
            <a:prstDash val="solid"/>
          </a:ln>
        </p:spPr>
      </p:sp>
      <p:sp>
        <p:nvSpPr>
          <p:cNvPr id="9" name="Shape 7"/>
          <p:cNvSpPr/>
          <p:nvPr/>
        </p:nvSpPr>
        <p:spPr>
          <a:xfrm>
            <a:off x="3505200" y="2286000"/>
            <a:ext cx="2133600" cy="822960"/>
          </a:xfrm>
          <a:prstGeom prst="rect">
            <a:avLst/>
          </a:prstGeom>
          <a:solidFill>
            <a:srgbClr val="4A3D8F"/>
          </a:solidFill>
          <a:ln w="12700">
            <a:solidFill>
              <a:srgbClr val="888888"/>
            </a:solidFill>
            <a:prstDash val="solid"/>
          </a:ln>
        </p:spPr>
      </p:sp>
      <p:sp>
        <p:nvSpPr>
          <p:cNvPr id="10" name="Shape 8"/>
          <p:cNvSpPr/>
          <p:nvPr/>
        </p:nvSpPr>
        <p:spPr>
          <a:xfrm>
            <a:off x="5638800" y="2286000"/>
            <a:ext cx="2133600" cy="822960"/>
          </a:xfrm>
          <a:prstGeom prst="rect">
            <a:avLst/>
          </a:prstGeom>
          <a:solidFill>
            <a:srgbClr val="FFFFFF"/>
          </a:solidFill>
          <a:ln w="12700">
            <a:solidFill>
              <a:srgbClr val="888888"/>
            </a:solidFill>
            <a:prstDash val="solid"/>
          </a:ln>
        </p:spPr>
      </p:sp>
      <p:sp>
        <p:nvSpPr>
          <p:cNvPr id="11" name="Text 9"/>
          <p:cNvSpPr/>
          <p:nvPr/>
        </p:nvSpPr>
        <p:spPr>
          <a:xfrm>
            <a:off x="1371600" y="3154680"/>
            <a:ext cx="6400800" cy="274320"/>
          </a:xfrm>
          <a:prstGeom prst="rect">
            <a:avLst/>
          </a:prstGeom>
          <a:noFill/>
          <a:ln/>
        </p:spPr>
        <p:txBody>
          <a:bodyPr wrap="square" lIns="0" tIns="0" rIns="0" bIns="0" rtlCol="0" anchor="ctr"/>
          <a:lstStyle/>
          <a:p>
            <a:pPr algn="ctr" indent="0" marL="0">
              <a:buNone/>
            </a:pPr>
            <a:r>
              <a:rPr lang="en-US" sz="1100" i="1" dirty="0">
                <a:solidFill>
                  <a:srgbClr val="5A5A7A"/>
                </a:solidFill>
              </a:rPr>
              <a:t>one scoop = two thirds of a cup</a:t>
            </a:r>
            <a:endParaRPr lang="en-US" sz="1100" dirty="0"/>
          </a:p>
        </p:txBody>
      </p:sp>
      <p:sp>
        <p:nvSpPr>
          <p:cNvPr id="12" name="Shape 10"/>
          <p:cNvSpPr/>
          <p:nvPr/>
        </p:nvSpPr>
        <p:spPr>
          <a:xfrm>
            <a:off x="914400" y="3977640"/>
            <a:ext cx="7315200" cy="438912"/>
          </a:xfrm>
          <a:prstGeom prst="roundRect">
            <a:avLst>
              <a:gd name="adj" fmla="val 12500"/>
            </a:avLst>
          </a:prstGeom>
          <a:solidFill>
            <a:srgbClr val="464EB8"/>
          </a:solidFill>
          <a:ln w="12700">
            <a:solidFill>
              <a:srgbClr val="464EB8"/>
            </a:solidFill>
            <a:prstDash val="solid"/>
          </a:ln>
        </p:spPr>
      </p:sp>
      <p:sp>
        <p:nvSpPr>
          <p:cNvPr id="13" name="Text 11"/>
          <p:cNvSpPr/>
          <p:nvPr/>
        </p:nvSpPr>
        <p:spPr>
          <a:xfrm>
            <a:off x="914400" y="3977640"/>
            <a:ext cx="73152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best guess — how many full scoops fit in four cups?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Notice &amp; Wonder</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Trail Mix Scoops</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8229600" cy="2011680"/>
          </a:xfrm>
          <a:prstGeom prst="roundRect">
            <a:avLst>
              <a:gd name="adj" fmla="val 4545"/>
            </a:avLst>
          </a:prstGeom>
          <a:solidFill>
            <a:srgbClr val="FFFFFF"/>
          </a:solidFill>
          <a:ln w="6350">
            <a:solidFill>
              <a:srgbClr val="DDDDEE"/>
            </a:solidFill>
            <a:prstDash val="solid"/>
          </a:ln>
        </p:spPr>
      </p:sp>
      <p:sp>
        <p:nvSpPr>
          <p:cNvPr id="7" name="Text 5"/>
          <p:cNvSpPr/>
          <p:nvPr/>
        </p:nvSpPr>
        <p:spPr>
          <a:xfrm>
            <a:off x="685800" y="1051560"/>
            <a:ext cx="7772400" cy="1828800"/>
          </a:xfrm>
          <a:prstGeom prst="rect">
            <a:avLst/>
          </a:prstGeom>
          <a:noFill/>
          <a:ln/>
        </p:spPr>
        <p:txBody>
          <a:bodyPr wrap="square" lIns="0" tIns="0" rIns="0" bIns="0" rtlCol="0" anchor="ctr"/>
          <a:lstStyle/>
          <a:p>
            <a:pPr indent="0" marL="0">
              <a:buNone/>
            </a:pPr>
            <a:r>
              <a:rPr lang="en-US" sz="2000" dirty="0">
                <a:solidFill>
                  <a:srgbClr val="1A1A2E"/>
                </a:solidFill>
                <a:latin typeface="Cambria" pitchFamily="34" charset="0"/>
                <a:ea typeface="Cambria" pitchFamily="34" charset="-122"/>
                <a:cs typeface="Cambria" pitchFamily="34" charset="-120"/>
              </a:rPr>
              <a:t>Four cups of trail mix, scooped two thirds of a cup at a time — how would you cut and band the cups to count every scoop?</a:t>
            </a:r>
            <a:endParaRPr lang="en-US" sz="2000" dirty="0"/>
          </a:p>
        </p:txBody>
      </p:sp>
      <p:sp>
        <p:nvSpPr>
          <p:cNvPr id="8" name="Shape 6"/>
          <p:cNvSpPr/>
          <p:nvPr/>
        </p:nvSpPr>
        <p:spPr>
          <a:xfrm>
            <a:off x="457200" y="3154680"/>
            <a:ext cx="3931920" cy="1508760"/>
          </a:xfrm>
          <a:prstGeom prst="roundRect">
            <a:avLst>
              <a:gd name="adj" fmla="val 6061"/>
            </a:avLst>
          </a:prstGeom>
          <a:solidFill>
            <a:srgbClr val="EAE8F5"/>
          </a:solidFill>
          <a:ln w="6350">
            <a:solidFill>
              <a:srgbClr val="DDDDEE"/>
            </a:solidFill>
            <a:prstDash val="solid"/>
          </a:ln>
        </p:spPr>
      </p:sp>
      <p:sp>
        <p:nvSpPr>
          <p:cNvPr id="9" name="Text 7"/>
          <p:cNvSpPr/>
          <p:nvPr/>
        </p:nvSpPr>
        <p:spPr>
          <a:xfrm>
            <a:off x="640080" y="3246120"/>
            <a:ext cx="3566160" cy="347472"/>
          </a:xfrm>
          <a:prstGeom prst="rect">
            <a:avLst/>
          </a:prstGeom>
          <a:noFill/>
          <a:ln/>
        </p:spPr>
        <p:txBody>
          <a:bodyPr wrap="square" lIns="0" tIns="0" rIns="0" bIns="0" rtlCol="0" anchor="ctr"/>
          <a:lstStyle/>
          <a:p>
            <a:pPr indent="0" marL="0">
              <a:buNone/>
            </a:pPr>
            <a:r>
              <a:rPr lang="en-US" sz="1300" b="1" dirty="0">
                <a:solidFill>
                  <a:srgbClr val="4A3D8F"/>
                </a:solidFill>
              </a:rPr>
              <a:t>I notice...</a:t>
            </a:r>
            <a:endParaRPr lang="en-US" sz="1300" dirty="0"/>
          </a:p>
        </p:txBody>
      </p:sp>
      <p:sp>
        <p:nvSpPr>
          <p:cNvPr id="10" name="Shape 8"/>
          <p:cNvSpPr/>
          <p:nvPr/>
        </p:nvSpPr>
        <p:spPr>
          <a:xfrm>
            <a:off x="4754880" y="3154680"/>
            <a:ext cx="3931920" cy="1508760"/>
          </a:xfrm>
          <a:prstGeom prst="roundRect">
            <a:avLst>
              <a:gd name="adj" fmla="val 6061"/>
            </a:avLst>
          </a:prstGeom>
          <a:solidFill>
            <a:srgbClr val="E6F2EA"/>
          </a:solidFill>
          <a:ln w="6350">
            <a:solidFill>
              <a:srgbClr val="DDDDEE"/>
            </a:solidFill>
            <a:prstDash val="solid"/>
          </a:ln>
        </p:spPr>
      </p:sp>
      <p:sp>
        <p:nvSpPr>
          <p:cNvPr id="11" name="Text 9"/>
          <p:cNvSpPr/>
          <p:nvPr/>
        </p:nvSpPr>
        <p:spPr>
          <a:xfrm>
            <a:off x="4937760" y="3246120"/>
            <a:ext cx="3566160" cy="347472"/>
          </a:xfrm>
          <a:prstGeom prst="rect">
            <a:avLst/>
          </a:prstGeom>
          <a:noFill/>
          <a:ln/>
        </p:spPr>
        <p:txBody>
          <a:bodyPr wrap="square" lIns="0" tIns="0" rIns="0" bIns="0" rtlCol="0" anchor="ctr"/>
          <a:lstStyle/>
          <a:p>
            <a:pPr indent="0" marL="0">
              <a:buNone/>
            </a:pPr>
            <a:r>
              <a:rPr lang="en-US" sz="1300" b="1" dirty="0">
                <a:solidFill>
                  <a:srgbClr val="2E6E44"/>
                </a:solidFill>
              </a:rPr>
              <a:t>I wonder...</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Concrete: Cutting and Banding the Wholes</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CPA · Concrete</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Text 4"/>
          <p:cNvSpPr/>
          <p:nvPr/>
        </p:nvSpPr>
        <p:spPr>
          <a:xfrm>
            <a:off x="2834640" y="914400"/>
            <a:ext cx="548640" cy="548640"/>
          </a:xfrm>
          <a:prstGeom prst="rect">
            <a:avLst/>
          </a:prstGeom>
          <a:noFill/>
          <a:ln/>
        </p:spPr>
        <p:txBody>
          <a:bodyPr wrap="square" lIns="0" tIns="0" rIns="0" bIns="0" rtlCol="0" anchor="ctr"/>
          <a:lstStyle/>
          <a:p>
            <a:pPr algn="ctr" indent="0" marL="0">
              <a:buNone/>
            </a:pPr>
            <a:r>
              <a:rPr lang="en-US" sz="2200" b="1" dirty="0">
                <a:solidFill>
                  <a:srgbClr val="1A1A2E"/>
                </a:solidFill>
                <a:latin typeface="Cambria" pitchFamily="34" charset="0"/>
                <a:ea typeface="Cambria" pitchFamily="34" charset="-122"/>
                <a:cs typeface="Cambria" pitchFamily="34" charset="-120"/>
              </a:rPr>
              <a:t>4</a:t>
            </a:r>
            <a:endParaRPr lang="en-US" sz="2200" dirty="0"/>
          </a:p>
        </p:txBody>
      </p:sp>
      <p:sp>
        <p:nvSpPr>
          <p:cNvPr id="7" name="Text 5"/>
          <p:cNvSpPr/>
          <p:nvPr/>
        </p:nvSpPr>
        <p:spPr>
          <a:xfrm>
            <a:off x="3401568" y="914400"/>
            <a:ext cx="365760" cy="548640"/>
          </a:xfrm>
          <a:prstGeom prst="rect">
            <a:avLst/>
          </a:prstGeom>
          <a:noFill/>
          <a:ln/>
        </p:spPr>
        <p:txBody>
          <a:bodyPr wrap="square" lIns="0" tIns="0" rIns="0" bIns="0" rtlCol="0" anchor="ctr"/>
          <a:lstStyle/>
          <a:p>
            <a:pPr algn="ctr" indent="0" marL="0">
              <a:buNone/>
            </a:pPr>
            <a:r>
              <a:rPr lang="en-US" sz="2200" b="1" dirty="0">
                <a:solidFill>
                  <a:srgbClr val="1A1A2E"/>
                </a:solidFill>
              </a:rPr>
              <a:t>÷</a:t>
            </a:r>
            <a:endParaRPr lang="en-US" sz="2200" dirty="0"/>
          </a:p>
        </p:txBody>
      </p:sp>
      <p:sp>
        <p:nvSpPr>
          <p:cNvPr id="8" name="Text 6"/>
          <p:cNvSpPr/>
          <p:nvPr/>
        </p:nvSpPr>
        <p:spPr>
          <a:xfrm>
            <a:off x="3794760" y="896112"/>
            <a:ext cx="594360" cy="283464"/>
          </a:xfrm>
          <a:prstGeom prst="rect">
            <a:avLst/>
          </a:prstGeom>
          <a:noFill/>
          <a:ln/>
        </p:spPr>
        <p:txBody>
          <a:bodyPr wrap="square" lIns="0" tIns="0" rIns="0" bIns="0" rtlCol="0" anchor="b"/>
          <a:lstStyle/>
          <a:p>
            <a:pPr algn="ctr" indent="0" marL="0">
              <a:buNone/>
            </a:pPr>
            <a:r>
              <a:rPr lang="en-US" sz="1800" b="1" dirty="0">
                <a:solidFill>
                  <a:srgbClr val="4A3D8F"/>
                </a:solidFill>
                <a:latin typeface="Cambria" pitchFamily="34" charset="0"/>
                <a:ea typeface="Cambria" pitchFamily="34" charset="-122"/>
                <a:cs typeface="Cambria" pitchFamily="34" charset="-120"/>
              </a:rPr>
              <a:t>2</a:t>
            </a:r>
            <a:endParaRPr lang="en-US" sz="1800" dirty="0"/>
          </a:p>
        </p:txBody>
      </p:sp>
      <p:sp>
        <p:nvSpPr>
          <p:cNvPr id="9" name="Shape 7"/>
          <p:cNvSpPr/>
          <p:nvPr/>
        </p:nvSpPr>
        <p:spPr>
          <a:xfrm>
            <a:off x="3866083" y="1179576"/>
            <a:ext cx="451714" cy="0"/>
          </a:xfrm>
          <a:prstGeom prst="line">
            <a:avLst/>
          </a:prstGeom>
          <a:noFill/>
          <a:ln w="19050">
            <a:solidFill>
              <a:srgbClr val="4A3D8F"/>
            </a:solidFill>
            <a:prstDash val="solid"/>
          </a:ln>
        </p:spPr>
      </p:sp>
      <p:sp>
        <p:nvSpPr>
          <p:cNvPr id="10" name="Text 8"/>
          <p:cNvSpPr/>
          <p:nvPr/>
        </p:nvSpPr>
        <p:spPr>
          <a:xfrm>
            <a:off x="3794760" y="1179576"/>
            <a:ext cx="594360" cy="283464"/>
          </a:xfrm>
          <a:prstGeom prst="rect">
            <a:avLst/>
          </a:prstGeom>
          <a:noFill/>
          <a:ln/>
        </p:spPr>
        <p:txBody>
          <a:bodyPr wrap="square" lIns="0" tIns="0" rIns="0" bIns="0" rtlCol="0" anchor="t"/>
          <a:lstStyle/>
          <a:p>
            <a:pPr algn="ctr" indent="0" marL="0">
              <a:buNone/>
            </a:pPr>
            <a:r>
              <a:rPr lang="en-US" sz="1800" b="1" dirty="0">
                <a:solidFill>
                  <a:srgbClr val="4A3D8F"/>
                </a:solidFill>
                <a:latin typeface="Cambria" pitchFamily="34" charset="0"/>
                <a:ea typeface="Cambria" pitchFamily="34" charset="-122"/>
                <a:cs typeface="Cambria" pitchFamily="34" charset="-120"/>
              </a:rPr>
              <a:t>3</a:t>
            </a:r>
            <a:endParaRPr lang="en-US" sz="1800" dirty="0"/>
          </a:p>
        </p:txBody>
      </p:sp>
      <p:sp>
        <p:nvSpPr>
          <p:cNvPr id="11" name="Text 9"/>
          <p:cNvSpPr/>
          <p:nvPr/>
        </p:nvSpPr>
        <p:spPr>
          <a:xfrm>
            <a:off x="4480560" y="914400"/>
            <a:ext cx="365760" cy="548640"/>
          </a:xfrm>
          <a:prstGeom prst="rect">
            <a:avLst/>
          </a:prstGeom>
          <a:noFill/>
          <a:ln/>
        </p:spPr>
        <p:txBody>
          <a:bodyPr wrap="square" lIns="0" tIns="0" rIns="0" bIns="0" rtlCol="0" anchor="ctr"/>
          <a:lstStyle/>
          <a:p>
            <a:pPr algn="ctr" indent="0" marL="0">
              <a:buNone/>
            </a:pPr>
            <a:r>
              <a:rPr lang="en-US" sz="2200" b="1" dirty="0">
                <a:solidFill>
                  <a:srgbClr val="1A1A2E"/>
                </a:solidFill>
              </a:rPr>
              <a:t>=</a:t>
            </a:r>
            <a:endParaRPr lang="en-US" sz="2200" dirty="0"/>
          </a:p>
        </p:txBody>
      </p:sp>
      <p:sp>
        <p:nvSpPr>
          <p:cNvPr id="12" name="Text 10"/>
          <p:cNvSpPr/>
          <p:nvPr/>
        </p:nvSpPr>
        <p:spPr>
          <a:xfrm>
            <a:off x="4892040" y="914400"/>
            <a:ext cx="2011680" cy="548640"/>
          </a:xfrm>
          <a:prstGeom prst="rect">
            <a:avLst/>
          </a:prstGeom>
          <a:noFill/>
          <a:ln/>
        </p:spPr>
        <p:txBody>
          <a:bodyPr wrap="square" lIns="0" tIns="0" rIns="0" bIns="0" rtlCol="0" anchor="ctr"/>
          <a:lstStyle/>
          <a:p>
            <a:pPr algn="l" indent="0" marL="0">
              <a:buNone/>
            </a:pPr>
            <a:r>
              <a:rPr lang="en-US" sz="2200" b="1" dirty="0">
                <a:solidFill>
                  <a:srgbClr val="2E6E44"/>
                </a:solidFill>
                <a:latin typeface="Cambria" pitchFamily="34" charset="0"/>
                <a:ea typeface="Cambria" pitchFamily="34" charset="-122"/>
                <a:cs typeface="Cambria" pitchFamily="34" charset="-120"/>
              </a:rPr>
              <a:t>?</a:t>
            </a:r>
            <a:endParaRPr lang="en-US" sz="2200" dirty="0"/>
          </a:p>
        </p:txBody>
      </p:sp>
      <p:sp>
        <p:nvSpPr>
          <p:cNvPr id="13" name="Shape 11"/>
          <p:cNvSpPr/>
          <p:nvPr/>
        </p:nvSpPr>
        <p:spPr>
          <a:xfrm>
            <a:off x="548640" y="1691640"/>
            <a:ext cx="652272" cy="1051560"/>
          </a:xfrm>
          <a:prstGeom prst="rect">
            <a:avLst/>
          </a:prstGeom>
          <a:solidFill>
            <a:srgbClr val="4A3D8F"/>
          </a:solidFill>
          <a:ln w="15875">
            <a:solidFill>
              <a:srgbClr val="FFFFFF"/>
            </a:solidFill>
            <a:prstDash val="solid"/>
          </a:ln>
        </p:spPr>
      </p:sp>
      <p:sp>
        <p:nvSpPr>
          <p:cNvPr id="14" name="Shape 12"/>
          <p:cNvSpPr/>
          <p:nvPr/>
        </p:nvSpPr>
        <p:spPr>
          <a:xfrm>
            <a:off x="1200912" y="1691640"/>
            <a:ext cx="652272" cy="1051560"/>
          </a:xfrm>
          <a:prstGeom prst="rect">
            <a:avLst/>
          </a:prstGeom>
          <a:solidFill>
            <a:srgbClr val="4A3D8F"/>
          </a:solidFill>
          <a:ln w="15875">
            <a:solidFill>
              <a:srgbClr val="FFFFFF"/>
            </a:solidFill>
            <a:prstDash val="solid"/>
          </a:ln>
        </p:spPr>
      </p:sp>
      <p:sp>
        <p:nvSpPr>
          <p:cNvPr id="15" name="Shape 13"/>
          <p:cNvSpPr/>
          <p:nvPr/>
        </p:nvSpPr>
        <p:spPr>
          <a:xfrm>
            <a:off x="1853184" y="1691640"/>
            <a:ext cx="652272" cy="1051560"/>
          </a:xfrm>
          <a:prstGeom prst="rect">
            <a:avLst/>
          </a:prstGeom>
          <a:solidFill>
            <a:srgbClr val="2E6E44"/>
          </a:solidFill>
          <a:ln w="15875">
            <a:solidFill>
              <a:srgbClr val="FFFFFF"/>
            </a:solidFill>
            <a:prstDash val="solid"/>
          </a:ln>
        </p:spPr>
      </p:sp>
      <p:sp>
        <p:nvSpPr>
          <p:cNvPr id="16" name="Shape 14"/>
          <p:cNvSpPr/>
          <p:nvPr/>
        </p:nvSpPr>
        <p:spPr>
          <a:xfrm>
            <a:off x="548640" y="1691640"/>
            <a:ext cx="1956816" cy="1051560"/>
          </a:xfrm>
          <a:prstGeom prst="rect">
            <a:avLst/>
          </a:prstGeom>
          <a:solidFill>
            <a:srgbClr val="FFFFFF">
              <a:alpha val="0"/>
            </a:srgbClr>
          </a:solidFill>
          <a:ln w="19050">
            <a:solidFill>
              <a:srgbClr val="333333"/>
            </a:solidFill>
            <a:prstDash val="solid"/>
          </a:ln>
        </p:spPr>
      </p:sp>
      <p:sp>
        <p:nvSpPr>
          <p:cNvPr id="17" name="Shape 15"/>
          <p:cNvSpPr/>
          <p:nvPr/>
        </p:nvSpPr>
        <p:spPr>
          <a:xfrm>
            <a:off x="2578608" y="1691640"/>
            <a:ext cx="652272" cy="1051560"/>
          </a:xfrm>
          <a:prstGeom prst="rect">
            <a:avLst/>
          </a:prstGeom>
          <a:solidFill>
            <a:srgbClr val="2E6E44"/>
          </a:solidFill>
          <a:ln w="15875">
            <a:solidFill>
              <a:srgbClr val="FFFFFF"/>
            </a:solidFill>
            <a:prstDash val="solid"/>
          </a:ln>
        </p:spPr>
      </p:sp>
      <p:sp>
        <p:nvSpPr>
          <p:cNvPr id="18" name="Shape 16"/>
          <p:cNvSpPr/>
          <p:nvPr/>
        </p:nvSpPr>
        <p:spPr>
          <a:xfrm>
            <a:off x="3230880" y="1691640"/>
            <a:ext cx="652272" cy="1051560"/>
          </a:xfrm>
          <a:prstGeom prst="rect">
            <a:avLst/>
          </a:prstGeom>
          <a:solidFill>
            <a:srgbClr val="4A3D8F"/>
          </a:solidFill>
          <a:ln w="15875">
            <a:solidFill>
              <a:srgbClr val="FFFFFF"/>
            </a:solidFill>
            <a:prstDash val="solid"/>
          </a:ln>
        </p:spPr>
      </p:sp>
      <p:sp>
        <p:nvSpPr>
          <p:cNvPr id="19" name="Shape 17"/>
          <p:cNvSpPr/>
          <p:nvPr/>
        </p:nvSpPr>
        <p:spPr>
          <a:xfrm>
            <a:off x="3883152" y="1691640"/>
            <a:ext cx="652272" cy="1051560"/>
          </a:xfrm>
          <a:prstGeom prst="rect">
            <a:avLst/>
          </a:prstGeom>
          <a:solidFill>
            <a:srgbClr val="4A3D8F"/>
          </a:solidFill>
          <a:ln w="15875">
            <a:solidFill>
              <a:srgbClr val="FFFFFF"/>
            </a:solidFill>
            <a:prstDash val="solid"/>
          </a:ln>
        </p:spPr>
      </p:sp>
      <p:sp>
        <p:nvSpPr>
          <p:cNvPr id="20" name="Shape 18"/>
          <p:cNvSpPr/>
          <p:nvPr/>
        </p:nvSpPr>
        <p:spPr>
          <a:xfrm>
            <a:off x="2578608" y="1691640"/>
            <a:ext cx="1956816" cy="1051560"/>
          </a:xfrm>
          <a:prstGeom prst="rect">
            <a:avLst/>
          </a:prstGeom>
          <a:solidFill>
            <a:srgbClr val="FFFFFF">
              <a:alpha val="0"/>
            </a:srgbClr>
          </a:solidFill>
          <a:ln w="19050">
            <a:solidFill>
              <a:srgbClr val="333333"/>
            </a:solidFill>
            <a:prstDash val="solid"/>
          </a:ln>
        </p:spPr>
      </p:sp>
      <p:sp>
        <p:nvSpPr>
          <p:cNvPr id="21" name="Shape 19"/>
          <p:cNvSpPr/>
          <p:nvPr/>
        </p:nvSpPr>
        <p:spPr>
          <a:xfrm>
            <a:off x="4608576" y="1691640"/>
            <a:ext cx="652272" cy="1051560"/>
          </a:xfrm>
          <a:prstGeom prst="rect">
            <a:avLst/>
          </a:prstGeom>
          <a:solidFill>
            <a:srgbClr val="2E6E44"/>
          </a:solidFill>
          <a:ln w="15875">
            <a:solidFill>
              <a:srgbClr val="FFFFFF"/>
            </a:solidFill>
            <a:prstDash val="solid"/>
          </a:ln>
        </p:spPr>
      </p:sp>
      <p:sp>
        <p:nvSpPr>
          <p:cNvPr id="22" name="Shape 20"/>
          <p:cNvSpPr/>
          <p:nvPr/>
        </p:nvSpPr>
        <p:spPr>
          <a:xfrm>
            <a:off x="5260848" y="1691640"/>
            <a:ext cx="652272" cy="1051560"/>
          </a:xfrm>
          <a:prstGeom prst="rect">
            <a:avLst/>
          </a:prstGeom>
          <a:solidFill>
            <a:srgbClr val="2E6E44"/>
          </a:solidFill>
          <a:ln w="15875">
            <a:solidFill>
              <a:srgbClr val="FFFFFF"/>
            </a:solidFill>
            <a:prstDash val="solid"/>
          </a:ln>
        </p:spPr>
      </p:sp>
      <p:sp>
        <p:nvSpPr>
          <p:cNvPr id="23" name="Shape 21"/>
          <p:cNvSpPr/>
          <p:nvPr/>
        </p:nvSpPr>
        <p:spPr>
          <a:xfrm>
            <a:off x="5913120" y="1691640"/>
            <a:ext cx="652272" cy="1051560"/>
          </a:xfrm>
          <a:prstGeom prst="rect">
            <a:avLst/>
          </a:prstGeom>
          <a:solidFill>
            <a:srgbClr val="4A3D8F"/>
          </a:solidFill>
          <a:ln w="15875">
            <a:solidFill>
              <a:srgbClr val="FFFFFF"/>
            </a:solidFill>
            <a:prstDash val="solid"/>
          </a:ln>
        </p:spPr>
      </p:sp>
      <p:sp>
        <p:nvSpPr>
          <p:cNvPr id="24" name="Shape 22"/>
          <p:cNvSpPr/>
          <p:nvPr/>
        </p:nvSpPr>
        <p:spPr>
          <a:xfrm>
            <a:off x="4608576" y="1691640"/>
            <a:ext cx="1956816" cy="1051560"/>
          </a:xfrm>
          <a:prstGeom prst="rect">
            <a:avLst/>
          </a:prstGeom>
          <a:solidFill>
            <a:srgbClr val="FFFFFF">
              <a:alpha val="0"/>
            </a:srgbClr>
          </a:solidFill>
          <a:ln w="19050">
            <a:solidFill>
              <a:srgbClr val="333333"/>
            </a:solidFill>
            <a:prstDash val="solid"/>
          </a:ln>
        </p:spPr>
      </p:sp>
      <p:sp>
        <p:nvSpPr>
          <p:cNvPr id="25" name="Shape 23"/>
          <p:cNvSpPr/>
          <p:nvPr/>
        </p:nvSpPr>
        <p:spPr>
          <a:xfrm>
            <a:off x="6638544" y="1691640"/>
            <a:ext cx="652272" cy="1051560"/>
          </a:xfrm>
          <a:prstGeom prst="rect">
            <a:avLst/>
          </a:prstGeom>
          <a:solidFill>
            <a:srgbClr val="4A3D8F"/>
          </a:solidFill>
          <a:ln w="15875">
            <a:solidFill>
              <a:srgbClr val="FFFFFF"/>
            </a:solidFill>
            <a:prstDash val="solid"/>
          </a:ln>
        </p:spPr>
      </p:sp>
      <p:sp>
        <p:nvSpPr>
          <p:cNvPr id="26" name="Shape 24"/>
          <p:cNvSpPr/>
          <p:nvPr/>
        </p:nvSpPr>
        <p:spPr>
          <a:xfrm>
            <a:off x="7290816" y="1691640"/>
            <a:ext cx="652272" cy="1051560"/>
          </a:xfrm>
          <a:prstGeom prst="rect">
            <a:avLst/>
          </a:prstGeom>
          <a:solidFill>
            <a:srgbClr val="2E6E44"/>
          </a:solidFill>
          <a:ln w="15875">
            <a:solidFill>
              <a:srgbClr val="FFFFFF"/>
            </a:solidFill>
            <a:prstDash val="solid"/>
          </a:ln>
        </p:spPr>
      </p:sp>
      <p:sp>
        <p:nvSpPr>
          <p:cNvPr id="27" name="Shape 25"/>
          <p:cNvSpPr/>
          <p:nvPr/>
        </p:nvSpPr>
        <p:spPr>
          <a:xfrm>
            <a:off x="7943088" y="1691640"/>
            <a:ext cx="652272" cy="1051560"/>
          </a:xfrm>
          <a:prstGeom prst="rect">
            <a:avLst/>
          </a:prstGeom>
          <a:solidFill>
            <a:srgbClr val="2E6E44"/>
          </a:solidFill>
          <a:ln w="15875">
            <a:solidFill>
              <a:srgbClr val="FFFFFF"/>
            </a:solidFill>
            <a:prstDash val="solid"/>
          </a:ln>
        </p:spPr>
      </p:sp>
      <p:sp>
        <p:nvSpPr>
          <p:cNvPr id="28" name="Shape 26"/>
          <p:cNvSpPr/>
          <p:nvPr/>
        </p:nvSpPr>
        <p:spPr>
          <a:xfrm>
            <a:off x="6638544" y="1691640"/>
            <a:ext cx="1956816" cy="1051560"/>
          </a:xfrm>
          <a:prstGeom prst="rect">
            <a:avLst/>
          </a:prstGeom>
          <a:solidFill>
            <a:srgbClr val="FFFFFF">
              <a:alpha val="0"/>
            </a:srgbClr>
          </a:solidFill>
          <a:ln w="19050">
            <a:solidFill>
              <a:srgbClr val="333333"/>
            </a:solidFill>
            <a:prstDash val="solid"/>
          </a:ln>
        </p:spPr>
      </p:sp>
      <p:sp>
        <p:nvSpPr>
          <p:cNvPr id="29" name="Text 27"/>
          <p:cNvSpPr/>
          <p:nvPr/>
        </p:nvSpPr>
        <p:spPr>
          <a:xfrm>
            <a:off x="548640" y="2788920"/>
            <a:ext cx="8046720" cy="274320"/>
          </a:xfrm>
          <a:prstGeom prst="rect">
            <a:avLst/>
          </a:prstGeom>
          <a:noFill/>
          <a:ln/>
        </p:spPr>
        <p:txBody>
          <a:bodyPr wrap="square" lIns="0" tIns="0" rIns="0" bIns="0" rtlCol="0" anchor="ctr"/>
          <a:lstStyle/>
          <a:p>
            <a:pPr algn="ctr" indent="0" marL="0">
              <a:buNone/>
            </a:pPr>
            <a:r>
              <a:rPr lang="en-US" sz="1100" i="1" dirty="0">
                <a:solidFill>
                  <a:srgbClr val="5A5A7A"/>
                </a:solidFill>
              </a:rPr>
              <a:t>four wholes, cut into thirds, banded into groups of two segments</a:t>
            </a:r>
            <a:endParaRPr lang="en-US" sz="1100" dirty="0"/>
          </a:p>
        </p:txBody>
      </p:sp>
      <p:sp>
        <p:nvSpPr>
          <p:cNvPr id="30" name="Shape 28"/>
          <p:cNvSpPr/>
          <p:nvPr/>
        </p:nvSpPr>
        <p:spPr>
          <a:xfrm>
            <a:off x="548640" y="3246120"/>
            <a:ext cx="8046720" cy="1508760"/>
          </a:xfrm>
          <a:prstGeom prst="roundRect">
            <a:avLst>
              <a:gd name="adj" fmla="val 6061"/>
            </a:avLst>
          </a:prstGeom>
          <a:solidFill>
            <a:srgbClr val="EAE8F5"/>
          </a:solidFill>
          <a:ln w="6350">
            <a:solidFill>
              <a:srgbClr val="DDDDEE"/>
            </a:solidFill>
            <a:prstDash val="solid"/>
          </a:ln>
        </p:spPr>
      </p:sp>
      <p:sp>
        <p:nvSpPr>
          <p:cNvPr id="31" name="Text 29"/>
          <p:cNvSpPr/>
          <p:nvPr/>
        </p:nvSpPr>
        <p:spPr>
          <a:xfrm>
            <a:off x="731520" y="3319272"/>
            <a:ext cx="7680960" cy="1371600"/>
          </a:xfrm>
          <a:prstGeom prst="rect">
            <a:avLst/>
          </a:prstGeom>
          <a:noFill/>
          <a:ln/>
        </p:spPr>
        <p:txBody>
          <a:bodyPr wrap="square" lIns="0" tIns="0" rIns="0" bIns="0" rtlCol="0" anchor="ctr"/>
          <a:lstStyle/>
          <a:p>
            <a:pPr indent="0" marL="0">
              <a:buNone/>
            </a:pPr>
            <a:r>
              <a:rPr lang="en-US" sz="1300" dirty="0">
                <a:solidFill>
                  <a:srgbClr val="1A1A2E"/>
                </a:solidFill>
              </a:rPr>
              <a:t>How this is different from Lesson 5.06.03: there, each group was just ONE segment (a unit fraction). Today the divisor's numerator is 2, so each band needs TWO consecutive segments before it counts as one complete group — that's why the colors alternate every 2 pieces instead of every 1.</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Pictorial: Counting Complete Bands</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CPA · Pictorial</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Text 4"/>
          <p:cNvSpPr/>
          <p:nvPr/>
        </p:nvSpPr>
        <p:spPr>
          <a:xfrm>
            <a:off x="548640" y="896112"/>
            <a:ext cx="8046720" cy="365760"/>
          </a:xfrm>
          <a:prstGeom prst="rect">
            <a:avLst/>
          </a:prstGeom>
          <a:noFill/>
          <a:ln/>
        </p:spPr>
        <p:txBody>
          <a:bodyPr wrap="square" lIns="0" tIns="0" rIns="0" bIns="0" rtlCol="0" anchor="ctr"/>
          <a:lstStyle/>
          <a:p>
            <a:pPr indent="0" marL="0">
              <a:buNone/>
            </a:pPr>
            <a:r>
              <a:rPr lang="en-US" sz="1400" b="1" dirty="0">
                <a:solidFill>
                  <a:srgbClr val="4A3D8F"/>
                </a:solidFill>
              </a:rPr>
              <a:t>Independent Practice Problem 3 — model three wholes divided by three fifths:</a:t>
            </a:r>
            <a:endParaRPr lang="en-US" sz="1400" dirty="0"/>
          </a:p>
        </p:txBody>
      </p:sp>
      <p:sp>
        <p:nvSpPr>
          <p:cNvPr id="7" name="Shape 5"/>
          <p:cNvSpPr/>
          <p:nvPr/>
        </p:nvSpPr>
        <p:spPr>
          <a:xfrm>
            <a:off x="548640" y="1371600"/>
            <a:ext cx="526694" cy="1051560"/>
          </a:xfrm>
          <a:prstGeom prst="rect">
            <a:avLst/>
          </a:prstGeom>
          <a:solidFill>
            <a:srgbClr val="4A3D8F"/>
          </a:solidFill>
          <a:ln w="15875">
            <a:solidFill>
              <a:srgbClr val="FFFFFF"/>
            </a:solidFill>
            <a:prstDash val="solid"/>
          </a:ln>
        </p:spPr>
      </p:sp>
      <p:sp>
        <p:nvSpPr>
          <p:cNvPr id="8" name="Shape 6"/>
          <p:cNvSpPr/>
          <p:nvPr/>
        </p:nvSpPr>
        <p:spPr>
          <a:xfrm>
            <a:off x="1075334" y="1371600"/>
            <a:ext cx="526694" cy="1051560"/>
          </a:xfrm>
          <a:prstGeom prst="rect">
            <a:avLst/>
          </a:prstGeom>
          <a:solidFill>
            <a:srgbClr val="4A3D8F"/>
          </a:solidFill>
          <a:ln w="15875">
            <a:solidFill>
              <a:srgbClr val="FFFFFF"/>
            </a:solidFill>
            <a:prstDash val="solid"/>
          </a:ln>
        </p:spPr>
      </p:sp>
      <p:sp>
        <p:nvSpPr>
          <p:cNvPr id="9" name="Shape 7"/>
          <p:cNvSpPr/>
          <p:nvPr/>
        </p:nvSpPr>
        <p:spPr>
          <a:xfrm>
            <a:off x="1602029" y="1371600"/>
            <a:ext cx="526694" cy="1051560"/>
          </a:xfrm>
          <a:prstGeom prst="rect">
            <a:avLst/>
          </a:prstGeom>
          <a:solidFill>
            <a:srgbClr val="4A3D8F"/>
          </a:solidFill>
          <a:ln w="15875">
            <a:solidFill>
              <a:srgbClr val="FFFFFF"/>
            </a:solidFill>
            <a:prstDash val="solid"/>
          </a:ln>
        </p:spPr>
      </p:sp>
      <p:sp>
        <p:nvSpPr>
          <p:cNvPr id="10" name="Shape 8"/>
          <p:cNvSpPr/>
          <p:nvPr/>
        </p:nvSpPr>
        <p:spPr>
          <a:xfrm>
            <a:off x="2128723" y="1371600"/>
            <a:ext cx="526694" cy="1051560"/>
          </a:xfrm>
          <a:prstGeom prst="rect">
            <a:avLst/>
          </a:prstGeom>
          <a:solidFill>
            <a:srgbClr val="2E6E44"/>
          </a:solidFill>
          <a:ln w="15875">
            <a:solidFill>
              <a:srgbClr val="FFFFFF"/>
            </a:solidFill>
            <a:prstDash val="solid"/>
          </a:ln>
        </p:spPr>
      </p:sp>
      <p:sp>
        <p:nvSpPr>
          <p:cNvPr id="11" name="Shape 9"/>
          <p:cNvSpPr/>
          <p:nvPr/>
        </p:nvSpPr>
        <p:spPr>
          <a:xfrm>
            <a:off x="2655418" y="1371600"/>
            <a:ext cx="526694" cy="1051560"/>
          </a:xfrm>
          <a:prstGeom prst="rect">
            <a:avLst/>
          </a:prstGeom>
          <a:solidFill>
            <a:srgbClr val="2E6E44"/>
          </a:solidFill>
          <a:ln w="15875">
            <a:solidFill>
              <a:srgbClr val="FFFFFF"/>
            </a:solidFill>
            <a:prstDash val="solid"/>
          </a:ln>
        </p:spPr>
      </p:sp>
      <p:sp>
        <p:nvSpPr>
          <p:cNvPr id="12" name="Shape 10"/>
          <p:cNvSpPr/>
          <p:nvPr/>
        </p:nvSpPr>
        <p:spPr>
          <a:xfrm>
            <a:off x="548640" y="1371600"/>
            <a:ext cx="2633472" cy="1051560"/>
          </a:xfrm>
          <a:prstGeom prst="rect">
            <a:avLst/>
          </a:prstGeom>
          <a:solidFill>
            <a:srgbClr val="FFFFFF">
              <a:alpha val="0"/>
            </a:srgbClr>
          </a:solidFill>
          <a:ln w="19050">
            <a:solidFill>
              <a:srgbClr val="333333"/>
            </a:solidFill>
            <a:prstDash val="solid"/>
          </a:ln>
        </p:spPr>
      </p:sp>
      <p:sp>
        <p:nvSpPr>
          <p:cNvPr id="13" name="Shape 11"/>
          <p:cNvSpPr/>
          <p:nvPr/>
        </p:nvSpPr>
        <p:spPr>
          <a:xfrm>
            <a:off x="3255264" y="1371600"/>
            <a:ext cx="526694" cy="1051560"/>
          </a:xfrm>
          <a:prstGeom prst="rect">
            <a:avLst/>
          </a:prstGeom>
          <a:solidFill>
            <a:srgbClr val="2E6E44"/>
          </a:solidFill>
          <a:ln w="15875">
            <a:solidFill>
              <a:srgbClr val="FFFFFF"/>
            </a:solidFill>
            <a:prstDash val="solid"/>
          </a:ln>
        </p:spPr>
      </p:sp>
      <p:sp>
        <p:nvSpPr>
          <p:cNvPr id="14" name="Shape 12"/>
          <p:cNvSpPr/>
          <p:nvPr/>
        </p:nvSpPr>
        <p:spPr>
          <a:xfrm>
            <a:off x="3781958" y="1371600"/>
            <a:ext cx="526694" cy="1051560"/>
          </a:xfrm>
          <a:prstGeom prst="rect">
            <a:avLst/>
          </a:prstGeom>
          <a:solidFill>
            <a:srgbClr val="4A3D8F"/>
          </a:solidFill>
          <a:ln w="15875">
            <a:solidFill>
              <a:srgbClr val="FFFFFF"/>
            </a:solidFill>
            <a:prstDash val="solid"/>
          </a:ln>
        </p:spPr>
      </p:sp>
      <p:sp>
        <p:nvSpPr>
          <p:cNvPr id="15" name="Shape 13"/>
          <p:cNvSpPr/>
          <p:nvPr/>
        </p:nvSpPr>
        <p:spPr>
          <a:xfrm>
            <a:off x="4308653" y="1371600"/>
            <a:ext cx="526694" cy="1051560"/>
          </a:xfrm>
          <a:prstGeom prst="rect">
            <a:avLst/>
          </a:prstGeom>
          <a:solidFill>
            <a:srgbClr val="4A3D8F"/>
          </a:solidFill>
          <a:ln w="15875">
            <a:solidFill>
              <a:srgbClr val="FFFFFF"/>
            </a:solidFill>
            <a:prstDash val="solid"/>
          </a:ln>
        </p:spPr>
      </p:sp>
      <p:sp>
        <p:nvSpPr>
          <p:cNvPr id="16" name="Shape 14"/>
          <p:cNvSpPr/>
          <p:nvPr/>
        </p:nvSpPr>
        <p:spPr>
          <a:xfrm>
            <a:off x="4835347" y="1371600"/>
            <a:ext cx="526694" cy="1051560"/>
          </a:xfrm>
          <a:prstGeom prst="rect">
            <a:avLst/>
          </a:prstGeom>
          <a:solidFill>
            <a:srgbClr val="4A3D8F"/>
          </a:solidFill>
          <a:ln w="15875">
            <a:solidFill>
              <a:srgbClr val="FFFFFF"/>
            </a:solidFill>
            <a:prstDash val="solid"/>
          </a:ln>
        </p:spPr>
      </p:sp>
      <p:sp>
        <p:nvSpPr>
          <p:cNvPr id="17" name="Shape 15"/>
          <p:cNvSpPr/>
          <p:nvPr/>
        </p:nvSpPr>
        <p:spPr>
          <a:xfrm>
            <a:off x="5362042" y="1371600"/>
            <a:ext cx="526694" cy="1051560"/>
          </a:xfrm>
          <a:prstGeom prst="rect">
            <a:avLst/>
          </a:prstGeom>
          <a:solidFill>
            <a:srgbClr val="2E6E44"/>
          </a:solidFill>
          <a:ln w="15875">
            <a:solidFill>
              <a:srgbClr val="FFFFFF"/>
            </a:solidFill>
            <a:prstDash val="solid"/>
          </a:ln>
        </p:spPr>
      </p:sp>
      <p:sp>
        <p:nvSpPr>
          <p:cNvPr id="18" name="Shape 16"/>
          <p:cNvSpPr/>
          <p:nvPr/>
        </p:nvSpPr>
        <p:spPr>
          <a:xfrm>
            <a:off x="3255264" y="1371600"/>
            <a:ext cx="2633472" cy="1051560"/>
          </a:xfrm>
          <a:prstGeom prst="rect">
            <a:avLst/>
          </a:prstGeom>
          <a:solidFill>
            <a:srgbClr val="FFFFFF">
              <a:alpha val="0"/>
            </a:srgbClr>
          </a:solidFill>
          <a:ln w="19050">
            <a:solidFill>
              <a:srgbClr val="333333"/>
            </a:solidFill>
            <a:prstDash val="solid"/>
          </a:ln>
        </p:spPr>
      </p:sp>
      <p:sp>
        <p:nvSpPr>
          <p:cNvPr id="19" name="Shape 17"/>
          <p:cNvSpPr/>
          <p:nvPr/>
        </p:nvSpPr>
        <p:spPr>
          <a:xfrm>
            <a:off x="5961888" y="1371600"/>
            <a:ext cx="526694" cy="1051560"/>
          </a:xfrm>
          <a:prstGeom prst="rect">
            <a:avLst/>
          </a:prstGeom>
          <a:solidFill>
            <a:srgbClr val="2E6E44"/>
          </a:solidFill>
          <a:ln w="15875">
            <a:solidFill>
              <a:srgbClr val="FFFFFF"/>
            </a:solidFill>
            <a:prstDash val="solid"/>
          </a:ln>
        </p:spPr>
      </p:sp>
      <p:sp>
        <p:nvSpPr>
          <p:cNvPr id="20" name="Shape 18"/>
          <p:cNvSpPr/>
          <p:nvPr/>
        </p:nvSpPr>
        <p:spPr>
          <a:xfrm>
            <a:off x="6488582" y="1371600"/>
            <a:ext cx="526694" cy="1051560"/>
          </a:xfrm>
          <a:prstGeom prst="rect">
            <a:avLst/>
          </a:prstGeom>
          <a:solidFill>
            <a:srgbClr val="2E6E44"/>
          </a:solidFill>
          <a:ln w="15875">
            <a:solidFill>
              <a:srgbClr val="FFFFFF"/>
            </a:solidFill>
            <a:prstDash val="solid"/>
          </a:ln>
        </p:spPr>
      </p:sp>
      <p:sp>
        <p:nvSpPr>
          <p:cNvPr id="21" name="Shape 19"/>
          <p:cNvSpPr/>
          <p:nvPr/>
        </p:nvSpPr>
        <p:spPr>
          <a:xfrm>
            <a:off x="7015277" y="1371600"/>
            <a:ext cx="526694" cy="1051560"/>
          </a:xfrm>
          <a:prstGeom prst="rect">
            <a:avLst/>
          </a:prstGeom>
          <a:solidFill>
            <a:srgbClr val="4A3D8F"/>
          </a:solidFill>
          <a:ln w="15875">
            <a:solidFill>
              <a:srgbClr val="FFFFFF"/>
            </a:solidFill>
            <a:prstDash val="solid"/>
          </a:ln>
        </p:spPr>
      </p:sp>
      <p:sp>
        <p:nvSpPr>
          <p:cNvPr id="22" name="Shape 20"/>
          <p:cNvSpPr/>
          <p:nvPr/>
        </p:nvSpPr>
        <p:spPr>
          <a:xfrm>
            <a:off x="7541971" y="1371600"/>
            <a:ext cx="526694" cy="1051560"/>
          </a:xfrm>
          <a:prstGeom prst="rect">
            <a:avLst/>
          </a:prstGeom>
          <a:solidFill>
            <a:srgbClr val="4A3D8F"/>
          </a:solidFill>
          <a:ln w="15875">
            <a:solidFill>
              <a:srgbClr val="FFFFFF"/>
            </a:solidFill>
            <a:prstDash val="solid"/>
          </a:ln>
        </p:spPr>
      </p:sp>
      <p:sp>
        <p:nvSpPr>
          <p:cNvPr id="23" name="Shape 21"/>
          <p:cNvSpPr/>
          <p:nvPr/>
        </p:nvSpPr>
        <p:spPr>
          <a:xfrm>
            <a:off x="8068666" y="1371600"/>
            <a:ext cx="526694" cy="1051560"/>
          </a:xfrm>
          <a:prstGeom prst="rect">
            <a:avLst/>
          </a:prstGeom>
          <a:solidFill>
            <a:srgbClr val="4A3D8F"/>
          </a:solidFill>
          <a:ln w="15875">
            <a:solidFill>
              <a:srgbClr val="FFFFFF"/>
            </a:solidFill>
            <a:prstDash val="solid"/>
          </a:ln>
        </p:spPr>
      </p:sp>
      <p:sp>
        <p:nvSpPr>
          <p:cNvPr id="24" name="Shape 22"/>
          <p:cNvSpPr/>
          <p:nvPr/>
        </p:nvSpPr>
        <p:spPr>
          <a:xfrm>
            <a:off x="5961888" y="1371600"/>
            <a:ext cx="2633472" cy="1051560"/>
          </a:xfrm>
          <a:prstGeom prst="rect">
            <a:avLst/>
          </a:prstGeom>
          <a:solidFill>
            <a:srgbClr val="FFFFFF">
              <a:alpha val="0"/>
            </a:srgbClr>
          </a:solidFill>
          <a:ln w="19050">
            <a:solidFill>
              <a:srgbClr val="333333"/>
            </a:solidFill>
            <a:prstDash val="solid"/>
          </a:ln>
        </p:spPr>
      </p:sp>
      <p:sp>
        <p:nvSpPr>
          <p:cNvPr id="25" name="Text 23"/>
          <p:cNvSpPr/>
          <p:nvPr/>
        </p:nvSpPr>
        <p:spPr>
          <a:xfrm>
            <a:off x="548640" y="2468880"/>
            <a:ext cx="8046720" cy="274320"/>
          </a:xfrm>
          <a:prstGeom prst="rect">
            <a:avLst/>
          </a:prstGeom>
          <a:noFill/>
          <a:ln/>
        </p:spPr>
        <p:txBody>
          <a:bodyPr wrap="square" lIns="0" tIns="0" rIns="0" bIns="0" rtlCol="0" anchor="ctr"/>
          <a:lstStyle/>
          <a:p>
            <a:pPr algn="ctr" indent="0" marL="0">
              <a:buNone/>
            </a:pPr>
            <a:r>
              <a:rPr lang="en-US" sz="1100" i="1" dirty="0">
                <a:solidFill>
                  <a:srgbClr val="5A5A7A"/>
                </a:solidFill>
              </a:rPr>
              <a:t>three wholes, cut into fifths, banded into groups of three segments</a:t>
            </a:r>
            <a:endParaRPr lang="en-US" sz="1100" dirty="0"/>
          </a:p>
        </p:txBody>
      </p:sp>
      <p:sp>
        <p:nvSpPr>
          <p:cNvPr id="26" name="Shape 24"/>
          <p:cNvSpPr/>
          <p:nvPr/>
        </p:nvSpPr>
        <p:spPr>
          <a:xfrm>
            <a:off x="548640" y="2926080"/>
            <a:ext cx="8046720" cy="777240"/>
          </a:xfrm>
          <a:prstGeom prst="roundRect">
            <a:avLst>
              <a:gd name="adj" fmla="val 11765"/>
            </a:avLst>
          </a:prstGeom>
          <a:solidFill>
            <a:srgbClr val="FFFFFF"/>
          </a:solidFill>
          <a:ln w="6350">
            <a:solidFill>
              <a:srgbClr val="DDDDEE"/>
            </a:solidFill>
            <a:prstDash val="solid"/>
          </a:ln>
        </p:spPr>
      </p:sp>
      <p:sp>
        <p:nvSpPr>
          <p:cNvPr id="27" name="Text 25"/>
          <p:cNvSpPr/>
          <p:nvPr/>
        </p:nvSpPr>
        <p:spPr>
          <a:xfrm>
            <a:off x="731520" y="2990088"/>
            <a:ext cx="7680960" cy="640080"/>
          </a:xfrm>
          <a:prstGeom prst="rect">
            <a:avLst/>
          </a:prstGeom>
          <a:noFill/>
          <a:ln/>
        </p:spPr>
        <p:txBody>
          <a:bodyPr wrap="square" lIns="0" tIns="0" rIns="0" bIns="0" rtlCol="0" anchor="ctr"/>
          <a:lstStyle/>
          <a:p>
            <a:pPr indent="0" marL="0">
              <a:buNone/>
            </a:pPr>
            <a:r>
              <a:rPr lang="en-US" sz="1400" dirty="0">
                <a:solidFill>
                  <a:srgbClr val="1A1A2E"/>
                </a:solidFill>
              </a:rPr>
              <a:t>Count the bands: 5 complete bands of 3 segments each.</a:t>
            </a:r>
            <a:endParaRPr lang="en-US" sz="1400" dirty="0"/>
          </a:p>
        </p:txBody>
      </p:sp>
      <p:sp>
        <p:nvSpPr>
          <p:cNvPr id="28" name="Text 26"/>
          <p:cNvSpPr/>
          <p:nvPr/>
        </p:nvSpPr>
        <p:spPr>
          <a:xfrm>
            <a:off x="2834640" y="3840480"/>
            <a:ext cx="548640" cy="548640"/>
          </a:xfrm>
          <a:prstGeom prst="rect">
            <a:avLst/>
          </a:prstGeom>
          <a:noFill/>
          <a:ln/>
        </p:spPr>
        <p:txBody>
          <a:bodyPr wrap="square" lIns="0" tIns="0" rIns="0" bIns="0" rtlCol="0" anchor="ctr"/>
          <a:lstStyle/>
          <a:p>
            <a:pPr algn="ctr" indent="0" marL="0">
              <a:buNone/>
            </a:pPr>
            <a:r>
              <a:rPr lang="en-US" sz="2200" b="1" dirty="0">
                <a:solidFill>
                  <a:srgbClr val="1A1A2E"/>
                </a:solidFill>
                <a:latin typeface="Cambria" pitchFamily="34" charset="0"/>
                <a:ea typeface="Cambria" pitchFamily="34" charset="-122"/>
                <a:cs typeface="Cambria" pitchFamily="34" charset="-120"/>
              </a:rPr>
              <a:t>3</a:t>
            </a:r>
            <a:endParaRPr lang="en-US" sz="2200" dirty="0"/>
          </a:p>
        </p:txBody>
      </p:sp>
      <p:sp>
        <p:nvSpPr>
          <p:cNvPr id="29" name="Text 27"/>
          <p:cNvSpPr/>
          <p:nvPr/>
        </p:nvSpPr>
        <p:spPr>
          <a:xfrm>
            <a:off x="3401568" y="3840480"/>
            <a:ext cx="365760" cy="548640"/>
          </a:xfrm>
          <a:prstGeom prst="rect">
            <a:avLst/>
          </a:prstGeom>
          <a:noFill/>
          <a:ln/>
        </p:spPr>
        <p:txBody>
          <a:bodyPr wrap="square" lIns="0" tIns="0" rIns="0" bIns="0" rtlCol="0" anchor="ctr"/>
          <a:lstStyle/>
          <a:p>
            <a:pPr algn="ctr" indent="0" marL="0">
              <a:buNone/>
            </a:pPr>
            <a:r>
              <a:rPr lang="en-US" sz="2200" b="1" dirty="0">
                <a:solidFill>
                  <a:srgbClr val="1A1A2E"/>
                </a:solidFill>
              </a:rPr>
              <a:t>÷</a:t>
            </a:r>
            <a:endParaRPr lang="en-US" sz="2200" dirty="0"/>
          </a:p>
        </p:txBody>
      </p:sp>
      <p:sp>
        <p:nvSpPr>
          <p:cNvPr id="30" name="Text 28"/>
          <p:cNvSpPr/>
          <p:nvPr/>
        </p:nvSpPr>
        <p:spPr>
          <a:xfrm>
            <a:off x="3794760" y="3822192"/>
            <a:ext cx="594360" cy="283464"/>
          </a:xfrm>
          <a:prstGeom prst="rect">
            <a:avLst/>
          </a:prstGeom>
          <a:noFill/>
          <a:ln/>
        </p:spPr>
        <p:txBody>
          <a:bodyPr wrap="square" lIns="0" tIns="0" rIns="0" bIns="0" rtlCol="0" anchor="b"/>
          <a:lstStyle/>
          <a:p>
            <a:pPr algn="ctr" indent="0" marL="0">
              <a:buNone/>
            </a:pPr>
            <a:r>
              <a:rPr lang="en-US" sz="1800" b="1" dirty="0">
                <a:solidFill>
                  <a:srgbClr val="4A3D8F"/>
                </a:solidFill>
                <a:latin typeface="Cambria" pitchFamily="34" charset="0"/>
                <a:ea typeface="Cambria" pitchFamily="34" charset="-122"/>
                <a:cs typeface="Cambria" pitchFamily="34" charset="-120"/>
              </a:rPr>
              <a:t>3</a:t>
            </a:r>
            <a:endParaRPr lang="en-US" sz="1800" dirty="0"/>
          </a:p>
        </p:txBody>
      </p:sp>
      <p:sp>
        <p:nvSpPr>
          <p:cNvPr id="31" name="Shape 29"/>
          <p:cNvSpPr/>
          <p:nvPr/>
        </p:nvSpPr>
        <p:spPr>
          <a:xfrm>
            <a:off x="3866083" y="4105656"/>
            <a:ext cx="451714" cy="0"/>
          </a:xfrm>
          <a:prstGeom prst="line">
            <a:avLst/>
          </a:prstGeom>
          <a:noFill/>
          <a:ln w="19050">
            <a:solidFill>
              <a:srgbClr val="4A3D8F"/>
            </a:solidFill>
            <a:prstDash val="solid"/>
          </a:ln>
        </p:spPr>
      </p:sp>
      <p:sp>
        <p:nvSpPr>
          <p:cNvPr id="32" name="Text 30"/>
          <p:cNvSpPr/>
          <p:nvPr/>
        </p:nvSpPr>
        <p:spPr>
          <a:xfrm>
            <a:off x="3794760" y="4105656"/>
            <a:ext cx="594360" cy="283464"/>
          </a:xfrm>
          <a:prstGeom prst="rect">
            <a:avLst/>
          </a:prstGeom>
          <a:noFill/>
          <a:ln/>
        </p:spPr>
        <p:txBody>
          <a:bodyPr wrap="square" lIns="0" tIns="0" rIns="0" bIns="0" rtlCol="0" anchor="t"/>
          <a:lstStyle/>
          <a:p>
            <a:pPr algn="ctr" indent="0" marL="0">
              <a:buNone/>
            </a:pPr>
            <a:r>
              <a:rPr lang="en-US" sz="1800" b="1" dirty="0">
                <a:solidFill>
                  <a:srgbClr val="4A3D8F"/>
                </a:solidFill>
                <a:latin typeface="Cambria" pitchFamily="34" charset="0"/>
                <a:ea typeface="Cambria" pitchFamily="34" charset="-122"/>
                <a:cs typeface="Cambria" pitchFamily="34" charset="-120"/>
              </a:rPr>
              <a:t>5</a:t>
            </a:r>
            <a:endParaRPr lang="en-US" sz="1800" dirty="0"/>
          </a:p>
        </p:txBody>
      </p:sp>
      <p:sp>
        <p:nvSpPr>
          <p:cNvPr id="33" name="Text 31"/>
          <p:cNvSpPr/>
          <p:nvPr/>
        </p:nvSpPr>
        <p:spPr>
          <a:xfrm>
            <a:off x="4480560" y="3840480"/>
            <a:ext cx="365760" cy="548640"/>
          </a:xfrm>
          <a:prstGeom prst="rect">
            <a:avLst/>
          </a:prstGeom>
          <a:noFill/>
          <a:ln/>
        </p:spPr>
        <p:txBody>
          <a:bodyPr wrap="square" lIns="0" tIns="0" rIns="0" bIns="0" rtlCol="0" anchor="ctr"/>
          <a:lstStyle/>
          <a:p>
            <a:pPr algn="ctr" indent="0" marL="0">
              <a:buNone/>
            </a:pPr>
            <a:r>
              <a:rPr lang="en-US" sz="2200" b="1" dirty="0">
                <a:solidFill>
                  <a:srgbClr val="1A1A2E"/>
                </a:solidFill>
              </a:rPr>
              <a:t>=</a:t>
            </a:r>
            <a:endParaRPr lang="en-US" sz="2200" dirty="0"/>
          </a:p>
        </p:txBody>
      </p:sp>
      <p:sp>
        <p:nvSpPr>
          <p:cNvPr id="34" name="Text 32"/>
          <p:cNvSpPr/>
          <p:nvPr/>
        </p:nvSpPr>
        <p:spPr>
          <a:xfrm>
            <a:off x="4892040" y="3840480"/>
            <a:ext cx="2011680" cy="548640"/>
          </a:xfrm>
          <a:prstGeom prst="rect">
            <a:avLst/>
          </a:prstGeom>
          <a:noFill/>
          <a:ln/>
        </p:spPr>
        <p:txBody>
          <a:bodyPr wrap="square" lIns="0" tIns="0" rIns="0" bIns="0" rtlCol="0" anchor="ctr"/>
          <a:lstStyle/>
          <a:p>
            <a:pPr algn="l" indent="0" marL="0">
              <a:buNone/>
            </a:pPr>
            <a:r>
              <a:rPr lang="en-US" sz="2200" b="1" dirty="0">
                <a:solidFill>
                  <a:srgbClr val="2E6E44"/>
                </a:solidFill>
                <a:latin typeface="Cambria" pitchFamily="34" charset="0"/>
                <a:ea typeface="Cambria" pitchFamily="34" charset="-122"/>
                <a:cs typeface="Cambria" pitchFamily="34" charset="-120"/>
              </a:rPr>
              <a:t>5</a:t>
            </a: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Abstract: Multiply by the Reciprocal</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CPA · Abstract</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14400"/>
            <a:ext cx="8229600" cy="457200"/>
          </a:xfrm>
          <a:prstGeom prst="roundRect">
            <a:avLst>
              <a:gd name="adj" fmla="val 20000"/>
            </a:avLst>
          </a:prstGeom>
          <a:solidFill>
            <a:srgbClr val="EAE8F5"/>
          </a:solidFill>
          <a:ln w="6350">
            <a:solidFill>
              <a:srgbClr val="DDDDEE"/>
            </a:solidFill>
            <a:prstDash val="solid"/>
          </a:ln>
        </p:spPr>
      </p:sp>
      <p:sp>
        <p:nvSpPr>
          <p:cNvPr id="7" name="Text 5"/>
          <p:cNvSpPr/>
          <p:nvPr/>
        </p:nvSpPr>
        <p:spPr>
          <a:xfrm>
            <a:off x="640080" y="960120"/>
            <a:ext cx="7863840" cy="365760"/>
          </a:xfrm>
          <a:prstGeom prst="rect">
            <a:avLst/>
          </a:prstGeom>
          <a:noFill/>
          <a:ln/>
        </p:spPr>
        <p:txBody>
          <a:bodyPr wrap="square" lIns="0" tIns="0" rIns="0" bIns="0" rtlCol="0" anchor="ctr"/>
          <a:lstStyle/>
          <a:p>
            <a:pPr indent="0" marL="0">
              <a:buNone/>
            </a:pPr>
            <a:r>
              <a:rPr lang="en-US" sz="1500" b="1" dirty="0">
                <a:solidFill>
                  <a:srgbClr val="4A3D8F"/>
                </a:solidFill>
              </a:rPr>
              <a:t>Whole number ÷ fraction = whole number × the reciprocal of the fraction.</a:t>
            </a:r>
            <a:endParaRPr lang="en-US" sz="1500" dirty="0"/>
          </a:p>
        </p:txBody>
      </p:sp>
      <p:sp>
        <p:nvSpPr>
          <p:cNvPr id="8" name="Shape 6"/>
          <p:cNvSpPr/>
          <p:nvPr/>
        </p:nvSpPr>
        <p:spPr>
          <a:xfrm>
            <a:off x="1097280" y="1554480"/>
            <a:ext cx="1436218" cy="708660"/>
          </a:xfrm>
          <a:prstGeom prst="rect">
            <a:avLst/>
          </a:prstGeom>
          <a:solidFill>
            <a:srgbClr val="4A3D8F"/>
          </a:solidFill>
          <a:ln w="12700">
            <a:solidFill>
              <a:srgbClr val="888888"/>
            </a:solidFill>
            <a:prstDash val="solid"/>
          </a:ln>
        </p:spPr>
      </p:sp>
      <p:sp>
        <p:nvSpPr>
          <p:cNvPr id="9" name="Shape 7"/>
          <p:cNvSpPr/>
          <p:nvPr/>
        </p:nvSpPr>
        <p:spPr>
          <a:xfrm>
            <a:off x="2533498" y="1554480"/>
            <a:ext cx="1436218" cy="708660"/>
          </a:xfrm>
          <a:prstGeom prst="rect">
            <a:avLst/>
          </a:prstGeom>
          <a:solidFill>
            <a:srgbClr val="4A3D8F"/>
          </a:solidFill>
          <a:ln w="12700">
            <a:solidFill>
              <a:srgbClr val="888888"/>
            </a:solidFill>
            <a:prstDash val="solid"/>
          </a:ln>
        </p:spPr>
      </p:sp>
      <p:sp>
        <p:nvSpPr>
          <p:cNvPr id="10" name="Shape 8"/>
          <p:cNvSpPr/>
          <p:nvPr/>
        </p:nvSpPr>
        <p:spPr>
          <a:xfrm>
            <a:off x="3969715" y="1554480"/>
            <a:ext cx="1436218" cy="708660"/>
          </a:xfrm>
          <a:prstGeom prst="rect">
            <a:avLst/>
          </a:prstGeom>
          <a:solidFill>
            <a:srgbClr val="FFFFFF"/>
          </a:solidFill>
          <a:ln w="12700">
            <a:solidFill>
              <a:srgbClr val="888888"/>
            </a:solidFill>
            <a:prstDash val="solid"/>
          </a:ln>
        </p:spPr>
      </p:sp>
      <p:sp>
        <p:nvSpPr>
          <p:cNvPr id="11" name="Text 9"/>
          <p:cNvSpPr/>
          <p:nvPr/>
        </p:nvSpPr>
        <p:spPr>
          <a:xfrm>
            <a:off x="1097280" y="2336292"/>
            <a:ext cx="4308653" cy="317754"/>
          </a:xfrm>
          <a:prstGeom prst="rect">
            <a:avLst/>
          </a:prstGeom>
          <a:noFill/>
          <a:ln/>
        </p:spPr>
        <p:txBody>
          <a:bodyPr wrap="square" lIns="0" tIns="0" rIns="0" bIns="0" rtlCol="0" anchor="b"/>
          <a:lstStyle/>
          <a:p>
            <a:pPr algn="ctr" indent="0" marL="0">
              <a:buNone/>
            </a:pPr>
            <a:r>
              <a:rPr lang="en-US" sz="2000" b="1" dirty="0">
                <a:solidFill>
                  <a:srgbClr val="1A1A2E"/>
                </a:solidFill>
                <a:latin typeface="Cambria" pitchFamily="34" charset="0"/>
                <a:ea typeface="Cambria" pitchFamily="34" charset="-122"/>
                <a:cs typeface="Cambria" pitchFamily="34" charset="-120"/>
              </a:rPr>
              <a:t>2</a:t>
            </a:r>
            <a:endParaRPr lang="en-US" sz="2000" dirty="0"/>
          </a:p>
        </p:txBody>
      </p:sp>
      <p:sp>
        <p:nvSpPr>
          <p:cNvPr id="12" name="Shape 10"/>
          <p:cNvSpPr/>
          <p:nvPr/>
        </p:nvSpPr>
        <p:spPr>
          <a:xfrm>
            <a:off x="1614318" y="2654046"/>
            <a:ext cx="3274576" cy="0"/>
          </a:xfrm>
          <a:prstGeom prst="line">
            <a:avLst/>
          </a:prstGeom>
          <a:noFill/>
          <a:ln w="19050">
            <a:solidFill>
              <a:srgbClr val="1A1A2E"/>
            </a:solidFill>
            <a:prstDash val="solid"/>
          </a:ln>
        </p:spPr>
      </p:sp>
      <p:sp>
        <p:nvSpPr>
          <p:cNvPr id="13" name="Text 11"/>
          <p:cNvSpPr/>
          <p:nvPr/>
        </p:nvSpPr>
        <p:spPr>
          <a:xfrm>
            <a:off x="1097280" y="2654046"/>
            <a:ext cx="4308653" cy="317754"/>
          </a:xfrm>
          <a:prstGeom prst="rect">
            <a:avLst/>
          </a:prstGeom>
          <a:noFill/>
          <a:ln/>
        </p:spPr>
        <p:txBody>
          <a:bodyPr wrap="square" lIns="0" tIns="0" rIns="0" bIns="0" rtlCol="0" anchor="t"/>
          <a:lstStyle/>
          <a:p>
            <a:pPr algn="ctr" indent="0" marL="0">
              <a:buNone/>
            </a:pPr>
            <a:r>
              <a:rPr lang="en-US" sz="2000" b="1" dirty="0">
                <a:solidFill>
                  <a:srgbClr val="1A1A2E"/>
                </a:solidFill>
                <a:latin typeface="Cambria" pitchFamily="34" charset="0"/>
                <a:ea typeface="Cambria" pitchFamily="34" charset="-122"/>
                <a:cs typeface="Cambria" pitchFamily="34" charset="-120"/>
              </a:rPr>
              <a:t>3</a:t>
            </a:r>
            <a:endParaRPr lang="en-US" sz="2000" dirty="0"/>
          </a:p>
        </p:txBody>
      </p:sp>
      <p:sp>
        <p:nvSpPr>
          <p:cNvPr id="14" name="Shape 12"/>
          <p:cNvSpPr/>
          <p:nvPr/>
        </p:nvSpPr>
        <p:spPr>
          <a:xfrm>
            <a:off x="5822899" y="1943100"/>
            <a:ext cx="972922" cy="0"/>
          </a:xfrm>
          <a:prstGeom prst="line">
            <a:avLst/>
          </a:prstGeom>
          <a:noFill/>
          <a:ln w="31750">
            <a:solidFill>
              <a:srgbClr val="1B2A4A"/>
            </a:solidFill>
            <a:prstDash val="solid"/>
            <a:tailEnd type="triangle"/>
          </a:ln>
        </p:spPr>
      </p:sp>
      <p:sp>
        <p:nvSpPr>
          <p:cNvPr id="15" name="Text 13"/>
          <p:cNvSpPr/>
          <p:nvPr/>
        </p:nvSpPr>
        <p:spPr>
          <a:xfrm>
            <a:off x="5731459" y="1696212"/>
            <a:ext cx="2362810" cy="256032"/>
          </a:xfrm>
          <a:prstGeom prst="rect">
            <a:avLst/>
          </a:prstGeom>
          <a:noFill/>
          <a:ln/>
        </p:spPr>
        <p:txBody>
          <a:bodyPr wrap="square" lIns="0" tIns="0" rIns="0" bIns="0" rtlCol="0" anchor="ctr"/>
          <a:lstStyle/>
          <a:p>
            <a:pPr algn="ctr" indent="0" marL="0">
              <a:buNone/>
            </a:pPr>
            <a:r>
              <a:rPr lang="en-US" sz="1000" i="1" dirty="0">
                <a:solidFill>
                  <a:srgbClr val="5A5A7A"/>
                </a:solidFill>
              </a:rPr>
              <a:t>flip</a:t>
            </a:r>
            <a:endParaRPr lang="en-US" sz="1000" dirty="0"/>
          </a:p>
        </p:txBody>
      </p:sp>
      <p:sp>
        <p:nvSpPr>
          <p:cNvPr id="16" name="Text 14"/>
          <p:cNvSpPr/>
          <p:nvPr/>
        </p:nvSpPr>
        <p:spPr>
          <a:xfrm>
            <a:off x="6934810" y="1805940"/>
            <a:ext cx="1111910" cy="457200"/>
          </a:xfrm>
          <a:prstGeom prst="rect">
            <a:avLst/>
          </a:prstGeom>
          <a:noFill/>
          <a:ln/>
        </p:spPr>
        <p:txBody>
          <a:bodyPr wrap="square" lIns="0" tIns="0" rIns="0" bIns="0" rtlCol="0" anchor="b"/>
          <a:lstStyle/>
          <a:p>
            <a:pPr algn="ctr" indent="0" marL="0">
              <a:buNone/>
            </a:pPr>
            <a:r>
              <a:rPr lang="en-US" sz="2000" b="1" dirty="0">
                <a:solidFill>
                  <a:srgbClr val="2E6E44"/>
                </a:solidFill>
                <a:latin typeface="Cambria" pitchFamily="34" charset="0"/>
                <a:ea typeface="Cambria" pitchFamily="34" charset="-122"/>
                <a:cs typeface="Cambria" pitchFamily="34" charset="-120"/>
              </a:rPr>
              <a:t>3</a:t>
            </a:r>
            <a:endParaRPr lang="en-US" sz="2000" dirty="0"/>
          </a:p>
        </p:txBody>
      </p:sp>
      <p:sp>
        <p:nvSpPr>
          <p:cNvPr id="17" name="Shape 15"/>
          <p:cNvSpPr/>
          <p:nvPr/>
        </p:nvSpPr>
        <p:spPr>
          <a:xfrm>
            <a:off x="7068239" y="2263140"/>
            <a:ext cx="845052" cy="0"/>
          </a:xfrm>
          <a:prstGeom prst="line">
            <a:avLst/>
          </a:prstGeom>
          <a:noFill/>
          <a:ln w="19050">
            <a:solidFill>
              <a:srgbClr val="2E6E44"/>
            </a:solidFill>
            <a:prstDash val="solid"/>
          </a:ln>
        </p:spPr>
      </p:sp>
      <p:sp>
        <p:nvSpPr>
          <p:cNvPr id="18" name="Text 16"/>
          <p:cNvSpPr/>
          <p:nvPr/>
        </p:nvSpPr>
        <p:spPr>
          <a:xfrm>
            <a:off x="6934810" y="2263140"/>
            <a:ext cx="1111910" cy="457200"/>
          </a:xfrm>
          <a:prstGeom prst="rect">
            <a:avLst/>
          </a:prstGeom>
          <a:noFill/>
          <a:ln/>
        </p:spPr>
        <p:txBody>
          <a:bodyPr wrap="square" lIns="0" tIns="0" rIns="0" bIns="0" rtlCol="0" anchor="t"/>
          <a:lstStyle/>
          <a:p>
            <a:pPr algn="ctr" indent="0" marL="0">
              <a:buNone/>
            </a:pPr>
            <a:r>
              <a:rPr lang="en-US" sz="2000" b="1" dirty="0">
                <a:solidFill>
                  <a:srgbClr val="2E6E44"/>
                </a:solidFill>
                <a:latin typeface="Cambria" pitchFamily="34" charset="0"/>
                <a:ea typeface="Cambria" pitchFamily="34" charset="-122"/>
                <a:cs typeface="Cambria" pitchFamily="34" charset="-120"/>
              </a:rPr>
              <a:t>2</a:t>
            </a:r>
            <a:endParaRPr lang="en-US" sz="2000" dirty="0"/>
          </a:p>
        </p:txBody>
      </p:sp>
      <p:sp>
        <p:nvSpPr>
          <p:cNvPr id="19" name="Shape 17"/>
          <p:cNvSpPr/>
          <p:nvPr/>
        </p:nvSpPr>
        <p:spPr>
          <a:xfrm>
            <a:off x="457200" y="3154680"/>
            <a:ext cx="8229600" cy="1234440"/>
          </a:xfrm>
          <a:prstGeom prst="roundRect">
            <a:avLst>
              <a:gd name="adj" fmla="val 7407"/>
            </a:avLst>
          </a:prstGeom>
          <a:solidFill>
            <a:srgbClr val="FFFFFF"/>
          </a:solidFill>
          <a:ln w="6350">
            <a:solidFill>
              <a:srgbClr val="DDDDEE"/>
            </a:solidFill>
            <a:prstDash val="solid"/>
          </a:ln>
        </p:spPr>
      </p:sp>
      <p:sp>
        <p:nvSpPr>
          <p:cNvPr id="20" name="Text 18"/>
          <p:cNvSpPr/>
          <p:nvPr/>
        </p:nvSpPr>
        <p:spPr>
          <a:xfrm>
            <a:off x="640080" y="3200400"/>
            <a:ext cx="2743200" cy="320040"/>
          </a:xfrm>
          <a:prstGeom prst="rect">
            <a:avLst/>
          </a:prstGeom>
          <a:noFill/>
          <a:ln/>
        </p:spPr>
        <p:txBody>
          <a:bodyPr wrap="square" lIns="0" tIns="0" rIns="0" bIns="0" rtlCol="0" anchor="ctr"/>
          <a:lstStyle/>
          <a:p>
            <a:pPr indent="0" marL="0">
              <a:buNone/>
            </a:pPr>
            <a:r>
              <a:rPr lang="en-US" sz="1300" b="1" dirty="0">
                <a:solidFill>
                  <a:srgbClr val="5A5A7A"/>
                </a:solidFill>
              </a:rPr>
              <a:t>Worked example:</a:t>
            </a:r>
            <a:endParaRPr lang="en-US" sz="1300" dirty="0"/>
          </a:p>
        </p:txBody>
      </p:sp>
      <p:sp>
        <p:nvSpPr>
          <p:cNvPr id="21" name="Text 19"/>
          <p:cNvSpPr/>
          <p:nvPr/>
        </p:nvSpPr>
        <p:spPr>
          <a:xfrm>
            <a:off x="640080" y="3520440"/>
            <a:ext cx="7863840" cy="777240"/>
          </a:xfrm>
          <a:prstGeom prst="rect">
            <a:avLst/>
          </a:prstGeom>
          <a:noFill/>
          <a:ln/>
        </p:spPr>
        <p:txBody>
          <a:bodyPr wrap="square" lIns="0" tIns="0" rIns="0" bIns="0" rtlCol="0" anchor="ctr"/>
          <a:lstStyle/>
          <a:p>
            <a:pPr indent="0" marL="0">
              <a:buNone/>
            </a:pPr>
            <a:r>
              <a:rPr lang="en-US" sz="1600" b="1" dirty="0">
                <a:solidFill>
                  <a:srgbClr val="1A1A2E"/>
                </a:solidFill>
                <a:latin typeface="Cambria" pitchFamily="34" charset="0"/>
                <a:ea typeface="Cambria" pitchFamily="34" charset="-122"/>
                <a:cs typeface="Cambria" pitchFamily="34" charset="-120"/>
              </a:rPr>
              <a:t>4  ÷  two thirds  =  4  ×  three halves  =  twelve halves  =  6</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Check for Reasonableness</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Before You Compute</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8229600" cy="1188720"/>
          </a:xfrm>
          <a:prstGeom prst="roundRect">
            <a:avLst>
              <a:gd name="adj" fmla="val 7692"/>
            </a:avLst>
          </a:prstGeom>
          <a:solidFill>
            <a:srgbClr val="EAE8F5"/>
          </a:solidFill>
          <a:ln w="6350">
            <a:solidFill>
              <a:srgbClr val="DDDDEE"/>
            </a:solidFill>
            <a:prstDash val="solid"/>
          </a:ln>
        </p:spPr>
      </p:sp>
      <p:sp>
        <p:nvSpPr>
          <p:cNvPr id="7" name="Text 5"/>
          <p:cNvSpPr/>
          <p:nvPr/>
        </p:nvSpPr>
        <p:spPr>
          <a:xfrm>
            <a:off x="640080" y="1033272"/>
            <a:ext cx="7863840" cy="1005840"/>
          </a:xfrm>
          <a:prstGeom prst="rect">
            <a:avLst/>
          </a:prstGeom>
          <a:noFill/>
          <a:ln/>
        </p:spPr>
        <p:txBody>
          <a:bodyPr wrap="square" lIns="0" tIns="0" rIns="0" bIns="0" rtlCol="0" anchor="ctr"/>
          <a:lstStyle/>
          <a:p>
            <a:pPr indent="0" marL="0">
              <a:buNone/>
            </a:pPr>
            <a:r>
              <a:rPr lang="en-US" sz="1600" dirty="0">
                <a:solidFill>
                  <a:srgbClr val="1A1A2E"/>
                </a:solidFill>
                <a:latin typeface="Cambria" pitchFamily="34" charset="0"/>
                <a:ea typeface="Cambria" pitchFamily="34" charset="-122"/>
                <a:cs typeface="Cambria" pitchFamily="34" charset="-120"/>
              </a:rPr>
              <a:t>Atlas solved five divided by five sixths and got twenty-five sixths. Is that reasonable?</a:t>
            </a:r>
            <a:endParaRPr lang="en-US" sz="1600" dirty="0"/>
          </a:p>
        </p:txBody>
      </p:sp>
      <p:sp>
        <p:nvSpPr>
          <p:cNvPr id="8" name="Shape 6"/>
          <p:cNvSpPr/>
          <p:nvPr/>
        </p:nvSpPr>
        <p:spPr>
          <a:xfrm>
            <a:off x="457200" y="2286000"/>
            <a:ext cx="8229600" cy="1828800"/>
          </a:xfrm>
          <a:prstGeom prst="roundRect">
            <a:avLst>
              <a:gd name="adj" fmla="val 5000"/>
            </a:avLst>
          </a:prstGeom>
          <a:solidFill>
            <a:srgbClr val="FFFFFF"/>
          </a:solidFill>
          <a:ln w="6350">
            <a:solidFill>
              <a:srgbClr val="DDDDEE"/>
            </a:solidFill>
            <a:prstDash val="solid"/>
          </a:ln>
        </p:spPr>
      </p:sp>
      <p:sp>
        <p:nvSpPr>
          <p:cNvPr id="9" name="Text 7"/>
          <p:cNvSpPr/>
          <p:nvPr/>
        </p:nvSpPr>
        <p:spPr>
          <a:xfrm>
            <a:off x="640080" y="2359152"/>
            <a:ext cx="7863840" cy="1691640"/>
          </a:xfrm>
          <a:prstGeom prst="rect">
            <a:avLst/>
          </a:prstGeom>
          <a:noFill/>
          <a:ln/>
        </p:spPr>
        <p:txBody>
          <a:bodyPr wrap="square" lIns="0" tIns="0" rIns="0" bIns="0" rtlCol="0" anchor="ctr"/>
          <a:lstStyle/>
          <a:p>
            <a:pPr indent="0" marL="0">
              <a:buNone/>
            </a:pPr>
            <a:r>
              <a:rPr lang="en-US" sz="1300" dirty="0">
                <a:solidFill>
                  <a:srgbClr val="1A1A2E"/>
                </a:solidFill>
                <a:latin typeface="Cambria" pitchFamily="34" charset="0"/>
                <a:ea typeface="Cambria" pitchFamily="34" charset="-122"/>
                <a:cs typeface="Cambria" pitchFamily="34" charset="-120"/>
              </a:rPr>
              <a:t>Five sixths is almost one whole, so dividing by it should give a quotient just a little MORE than 5 — not a fraction smaller than 5.</a:t>
            </a:r>
            <a:endParaRPr lang="en-US" sz="1300" dirty="0"/>
          </a:p>
          <a:p>
            <a:pPr indent="0" marL="0">
              <a:buNone/>
            </a:pPr>
            <a:endParaRPr lang="en-US" sz="1300" dirty="0"/>
          </a:p>
          <a:p>
            <a:pPr indent="0" marL="0">
              <a:buNone/>
            </a:pPr>
            <a:r>
              <a:rPr lang="en-US" sz="1300" dirty="0">
                <a:solidFill>
                  <a:srgbClr val="1A1A2E"/>
                </a:solidFill>
                <a:latin typeface="Cambria" pitchFamily="34" charset="0"/>
                <a:ea typeface="Cambria" pitchFamily="34" charset="-122"/>
                <a:cs typeface="Cambria" pitchFamily="34" charset="-120"/>
              </a:rPr>
              <a:t>Twenty-five sixths is about 4.17 — smaller than 5, so Atlas's answer is NOT reasonable.</a:t>
            </a:r>
            <a:endParaRPr lang="en-US" sz="1300" dirty="0"/>
          </a:p>
          <a:p>
            <a:pPr indent="0" marL="0">
              <a:buNone/>
            </a:pPr>
            <a:endParaRPr lang="en-US" sz="1300" dirty="0"/>
          </a:p>
          <a:p>
            <a:pPr indent="0" marL="0">
              <a:buNone/>
            </a:pPr>
            <a:r>
              <a:rPr lang="en-US" sz="1300" dirty="0">
                <a:solidFill>
                  <a:srgbClr val="1A1A2E"/>
                </a:solidFill>
                <a:latin typeface="Cambria" pitchFamily="34" charset="0"/>
                <a:ea typeface="Cambria" pitchFamily="34" charset="-122"/>
                <a:cs typeface="Cambria" pitchFamily="34" charset="-120"/>
              </a:rPr>
              <a:t>The correct quotient is 5 × six fifths = thirty fifths = 6, which IS a little more than 5.</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Vocabulary</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Key Terms</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3977640" cy="1600200"/>
          </a:xfrm>
          <a:prstGeom prst="roundRect">
            <a:avLst>
              <a:gd name="adj" fmla="val 5714"/>
            </a:avLst>
          </a:prstGeom>
          <a:solidFill>
            <a:srgbClr val="EAE8F5"/>
          </a:solidFill>
          <a:ln w="6350">
            <a:solidFill>
              <a:srgbClr val="DDDDEE"/>
            </a:solidFill>
            <a:prstDash val="solid"/>
          </a:ln>
        </p:spPr>
      </p:sp>
      <p:sp>
        <p:nvSpPr>
          <p:cNvPr id="7" name="Text 5"/>
          <p:cNvSpPr/>
          <p:nvPr/>
        </p:nvSpPr>
        <p:spPr>
          <a:xfrm>
            <a:off x="640080" y="1097280"/>
            <a:ext cx="3611880" cy="457200"/>
          </a:xfrm>
          <a:prstGeom prst="rect">
            <a:avLst/>
          </a:prstGeom>
          <a:noFill/>
          <a:ln/>
        </p:spPr>
        <p:txBody>
          <a:bodyPr wrap="square" lIns="0" tIns="0" rIns="0" bIns="0" rtlCol="0" anchor="ctr"/>
          <a:lstStyle/>
          <a:p>
            <a:pPr indent="0" marL="0">
              <a:buNone/>
            </a:pPr>
            <a:r>
              <a:rPr lang="en-US" sz="2000" b="1" dirty="0">
                <a:solidFill>
                  <a:srgbClr val="4A3D8F"/>
                </a:solidFill>
                <a:latin typeface="Cambria" pitchFamily="34" charset="0"/>
                <a:ea typeface="Cambria" pitchFamily="34" charset="-122"/>
                <a:cs typeface="Cambria" pitchFamily="34" charset="-120"/>
              </a:rPr>
              <a:t>dividend</a:t>
            </a:r>
            <a:endParaRPr lang="en-US" sz="2000" dirty="0"/>
          </a:p>
        </p:txBody>
      </p:sp>
      <p:sp>
        <p:nvSpPr>
          <p:cNvPr id="8" name="Text 6"/>
          <p:cNvSpPr/>
          <p:nvPr/>
        </p:nvSpPr>
        <p:spPr>
          <a:xfrm>
            <a:off x="640080" y="1600200"/>
            <a:ext cx="3611880" cy="868680"/>
          </a:xfrm>
          <a:prstGeom prst="rect">
            <a:avLst/>
          </a:prstGeom>
          <a:noFill/>
          <a:ln/>
        </p:spPr>
        <p:txBody>
          <a:bodyPr wrap="square" lIns="0" tIns="0" rIns="0" bIns="0" rtlCol="0" anchor="ctr"/>
          <a:lstStyle/>
          <a:p>
            <a:pPr indent="0" marL="0">
              <a:buNone/>
            </a:pPr>
            <a:r>
              <a:rPr lang="en-US" sz="1300" dirty="0">
                <a:solidFill>
                  <a:srgbClr val="1A1A2E"/>
                </a:solidFill>
              </a:rPr>
              <a:t>the amount being divided (the whole number we start with)</a:t>
            </a:r>
            <a:endParaRPr lang="en-US" sz="1300" dirty="0"/>
          </a:p>
        </p:txBody>
      </p:sp>
      <p:sp>
        <p:nvSpPr>
          <p:cNvPr id="9" name="Shape 7"/>
          <p:cNvSpPr/>
          <p:nvPr/>
        </p:nvSpPr>
        <p:spPr>
          <a:xfrm>
            <a:off x="4709160" y="960120"/>
            <a:ext cx="3977640" cy="1600200"/>
          </a:xfrm>
          <a:prstGeom prst="roundRect">
            <a:avLst>
              <a:gd name="adj" fmla="val 5714"/>
            </a:avLst>
          </a:prstGeom>
          <a:solidFill>
            <a:srgbClr val="E6F2EA"/>
          </a:solidFill>
          <a:ln w="6350">
            <a:solidFill>
              <a:srgbClr val="DDDDEE"/>
            </a:solidFill>
            <a:prstDash val="solid"/>
          </a:ln>
        </p:spPr>
      </p:sp>
      <p:sp>
        <p:nvSpPr>
          <p:cNvPr id="10" name="Text 8"/>
          <p:cNvSpPr/>
          <p:nvPr/>
        </p:nvSpPr>
        <p:spPr>
          <a:xfrm>
            <a:off x="4892040" y="1097280"/>
            <a:ext cx="3611880" cy="457200"/>
          </a:xfrm>
          <a:prstGeom prst="rect">
            <a:avLst/>
          </a:prstGeom>
          <a:noFill/>
          <a:ln/>
        </p:spPr>
        <p:txBody>
          <a:bodyPr wrap="square" lIns="0" tIns="0" rIns="0" bIns="0" rtlCol="0" anchor="ctr"/>
          <a:lstStyle/>
          <a:p>
            <a:pPr indent="0" marL="0">
              <a:buNone/>
            </a:pPr>
            <a:r>
              <a:rPr lang="en-US" sz="2000" b="1" dirty="0">
                <a:solidFill>
                  <a:srgbClr val="2E6E44"/>
                </a:solidFill>
                <a:latin typeface="Cambria" pitchFamily="34" charset="0"/>
                <a:ea typeface="Cambria" pitchFamily="34" charset="-122"/>
                <a:cs typeface="Cambria" pitchFamily="34" charset="-120"/>
              </a:rPr>
              <a:t>divisor</a:t>
            </a:r>
            <a:endParaRPr lang="en-US" sz="2000" dirty="0"/>
          </a:p>
        </p:txBody>
      </p:sp>
      <p:sp>
        <p:nvSpPr>
          <p:cNvPr id="11" name="Text 9"/>
          <p:cNvSpPr/>
          <p:nvPr/>
        </p:nvSpPr>
        <p:spPr>
          <a:xfrm>
            <a:off x="4892040" y="1600200"/>
            <a:ext cx="3611880" cy="868680"/>
          </a:xfrm>
          <a:prstGeom prst="rect">
            <a:avLst/>
          </a:prstGeom>
          <a:noFill/>
          <a:ln/>
        </p:spPr>
        <p:txBody>
          <a:bodyPr wrap="square" lIns="0" tIns="0" rIns="0" bIns="0" rtlCol="0" anchor="ctr"/>
          <a:lstStyle/>
          <a:p>
            <a:pPr indent="0" marL="0">
              <a:buNone/>
            </a:pPr>
            <a:r>
              <a:rPr lang="en-US" sz="1300" dirty="0">
                <a:solidFill>
                  <a:srgbClr val="1A1A2E"/>
                </a:solidFill>
              </a:rPr>
              <a:t>the size of each group (today, a non-unit fraction)</a:t>
            </a:r>
            <a:endParaRPr lang="en-US" sz="1300" dirty="0"/>
          </a:p>
        </p:txBody>
      </p:sp>
      <p:sp>
        <p:nvSpPr>
          <p:cNvPr id="12" name="Shape 10"/>
          <p:cNvSpPr/>
          <p:nvPr/>
        </p:nvSpPr>
        <p:spPr>
          <a:xfrm>
            <a:off x="457200" y="2743200"/>
            <a:ext cx="3977640" cy="1600200"/>
          </a:xfrm>
          <a:prstGeom prst="roundRect">
            <a:avLst>
              <a:gd name="adj" fmla="val 5714"/>
            </a:avLst>
          </a:prstGeom>
          <a:solidFill>
            <a:srgbClr val="FEF6E4"/>
          </a:solidFill>
          <a:ln w="6350">
            <a:solidFill>
              <a:srgbClr val="DDDDEE"/>
            </a:solidFill>
            <a:prstDash val="solid"/>
          </a:ln>
        </p:spPr>
      </p:sp>
      <p:sp>
        <p:nvSpPr>
          <p:cNvPr id="13" name="Text 11"/>
          <p:cNvSpPr/>
          <p:nvPr/>
        </p:nvSpPr>
        <p:spPr>
          <a:xfrm>
            <a:off x="640080" y="2880360"/>
            <a:ext cx="3611880" cy="457200"/>
          </a:xfrm>
          <a:prstGeom prst="rect">
            <a:avLst/>
          </a:prstGeom>
          <a:noFill/>
          <a:ln/>
        </p:spPr>
        <p:txBody>
          <a:bodyPr wrap="square" lIns="0" tIns="0" rIns="0" bIns="0" rtlCol="0" anchor="ctr"/>
          <a:lstStyle/>
          <a:p>
            <a:pPr indent="0" marL="0">
              <a:buNone/>
            </a:pPr>
            <a:r>
              <a:rPr lang="en-US" sz="2000" b="1" dirty="0">
                <a:solidFill>
                  <a:srgbClr val="D9941A"/>
                </a:solidFill>
                <a:latin typeface="Cambria" pitchFamily="34" charset="0"/>
                <a:ea typeface="Cambria" pitchFamily="34" charset="-122"/>
                <a:cs typeface="Cambria" pitchFamily="34" charset="-120"/>
              </a:rPr>
              <a:t>quotient</a:t>
            </a:r>
            <a:endParaRPr lang="en-US" sz="2000" dirty="0"/>
          </a:p>
        </p:txBody>
      </p:sp>
      <p:sp>
        <p:nvSpPr>
          <p:cNvPr id="14" name="Text 12"/>
          <p:cNvSpPr/>
          <p:nvPr/>
        </p:nvSpPr>
        <p:spPr>
          <a:xfrm>
            <a:off x="640080" y="3383280"/>
            <a:ext cx="3611880" cy="868680"/>
          </a:xfrm>
          <a:prstGeom prst="rect">
            <a:avLst/>
          </a:prstGeom>
          <a:noFill/>
          <a:ln/>
        </p:spPr>
        <p:txBody>
          <a:bodyPr wrap="square" lIns="0" tIns="0" rIns="0" bIns="0" rtlCol="0" anchor="ctr"/>
          <a:lstStyle/>
          <a:p>
            <a:pPr indent="0" marL="0">
              <a:buNone/>
            </a:pPr>
            <a:r>
              <a:rPr lang="en-US" sz="1300" dirty="0">
                <a:solidFill>
                  <a:srgbClr val="1A1A2E"/>
                </a:solidFill>
              </a:rPr>
              <a:t>the result of dividing — the number of complete groups</a:t>
            </a:r>
            <a:endParaRPr lang="en-US" sz="1300" dirty="0"/>
          </a:p>
        </p:txBody>
      </p:sp>
      <p:sp>
        <p:nvSpPr>
          <p:cNvPr id="15" name="Shape 13"/>
          <p:cNvSpPr/>
          <p:nvPr/>
        </p:nvSpPr>
        <p:spPr>
          <a:xfrm>
            <a:off x="4709160" y="2743200"/>
            <a:ext cx="3977640" cy="1600200"/>
          </a:xfrm>
          <a:prstGeom prst="roundRect">
            <a:avLst>
              <a:gd name="adj" fmla="val 5714"/>
            </a:avLst>
          </a:prstGeom>
          <a:solidFill>
            <a:srgbClr val="FEF0E6"/>
          </a:solidFill>
          <a:ln w="6350">
            <a:solidFill>
              <a:srgbClr val="DDDDEE"/>
            </a:solidFill>
            <a:prstDash val="solid"/>
          </a:ln>
        </p:spPr>
      </p:sp>
      <p:sp>
        <p:nvSpPr>
          <p:cNvPr id="16" name="Text 14"/>
          <p:cNvSpPr/>
          <p:nvPr/>
        </p:nvSpPr>
        <p:spPr>
          <a:xfrm>
            <a:off x="4892040" y="2880360"/>
            <a:ext cx="3611880" cy="457200"/>
          </a:xfrm>
          <a:prstGeom prst="rect">
            <a:avLst/>
          </a:prstGeom>
          <a:noFill/>
          <a:ln/>
        </p:spPr>
        <p:txBody>
          <a:bodyPr wrap="square" lIns="0" tIns="0" rIns="0" bIns="0" rtlCol="0" anchor="ctr"/>
          <a:lstStyle/>
          <a:p>
            <a:pPr indent="0" marL="0">
              <a:buNone/>
            </a:pPr>
            <a:r>
              <a:rPr lang="en-US" sz="2000" b="1" dirty="0">
                <a:solidFill>
                  <a:srgbClr val="C05818"/>
                </a:solidFill>
                <a:latin typeface="Cambria" pitchFamily="34" charset="0"/>
                <a:ea typeface="Cambria" pitchFamily="34" charset="-122"/>
                <a:cs typeface="Cambria" pitchFamily="34" charset="-120"/>
              </a:rPr>
              <a:t>reciprocal</a:t>
            </a:r>
            <a:endParaRPr lang="en-US" sz="2000" dirty="0"/>
          </a:p>
        </p:txBody>
      </p:sp>
      <p:sp>
        <p:nvSpPr>
          <p:cNvPr id="17" name="Text 15"/>
          <p:cNvSpPr/>
          <p:nvPr/>
        </p:nvSpPr>
        <p:spPr>
          <a:xfrm>
            <a:off x="4892040" y="3383280"/>
            <a:ext cx="3611880" cy="868680"/>
          </a:xfrm>
          <a:prstGeom prst="rect">
            <a:avLst/>
          </a:prstGeom>
          <a:noFill/>
          <a:ln/>
        </p:spPr>
        <p:txBody>
          <a:bodyPr wrap="square" lIns="0" tIns="0" rIns="0" bIns="0" rtlCol="0" anchor="ctr"/>
          <a:lstStyle/>
          <a:p>
            <a:pPr indent="0" marL="0">
              <a:buNone/>
            </a:pPr>
            <a:r>
              <a:rPr lang="en-US" sz="1300" dirty="0">
                <a:solidFill>
                  <a:srgbClr val="1A1A2E"/>
                </a:solidFill>
              </a:rPr>
              <a:t>a fraction flipped so the numerator and denominator switch places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Guided Practice A</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Teacher-Led</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14400"/>
            <a:ext cx="1920240" cy="292608"/>
          </a:xfrm>
          <a:prstGeom prst="roundRect">
            <a:avLst>
              <a:gd name="adj" fmla="val 18750"/>
            </a:avLst>
          </a:prstGeom>
          <a:solidFill>
            <a:srgbClr val="4A3D8F"/>
          </a:solidFill>
          <a:ln w="12700">
            <a:solidFill>
              <a:srgbClr val="4A3D8F"/>
            </a:solidFill>
            <a:prstDash val="solid"/>
          </a:ln>
        </p:spPr>
      </p:sp>
      <p:sp>
        <p:nvSpPr>
          <p:cNvPr id="7" name="Text 5"/>
          <p:cNvSpPr/>
          <p:nvPr/>
        </p:nvSpPr>
        <p:spPr>
          <a:xfrm>
            <a:off x="457200" y="914400"/>
            <a:ext cx="192024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WATCH &amp; FOLLOW</a:t>
            </a:r>
            <a:endParaRPr lang="en-US" sz="800" dirty="0"/>
          </a:p>
        </p:txBody>
      </p:sp>
      <p:sp>
        <p:nvSpPr>
          <p:cNvPr id="8" name="Text 6"/>
          <p:cNvSpPr/>
          <p:nvPr/>
        </p:nvSpPr>
        <p:spPr>
          <a:xfrm>
            <a:off x="3840480" y="914400"/>
            <a:ext cx="548640" cy="548640"/>
          </a:xfrm>
          <a:prstGeom prst="rect">
            <a:avLst/>
          </a:prstGeom>
          <a:noFill/>
          <a:ln/>
        </p:spPr>
        <p:txBody>
          <a:bodyPr wrap="square" lIns="0" tIns="0" rIns="0" bIns="0" rtlCol="0" anchor="ctr"/>
          <a:lstStyle/>
          <a:p>
            <a:pPr algn="ctr" indent="0" marL="0">
              <a:buNone/>
            </a:pPr>
            <a:r>
              <a:rPr lang="en-US" sz="2000" b="1" dirty="0">
                <a:solidFill>
                  <a:srgbClr val="1A1A2E"/>
                </a:solidFill>
                <a:latin typeface="Cambria" pitchFamily="34" charset="0"/>
                <a:ea typeface="Cambria" pitchFamily="34" charset="-122"/>
                <a:cs typeface="Cambria" pitchFamily="34" charset="-120"/>
              </a:rPr>
              <a:t>6</a:t>
            </a:r>
            <a:endParaRPr lang="en-US" sz="2000" dirty="0"/>
          </a:p>
        </p:txBody>
      </p:sp>
      <p:sp>
        <p:nvSpPr>
          <p:cNvPr id="9" name="Text 7"/>
          <p:cNvSpPr/>
          <p:nvPr/>
        </p:nvSpPr>
        <p:spPr>
          <a:xfrm>
            <a:off x="4407408" y="914400"/>
            <a:ext cx="365760" cy="548640"/>
          </a:xfrm>
          <a:prstGeom prst="rect">
            <a:avLst/>
          </a:prstGeom>
          <a:noFill/>
          <a:ln/>
        </p:spPr>
        <p:txBody>
          <a:bodyPr wrap="square" lIns="0" tIns="0" rIns="0" bIns="0" rtlCol="0" anchor="ctr"/>
          <a:lstStyle/>
          <a:p>
            <a:pPr algn="ctr" indent="0" marL="0">
              <a:buNone/>
            </a:pPr>
            <a:r>
              <a:rPr lang="en-US" sz="2000" b="1" dirty="0">
                <a:solidFill>
                  <a:srgbClr val="1A1A2E"/>
                </a:solidFill>
              </a:rPr>
              <a:t>÷</a:t>
            </a:r>
            <a:endParaRPr lang="en-US" sz="2000" dirty="0"/>
          </a:p>
        </p:txBody>
      </p:sp>
      <p:sp>
        <p:nvSpPr>
          <p:cNvPr id="10" name="Text 8"/>
          <p:cNvSpPr/>
          <p:nvPr/>
        </p:nvSpPr>
        <p:spPr>
          <a:xfrm>
            <a:off x="4800600" y="896112"/>
            <a:ext cx="594360" cy="283464"/>
          </a:xfrm>
          <a:prstGeom prst="rect">
            <a:avLst/>
          </a:prstGeom>
          <a:noFill/>
          <a:ln/>
        </p:spPr>
        <p:txBody>
          <a:bodyPr wrap="square" lIns="0" tIns="0" rIns="0" bIns="0" rtlCol="0" anchor="b"/>
          <a:lstStyle/>
          <a:p>
            <a:pPr algn="ctr" indent="0" marL="0">
              <a:buNone/>
            </a:pPr>
            <a:r>
              <a:rPr lang="en-US" sz="1600" b="1" dirty="0">
                <a:solidFill>
                  <a:srgbClr val="4A3D8F"/>
                </a:solidFill>
                <a:latin typeface="Cambria" pitchFamily="34" charset="0"/>
                <a:ea typeface="Cambria" pitchFamily="34" charset="-122"/>
                <a:cs typeface="Cambria" pitchFamily="34" charset="-120"/>
              </a:rPr>
              <a:t>3</a:t>
            </a:r>
            <a:endParaRPr lang="en-US" sz="1600" dirty="0"/>
          </a:p>
        </p:txBody>
      </p:sp>
      <p:sp>
        <p:nvSpPr>
          <p:cNvPr id="11" name="Shape 9"/>
          <p:cNvSpPr/>
          <p:nvPr/>
        </p:nvSpPr>
        <p:spPr>
          <a:xfrm>
            <a:off x="4871923" y="1179576"/>
            <a:ext cx="451714" cy="0"/>
          </a:xfrm>
          <a:prstGeom prst="line">
            <a:avLst/>
          </a:prstGeom>
          <a:noFill/>
          <a:ln w="19050">
            <a:solidFill>
              <a:srgbClr val="4A3D8F"/>
            </a:solidFill>
            <a:prstDash val="solid"/>
          </a:ln>
        </p:spPr>
      </p:sp>
      <p:sp>
        <p:nvSpPr>
          <p:cNvPr id="12" name="Text 10"/>
          <p:cNvSpPr/>
          <p:nvPr/>
        </p:nvSpPr>
        <p:spPr>
          <a:xfrm>
            <a:off x="4800600" y="1179576"/>
            <a:ext cx="594360" cy="283464"/>
          </a:xfrm>
          <a:prstGeom prst="rect">
            <a:avLst/>
          </a:prstGeom>
          <a:noFill/>
          <a:ln/>
        </p:spPr>
        <p:txBody>
          <a:bodyPr wrap="square" lIns="0" tIns="0" rIns="0" bIns="0" rtlCol="0" anchor="t"/>
          <a:lstStyle/>
          <a:p>
            <a:pPr algn="ctr" indent="0" marL="0">
              <a:buNone/>
            </a:pPr>
            <a:r>
              <a:rPr lang="en-US" sz="1600" b="1" dirty="0">
                <a:solidFill>
                  <a:srgbClr val="4A3D8F"/>
                </a:solidFill>
                <a:latin typeface="Cambria" pitchFamily="34" charset="0"/>
                <a:ea typeface="Cambria" pitchFamily="34" charset="-122"/>
                <a:cs typeface="Cambria" pitchFamily="34" charset="-120"/>
              </a:rPr>
              <a:t>4</a:t>
            </a:r>
            <a:endParaRPr lang="en-US" sz="1600" dirty="0"/>
          </a:p>
        </p:txBody>
      </p:sp>
      <p:sp>
        <p:nvSpPr>
          <p:cNvPr id="13" name="Text 11"/>
          <p:cNvSpPr/>
          <p:nvPr/>
        </p:nvSpPr>
        <p:spPr>
          <a:xfrm>
            <a:off x="5486400" y="914400"/>
            <a:ext cx="365760" cy="548640"/>
          </a:xfrm>
          <a:prstGeom prst="rect">
            <a:avLst/>
          </a:prstGeom>
          <a:noFill/>
          <a:ln/>
        </p:spPr>
        <p:txBody>
          <a:bodyPr wrap="square" lIns="0" tIns="0" rIns="0" bIns="0" rtlCol="0" anchor="ctr"/>
          <a:lstStyle/>
          <a:p>
            <a:pPr algn="ctr" indent="0" marL="0">
              <a:buNone/>
            </a:pPr>
            <a:r>
              <a:rPr lang="en-US" sz="2000" b="1" dirty="0">
                <a:solidFill>
                  <a:srgbClr val="1A1A2E"/>
                </a:solidFill>
              </a:rPr>
              <a:t>=</a:t>
            </a:r>
            <a:endParaRPr lang="en-US" sz="2000" dirty="0"/>
          </a:p>
        </p:txBody>
      </p:sp>
      <p:sp>
        <p:nvSpPr>
          <p:cNvPr id="14" name="Text 12"/>
          <p:cNvSpPr/>
          <p:nvPr/>
        </p:nvSpPr>
        <p:spPr>
          <a:xfrm>
            <a:off x="5897880" y="914400"/>
            <a:ext cx="2011680" cy="548640"/>
          </a:xfrm>
          <a:prstGeom prst="rect">
            <a:avLst/>
          </a:prstGeom>
          <a:noFill/>
          <a:ln/>
        </p:spPr>
        <p:txBody>
          <a:bodyPr wrap="square" lIns="0" tIns="0" rIns="0" bIns="0" rtlCol="0" anchor="ctr"/>
          <a:lstStyle/>
          <a:p>
            <a:pPr algn="l" indent="0" marL="0">
              <a:buNone/>
            </a:pPr>
            <a:r>
              <a:rPr lang="en-US" sz="2000" b="1" dirty="0">
                <a:solidFill>
                  <a:srgbClr val="2E6E44"/>
                </a:solidFill>
                <a:latin typeface="Cambria" pitchFamily="34" charset="0"/>
                <a:ea typeface="Cambria" pitchFamily="34" charset="-122"/>
                <a:cs typeface="Cambria" pitchFamily="34" charset="-120"/>
              </a:rPr>
              <a:t>?</a:t>
            </a:r>
            <a:endParaRPr lang="en-US" sz="2000" dirty="0"/>
          </a:p>
        </p:txBody>
      </p:sp>
      <p:sp>
        <p:nvSpPr>
          <p:cNvPr id="15" name="Shape 13"/>
          <p:cNvSpPr/>
          <p:nvPr/>
        </p:nvSpPr>
        <p:spPr>
          <a:xfrm>
            <a:off x="548640" y="1600200"/>
            <a:ext cx="320040" cy="960120"/>
          </a:xfrm>
          <a:prstGeom prst="rect">
            <a:avLst/>
          </a:prstGeom>
          <a:solidFill>
            <a:srgbClr val="4A3D8F"/>
          </a:solidFill>
          <a:ln w="15875">
            <a:solidFill>
              <a:srgbClr val="FFFFFF"/>
            </a:solidFill>
            <a:prstDash val="solid"/>
          </a:ln>
        </p:spPr>
      </p:sp>
      <p:sp>
        <p:nvSpPr>
          <p:cNvPr id="16" name="Shape 14"/>
          <p:cNvSpPr/>
          <p:nvPr/>
        </p:nvSpPr>
        <p:spPr>
          <a:xfrm>
            <a:off x="868680" y="1600200"/>
            <a:ext cx="320040" cy="960120"/>
          </a:xfrm>
          <a:prstGeom prst="rect">
            <a:avLst/>
          </a:prstGeom>
          <a:solidFill>
            <a:srgbClr val="4A3D8F"/>
          </a:solidFill>
          <a:ln w="15875">
            <a:solidFill>
              <a:srgbClr val="FFFFFF"/>
            </a:solidFill>
            <a:prstDash val="solid"/>
          </a:ln>
        </p:spPr>
      </p:sp>
      <p:sp>
        <p:nvSpPr>
          <p:cNvPr id="17" name="Shape 15"/>
          <p:cNvSpPr/>
          <p:nvPr/>
        </p:nvSpPr>
        <p:spPr>
          <a:xfrm>
            <a:off x="1188720" y="1600200"/>
            <a:ext cx="320040" cy="960120"/>
          </a:xfrm>
          <a:prstGeom prst="rect">
            <a:avLst/>
          </a:prstGeom>
          <a:solidFill>
            <a:srgbClr val="4A3D8F"/>
          </a:solidFill>
          <a:ln w="15875">
            <a:solidFill>
              <a:srgbClr val="FFFFFF"/>
            </a:solidFill>
            <a:prstDash val="solid"/>
          </a:ln>
        </p:spPr>
      </p:sp>
      <p:sp>
        <p:nvSpPr>
          <p:cNvPr id="18" name="Shape 16"/>
          <p:cNvSpPr/>
          <p:nvPr/>
        </p:nvSpPr>
        <p:spPr>
          <a:xfrm>
            <a:off x="1508760" y="1600200"/>
            <a:ext cx="320040" cy="960120"/>
          </a:xfrm>
          <a:prstGeom prst="rect">
            <a:avLst/>
          </a:prstGeom>
          <a:solidFill>
            <a:srgbClr val="2E6E44"/>
          </a:solidFill>
          <a:ln w="15875">
            <a:solidFill>
              <a:srgbClr val="FFFFFF"/>
            </a:solidFill>
            <a:prstDash val="solid"/>
          </a:ln>
        </p:spPr>
      </p:sp>
      <p:sp>
        <p:nvSpPr>
          <p:cNvPr id="19" name="Shape 17"/>
          <p:cNvSpPr/>
          <p:nvPr/>
        </p:nvSpPr>
        <p:spPr>
          <a:xfrm>
            <a:off x="548640" y="1600200"/>
            <a:ext cx="1280160" cy="960120"/>
          </a:xfrm>
          <a:prstGeom prst="rect">
            <a:avLst/>
          </a:prstGeom>
          <a:solidFill>
            <a:srgbClr val="FFFFFF">
              <a:alpha val="0"/>
            </a:srgbClr>
          </a:solidFill>
          <a:ln w="19050">
            <a:solidFill>
              <a:srgbClr val="333333"/>
            </a:solidFill>
            <a:prstDash val="solid"/>
          </a:ln>
        </p:spPr>
      </p:sp>
      <p:sp>
        <p:nvSpPr>
          <p:cNvPr id="20" name="Shape 18"/>
          <p:cNvSpPr/>
          <p:nvPr/>
        </p:nvSpPr>
        <p:spPr>
          <a:xfrm>
            <a:off x="1901952" y="1600200"/>
            <a:ext cx="320040" cy="960120"/>
          </a:xfrm>
          <a:prstGeom prst="rect">
            <a:avLst/>
          </a:prstGeom>
          <a:solidFill>
            <a:srgbClr val="2E6E44"/>
          </a:solidFill>
          <a:ln w="15875">
            <a:solidFill>
              <a:srgbClr val="FFFFFF"/>
            </a:solidFill>
            <a:prstDash val="solid"/>
          </a:ln>
        </p:spPr>
      </p:sp>
      <p:sp>
        <p:nvSpPr>
          <p:cNvPr id="21" name="Shape 19"/>
          <p:cNvSpPr/>
          <p:nvPr/>
        </p:nvSpPr>
        <p:spPr>
          <a:xfrm>
            <a:off x="2221992" y="1600200"/>
            <a:ext cx="320040" cy="960120"/>
          </a:xfrm>
          <a:prstGeom prst="rect">
            <a:avLst/>
          </a:prstGeom>
          <a:solidFill>
            <a:srgbClr val="2E6E44"/>
          </a:solidFill>
          <a:ln w="15875">
            <a:solidFill>
              <a:srgbClr val="FFFFFF"/>
            </a:solidFill>
            <a:prstDash val="solid"/>
          </a:ln>
        </p:spPr>
      </p:sp>
      <p:sp>
        <p:nvSpPr>
          <p:cNvPr id="22" name="Shape 20"/>
          <p:cNvSpPr/>
          <p:nvPr/>
        </p:nvSpPr>
        <p:spPr>
          <a:xfrm>
            <a:off x="2542032" y="1600200"/>
            <a:ext cx="320040" cy="960120"/>
          </a:xfrm>
          <a:prstGeom prst="rect">
            <a:avLst/>
          </a:prstGeom>
          <a:solidFill>
            <a:srgbClr val="4A3D8F"/>
          </a:solidFill>
          <a:ln w="15875">
            <a:solidFill>
              <a:srgbClr val="FFFFFF"/>
            </a:solidFill>
            <a:prstDash val="solid"/>
          </a:ln>
        </p:spPr>
      </p:sp>
      <p:sp>
        <p:nvSpPr>
          <p:cNvPr id="23" name="Shape 21"/>
          <p:cNvSpPr/>
          <p:nvPr/>
        </p:nvSpPr>
        <p:spPr>
          <a:xfrm>
            <a:off x="2862072" y="1600200"/>
            <a:ext cx="320040" cy="960120"/>
          </a:xfrm>
          <a:prstGeom prst="rect">
            <a:avLst/>
          </a:prstGeom>
          <a:solidFill>
            <a:srgbClr val="4A3D8F"/>
          </a:solidFill>
          <a:ln w="15875">
            <a:solidFill>
              <a:srgbClr val="FFFFFF"/>
            </a:solidFill>
            <a:prstDash val="solid"/>
          </a:ln>
        </p:spPr>
      </p:sp>
      <p:sp>
        <p:nvSpPr>
          <p:cNvPr id="24" name="Shape 22"/>
          <p:cNvSpPr/>
          <p:nvPr/>
        </p:nvSpPr>
        <p:spPr>
          <a:xfrm>
            <a:off x="1901952" y="1600200"/>
            <a:ext cx="1280160" cy="960120"/>
          </a:xfrm>
          <a:prstGeom prst="rect">
            <a:avLst/>
          </a:prstGeom>
          <a:solidFill>
            <a:srgbClr val="FFFFFF">
              <a:alpha val="0"/>
            </a:srgbClr>
          </a:solidFill>
          <a:ln w="19050">
            <a:solidFill>
              <a:srgbClr val="333333"/>
            </a:solidFill>
            <a:prstDash val="solid"/>
          </a:ln>
        </p:spPr>
      </p:sp>
      <p:sp>
        <p:nvSpPr>
          <p:cNvPr id="25" name="Shape 23"/>
          <p:cNvSpPr/>
          <p:nvPr/>
        </p:nvSpPr>
        <p:spPr>
          <a:xfrm>
            <a:off x="3255264" y="1600200"/>
            <a:ext cx="320040" cy="960120"/>
          </a:xfrm>
          <a:prstGeom prst="rect">
            <a:avLst/>
          </a:prstGeom>
          <a:solidFill>
            <a:srgbClr val="4A3D8F"/>
          </a:solidFill>
          <a:ln w="15875">
            <a:solidFill>
              <a:srgbClr val="FFFFFF"/>
            </a:solidFill>
            <a:prstDash val="solid"/>
          </a:ln>
        </p:spPr>
      </p:sp>
      <p:sp>
        <p:nvSpPr>
          <p:cNvPr id="26" name="Shape 24"/>
          <p:cNvSpPr/>
          <p:nvPr/>
        </p:nvSpPr>
        <p:spPr>
          <a:xfrm>
            <a:off x="3575304" y="1600200"/>
            <a:ext cx="320040" cy="960120"/>
          </a:xfrm>
          <a:prstGeom prst="rect">
            <a:avLst/>
          </a:prstGeom>
          <a:solidFill>
            <a:srgbClr val="2E6E44"/>
          </a:solidFill>
          <a:ln w="15875">
            <a:solidFill>
              <a:srgbClr val="FFFFFF"/>
            </a:solidFill>
            <a:prstDash val="solid"/>
          </a:ln>
        </p:spPr>
      </p:sp>
      <p:sp>
        <p:nvSpPr>
          <p:cNvPr id="27" name="Shape 25"/>
          <p:cNvSpPr/>
          <p:nvPr/>
        </p:nvSpPr>
        <p:spPr>
          <a:xfrm>
            <a:off x="3895344" y="1600200"/>
            <a:ext cx="320040" cy="960120"/>
          </a:xfrm>
          <a:prstGeom prst="rect">
            <a:avLst/>
          </a:prstGeom>
          <a:solidFill>
            <a:srgbClr val="2E6E44"/>
          </a:solidFill>
          <a:ln w="15875">
            <a:solidFill>
              <a:srgbClr val="FFFFFF"/>
            </a:solidFill>
            <a:prstDash val="solid"/>
          </a:ln>
        </p:spPr>
      </p:sp>
      <p:sp>
        <p:nvSpPr>
          <p:cNvPr id="28" name="Shape 26"/>
          <p:cNvSpPr/>
          <p:nvPr/>
        </p:nvSpPr>
        <p:spPr>
          <a:xfrm>
            <a:off x="4215384" y="1600200"/>
            <a:ext cx="320040" cy="960120"/>
          </a:xfrm>
          <a:prstGeom prst="rect">
            <a:avLst/>
          </a:prstGeom>
          <a:solidFill>
            <a:srgbClr val="2E6E44"/>
          </a:solidFill>
          <a:ln w="15875">
            <a:solidFill>
              <a:srgbClr val="FFFFFF"/>
            </a:solidFill>
            <a:prstDash val="solid"/>
          </a:ln>
        </p:spPr>
      </p:sp>
      <p:sp>
        <p:nvSpPr>
          <p:cNvPr id="29" name="Shape 27"/>
          <p:cNvSpPr/>
          <p:nvPr/>
        </p:nvSpPr>
        <p:spPr>
          <a:xfrm>
            <a:off x="3255264" y="1600200"/>
            <a:ext cx="1280160" cy="960120"/>
          </a:xfrm>
          <a:prstGeom prst="rect">
            <a:avLst/>
          </a:prstGeom>
          <a:solidFill>
            <a:srgbClr val="FFFFFF">
              <a:alpha val="0"/>
            </a:srgbClr>
          </a:solidFill>
          <a:ln w="19050">
            <a:solidFill>
              <a:srgbClr val="333333"/>
            </a:solidFill>
            <a:prstDash val="solid"/>
          </a:ln>
        </p:spPr>
      </p:sp>
      <p:sp>
        <p:nvSpPr>
          <p:cNvPr id="30" name="Shape 28"/>
          <p:cNvSpPr/>
          <p:nvPr/>
        </p:nvSpPr>
        <p:spPr>
          <a:xfrm>
            <a:off x="4608576" y="1600200"/>
            <a:ext cx="320040" cy="960120"/>
          </a:xfrm>
          <a:prstGeom prst="rect">
            <a:avLst/>
          </a:prstGeom>
          <a:solidFill>
            <a:srgbClr val="4A3D8F"/>
          </a:solidFill>
          <a:ln w="15875">
            <a:solidFill>
              <a:srgbClr val="FFFFFF"/>
            </a:solidFill>
            <a:prstDash val="solid"/>
          </a:ln>
        </p:spPr>
      </p:sp>
      <p:sp>
        <p:nvSpPr>
          <p:cNvPr id="31" name="Shape 29"/>
          <p:cNvSpPr/>
          <p:nvPr/>
        </p:nvSpPr>
        <p:spPr>
          <a:xfrm>
            <a:off x="4928616" y="1600200"/>
            <a:ext cx="320040" cy="960120"/>
          </a:xfrm>
          <a:prstGeom prst="rect">
            <a:avLst/>
          </a:prstGeom>
          <a:solidFill>
            <a:srgbClr val="4A3D8F"/>
          </a:solidFill>
          <a:ln w="15875">
            <a:solidFill>
              <a:srgbClr val="FFFFFF"/>
            </a:solidFill>
            <a:prstDash val="solid"/>
          </a:ln>
        </p:spPr>
      </p:sp>
      <p:sp>
        <p:nvSpPr>
          <p:cNvPr id="32" name="Shape 30"/>
          <p:cNvSpPr/>
          <p:nvPr/>
        </p:nvSpPr>
        <p:spPr>
          <a:xfrm>
            <a:off x="5248656" y="1600200"/>
            <a:ext cx="320040" cy="960120"/>
          </a:xfrm>
          <a:prstGeom prst="rect">
            <a:avLst/>
          </a:prstGeom>
          <a:solidFill>
            <a:srgbClr val="4A3D8F"/>
          </a:solidFill>
          <a:ln w="15875">
            <a:solidFill>
              <a:srgbClr val="FFFFFF"/>
            </a:solidFill>
            <a:prstDash val="solid"/>
          </a:ln>
        </p:spPr>
      </p:sp>
      <p:sp>
        <p:nvSpPr>
          <p:cNvPr id="33" name="Shape 31"/>
          <p:cNvSpPr/>
          <p:nvPr/>
        </p:nvSpPr>
        <p:spPr>
          <a:xfrm>
            <a:off x="5568696" y="1600200"/>
            <a:ext cx="320040" cy="960120"/>
          </a:xfrm>
          <a:prstGeom prst="rect">
            <a:avLst/>
          </a:prstGeom>
          <a:solidFill>
            <a:srgbClr val="2E6E44"/>
          </a:solidFill>
          <a:ln w="15875">
            <a:solidFill>
              <a:srgbClr val="FFFFFF"/>
            </a:solidFill>
            <a:prstDash val="solid"/>
          </a:ln>
        </p:spPr>
      </p:sp>
      <p:sp>
        <p:nvSpPr>
          <p:cNvPr id="34" name="Shape 32"/>
          <p:cNvSpPr/>
          <p:nvPr/>
        </p:nvSpPr>
        <p:spPr>
          <a:xfrm>
            <a:off x="4608576" y="1600200"/>
            <a:ext cx="1280160" cy="960120"/>
          </a:xfrm>
          <a:prstGeom prst="rect">
            <a:avLst/>
          </a:prstGeom>
          <a:solidFill>
            <a:srgbClr val="FFFFFF">
              <a:alpha val="0"/>
            </a:srgbClr>
          </a:solidFill>
          <a:ln w="19050">
            <a:solidFill>
              <a:srgbClr val="333333"/>
            </a:solidFill>
            <a:prstDash val="solid"/>
          </a:ln>
        </p:spPr>
      </p:sp>
      <p:sp>
        <p:nvSpPr>
          <p:cNvPr id="35" name="Shape 33"/>
          <p:cNvSpPr/>
          <p:nvPr/>
        </p:nvSpPr>
        <p:spPr>
          <a:xfrm>
            <a:off x="5961888" y="1600200"/>
            <a:ext cx="320040" cy="960120"/>
          </a:xfrm>
          <a:prstGeom prst="rect">
            <a:avLst/>
          </a:prstGeom>
          <a:solidFill>
            <a:srgbClr val="2E6E44"/>
          </a:solidFill>
          <a:ln w="15875">
            <a:solidFill>
              <a:srgbClr val="FFFFFF"/>
            </a:solidFill>
            <a:prstDash val="solid"/>
          </a:ln>
        </p:spPr>
      </p:sp>
      <p:sp>
        <p:nvSpPr>
          <p:cNvPr id="36" name="Shape 34"/>
          <p:cNvSpPr/>
          <p:nvPr/>
        </p:nvSpPr>
        <p:spPr>
          <a:xfrm>
            <a:off x="6281928" y="1600200"/>
            <a:ext cx="320040" cy="960120"/>
          </a:xfrm>
          <a:prstGeom prst="rect">
            <a:avLst/>
          </a:prstGeom>
          <a:solidFill>
            <a:srgbClr val="2E6E44"/>
          </a:solidFill>
          <a:ln w="15875">
            <a:solidFill>
              <a:srgbClr val="FFFFFF"/>
            </a:solidFill>
            <a:prstDash val="solid"/>
          </a:ln>
        </p:spPr>
      </p:sp>
      <p:sp>
        <p:nvSpPr>
          <p:cNvPr id="37" name="Shape 35"/>
          <p:cNvSpPr/>
          <p:nvPr/>
        </p:nvSpPr>
        <p:spPr>
          <a:xfrm>
            <a:off x="6601968" y="1600200"/>
            <a:ext cx="320040" cy="960120"/>
          </a:xfrm>
          <a:prstGeom prst="rect">
            <a:avLst/>
          </a:prstGeom>
          <a:solidFill>
            <a:srgbClr val="4A3D8F"/>
          </a:solidFill>
          <a:ln w="15875">
            <a:solidFill>
              <a:srgbClr val="FFFFFF"/>
            </a:solidFill>
            <a:prstDash val="solid"/>
          </a:ln>
        </p:spPr>
      </p:sp>
      <p:sp>
        <p:nvSpPr>
          <p:cNvPr id="38" name="Shape 36"/>
          <p:cNvSpPr/>
          <p:nvPr/>
        </p:nvSpPr>
        <p:spPr>
          <a:xfrm>
            <a:off x="6922008" y="1600200"/>
            <a:ext cx="320040" cy="960120"/>
          </a:xfrm>
          <a:prstGeom prst="rect">
            <a:avLst/>
          </a:prstGeom>
          <a:solidFill>
            <a:srgbClr val="4A3D8F"/>
          </a:solidFill>
          <a:ln w="15875">
            <a:solidFill>
              <a:srgbClr val="FFFFFF"/>
            </a:solidFill>
            <a:prstDash val="solid"/>
          </a:ln>
        </p:spPr>
      </p:sp>
      <p:sp>
        <p:nvSpPr>
          <p:cNvPr id="39" name="Shape 37"/>
          <p:cNvSpPr/>
          <p:nvPr/>
        </p:nvSpPr>
        <p:spPr>
          <a:xfrm>
            <a:off x="5961888" y="1600200"/>
            <a:ext cx="1280160" cy="960120"/>
          </a:xfrm>
          <a:prstGeom prst="rect">
            <a:avLst/>
          </a:prstGeom>
          <a:solidFill>
            <a:srgbClr val="FFFFFF">
              <a:alpha val="0"/>
            </a:srgbClr>
          </a:solidFill>
          <a:ln w="19050">
            <a:solidFill>
              <a:srgbClr val="333333"/>
            </a:solidFill>
            <a:prstDash val="solid"/>
          </a:ln>
        </p:spPr>
      </p:sp>
      <p:sp>
        <p:nvSpPr>
          <p:cNvPr id="40" name="Shape 38"/>
          <p:cNvSpPr/>
          <p:nvPr/>
        </p:nvSpPr>
        <p:spPr>
          <a:xfrm>
            <a:off x="7315200" y="1600200"/>
            <a:ext cx="320040" cy="960120"/>
          </a:xfrm>
          <a:prstGeom prst="rect">
            <a:avLst/>
          </a:prstGeom>
          <a:solidFill>
            <a:srgbClr val="4A3D8F"/>
          </a:solidFill>
          <a:ln w="15875">
            <a:solidFill>
              <a:srgbClr val="FFFFFF"/>
            </a:solidFill>
            <a:prstDash val="solid"/>
          </a:ln>
        </p:spPr>
      </p:sp>
      <p:sp>
        <p:nvSpPr>
          <p:cNvPr id="41" name="Shape 39"/>
          <p:cNvSpPr/>
          <p:nvPr/>
        </p:nvSpPr>
        <p:spPr>
          <a:xfrm>
            <a:off x="7635240" y="1600200"/>
            <a:ext cx="320040" cy="960120"/>
          </a:xfrm>
          <a:prstGeom prst="rect">
            <a:avLst/>
          </a:prstGeom>
          <a:solidFill>
            <a:srgbClr val="2E6E44"/>
          </a:solidFill>
          <a:ln w="15875">
            <a:solidFill>
              <a:srgbClr val="FFFFFF"/>
            </a:solidFill>
            <a:prstDash val="solid"/>
          </a:ln>
        </p:spPr>
      </p:sp>
      <p:sp>
        <p:nvSpPr>
          <p:cNvPr id="42" name="Shape 40"/>
          <p:cNvSpPr/>
          <p:nvPr/>
        </p:nvSpPr>
        <p:spPr>
          <a:xfrm>
            <a:off x="7955280" y="1600200"/>
            <a:ext cx="320040" cy="960120"/>
          </a:xfrm>
          <a:prstGeom prst="rect">
            <a:avLst/>
          </a:prstGeom>
          <a:solidFill>
            <a:srgbClr val="2E6E44"/>
          </a:solidFill>
          <a:ln w="15875">
            <a:solidFill>
              <a:srgbClr val="FFFFFF"/>
            </a:solidFill>
            <a:prstDash val="solid"/>
          </a:ln>
        </p:spPr>
      </p:sp>
      <p:sp>
        <p:nvSpPr>
          <p:cNvPr id="43" name="Shape 41"/>
          <p:cNvSpPr/>
          <p:nvPr/>
        </p:nvSpPr>
        <p:spPr>
          <a:xfrm>
            <a:off x="8275320" y="1600200"/>
            <a:ext cx="320040" cy="960120"/>
          </a:xfrm>
          <a:prstGeom prst="rect">
            <a:avLst/>
          </a:prstGeom>
          <a:solidFill>
            <a:srgbClr val="2E6E44"/>
          </a:solidFill>
          <a:ln w="15875">
            <a:solidFill>
              <a:srgbClr val="FFFFFF"/>
            </a:solidFill>
            <a:prstDash val="solid"/>
          </a:ln>
        </p:spPr>
      </p:sp>
      <p:sp>
        <p:nvSpPr>
          <p:cNvPr id="44" name="Shape 42"/>
          <p:cNvSpPr/>
          <p:nvPr/>
        </p:nvSpPr>
        <p:spPr>
          <a:xfrm>
            <a:off x="7315200" y="1600200"/>
            <a:ext cx="1280160" cy="960120"/>
          </a:xfrm>
          <a:prstGeom prst="rect">
            <a:avLst/>
          </a:prstGeom>
          <a:solidFill>
            <a:srgbClr val="FFFFFF">
              <a:alpha val="0"/>
            </a:srgbClr>
          </a:solidFill>
          <a:ln w="19050">
            <a:solidFill>
              <a:srgbClr val="333333"/>
            </a:solidFill>
            <a:prstDash val="solid"/>
          </a:ln>
        </p:spPr>
      </p:sp>
      <p:sp>
        <p:nvSpPr>
          <p:cNvPr id="45" name="Text 43"/>
          <p:cNvSpPr/>
          <p:nvPr/>
        </p:nvSpPr>
        <p:spPr>
          <a:xfrm>
            <a:off x="548640" y="2606040"/>
            <a:ext cx="8046720" cy="274320"/>
          </a:xfrm>
          <a:prstGeom prst="rect">
            <a:avLst/>
          </a:prstGeom>
          <a:noFill/>
          <a:ln/>
        </p:spPr>
        <p:txBody>
          <a:bodyPr wrap="square" lIns="0" tIns="0" rIns="0" bIns="0" rtlCol="0" anchor="ctr"/>
          <a:lstStyle/>
          <a:p>
            <a:pPr algn="ctr" indent="0" marL="0">
              <a:buNone/>
            </a:pPr>
            <a:r>
              <a:rPr lang="en-US" sz="1100" i="1" dirty="0">
                <a:solidFill>
                  <a:srgbClr val="5A5A7A"/>
                </a:solidFill>
              </a:rPr>
              <a:t>six wholes, cut into fourths, banded into groups of three segments</a:t>
            </a:r>
            <a:endParaRPr lang="en-US" sz="1100" dirty="0"/>
          </a:p>
        </p:txBody>
      </p:sp>
      <p:sp>
        <p:nvSpPr>
          <p:cNvPr id="46" name="Shape 44"/>
          <p:cNvSpPr/>
          <p:nvPr/>
        </p:nvSpPr>
        <p:spPr>
          <a:xfrm>
            <a:off x="548640" y="2697480"/>
            <a:ext cx="8046720" cy="1371600"/>
          </a:xfrm>
          <a:prstGeom prst="roundRect">
            <a:avLst>
              <a:gd name="adj" fmla="val 6667"/>
            </a:avLst>
          </a:prstGeom>
          <a:solidFill>
            <a:srgbClr val="FFFFFF"/>
          </a:solidFill>
          <a:ln w="6350">
            <a:solidFill>
              <a:srgbClr val="DDDDEE"/>
            </a:solidFill>
            <a:prstDash val="solid"/>
          </a:ln>
        </p:spPr>
      </p:sp>
      <p:sp>
        <p:nvSpPr>
          <p:cNvPr id="47" name="Text 45"/>
          <p:cNvSpPr/>
          <p:nvPr/>
        </p:nvSpPr>
        <p:spPr>
          <a:xfrm>
            <a:off x="731520" y="2761488"/>
            <a:ext cx="7680960" cy="1280160"/>
          </a:xfrm>
          <a:prstGeom prst="rect">
            <a:avLst/>
          </a:prstGeom>
          <a:noFill/>
          <a:ln/>
        </p:spPr>
        <p:txBody>
          <a:bodyPr wrap="square" lIns="0" tIns="0" rIns="0" bIns="0" rtlCol="0" anchor="ctr"/>
          <a:lstStyle/>
          <a:p>
            <a:pPr indent="0" marL="0">
              <a:buNone/>
            </a:pPr>
            <a:r>
              <a:rPr lang="en-US" sz="1300" dirty="0">
                <a:solidFill>
                  <a:srgbClr val="1A1A2E"/>
                </a:solidFill>
                <a:latin typeface="Cambria" pitchFamily="34" charset="0"/>
                <a:ea typeface="Cambria" pitchFamily="34" charset="-122"/>
                <a:cs typeface="Cambria" pitchFamily="34" charset="-120"/>
              </a:rPr>
              <a:t>Step 1: cut each of the 6 wholes into 4 equal fourths — that's 24 equal pieces in all.</a:t>
            </a:r>
            <a:endParaRPr lang="en-US" sz="1300" dirty="0"/>
          </a:p>
          <a:p>
            <a:pPr indent="0" marL="0">
              <a:buNone/>
            </a:pPr>
            <a:r>
              <a:rPr lang="en-US" sz="1300" dirty="0">
                <a:solidFill>
                  <a:srgbClr val="1A1A2E"/>
                </a:solidFill>
                <a:latin typeface="Cambria" pitchFamily="34" charset="0"/>
                <a:ea typeface="Cambria" pitchFamily="34" charset="-122"/>
                <a:cs typeface="Cambria" pitchFamily="34" charset="-120"/>
              </a:rPr>
              <a:t>Step 2: band every 3 consecutive fourths together (matching the numerator) — count the complete bands.</a:t>
            </a:r>
            <a:endParaRPr lang="en-US" sz="1300" dirty="0"/>
          </a:p>
          <a:p>
            <a:pPr indent="0" marL="0">
              <a:buNone/>
            </a:pPr>
            <a:r>
              <a:rPr lang="en-US" sz="1300" dirty="0">
                <a:solidFill>
                  <a:srgbClr val="1A1A2E"/>
                </a:solidFill>
                <a:latin typeface="Cambria" pitchFamily="34" charset="0"/>
                <a:ea typeface="Cambria" pitchFamily="34" charset="-122"/>
                <a:cs typeface="Cambria" pitchFamily="34" charset="-120"/>
              </a:rPr>
              <a:t>Step 3: multiply by the reciprocal to check: 6 × four thirds = twenty-four thirds = 8.</a:t>
            </a:r>
            <a:endParaRPr lang="en-US" sz="1300" dirty="0"/>
          </a:p>
        </p:txBody>
      </p:sp>
      <p:sp>
        <p:nvSpPr>
          <p:cNvPr id="48" name="Text 46"/>
          <p:cNvSpPr/>
          <p:nvPr/>
        </p:nvSpPr>
        <p:spPr>
          <a:xfrm>
            <a:off x="6035040" y="4160520"/>
            <a:ext cx="548640" cy="548640"/>
          </a:xfrm>
          <a:prstGeom prst="rect">
            <a:avLst/>
          </a:prstGeom>
          <a:noFill/>
          <a:ln/>
        </p:spPr>
        <p:txBody>
          <a:bodyPr wrap="square" lIns="0" tIns="0" rIns="0" bIns="0" rtlCol="0" anchor="ctr"/>
          <a:lstStyle/>
          <a:p>
            <a:pPr algn="ctr" indent="0" marL="0">
              <a:buNone/>
            </a:pPr>
            <a:r>
              <a:rPr lang="en-US" sz="1600" b="1" dirty="0">
                <a:solidFill>
                  <a:srgbClr val="1A1A2E"/>
                </a:solidFill>
                <a:latin typeface="Cambria" pitchFamily="34" charset="0"/>
                <a:ea typeface="Cambria" pitchFamily="34" charset="-122"/>
                <a:cs typeface="Cambria" pitchFamily="34" charset="-120"/>
              </a:rPr>
              <a:t>6</a:t>
            </a:r>
            <a:endParaRPr lang="en-US" sz="1600" dirty="0"/>
          </a:p>
        </p:txBody>
      </p:sp>
      <p:sp>
        <p:nvSpPr>
          <p:cNvPr id="49" name="Text 47"/>
          <p:cNvSpPr/>
          <p:nvPr/>
        </p:nvSpPr>
        <p:spPr>
          <a:xfrm>
            <a:off x="6601968" y="4160520"/>
            <a:ext cx="365760" cy="548640"/>
          </a:xfrm>
          <a:prstGeom prst="rect">
            <a:avLst/>
          </a:prstGeom>
          <a:noFill/>
          <a:ln/>
        </p:spPr>
        <p:txBody>
          <a:bodyPr wrap="square" lIns="0" tIns="0" rIns="0" bIns="0" rtlCol="0" anchor="ctr"/>
          <a:lstStyle/>
          <a:p>
            <a:pPr algn="ctr" indent="0" marL="0">
              <a:buNone/>
            </a:pPr>
            <a:r>
              <a:rPr lang="en-US" sz="1600" b="1" dirty="0">
                <a:solidFill>
                  <a:srgbClr val="1A1A2E"/>
                </a:solidFill>
              </a:rPr>
              <a:t>÷</a:t>
            </a:r>
            <a:endParaRPr lang="en-US" sz="1600" dirty="0"/>
          </a:p>
        </p:txBody>
      </p:sp>
      <p:sp>
        <p:nvSpPr>
          <p:cNvPr id="50" name="Text 48"/>
          <p:cNvSpPr/>
          <p:nvPr/>
        </p:nvSpPr>
        <p:spPr>
          <a:xfrm>
            <a:off x="6995160" y="4142232"/>
            <a:ext cx="594360" cy="283464"/>
          </a:xfrm>
          <a:prstGeom prst="rect">
            <a:avLst/>
          </a:prstGeom>
          <a:noFill/>
          <a:ln/>
        </p:spPr>
        <p:txBody>
          <a:bodyPr wrap="square" lIns="0" tIns="0" rIns="0" bIns="0" rtlCol="0" anchor="b"/>
          <a:lstStyle/>
          <a:p>
            <a:pPr algn="ctr" indent="0" marL="0">
              <a:buNone/>
            </a:pPr>
            <a:r>
              <a:rPr lang="en-US" sz="1200" b="1" dirty="0">
                <a:solidFill>
                  <a:srgbClr val="4A3D8F"/>
                </a:solidFill>
                <a:latin typeface="Cambria" pitchFamily="34" charset="0"/>
                <a:ea typeface="Cambria" pitchFamily="34" charset="-122"/>
                <a:cs typeface="Cambria" pitchFamily="34" charset="-120"/>
              </a:rPr>
              <a:t>3</a:t>
            </a:r>
            <a:endParaRPr lang="en-US" sz="1200" dirty="0"/>
          </a:p>
        </p:txBody>
      </p:sp>
      <p:sp>
        <p:nvSpPr>
          <p:cNvPr id="51" name="Shape 49"/>
          <p:cNvSpPr/>
          <p:nvPr/>
        </p:nvSpPr>
        <p:spPr>
          <a:xfrm>
            <a:off x="7066483" y="4425696"/>
            <a:ext cx="451714" cy="0"/>
          </a:xfrm>
          <a:prstGeom prst="line">
            <a:avLst/>
          </a:prstGeom>
          <a:noFill/>
          <a:ln w="19050">
            <a:solidFill>
              <a:srgbClr val="4A3D8F"/>
            </a:solidFill>
            <a:prstDash val="solid"/>
          </a:ln>
        </p:spPr>
      </p:sp>
      <p:sp>
        <p:nvSpPr>
          <p:cNvPr id="52" name="Text 50"/>
          <p:cNvSpPr/>
          <p:nvPr/>
        </p:nvSpPr>
        <p:spPr>
          <a:xfrm>
            <a:off x="6995160" y="4425696"/>
            <a:ext cx="594360" cy="283464"/>
          </a:xfrm>
          <a:prstGeom prst="rect">
            <a:avLst/>
          </a:prstGeom>
          <a:noFill/>
          <a:ln/>
        </p:spPr>
        <p:txBody>
          <a:bodyPr wrap="square" lIns="0" tIns="0" rIns="0" bIns="0" rtlCol="0" anchor="t"/>
          <a:lstStyle/>
          <a:p>
            <a:pPr algn="ctr" indent="0" marL="0">
              <a:buNone/>
            </a:pPr>
            <a:r>
              <a:rPr lang="en-US" sz="1200" b="1" dirty="0">
                <a:solidFill>
                  <a:srgbClr val="4A3D8F"/>
                </a:solidFill>
                <a:latin typeface="Cambria" pitchFamily="34" charset="0"/>
                <a:ea typeface="Cambria" pitchFamily="34" charset="-122"/>
                <a:cs typeface="Cambria" pitchFamily="34" charset="-120"/>
              </a:rPr>
              <a:t>4</a:t>
            </a:r>
            <a:endParaRPr lang="en-US" sz="1200" dirty="0"/>
          </a:p>
        </p:txBody>
      </p:sp>
      <p:sp>
        <p:nvSpPr>
          <p:cNvPr id="53" name="Text 51"/>
          <p:cNvSpPr/>
          <p:nvPr/>
        </p:nvSpPr>
        <p:spPr>
          <a:xfrm>
            <a:off x="7680960" y="4160520"/>
            <a:ext cx="365760" cy="548640"/>
          </a:xfrm>
          <a:prstGeom prst="rect">
            <a:avLst/>
          </a:prstGeom>
          <a:noFill/>
          <a:ln/>
        </p:spPr>
        <p:txBody>
          <a:bodyPr wrap="square" lIns="0" tIns="0" rIns="0" bIns="0" rtlCol="0" anchor="ctr"/>
          <a:lstStyle/>
          <a:p>
            <a:pPr algn="ctr" indent="0" marL="0">
              <a:buNone/>
            </a:pPr>
            <a:r>
              <a:rPr lang="en-US" sz="1600" b="1" dirty="0">
                <a:solidFill>
                  <a:srgbClr val="1A1A2E"/>
                </a:solidFill>
              </a:rPr>
              <a:t>=</a:t>
            </a:r>
            <a:endParaRPr lang="en-US" sz="1600" dirty="0"/>
          </a:p>
        </p:txBody>
      </p:sp>
      <p:sp>
        <p:nvSpPr>
          <p:cNvPr id="54" name="Text 52"/>
          <p:cNvSpPr/>
          <p:nvPr/>
        </p:nvSpPr>
        <p:spPr>
          <a:xfrm>
            <a:off x="8092440" y="4160520"/>
            <a:ext cx="2011680" cy="548640"/>
          </a:xfrm>
          <a:prstGeom prst="rect">
            <a:avLst/>
          </a:prstGeom>
          <a:noFill/>
          <a:ln/>
        </p:spPr>
        <p:txBody>
          <a:bodyPr wrap="square" lIns="0" tIns="0" rIns="0" bIns="0" rtlCol="0" anchor="ctr"/>
          <a:lstStyle/>
          <a:p>
            <a:pPr algn="l" indent="0" marL="0">
              <a:buNone/>
            </a:pPr>
            <a:r>
              <a:rPr lang="en-US" sz="1600" b="1" dirty="0">
                <a:solidFill>
                  <a:srgbClr val="2E6E44"/>
                </a:solidFill>
                <a:latin typeface="Cambria" pitchFamily="34" charset="0"/>
                <a:ea typeface="Cambria" pitchFamily="34" charset="-122"/>
                <a:cs typeface="Cambria" pitchFamily="34" charset="-120"/>
              </a:rPr>
              <a:t>8</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Guided Practice B</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Applied Problem · Partial Group</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14400"/>
            <a:ext cx="1920240" cy="292608"/>
          </a:xfrm>
          <a:prstGeom prst="roundRect">
            <a:avLst>
              <a:gd name="adj" fmla="val 18750"/>
            </a:avLst>
          </a:prstGeom>
          <a:solidFill>
            <a:srgbClr val="2E6E44"/>
          </a:solidFill>
          <a:ln w="12700">
            <a:solidFill>
              <a:srgbClr val="2E6E44"/>
            </a:solidFill>
            <a:prstDash val="solid"/>
          </a:ln>
        </p:spPr>
      </p:sp>
      <p:sp>
        <p:nvSpPr>
          <p:cNvPr id="7" name="Text 5"/>
          <p:cNvSpPr/>
          <p:nvPr/>
        </p:nvSpPr>
        <p:spPr>
          <a:xfrm>
            <a:off x="457200" y="914400"/>
            <a:ext cx="192024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WATCH &amp; FOLLOW</a:t>
            </a:r>
            <a:endParaRPr lang="en-US" sz="800" dirty="0"/>
          </a:p>
        </p:txBody>
      </p:sp>
      <p:sp>
        <p:nvSpPr>
          <p:cNvPr id="8" name="Shape 6"/>
          <p:cNvSpPr/>
          <p:nvPr/>
        </p:nvSpPr>
        <p:spPr>
          <a:xfrm>
            <a:off x="457200" y="1371600"/>
            <a:ext cx="8229600" cy="777240"/>
          </a:xfrm>
          <a:prstGeom prst="roundRect">
            <a:avLst>
              <a:gd name="adj" fmla="val 11765"/>
            </a:avLst>
          </a:prstGeom>
          <a:solidFill>
            <a:srgbClr val="EAE8F5"/>
          </a:solidFill>
          <a:ln w="6350">
            <a:solidFill>
              <a:srgbClr val="DDDDEE"/>
            </a:solidFill>
            <a:prstDash val="solid"/>
          </a:ln>
        </p:spPr>
      </p:sp>
      <p:sp>
        <p:nvSpPr>
          <p:cNvPr id="9" name="Text 7"/>
          <p:cNvSpPr/>
          <p:nvPr/>
        </p:nvSpPr>
        <p:spPr>
          <a:xfrm>
            <a:off x="640080" y="1417320"/>
            <a:ext cx="7863840" cy="685800"/>
          </a:xfrm>
          <a:prstGeom prst="rect">
            <a:avLst/>
          </a:prstGeom>
          <a:noFill/>
          <a:ln/>
        </p:spPr>
        <p:txBody>
          <a:bodyPr wrap="square" lIns="0" tIns="0" rIns="0" bIns="0" rtlCol="0" anchor="ctr"/>
          <a:lstStyle/>
          <a:p>
            <a:pPr indent="0" marL="0">
              <a:buNone/>
            </a:pPr>
            <a:r>
              <a:rPr lang="en-US" sz="1400" dirty="0">
                <a:solidFill>
                  <a:srgbClr val="1A1A2E"/>
                </a:solidFill>
              </a:rPr>
              <a:t>A recipe calls for two fifths of a cup of oats per serving. Leo has 3 cups of oats. How many FULL servings can he make?</a:t>
            </a:r>
            <a:endParaRPr lang="en-US" sz="1400" dirty="0"/>
          </a:p>
        </p:txBody>
      </p:sp>
      <p:sp>
        <p:nvSpPr>
          <p:cNvPr id="10" name="Shape 8"/>
          <p:cNvSpPr/>
          <p:nvPr/>
        </p:nvSpPr>
        <p:spPr>
          <a:xfrm>
            <a:off x="548640" y="2286000"/>
            <a:ext cx="526694" cy="914400"/>
          </a:xfrm>
          <a:prstGeom prst="rect">
            <a:avLst/>
          </a:prstGeom>
          <a:solidFill>
            <a:srgbClr val="2E6E44"/>
          </a:solidFill>
          <a:ln w="15875">
            <a:solidFill>
              <a:srgbClr val="FFFFFF"/>
            </a:solidFill>
            <a:prstDash val="solid"/>
          </a:ln>
        </p:spPr>
      </p:sp>
      <p:sp>
        <p:nvSpPr>
          <p:cNvPr id="11" name="Shape 9"/>
          <p:cNvSpPr/>
          <p:nvPr/>
        </p:nvSpPr>
        <p:spPr>
          <a:xfrm>
            <a:off x="1075334" y="2286000"/>
            <a:ext cx="526694" cy="914400"/>
          </a:xfrm>
          <a:prstGeom prst="rect">
            <a:avLst/>
          </a:prstGeom>
          <a:solidFill>
            <a:srgbClr val="2E6E44"/>
          </a:solidFill>
          <a:ln w="15875">
            <a:solidFill>
              <a:srgbClr val="FFFFFF"/>
            </a:solidFill>
            <a:prstDash val="solid"/>
          </a:ln>
        </p:spPr>
      </p:sp>
      <p:sp>
        <p:nvSpPr>
          <p:cNvPr id="12" name="Shape 10"/>
          <p:cNvSpPr/>
          <p:nvPr/>
        </p:nvSpPr>
        <p:spPr>
          <a:xfrm>
            <a:off x="1602029" y="2286000"/>
            <a:ext cx="526694" cy="914400"/>
          </a:xfrm>
          <a:prstGeom prst="rect">
            <a:avLst/>
          </a:prstGeom>
          <a:solidFill>
            <a:srgbClr val="4A3D8F"/>
          </a:solidFill>
          <a:ln w="15875">
            <a:solidFill>
              <a:srgbClr val="FFFFFF"/>
            </a:solidFill>
            <a:prstDash val="solid"/>
          </a:ln>
        </p:spPr>
      </p:sp>
      <p:sp>
        <p:nvSpPr>
          <p:cNvPr id="13" name="Shape 11"/>
          <p:cNvSpPr/>
          <p:nvPr/>
        </p:nvSpPr>
        <p:spPr>
          <a:xfrm>
            <a:off x="2128723" y="2286000"/>
            <a:ext cx="526694" cy="914400"/>
          </a:xfrm>
          <a:prstGeom prst="rect">
            <a:avLst/>
          </a:prstGeom>
          <a:solidFill>
            <a:srgbClr val="4A3D8F"/>
          </a:solidFill>
          <a:ln w="15875">
            <a:solidFill>
              <a:srgbClr val="FFFFFF"/>
            </a:solidFill>
            <a:prstDash val="solid"/>
          </a:ln>
        </p:spPr>
      </p:sp>
      <p:sp>
        <p:nvSpPr>
          <p:cNvPr id="14" name="Shape 12"/>
          <p:cNvSpPr/>
          <p:nvPr/>
        </p:nvSpPr>
        <p:spPr>
          <a:xfrm>
            <a:off x="2655418" y="2286000"/>
            <a:ext cx="526694" cy="914400"/>
          </a:xfrm>
          <a:prstGeom prst="rect">
            <a:avLst/>
          </a:prstGeom>
          <a:solidFill>
            <a:srgbClr val="2E6E44"/>
          </a:solidFill>
          <a:ln w="15875">
            <a:solidFill>
              <a:srgbClr val="FFFFFF"/>
            </a:solidFill>
            <a:prstDash val="solid"/>
          </a:ln>
        </p:spPr>
      </p:sp>
      <p:sp>
        <p:nvSpPr>
          <p:cNvPr id="15" name="Shape 13"/>
          <p:cNvSpPr/>
          <p:nvPr/>
        </p:nvSpPr>
        <p:spPr>
          <a:xfrm>
            <a:off x="548640" y="2286000"/>
            <a:ext cx="2633472" cy="914400"/>
          </a:xfrm>
          <a:prstGeom prst="rect">
            <a:avLst/>
          </a:prstGeom>
          <a:solidFill>
            <a:srgbClr val="FFFFFF">
              <a:alpha val="0"/>
            </a:srgbClr>
          </a:solidFill>
          <a:ln w="19050">
            <a:solidFill>
              <a:srgbClr val="333333"/>
            </a:solidFill>
            <a:prstDash val="solid"/>
          </a:ln>
        </p:spPr>
      </p:sp>
      <p:sp>
        <p:nvSpPr>
          <p:cNvPr id="16" name="Shape 14"/>
          <p:cNvSpPr/>
          <p:nvPr/>
        </p:nvSpPr>
        <p:spPr>
          <a:xfrm>
            <a:off x="3255264" y="2286000"/>
            <a:ext cx="526694" cy="914400"/>
          </a:xfrm>
          <a:prstGeom prst="rect">
            <a:avLst/>
          </a:prstGeom>
          <a:solidFill>
            <a:srgbClr val="2E6E44"/>
          </a:solidFill>
          <a:ln w="15875">
            <a:solidFill>
              <a:srgbClr val="FFFFFF"/>
            </a:solidFill>
            <a:prstDash val="solid"/>
          </a:ln>
        </p:spPr>
      </p:sp>
      <p:sp>
        <p:nvSpPr>
          <p:cNvPr id="17" name="Shape 15"/>
          <p:cNvSpPr/>
          <p:nvPr/>
        </p:nvSpPr>
        <p:spPr>
          <a:xfrm>
            <a:off x="3781958" y="2286000"/>
            <a:ext cx="526694" cy="914400"/>
          </a:xfrm>
          <a:prstGeom prst="rect">
            <a:avLst/>
          </a:prstGeom>
          <a:solidFill>
            <a:srgbClr val="4A3D8F"/>
          </a:solidFill>
          <a:ln w="15875">
            <a:solidFill>
              <a:srgbClr val="FFFFFF"/>
            </a:solidFill>
            <a:prstDash val="solid"/>
          </a:ln>
        </p:spPr>
      </p:sp>
      <p:sp>
        <p:nvSpPr>
          <p:cNvPr id="18" name="Shape 16"/>
          <p:cNvSpPr/>
          <p:nvPr/>
        </p:nvSpPr>
        <p:spPr>
          <a:xfrm>
            <a:off x="4308653" y="2286000"/>
            <a:ext cx="526694" cy="914400"/>
          </a:xfrm>
          <a:prstGeom prst="rect">
            <a:avLst/>
          </a:prstGeom>
          <a:solidFill>
            <a:srgbClr val="4A3D8F"/>
          </a:solidFill>
          <a:ln w="15875">
            <a:solidFill>
              <a:srgbClr val="FFFFFF"/>
            </a:solidFill>
            <a:prstDash val="solid"/>
          </a:ln>
        </p:spPr>
      </p:sp>
      <p:sp>
        <p:nvSpPr>
          <p:cNvPr id="19" name="Shape 17"/>
          <p:cNvSpPr/>
          <p:nvPr/>
        </p:nvSpPr>
        <p:spPr>
          <a:xfrm>
            <a:off x="4835347" y="2286000"/>
            <a:ext cx="526694" cy="914400"/>
          </a:xfrm>
          <a:prstGeom prst="rect">
            <a:avLst/>
          </a:prstGeom>
          <a:solidFill>
            <a:srgbClr val="2E6E44"/>
          </a:solidFill>
          <a:ln w="15875">
            <a:solidFill>
              <a:srgbClr val="FFFFFF"/>
            </a:solidFill>
            <a:prstDash val="solid"/>
          </a:ln>
        </p:spPr>
      </p:sp>
      <p:sp>
        <p:nvSpPr>
          <p:cNvPr id="20" name="Shape 18"/>
          <p:cNvSpPr/>
          <p:nvPr/>
        </p:nvSpPr>
        <p:spPr>
          <a:xfrm>
            <a:off x="5362042" y="2286000"/>
            <a:ext cx="526694" cy="914400"/>
          </a:xfrm>
          <a:prstGeom prst="rect">
            <a:avLst/>
          </a:prstGeom>
          <a:solidFill>
            <a:srgbClr val="2E6E44"/>
          </a:solidFill>
          <a:ln w="15875">
            <a:solidFill>
              <a:srgbClr val="FFFFFF"/>
            </a:solidFill>
            <a:prstDash val="solid"/>
          </a:ln>
        </p:spPr>
      </p:sp>
      <p:sp>
        <p:nvSpPr>
          <p:cNvPr id="21" name="Shape 19"/>
          <p:cNvSpPr/>
          <p:nvPr/>
        </p:nvSpPr>
        <p:spPr>
          <a:xfrm>
            <a:off x="3255264" y="2286000"/>
            <a:ext cx="2633472" cy="914400"/>
          </a:xfrm>
          <a:prstGeom prst="rect">
            <a:avLst/>
          </a:prstGeom>
          <a:solidFill>
            <a:srgbClr val="FFFFFF">
              <a:alpha val="0"/>
            </a:srgbClr>
          </a:solidFill>
          <a:ln w="19050">
            <a:solidFill>
              <a:srgbClr val="333333"/>
            </a:solidFill>
            <a:prstDash val="solid"/>
          </a:ln>
        </p:spPr>
      </p:sp>
      <p:sp>
        <p:nvSpPr>
          <p:cNvPr id="22" name="Shape 20"/>
          <p:cNvSpPr/>
          <p:nvPr/>
        </p:nvSpPr>
        <p:spPr>
          <a:xfrm>
            <a:off x="5961888" y="2286000"/>
            <a:ext cx="526694" cy="914400"/>
          </a:xfrm>
          <a:prstGeom prst="rect">
            <a:avLst/>
          </a:prstGeom>
          <a:solidFill>
            <a:srgbClr val="4A3D8F"/>
          </a:solidFill>
          <a:ln w="15875">
            <a:solidFill>
              <a:srgbClr val="FFFFFF"/>
            </a:solidFill>
            <a:prstDash val="solid"/>
          </a:ln>
        </p:spPr>
      </p:sp>
      <p:sp>
        <p:nvSpPr>
          <p:cNvPr id="23" name="Shape 21"/>
          <p:cNvSpPr/>
          <p:nvPr/>
        </p:nvSpPr>
        <p:spPr>
          <a:xfrm>
            <a:off x="6488582" y="2286000"/>
            <a:ext cx="526694" cy="914400"/>
          </a:xfrm>
          <a:prstGeom prst="rect">
            <a:avLst/>
          </a:prstGeom>
          <a:solidFill>
            <a:srgbClr val="4A3D8F"/>
          </a:solidFill>
          <a:ln w="15875">
            <a:solidFill>
              <a:srgbClr val="FFFFFF"/>
            </a:solidFill>
            <a:prstDash val="solid"/>
          </a:ln>
        </p:spPr>
      </p:sp>
      <p:sp>
        <p:nvSpPr>
          <p:cNvPr id="24" name="Shape 22"/>
          <p:cNvSpPr/>
          <p:nvPr/>
        </p:nvSpPr>
        <p:spPr>
          <a:xfrm>
            <a:off x="7015277" y="2286000"/>
            <a:ext cx="526694" cy="914400"/>
          </a:xfrm>
          <a:prstGeom prst="rect">
            <a:avLst/>
          </a:prstGeom>
          <a:solidFill>
            <a:srgbClr val="2E6E44"/>
          </a:solidFill>
          <a:ln w="15875">
            <a:solidFill>
              <a:srgbClr val="FFFFFF"/>
            </a:solidFill>
            <a:prstDash val="solid"/>
          </a:ln>
        </p:spPr>
      </p:sp>
      <p:sp>
        <p:nvSpPr>
          <p:cNvPr id="25" name="Shape 23"/>
          <p:cNvSpPr/>
          <p:nvPr/>
        </p:nvSpPr>
        <p:spPr>
          <a:xfrm>
            <a:off x="7541971" y="2286000"/>
            <a:ext cx="526694" cy="914400"/>
          </a:xfrm>
          <a:prstGeom prst="rect">
            <a:avLst/>
          </a:prstGeom>
          <a:solidFill>
            <a:srgbClr val="2E6E44"/>
          </a:solidFill>
          <a:ln w="15875">
            <a:solidFill>
              <a:srgbClr val="FFFFFF"/>
            </a:solidFill>
            <a:prstDash val="solid"/>
          </a:ln>
        </p:spPr>
      </p:sp>
      <p:sp>
        <p:nvSpPr>
          <p:cNvPr id="26" name="Shape 24"/>
          <p:cNvSpPr/>
          <p:nvPr/>
        </p:nvSpPr>
        <p:spPr>
          <a:xfrm>
            <a:off x="8068666" y="2286000"/>
            <a:ext cx="526694" cy="914400"/>
          </a:xfrm>
          <a:prstGeom prst="rect">
            <a:avLst/>
          </a:prstGeom>
          <a:solidFill>
            <a:srgbClr val="4A3D8F"/>
          </a:solidFill>
          <a:ln w="15875">
            <a:solidFill>
              <a:srgbClr val="FFFFFF"/>
            </a:solidFill>
            <a:prstDash val="solid"/>
          </a:ln>
        </p:spPr>
      </p:sp>
      <p:sp>
        <p:nvSpPr>
          <p:cNvPr id="27" name="Shape 25"/>
          <p:cNvSpPr/>
          <p:nvPr/>
        </p:nvSpPr>
        <p:spPr>
          <a:xfrm>
            <a:off x="5961888" y="2286000"/>
            <a:ext cx="2633472" cy="914400"/>
          </a:xfrm>
          <a:prstGeom prst="rect">
            <a:avLst/>
          </a:prstGeom>
          <a:solidFill>
            <a:srgbClr val="FFFFFF">
              <a:alpha val="0"/>
            </a:srgbClr>
          </a:solidFill>
          <a:ln w="19050">
            <a:solidFill>
              <a:srgbClr val="333333"/>
            </a:solidFill>
            <a:prstDash val="solid"/>
          </a:ln>
        </p:spPr>
      </p:sp>
      <p:sp>
        <p:nvSpPr>
          <p:cNvPr id="28" name="Text 26"/>
          <p:cNvSpPr/>
          <p:nvPr/>
        </p:nvSpPr>
        <p:spPr>
          <a:xfrm>
            <a:off x="548640" y="3246120"/>
            <a:ext cx="8046720" cy="274320"/>
          </a:xfrm>
          <a:prstGeom prst="rect">
            <a:avLst/>
          </a:prstGeom>
          <a:noFill/>
          <a:ln/>
        </p:spPr>
        <p:txBody>
          <a:bodyPr wrap="square" lIns="0" tIns="0" rIns="0" bIns="0" rtlCol="0" anchor="ctr"/>
          <a:lstStyle/>
          <a:p>
            <a:pPr algn="ctr" indent="0" marL="0">
              <a:buNone/>
            </a:pPr>
            <a:r>
              <a:rPr lang="en-US" sz="1100" i="1" dirty="0">
                <a:solidFill>
                  <a:srgbClr val="5A5A7A"/>
                </a:solidFill>
              </a:rPr>
              <a:t>three wholes, cut into fifths, banded into groups of two — the last band has only ONE segment left over</a:t>
            </a:r>
            <a:endParaRPr lang="en-US" sz="1100" dirty="0"/>
          </a:p>
        </p:txBody>
      </p:sp>
      <p:sp>
        <p:nvSpPr>
          <p:cNvPr id="29" name="Shape 27"/>
          <p:cNvSpPr/>
          <p:nvPr/>
        </p:nvSpPr>
        <p:spPr>
          <a:xfrm>
            <a:off x="548640" y="3337560"/>
            <a:ext cx="8046720" cy="914400"/>
          </a:xfrm>
          <a:prstGeom prst="roundRect">
            <a:avLst>
              <a:gd name="adj" fmla="val 10000"/>
            </a:avLst>
          </a:prstGeom>
          <a:solidFill>
            <a:srgbClr val="FFFFFF"/>
          </a:solidFill>
          <a:ln w="6350">
            <a:solidFill>
              <a:srgbClr val="DDDDEE"/>
            </a:solidFill>
            <a:prstDash val="solid"/>
          </a:ln>
        </p:spPr>
      </p:sp>
      <p:sp>
        <p:nvSpPr>
          <p:cNvPr id="30" name="Text 28"/>
          <p:cNvSpPr/>
          <p:nvPr/>
        </p:nvSpPr>
        <p:spPr>
          <a:xfrm>
            <a:off x="731520" y="3401568"/>
            <a:ext cx="7680960" cy="777240"/>
          </a:xfrm>
          <a:prstGeom prst="rect">
            <a:avLst/>
          </a:prstGeom>
          <a:noFill/>
          <a:ln/>
        </p:spPr>
        <p:txBody>
          <a:bodyPr wrap="square" lIns="0" tIns="0" rIns="0" bIns="0" rtlCol="0" anchor="ctr"/>
          <a:lstStyle/>
          <a:p>
            <a:pPr indent="0" marL="0">
              <a:buNone/>
            </a:pPr>
            <a:r>
              <a:rPr lang="en-US" sz="1300" dirty="0">
                <a:solidFill>
                  <a:srgbClr val="1A1A2E"/>
                </a:solidFill>
                <a:latin typeface="Cambria" pitchFamily="34" charset="0"/>
                <a:ea typeface="Cambria" pitchFamily="34" charset="-122"/>
                <a:cs typeface="Cambria" pitchFamily="34" charset="-120"/>
              </a:rPr>
              <a:t>3 × five halves = fifteen halves = 7 and one half. Leo can make 7 FULL servings — the leftover one fifth of a cup (half of another serving) is not enough for a whole serving.</a:t>
            </a:r>
            <a:endParaRPr lang="en-US" sz="1300" dirty="0"/>
          </a:p>
        </p:txBody>
      </p:sp>
      <p:sp>
        <p:nvSpPr>
          <p:cNvPr id="31" name="Text 29"/>
          <p:cNvSpPr/>
          <p:nvPr/>
        </p:nvSpPr>
        <p:spPr>
          <a:xfrm>
            <a:off x="640080" y="4343400"/>
            <a:ext cx="7863840" cy="320040"/>
          </a:xfrm>
          <a:prstGeom prst="rect">
            <a:avLst/>
          </a:prstGeom>
          <a:noFill/>
          <a:ln/>
        </p:spPr>
        <p:txBody>
          <a:bodyPr wrap="square" lIns="0" tIns="0" rIns="0" bIns="0" rtlCol="0" anchor="ctr"/>
          <a:lstStyle/>
          <a:p>
            <a:pPr indent="0" marL="0">
              <a:buNone/>
            </a:pPr>
            <a:r>
              <a:rPr lang="en-US" sz="1200" i="1" dirty="0">
                <a:solidFill>
                  <a:srgbClr val="5A5A7A"/>
                </a:solidFill>
              </a:rPr>
              <a:t>Answer: 7 full servings, with one fifth of a cup of oats left over.</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Students Try</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Student-Led</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005840"/>
            <a:ext cx="8229600" cy="1005840"/>
          </a:xfrm>
          <a:prstGeom prst="roundRect">
            <a:avLst>
              <a:gd name="adj" fmla="val 9091"/>
            </a:avLst>
          </a:prstGeom>
          <a:solidFill>
            <a:srgbClr val="EAE8F5"/>
          </a:solidFill>
          <a:ln w="6350">
            <a:solidFill>
              <a:srgbClr val="DDDDEE"/>
            </a:solidFill>
            <a:prstDash val="solid"/>
          </a:ln>
        </p:spPr>
      </p:sp>
      <p:sp>
        <p:nvSpPr>
          <p:cNvPr id="7" name="Text 5"/>
          <p:cNvSpPr/>
          <p:nvPr/>
        </p:nvSpPr>
        <p:spPr>
          <a:xfrm>
            <a:off x="640080" y="1097280"/>
            <a:ext cx="7863840" cy="822960"/>
          </a:xfrm>
          <a:prstGeom prst="rect">
            <a:avLst/>
          </a:prstGeom>
          <a:noFill/>
          <a:ln/>
        </p:spPr>
        <p:txBody>
          <a:bodyPr wrap="square" lIns="0" tIns="0" rIns="0" bIns="0" rtlCol="0" anchor="ctr"/>
          <a:lstStyle/>
          <a:p>
            <a:pPr indent="0" marL="0">
              <a:buNone/>
            </a:pPr>
            <a:r>
              <a:rPr lang="en-US" sz="1800" b="1" dirty="0">
                <a:solidFill>
                  <a:srgbClr val="4A3D8F"/>
                </a:solidFill>
                <a:latin typeface="Cambria" pitchFamily="34" charset="0"/>
                <a:ea typeface="Cambria" pitchFamily="34" charset="-122"/>
                <a:cs typeface="Cambria" pitchFamily="34" charset="-120"/>
              </a:rPr>
              <a:t>Solve on your own: nine divided by three fourths.</a:t>
            </a:r>
            <a:endParaRPr lang="en-US" sz="1800" dirty="0"/>
          </a:p>
        </p:txBody>
      </p:sp>
      <p:sp>
        <p:nvSpPr>
          <p:cNvPr id="8" name="Shape 6"/>
          <p:cNvSpPr/>
          <p:nvPr/>
        </p:nvSpPr>
        <p:spPr>
          <a:xfrm>
            <a:off x="2286000" y="2286000"/>
            <a:ext cx="1143000" cy="822960"/>
          </a:xfrm>
          <a:prstGeom prst="rect">
            <a:avLst/>
          </a:prstGeom>
          <a:solidFill>
            <a:srgbClr val="4A3D8F"/>
          </a:solidFill>
          <a:ln w="12700">
            <a:solidFill>
              <a:srgbClr val="888888"/>
            </a:solidFill>
            <a:prstDash val="solid"/>
          </a:ln>
        </p:spPr>
      </p:sp>
      <p:sp>
        <p:nvSpPr>
          <p:cNvPr id="9" name="Shape 7"/>
          <p:cNvSpPr/>
          <p:nvPr/>
        </p:nvSpPr>
        <p:spPr>
          <a:xfrm>
            <a:off x="3429000" y="2286000"/>
            <a:ext cx="1143000" cy="822960"/>
          </a:xfrm>
          <a:prstGeom prst="rect">
            <a:avLst/>
          </a:prstGeom>
          <a:solidFill>
            <a:srgbClr val="4A3D8F"/>
          </a:solidFill>
          <a:ln w="12700">
            <a:solidFill>
              <a:srgbClr val="888888"/>
            </a:solidFill>
            <a:prstDash val="solid"/>
          </a:ln>
        </p:spPr>
      </p:sp>
      <p:sp>
        <p:nvSpPr>
          <p:cNvPr id="10" name="Shape 8"/>
          <p:cNvSpPr/>
          <p:nvPr/>
        </p:nvSpPr>
        <p:spPr>
          <a:xfrm>
            <a:off x="4572000" y="2286000"/>
            <a:ext cx="1143000" cy="822960"/>
          </a:xfrm>
          <a:prstGeom prst="rect">
            <a:avLst/>
          </a:prstGeom>
          <a:solidFill>
            <a:srgbClr val="4A3D8F"/>
          </a:solidFill>
          <a:ln w="12700">
            <a:solidFill>
              <a:srgbClr val="888888"/>
            </a:solidFill>
            <a:prstDash val="solid"/>
          </a:ln>
        </p:spPr>
      </p:sp>
      <p:sp>
        <p:nvSpPr>
          <p:cNvPr id="11" name="Shape 9"/>
          <p:cNvSpPr/>
          <p:nvPr/>
        </p:nvSpPr>
        <p:spPr>
          <a:xfrm>
            <a:off x="5715000" y="2286000"/>
            <a:ext cx="1143000" cy="822960"/>
          </a:xfrm>
          <a:prstGeom prst="rect">
            <a:avLst/>
          </a:prstGeom>
          <a:solidFill>
            <a:srgbClr val="FFFFFF"/>
          </a:solidFill>
          <a:ln w="12700">
            <a:solidFill>
              <a:srgbClr val="888888"/>
            </a:solidFill>
            <a:prstDash val="solid"/>
          </a:ln>
        </p:spPr>
      </p:sp>
      <p:sp>
        <p:nvSpPr>
          <p:cNvPr id="12" name="Text 10"/>
          <p:cNvSpPr/>
          <p:nvPr/>
        </p:nvSpPr>
        <p:spPr>
          <a:xfrm>
            <a:off x="2286000" y="3154680"/>
            <a:ext cx="4572000" cy="274320"/>
          </a:xfrm>
          <a:prstGeom prst="rect">
            <a:avLst/>
          </a:prstGeom>
          <a:noFill/>
          <a:ln/>
        </p:spPr>
        <p:txBody>
          <a:bodyPr wrap="square" lIns="0" tIns="0" rIns="0" bIns="0" rtlCol="0" anchor="ctr"/>
          <a:lstStyle/>
          <a:p>
            <a:pPr algn="ctr" indent="0" marL="0">
              <a:buNone/>
            </a:pPr>
            <a:r>
              <a:rPr lang="en-US" sz="1100" i="1" dirty="0">
                <a:solidFill>
                  <a:srgbClr val="5A5A7A"/>
                </a:solidFill>
              </a:rPr>
              <a:t>start here — one group is three fourths</a:t>
            </a:r>
            <a:endParaRPr lang="en-US" sz="1100" dirty="0"/>
          </a:p>
        </p:txBody>
      </p:sp>
      <p:sp>
        <p:nvSpPr>
          <p:cNvPr id="13" name="Shape 11"/>
          <p:cNvSpPr/>
          <p:nvPr/>
        </p:nvSpPr>
        <p:spPr>
          <a:xfrm>
            <a:off x="731520" y="3566160"/>
            <a:ext cx="7680960" cy="438912"/>
          </a:xfrm>
          <a:prstGeom prst="roundRect">
            <a:avLst>
              <a:gd name="adj" fmla="val 12500"/>
            </a:avLst>
          </a:prstGeom>
          <a:solidFill>
            <a:srgbClr val="464EB8"/>
          </a:solidFill>
          <a:ln w="12700">
            <a:solidFill>
              <a:srgbClr val="464EB8"/>
            </a:solidFill>
            <a:prstDash val="solid"/>
          </a:ln>
        </p:spPr>
      </p:sp>
      <p:sp>
        <p:nvSpPr>
          <p:cNvPr id="14" name="Text 12"/>
          <p:cNvSpPr/>
          <p:nvPr/>
        </p:nvSpPr>
        <p:spPr>
          <a:xfrm>
            <a:off x="731520" y="3566160"/>
            <a:ext cx="768096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quotient (a whole number) AND how many complete groups you counted in the model.</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Connection Forward</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Where This Leads</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005840"/>
            <a:ext cx="8229600" cy="1280160"/>
          </a:xfrm>
          <a:prstGeom prst="roundRect">
            <a:avLst>
              <a:gd name="adj" fmla="val 7143"/>
            </a:avLst>
          </a:prstGeom>
          <a:solidFill>
            <a:srgbClr val="EAE8F5"/>
          </a:solidFill>
          <a:ln w="6350">
            <a:solidFill>
              <a:srgbClr val="DDDDEE"/>
            </a:solidFill>
            <a:prstDash val="solid"/>
          </a:ln>
        </p:spPr>
      </p:sp>
      <p:sp>
        <p:nvSpPr>
          <p:cNvPr id="7" name="Text 5"/>
          <p:cNvSpPr/>
          <p:nvPr/>
        </p:nvSpPr>
        <p:spPr>
          <a:xfrm>
            <a:off x="640080" y="1097280"/>
            <a:ext cx="7863840" cy="1097280"/>
          </a:xfrm>
          <a:prstGeom prst="rect">
            <a:avLst/>
          </a:prstGeom>
          <a:noFill/>
          <a:ln/>
        </p:spPr>
        <p:txBody>
          <a:bodyPr wrap="square" lIns="0" tIns="0" rIns="0" bIns="0" rtlCol="0" anchor="ctr"/>
          <a:lstStyle/>
          <a:p>
            <a:pPr indent="0" marL="0">
              <a:buNone/>
            </a:pPr>
            <a:r>
              <a:rPr lang="en-US" sz="1500" dirty="0">
                <a:solidFill>
                  <a:srgbClr val="1A1A2E"/>
                </a:solidFill>
                <a:latin typeface="Cambria" pitchFamily="34" charset="0"/>
                <a:ea typeface="Cambria" pitchFamily="34" charset="-122"/>
                <a:cs typeface="Cambria" pitchFamily="34" charset="-120"/>
              </a:rPr>
              <a:t>Notice: dividing a whole number by a fraction smaller than one always makes the quotient BIGGER than the whole number you started with.</a:t>
            </a:r>
            <a:endParaRPr lang="en-US" sz="1500" dirty="0"/>
          </a:p>
        </p:txBody>
      </p:sp>
      <p:sp>
        <p:nvSpPr>
          <p:cNvPr id="8" name="Shape 6"/>
          <p:cNvSpPr/>
          <p:nvPr/>
        </p:nvSpPr>
        <p:spPr>
          <a:xfrm>
            <a:off x="457200" y="2423160"/>
            <a:ext cx="8229600" cy="1280160"/>
          </a:xfrm>
          <a:prstGeom prst="roundRect">
            <a:avLst>
              <a:gd name="adj" fmla="val 7143"/>
            </a:avLst>
          </a:prstGeom>
          <a:solidFill>
            <a:srgbClr val="FFFFFF"/>
          </a:solidFill>
          <a:ln w="6350">
            <a:solidFill>
              <a:srgbClr val="DDDDEE"/>
            </a:solidFill>
            <a:prstDash val="solid"/>
          </a:ln>
        </p:spPr>
      </p:sp>
      <p:sp>
        <p:nvSpPr>
          <p:cNvPr id="9" name="Text 7"/>
          <p:cNvSpPr/>
          <p:nvPr/>
        </p:nvSpPr>
        <p:spPr>
          <a:xfrm>
            <a:off x="640080" y="2514600"/>
            <a:ext cx="7863840" cy="1097280"/>
          </a:xfrm>
          <a:prstGeom prst="rect">
            <a:avLst/>
          </a:prstGeom>
          <a:noFill/>
          <a:ln/>
        </p:spPr>
        <p:txBody>
          <a:bodyPr wrap="square" lIns="0" tIns="0" rIns="0" bIns="0" rtlCol="0" anchor="ctr"/>
          <a:lstStyle/>
          <a:p>
            <a:pPr indent="0" marL="0">
              <a:buNone/>
            </a:pPr>
            <a:r>
              <a:rPr lang="en-US" sz="1500" dirty="0">
                <a:solidFill>
                  <a:srgbClr val="1A1A2E"/>
                </a:solidFill>
                <a:latin typeface="Cambria" pitchFamily="34" charset="0"/>
                <a:ea typeface="Cambria" pitchFamily="34" charset="-122"/>
                <a:cs typeface="Cambria" pitchFamily="34" charset="-120"/>
              </a:rPr>
              <a:t>Next lesson (5.06.05) brings everything from this unit together in mixed word problems — you will decide which kind of fraction division a story is asking for.</a:t>
            </a:r>
            <a:endParaRPr lang="en-US" sz="1500" dirty="0"/>
          </a:p>
        </p:txBody>
      </p:sp>
      <p:sp>
        <p:nvSpPr>
          <p:cNvPr id="10" name="Shape 8"/>
          <p:cNvSpPr/>
          <p:nvPr/>
        </p:nvSpPr>
        <p:spPr>
          <a:xfrm>
            <a:off x="731520" y="3886200"/>
            <a:ext cx="7680960" cy="438912"/>
          </a:xfrm>
          <a:prstGeom prst="roundRect">
            <a:avLst>
              <a:gd name="adj" fmla="val 12500"/>
            </a:avLst>
          </a:prstGeom>
          <a:solidFill>
            <a:srgbClr val="464EB8"/>
          </a:solidFill>
          <a:ln w="12700">
            <a:solidFill>
              <a:srgbClr val="464EB8"/>
            </a:solidFill>
            <a:prstDash val="solid"/>
          </a:ln>
        </p:spPr>
      </p:sp>
      <p:sp>
        <p:nvSpPr>
          <p:cNvPr id="11" name="Text 9"/>
          <p:cNvSpPr/>
          <p:nvPr/>
        </p:nvSpPr>
        <p:spPr>
          <a:xfrm>
            <a:off x="731520" y="3886200"/>
            <a:ext cx="768096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one sentence explaining why today's quotients were bigger than the starting whole number.</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Exit Check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Mastery · 3 min</a:t>
            </a:r>
            <a:endParaRPr lang="en-US" sz="1100" dirty="0"/>
          </a:p>
        </p:txBody>
      </p:sp>
      <p:sp>
        <p:nvSpPr>
          <p:cNvPr id="5" name="Shape 3"/>
          <p:cNvSpPr/>
          <p:nvPr/>
        </p:nvSpPr>
        <p:spPr>
          <a:xfrm>
            <a:off x="0" y="777240"/>
            <a:ext cx="9144000" cy="4366260"/>
          </a:xfrm>
          <a:prstGeom prst="rect">
            <a:avLst/>
          </a:prstGeom>
          <a:solidFill>
            <a:srgbClr val="1B2A4A"/>
          </a:solidFill>
          <a:ln w="12700">
            <a:solidFill>
              <a:srgbClr val="1B2A4A"/>
            </a:solidFill>
            <a:prstDash val="solid"/>
          </a:ln>
        </p:spPr>
      </p:sp>
      <p:sp>
        <p:nvSpPr>
          <p:cNvPr id="6" name="Shape 4"/>
          <p:cNvSpPr/>
          <p:nvPr/>
        </p:nvSpPr>
        <p:spPr>
          <a:xfrm>
            <a:off x="731520" y="960120"/>
            <a:ext cx="7680960" cy="1097280"/>
          </a:xfrm>
          <a:prstGeom prst="roundRect">
            <a:avLst>
              <a:gd name="adj" fmla="val 8333"/>
            </a:avLst>
          </a:prstGeom>
          <a:solidFill>
            <a:srgbClr val="FFFFFF"/>
          </a:solidFill>
          <a:ln w="6350">
            <a:solidFill>
              <a:srgbClr val="DDDDEE"/>
            </a:solidFill>
            <a:prstDash val="solid"/>
          </a:ln>
        </p:spPr>
      </p:sp>
      <p:sp>
        <p:nvSpPr>
          <p:cNvPr id="7" name="Text 5"/>
          <p:cNvSpPr/>
          <p:nvPr/>
        </p:nvSpPr>
        <p:spPr>
          <a:xfrm>
            <a:off x="914400" y="1051560"/>
            <a:ext cx="7315200" cy="914400"/>
          </a:xfrm>
          <a:prstGeom prst="rect">
            <a:avLst/>
          </a:prstGeom>
          <a:noFill/>
          <a:ln/>
        </p:spPr>
        <p:txBody>
          <a:bodyPr wrap="square" lIns="0" tIns="0" rIns="0" bIns="0" rtlCol="0" anchor="ctr"/>
          <a:lstStyle/>
          <a:p>
            <a:pPr indent="0" marL="0">
              <a:buNone/>
            </a:pPr>
            <a:r>
              <a:rPr lang="en-US" sz="2000" b="1" dirty="0">
                <a:solidFill>
                  <a:srgbClr val="1A1A2E"/>
                </a:solidFill>
                <a:latin typeface="Cambria" pitchFamily="34" charset="0"/>
                <a:ea typeface="Cambria" pitchFamily="34" charset="-122"/>
                <a:cs typeface="Cambria" pitchFamily="34" charset="-120"/>
              </a:rPr>
              <a:t>What is six divided by three fifths?</a:t>
            </a:r>
            <a:endParaRPr lang="en-US" sz="2000" dirty="0"/>
          </a:p>
        </p:txBody>
      </p:sp>
      <p:sp>
        <p:nvSpPr>
          <p:cNvPr id="8" name="Shape 6"/>
          <p:cNvSpPr/>
          <p:nvPr/>
        </p:nvSpPr>
        <p:spPr>
          <a:xfrm>
            <a:off x="731520" y="2103120"/>
            <a:ext cx="1783080" cy="822960"/>
          </a:xfrm>
          <a:prstGeom prst="roundRect">
            <a:avLst>
              <a:gd name="adj" fmla="val 8889"/>
            </a:avLst>
          </a:prstGeom>
          <a:solidFill>
            <a:srgbClr val="F5F5F8"/>
          </a:solidFill>
          <a:ln w="12700">
            <a:solidFill>
              <a:srgbClr val="F5F5F8"/>
            </a:solidFill>
            <a:prstDash val="solid"/>
          </a:ln>
        </p:spPr>
      </p:sp>
      <p:sp>
        <p:nvSpPr>
          <p:cNvPr id="9" name="Text 7"/>
          <p:cNvSpPr/>
          <p:nvPr/>
        </p:nvSpPr>
        <p:spPr>
          <a:xfrm>
            <a:off x="731520" y="2103120"/>
            <a:ext cx="1783080" cy="822960"/>
          </a:xfrm>
          <a:prstGeom prst="rect">
            <a:avLst/>
          </a:prstGeom>
          <a:noFill/>
          <a:ln/>
        </p:spPr>
        <p:txBody>
          <a:bodyPr wrap="square" lIns="0" tIns="0" rIns="0" bIns="0" rtlCol="0" anchor="ctr"/>
          <a:lstStyle/>
          <a:p>
            <a:pPr algn="ctr" indent="0" marL="0">
              <a:buNone/>
            </a:pPr>
            <a:r>
              <a:rPr lang="en-US" sz="2000" b="1" dirty="0">
                <a:solidFill>
                  <a:srgbClr val="1A1A2E"/>
                </a:solidFill>
              </a:rPr>
              <a:t>ten</a:t>
            </a:r>
            <a:endParaRPr lang="en-US" sz="2000" dirty="0"/>
          </a:p>
        </p:txBody>
      </p:sp>
      <p:sp>
        <p:nvSpPr>
          <p:cNvPr id="10" name="Shape 8"/>
          <p:cNvSpPr/>
          <p:nvPr/>
        </p:nvSpPr>
        <p:spPr>
          <a:xfrm>
            <a:off x="2606040" y="2103120"/>
            <a:ext cx="1783080" cy="822960"/>
          </a:xfrm>
          <a:prstGeom prst="roundRect">
            <a:avLst>
              <a:gd name="adj" fmla="val 8889"/>
            </a:avLst>
          </a:prstGeom>
          <a:solidFill>
            <a:srgbClr val="F5F5F8"/>
          </a:solidFill>
          <a:ln w="12700">
            <a:solidFill>
              <a:srgbClr val="F5F5F8"/>
            </a:solidFill>
            <a:prstDash val="solid"/>
          </a:ln>
        </p:spPr>
      </p:sp>
      <p:sp>
        <p:nvSpPr>
          <p:cNvPr id="11" name="Text 9"/>
          <p:cNvSpPr/>
          <p:nvPr/>
        </p:nvSpPr>
        <p:spPr>
          <a:xfrm>
            <a:off x="2606040" y="2103120"/>
            <a:ext cx="1783080" cy="822960"/>
          </a:xfrm>
          <a:prstGeom prst="rect">
            <a:avLst/>
          </a:prstGeom>
          <a:noFill/>
          <a:ln/>
        </p:spPr>
        <p:txBody>
          <a:bodyPr wrap="square" lIns="0" tIns="0" rIns="0" bIns="0" rtlCol="0" anchor="ctr"/>
          <a:lstStyle/>
          <a:p>
            <a:pPr algn="ctr" indent="0" marL="0">
              <a:buNone/>
            </a:pPr>
            <a:r>
              <a:rPr lang="en-US" sz="2000" b="1" dirty="0">
                <a:solidFill>
                  <a:srgbClr val="1A1A2E"/>
                </a:solidFill>
              </a:rPr>
              <a:t>two</a:t>
            </a:r>
            <a:endParaRPr lang="en-US" sz="2000" dirty="0"/>
          </a:p>
        </p:txBody>
      </p:sp>
      <p:sp>
        <p:nvSpPr>
          <p:cNvPr id="12" name="Shape 10"/>
          <p:cNvSpPr/>
          <p:nvPr/>
        </p:nvSpPr>
        <p:spPr>
          <a:xfrm>
            <a:off x="4480560" y="2103120"/>
            <a:ext cx="1783080" cy="822960"/>
          </a:xfrm>
          <a:prstGeom prst="roundRect">
            <a:avLst>
              <a:gd name="adj" fmla="val 8889"/>
            </a:avLst>
          </a:prstGeom>
          <a:solidFill>
            <a:srgbClr val="F5F5F8"/>
          </a:solidFill>
          <a:ln w="12700">
            <a:solidFill>
              <a:srgbClr val="F5F5F8"/>
            </a:solidFill>
            <a:prstDash val="solid"/>
          </a:ln>
        </p:spPr>
      </p:sp>
      <p:sp>
        <p:nvSpPr>
          <p:cNvPr id="13" name="Text 11"/>
          <p:cNvSpPr/>
          <p:nvPr/>
        </p:nvSpPr>
        <p:spPr>
          <a:xfrm>
            <a:off x="4480560" y="2103120"/>
            <a:ext cx="1783080" cy="822960"/>
          </a:xfrm>
          <a:prstGeom prst="rect">
            <a:avLst/>
          </a:prstGeom>
          <a:noFill/>
          <a:ln/>
        </p:spPr>
        <p:txBody>
          <a:bodyPr wrap="square" lIns="0" tIns="0" rIns="0" bIns="0" rtlCol="0" anchor="ctr"/>
          <a:lstStyle/>
          <a:p>
            <a:pPr algn="ctr" indent="0" marL="0">
              <a:buNone/>
            </a:pPr>
            <a:r>
              <a:rPr lang="en-US" sz="2000" b="1" dirty="0">
                <a:solidFill>
                  <a:srgbClr val="1A1A2E"/>
                </a:solidFill>
              </a:rPr>
              <a:t>eighteen</a:t>
            </a:r>
            <a:endParaRPr lang="en-US" sz="2000" dirty="0"/>
          </a:p>
        </p:txBody>
      </p:sp>
      <p:sp>
        <p:nvSpPr>
          <p:cNvPr id="14" name="Shape 12"/>
          <p:cNvSpPr/>
          <p:nvPr/>
        </p:nvSpPr>
        <p:spPr>
          <a:xfrm>
            <a:off x="6355080" y="2103120"/>
            <a:ext cx="1783080" cy="822960"/>
          </a:xfrm>
          <a:prstGeom prst="roundRect">
            <a:avLst>
              <a:gd name="adj" fmla="val 8889"/>
            </a:avLst>
          </a:prstGeom>
          <a:solidFill>
            <a:srgbClr val="F5F5F8"/>
          </a:solidFill>
          <a:ln w="12700">
            <a:solidFill>
              <a:srgbClr val="F5F5F8"/>
            </a:solidFill>
            <a:prstDash val="solid"/>
          </a:ln>
        </p:spPr>
      </p:sp>
      <p:sp>
        <p:nvSpPr>
          <p:cNvPr id="15" name="Text 13"/>
          <p:cNvSpPr/>
          <p:nvPr/>
        </p:nvSpPr>
        <p:spPr>
          <a:xfrm>
            <a:off x="6355080" y="2103120"/>
            <a:ext cx="1783080" cy="822960"/>
          </a:xfrm>
          <a:prstGeom prst="rect">
            <a:avLst/>
          </a:prstGeom>
          <a:noFill/>
          <a:ln/>
        </p:spPr>
        <p:txBody>
          <a:bodyPr wrap="square" lIns="0" tIns="0" rIns="0" bIns="0" rtlCol="0" anchor="ctr"/>
          <a:lstStyle/>
          <a:p>
            <a:pPr algn="ctr" indent="0" marL="0">
              <a:buNone/>
            </a:pPr>
            <a:r>
              <a:rPr lang="en-US" sz="2000" b="1" dirty="0">
                <a:solidFill>
                  <a:srgbClr val="1A1A2E"/>
                </a:solidFill>
              </a:rPr>
              <a:t>eleven</a:t>
            </a:r>
            <a:endParaRPr lang="en-US" sz="2000" dirty="0"/>
          </a:p>
        </p:txBody>
      </p:sp>
      <p:sp>
        <p:nvSpPr>
          <p:cNvPr id="16" name="Shape 14"/>
          <p:cNvSpPr/>
          <p:nvPr/>
        </p:nvSpPr>
        <p:spPr>
          <a:xfrm>
            <a:off x="1371600" y="4206240"/>
            <a:ext cx="6400800" cy="438912"/>
          </a:xfrm>
          <a:prstGeom prst="roundRect">
            <a:avLst>
              <a:gd name="adj" fmla="val 12500"/>
            </a:avLst>
          </a:prstGeom>
          <a:solidFill>
            <a:srgbClr val="464EB8"/>
          </a:solidFill>
          <a:ln w="12700">
            <a:solidFill>
              <a:srgbClr val="464EB8"/>
            </a:solidFill>
            <a:prstDash val="solid"/>
          </a:ln>
        </p:spPr>
      </p:sp>
      <p:sp>
        <p:nvSpPr>
          <p:cNvPr id="17" name="Text 15"/>
          <p:cNvSpPr/>
          <p:nvPr/>
        </p:nvSpPr>
        <p:spPr>
          <a:xfrm>
            <a:off x="1371600" y="4206240"/>
            <a:ext cx="64008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answer</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Exit Check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Mastery · 3 min</a:t>
            </a:r>
            <a:endParaRPr lang="en-US" sz="1100" dirty="0"/>
          </a:p>
        </p:txBody>
      </p:sp>
      <p:sp>
        <p:nvSpPr>
          <p:cNvPr id="5" name="Shape 3"/>
          <p:cNvSpPr/>
          <p:nvPr/>
        </p:nvSpPr>
        <p:spPr>
          <a:xfrm>
            <a:off x="0" y="777240"/>
            <a:ext cx="9144000" cy="4366260"/>
          </a:xfrm>
          <a:prstGeom prst="rect">
            <a:avLst/>
          </a:prstGeom>
          <a:solidFill>
            <a:srgbClr val="1B2A4A"/>
          </a:solidFill>
          <a:ln w="12700">
            <a:solidFill>
              <a:srgbClr val="1B2A4A"/>
            </a:solidFill>
            <a:prstDash val="solid"/>
          </a:ln>
        </p:spPr>
      </p:sp>
      <p:sp>
        <p:nvSpPr>
          <p:cNvPr id="6" name="Shape 4"/>
          <p:cNvSpPr/>
          <p:nvPr/>
        </p:nvSpPr>
        <p:spPr>
          <a:xfrm>
            <a:off x="731520" y="960120"/>
            <a:ext cx="7680960" cy="1097280"/>
          </a:xfrm>
          <a:prstGeom prst="roundRect">
            <a:avLst>
              <a:gd name="adj" fmla="val 8333"/>
            </a:avLst>
          </a:prstGeom>
          <a:solidFill>
            <a:srgbClr val="FFFFFF"/>
          </a:solidFill>
          <a:ln w="6350">
            <a:solidFill>
              <a:srgbClr val="DDDDEE"/>
            </a:solidFill>
            <a:prstDash val="solid"/>
          </a:ln>
        </p:spPr>
      </p:sp>
      <p:sp>
        <p:nvSpPr>
          <p:cNvPr id="7" name="Text 5"/>
          <p:cNvSpPr/>
          <p:nvPr/>
        </p:nvSpPr>
        <p:spPr>
          <a:xfrm>
            <a:off x="914400" y="1051560"/>
            <a:ext cx="7315200" cy="914400"/>
          </a:xfrm>
          <a:prstGeom prst="rect">
            <a:avLst/>
          </a:prstGeom>
          <a:noFill/>
          <a:ln/>
        </p:spPr>
        <p:txBody>
          <a:bodyPr wrap="square" lIns="0" tIns="0" rIns="0" bIns="0" rtlCol="0" anchor="ctr"/>
          <a:lstStyle/>
          <a:p>
            <a:pPr indent="0" marL="0">
              <a:buNone/>
            </a:pPr>
            <a:r>
              <a:rPr lang="en-US" sz="2000" b="1" dirty="0">
                <a:solidFill>
                  <a:srgbClr val="1A1A2E"/>
                </a:solidFill>
                <a:latin typeface="Cambria" pitchFamily="34" charset="0"/>
                <a:ea typeface="Cambria" pitchFamily="34" charset="-122"/>
                <a:cs typeface="Cambria" pitchFamily="34" charset="-120"/>
              </a:rPr>
              <a:t>What is six divided by three fifths?</a:t>
            </a:r>
            <a:endParaRPr lang="en-US" sz="2000" dirty="0"/>
          </a:p>
        </p:txBody>
      </p:sp>
      <p:sp>
        <p:nvSpPr>
          <p:cNvPr id="8" name="Shape 6"/>
          <p:cNvSpPr/>
          <p:nvPr/>
        </p:nvSpPr>
        <p:spPr>
          <a:xfrm>
            <a:off x="731520" y="2103120"/>
            <a:ext cx="1783080" cy="822960"/>
          </a:xfrm>
          <a:prstGeom prst="roundRect">
            <a:avLst>
              <a:gd name="adj" fmla="val 8889"/>
            </a:avLst>
          </a:prstGeom>
          <a:solidFill>
            <a:srgbClr val="2E6E44"/>
          </a:solidFill>
          <a:ln w="12700">
            <a:solidFill>
              <a:srgbClr val="2E6E44"/>
            </a:solidFill>
            <a:prstDash val="solid"/>
          </a:ln>
        </p:spPr>
      </p:sp>
      <p:sp>
        <p:nvSpPr>
          <p:cNvPr id="9" name="Text 7"/>
          <p:cNvSpPr/>
          <p:nvPr/>
        </p:nvSpPr>
        <p:spPr>
          <a:xfrm>
            <a:off x="731520" y="2103120"/>
            <a:ext cx="1783080" cy="822960"/>
          </a:xfrm>
          <a:prstGeom prst="rect">
            <a:avLst/>
          </a:prstGeom>
          <a:noFill/>
          <a:ln/>
        </p:spPr>
        <p:txBody>
          <a:bodyPr wrap="square" lIns="0" tIns="0" rIns="0" bIns="0" rtlCol="0" anchor="ctr"/>
          <a:lstStyle/>
          <a:p>
            <a:pPr algn="ctr" indent="0" marL="0">
              <a:buNone/>
            </a:pPr>
            <a:r>
              <a:rPr lang="en-US" sz="2000" b="1" dirty="0">
                <a:solidFill>
                  <a:srgbClr val="FFFFFF"/>
                </a:solidFill>
              </a:rPr>
              <a:t>ten</a:t>
            </a:r>
            <a:endParaRPr lang="en-US" sz="2000" dirty="0"/>
          </a:p>
        </p:txBody>
      </p:sp>
      <p:sp>
        <p:nvSpPr>
          <p:cNvPr id="10" name="Shape 8"/>
          <p:cNvSpPr/>
          <p:nvPr/>
        </p:nvSpPr>
        <p:spPr>
          <a:xfrm>
            <a:off x="2606040" y="2103120"/>
            <a:ext cx="1783080" cy="822960"/>
          </a:xfrm>
          <a:prstGeom prst="roundRect">
            <a:avLst>
              <a:gd name="adj" fmla="val 8889"/>
            </a:avLst>
          </a:prstGeom>
          <a:solidFill>
            <a:srgbClr val="F5F5F8"/>
          </a:solidFill>
          <a:ln w="12700">
            <a:solidFill>
              <a:srgbClr val="F5F5F8"/>
            </a:solidFill>
            <a:prstDash val="solid"/>
          </a:ln>
        </p:spPr>
      </p:sp>
      <p:sp>
        <p:nvSpPr>
          <p:cNvPr id="11" name="Text 9"/>
          <p:cNvSpPr/>
          <p:nvPr/>
        </p:nvSpPr>
        <p:spPr>
          <a:xfrm>
            <a:off x="2606040" y="2103120"/>
            <a:ext cx="1783080" cy="822960"/>
          </a:xfrm>
          <a:prstGeom prst="rect">
            <a:avLst/>
          </a:prstGeom>
          <a:noFill/>
          <a:ln/>
        </p:spPr>
        <p:txBody>
          <a:bodyPr wrap="square" lIns="0" tIns="0" rIns="0" bIns="0" rtlCol="0" anchor="ctr"/>
          <a:lstStyle/>
          <a:p>
            <a:pPr algn="ctr" indent="0" marL="0">
              <a:buNone/>
            </a:pPr>
            <a:r>
              <a:rPr lang="en-US" sz="2000" b="1" dirty="0">
                <a:solidFill>
                  <a:srgbClr val="1A1A2E"/>
                </a:solidFill>
              </a:rPr>
              <a:t>two</a:t>
            </a:r>
            <a:endParaRPr lang="en-US" sz="2000" dirty="0"/>
          </a:p>
        </p:txBody>
      </p:sp>
      <p:sp>
        <p:nvSpPr>
          <p:cNvPr id="12" name="Shape 10"/>
          <p:cNvSpPr/>
          <p:nvPr/>
        </p:nvSpPr>
        <p:spPr>
          <a:xfrm>
            <a:off x="4480560" y="2103120"/>
            <a:ext cx="1783080" cy="822960"/>
          </a:xfrm>
          <a:prstGeom prst="roundRect">
            <a:avLst>
              <a:gd name="adj" fmla="val 8889"/>
            </a:avLst>
          </a:prstGeom>
          <a:solidFill>
            <a:srgbClr val="F5F5F8"/>
          </a:solidFill>
          <a:ln w="12700">
            <a:solidFill>
              <a:srgbClr val="F5F5F8"/>
            </a:solidFill>
            <a:prstDash val="solid"/>
          </a:ln>
        </p:spPr>
      </p:sp>
      <p:sp>
        <p:nvSpPr>
          <p:cNvPr id="13" name="Text 11"/>
          <p:cNvSpPr/>
          <p:nvPr/>
        </p:nvSpPr>
        <p:spPr>
          <a:xfrm>
            <a:off x="4480560" y="2103120"/>
            <a:ext cx="1783080" cy="822960"/>
          </a:xfrm>
          <a:prstGeom prst="rect">
            <a:avLst/>
          </a:prstGeom>
          <a:noFill/>
          <a:ln/>
        </p:spPr>
        <p:txBody>
          <a:bodyPr wrap="square" lIns="0" tIns="0" rIns="0" bIns="0" rtlCol="0" anchor="ctr"/>
          <a:lstStyle/>
          <a:p>
            <a:pPr algn="ctr" indent="0" marL="0">
              <a:buNone/>
            </a:pPr>
            <a:r>
              <a:rPr lang="en-US" sz="2000" b="1" dirty="0">
                <a:solidFill>
                  <a:srgbClr val="1A1A2E"/>
                </a:solidFill>
              </a:rPr>
              <a:t>eighteen</a:t>
            </a:r>
            <a:endParaRPr lang="en-US" sz="2000" dirty="0"/>
          </a:p>
        </p:txBody>
      </p:sp>
      <p:sp>
        <p:nvSpPr>
          <p:cNvPr id="14" name="Shape 12"/>
          <p:cNvSpPr/>
          <p:nvPr/>
        </p:nvSpPr>
        <p:spPr>
          <a:xfrm>
            <a:off x="6355080" y="2103120"/>
            <a:ext cx="1783080" cy="822960"/>
          </a:xfrm>
          <a:prstGeom prst="roundRect">
            <a:avLst>
              <a:gd name="adj" fmla="val 8889"/>
            </a:avLst>
          </a:prstGeom>
          <a:solidFill>
            <a:srgbClr val="F5F5F8"/>
          </a:solidFill>
          <a:ln w="12700">
            <a:solidFill>
              <a:srgbClr val="F5F5F8"/>
            </a:solidFill>
            <a:prstDash val="solid"/>
          </a:ln>
        </p:spPr>
      </p:sp>
      <p:sp>
        <p:nvSpPr>
          <p:cNvPr id="15" name="Text 13"/>
          <p:cNvSpPr/>
          <p:nvPr/>
        </p:nvSpPr>
        <p:spPr>
          <a:xfrm>
            <a:off x="6355080" y="2103120"/>
            <a:ext cx="1783080" cy="822960"/>
          </a:xfrm>
          <a:prstGeom prst="rect">
            <a:avLst/>
          </a:prstGeom>
          <a:noFill/>
          <a:ln/>
        </p:spPr>
        <p:txBody>
          <a:bodyPr wrap="square" lIns="0" tIns="0" rIns="0" bIns="0" rtlCol="0" anchor="ctr"/>
          <a:lstStyle/>
          <a:p>
            <a:pPr algn="ctr" indent="0" marL="0">
              <a:buNone/>
            </a:pPr>
            <a:r>
              <a:rPr lang="en-US" sz="2000" b="1" dirty="0">
                <a:solidFill>
                  <a:srgbClr val="1A1A2E"/>
                </a:solidFill>
              </a:rPr>
              <a:t>eleven</a:t>
            </a:r>
            <a:endParaRPr lang="en-US" sz="2000" dirty="0"/>
          </a:p>
        </p:txBody>
      </p:sp>
      <p:sp>
        <p:nvSpPr>
          <p:cNvPr id="16" name="Text 14"/>
          <p:cNvSpPr/>
          <p:nvPr/>
        </p:nvSpPr>
        <p:spPr>
          <a:xfrm>
            <a:off x="914400" y="4773168"/>
            <a:ext cx="7315200" cy="365760"/>
          </a:xfrm>
          <a:prstGeom prst="rect">
            <a:avLst/>
          </a:prstGeom>
          <a:noFill/>
          <a:ln/>
        </p:spPr>
        <p:txBody>
          <a:bodyPr wrap="square" lIns="0" tIns="0" rIns="0" bIns="0" rtlCol="0" anchor="ctr"/>
          <a:lstStyle/>
          <a:p>
            <a:pPr algn="ctr" indent="0" marL="0">
              <a:buNone/>
            </a:pPr>
            <a:r>
              <a:rPr lang="en-US" sz="1200" dirty="0">
                <a:solidFill>
                  <a:srgbClr val="5A5A7A"/>
                </a:solidFill>
              </a:rPr>
              <a:t>Multiply by the reciprocal: 6 × five thirds = thirty thirds = ten.</a:t>
            </a:r>
            <a:endParaRPr lang="en-US" sz="1200" dirty="0"/>
          </a:p>
        </p:txBody>
      </p:sp>
      <p:sp>
        <p:nvSpPr>
          <p:cNvPr id="17" name="Shape 15"/>
          <p:cNvSpPr/>
          <p:nvPr/>
        </p:nvSpPr>
        <p:spPr>
          <a:xfrm>
            <a:off x="1371600" y="4206240"/>
            <a:ext cx="6400800" cy="438912"/>
          </a:xfrm>
          <a:prstGeom prst="roundRect">
            <a:avLst>
              <a:gd name="adj" fmla="val 12500"/>
            </a:avLst>
          </a:prstGeom>
          <a:solidFill>
            <a:srgbClr val="464EB8"/>
          </a:solidFill>
          <a:ln w="12700">
            <a:solidFill>
              <a:srgbClr val="464EB8"/>
            </a:solidFill>
            <a:prstDash val="solid"/>
          </a:ln>
        </p:spPr>
      </p:sp>
      <p:sp>
        <p:nvSpPr>
          <p:cNvPr id="18" name="Text 16"/>
          <p:cNvSpPr/>
          <p:nvPr/>
        </p:nvSpPr>
        <p:spPr>
          <a:xfrm>
            <a:off x="1371600" y="4206240"/>
            <a:ext cx="64008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answer</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Math Crew — What Do They Think?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Student Perspectives</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228600" y="914400"/>
            <a:ext cx="4160520" cy="1554480"/>
          </a:xfrm>
          <a:prstGeom prst="roundRect">
            <a:avLst>
              <a:gd name="adj" fmla="val 5882"/>
            </a:avLst>
          </a:prstGeom>
          <a:solidFill>
            <a:srgbClr val="EAE8F5"/>
          </a:solidFill>
          <a:ln w="6350">
            <a:solidFill>
              <a:srgbClr val="DDDDEE"/>
            </a:solidFill>
            <a:prstDash val="solid"/>
          </a:ln>
        </p:spPr>
      </p:sp>
      <p:sp>
        <p:nvSpPr>
          <p:cNvPr id="7" name="Text 5"/>
          <p:cNvSpPr/>
          <p:nvPr/>
        </p:nvSpPr>
        <p:spPr>
          <a:xfrm>
            <a:off x="365760" y="1005840"/>
            <a:ext cx="3886200" cy="320040"/>
          </a:xfrm>
          <a:prstGeom prst="rect">
            <a:avLst/>
          </a:prstGeom>
          <a:noFill/>
          <a:ln/>
        </p:spPr>
        <p:txBody>
          <a:bodyPr wrap="square" lIns="0" tIns="0" rIns="0" bIns="0" rtlCol="0" anchor="ctr"/>
          <a:lstStyle/>
          <a:p>
            <a:pPr indent="0" marL="0">
              <a:buNone/>
            </a:pPr>
            <a:r>
              <a:rPr lang="en-US" sz="1400" b="1" dirty="0">
                <a:solidFill>
                  <a:srgbClr val="4A3D8F"/>
                </a:solidFill>
              </a:rPr>
              <a:t>Atlas</a:t>
            </a:r>
            <a:endParaRPr lang="en-US" sz="1400" dirty="0"/>
          </a:p>
        </p:txBody>
      </p:sp>
      <p:sp>
        <p:nvSpPr>
          <p:cNvPr id="8" name="Text 6"/>
          <p:cNvSpPr/>
          <p:nvPr/>
        </p:nvSpPr>
        <p:spPr>
          <a:xfrm>
            <a:off x="365760" y="1325880"/>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pattern-spotter</a:t>
            </a:r>
            <a:endParaRPr lang="en-US" sz="900" dirty="0"/>
          </a:p>
        </p:txBody>
      </p:sp>
      <p:sp>
        <p:nvSpPr>
          <p:cNvPr id="9" name="Shape 7"/>
          <p:cNvSpPr/>
          <p:nvPr/>
        </p:nvSpPr>
        <p:spPr>
          <a:xfrm>
            <a:off x="365760" y="1572768"/>
            <a:ext cx="3886200" cy="0"/>
          </a:xfrm>
          <a:prstGeom prst="line">
            <a:avLst/>
          </a:prstGeom>
          <a:noFill/>
          <a:ln w="6350">
            <a:solidFill>
              <a:srgbClr val="CCCCCC"/>
            </a:solidFill>
            <a:prstDash val="solid"/>
          </a:ln>
        </p:spPr>
      </p:sp>
      <p:sp>
        <p:nvSpPr>
          <p:cNvPr id="10" name="Text 8"/>
          <p:cNvSpPr/>
          <p:nvPr/>
        </p:nvSpPr>
        <p:spPr>
          <a:xfrm>
            <a:off x="365760" y="1645920"/>
            <a:ext cx="3886200" cy="731520"/>
          </a:xfrm>
          <a:prstGeom prst="rect">
            <a:avLst/>
          </a:prstGeom>
          <a:noFill/>
          <a:ln/>
        </p:spPr>
        <p:txBody>
          <a:bodyPr wrap="square" lIns="0" tIns="0" rIns="0" bIns="0" rtlCol="0" anchor="ctr"/>
          <a:lstStyle/>
          <a:p>
            <a:pPr indent="0" marL="0">
              <a:buNone/>
            </a:pPr>
            <a:r>
              <a:rPr lang="en-US" sz="1000" dirty="0">
                <a:solidFill>
                  <a:srgbClr val="1A1A2E"/>
                </a:solidFill>
              </a:rPr>
              <a:t>I noticed that when the divisor is a fraction smaller than one whole, the quotient always ends up bigger than the number we started with — the smaller the fraction pieces, the more of them fit inside.</a:t>
            </a:r>
            <a:endParaRPr lang="en-US" sz="1000" dirty="0"/>
          </a:p>
        </p:txBody>
      </p:sp>
      <p:sp>
        <p:nvSpPr>
          <p:cNvPr id="11" name="Shape 9"/>
          <p:cNvSpPr/>
          <p:nvPr/>
        </p:nvSpPr>
        <p:spPr>
          <a:xfrm>
            <a:off x="4709160" y="914400"/>
            <a:ext cx="4160520" cy="1554480"/>
          </a:xfrm>
          <a:prstGeom prst="roundRect">
            <a:avLst>
              <a:gd name="adj" fmla="val 5882"/>
            </a:avLst>
          </a:prstGeom>
          <a:solidFill>
            <a:srgbClr val="E6F2EA"/>
          </a:solidFill>
          <a:ln w="6350">
            <a:solidFill>
              <a:srgbClr val="DDDDEE"/>
            </a:solidFill>
            <a:prstDash val="solid"/>
          </a:ln>
        </p:spPr>
      </p:sp>
      <p:sp>
        <p:nvSpPr>
          <p:cNvPr id="12" name="Text 10"/>
          <p:cNvSpPr/>
          <p:nvPr/>
        </p:nvSpPr>
        <p:spPr>
          <a:xfrm>
            <a:off x="4846320" y="1005840"/>
            <a:ext cx="3886200" cy="320040"/>
          </a:xfrm>
          <a:prstGeom prst="rect">
            <a:avLst/>
          </a:prstGeom>
          <a:noFill/>
          <a:ln/>
        </p:spPr>
        <p:txBody>
          <a:bodyPr wrap="square" lIns="0" tIns="0" rIns="0" bIns="0" rtlCol="0" anchor="ctr"/>
          <a:lstStyle/>
          <a:p>
            <a:pPr indent="0" marL="0">
              <a:buNone/>
            </a:pPr>
            <a:r>
              <a:rPr lang="en-US" sz="1400" b="1" dirty="0">
                <a:solidFill>
                  <a:srgbClr val="2E6E44"/>
                </a:solidFill>
              </a:rPr>
              <a:t>Felix</a:t>
            </a:r>
            <a:endParaRPr lang="en-US" sz="1400" dirty="0"/>
          </a:p>
        </p:txBody>
      </p:sp>
      <p:sp>
        <p:nvSpPr>
          <p:cNvPr id="13" name="Text 11"/>
          <p:cNvSpPr/>
          <p:nvPr/>
        </p:nvSpPr>
        <p:spPr>
          <a:xfrm>
            <a:off x="4846320" y="1325880"/>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method-tester</a:t>
            </a:r>
            <a:endParaRPr lang="en-US" sz="900" dirty="0"/>
          </a:p>
        </p:txBody>
      </p:sp>
      <p:sp>
        <p:nvSpPr>
          <p:cNvPr id="14" name="Shape 12"/>
          <p:cNvSpPr/>
          <p:nvPr/>
        </p:nvSpPr>
        <p:spPr>
          <a:xfrm>
            <a:off x="4846320" y="1572768"/>
            <a:ext cx="3886200" cy="0"/>
          </a:xfrm>
          <a:prstGeom prst="line">
            <a:avLst/>
          </a:prstGeom>
          <a:noFill/>
          <a:ln w="6350">
            <a:solidFill>
              <a:srgbClr val="CCCCCC"/>
            </a:solidFill>
            <a:prstDash val="solid"/>
          </a:ln>
        </p:spPr>
      </p:sp>
      <p:sp>
        <p:nvSpPr>
          <p:cNvPr id="15" name="Text 13"/>
          <p:cNvSpPr/>
          <p:nvPr/>
        </p:nvSpPr>
        <p:spPr>
          <a:xfrm>
            <a:off x="4846320" y="1645920"/>
            <a:ext cx="3886200" cy="731520"/>
          </a:xfrm>
          <a:prstGeom prst="rect">
            <a:avLst/>
          </a:prstGeom>
          <a:noFill/>
          <a:ln/>
        </p:spPr>
        <p:txBody>
          <a:bodyPr wrap="square" lIns="0" tIns="0" rIns="0" bIns="0" rtlCol="0" anchor="ctr"/>
          <a:lstStyle/>
          <a:p>
            <a:pPr indent="0" marL="0">
              <a:buNone/>
            </a:pPr>
            <a:r>
              <a:rPr lang="en-US" sz="1000" dirty="0">
                <a:solidFill>
                  <a:srgbClr val="1A1A2E"/>
                </a:solidFill>
              </a:rPr>
              <a:t>I check my answer by multiplying the quotient back by the original fraction divisor. Ten times three fifths should rebuild six — and it did.</a:t>
            </a:r>
            <a:endParaRPr lang="en-US" sz="1000" dirty="0"/>
          </a:p>
        </p:txBody>
      </p:sp>
      <p:sp>
        <p:nvSpPr>
          <p:cNvPr id="16" name="Shape 14"/>
          <p:cNvSpPr/>
          <p:nvPr/>
        </p:nvSpPr>
        <p:spPr>
          <a:xfrm>
            <a:off x="228600" y="2578608"/>
            <a:ext cx="4160520" cy="1554480"/>
          </a:xfrm>
          <a:prstGeom prst="roundRect">
            <a:avLst>
              <a:gd name="adj" fmla="val 5882"/>
            </a:avLst>
          </a:prstGeom>
          <a:solidFill>
            <a:srgbClr val="FEF6E4"/>
          </a:solidFill>
          <a:ln w="6350">
            <a:solidFill>
              <a:srgbClr val="DDDDEE"/>
            </a:solidFill>
            <a:prstDash val="solid"/>
          </a:ln>
        </p:spPr>
      </p:sp>
      <p:sp>
        <p:nvSpPr>
          <p:cNvPr id="17" name="Text 15"/>
          <p:cNvSpPr/>
          <p:nvPr/>
        </p:nvSpPr>
        <p:spPr>
          <a:xfrm>
            <a:off x="365760" y="2670048"/>
            <a:ext cx="3886200" cy="320040"/>
          </a:xfrm>
          <a:prstGeom prst="rect">
            <a:avLst/>
          </a:prstGeom>
          <a:noFill/>
          <a:ln/>
        </p:spPr>
        <p:txBody>
          <a:bodyPr wrap="square" lIns="0" tIns="0" rIns="0" bIns="0" rtlCol="0" anchor="ctr"/>
          <a:lstStyle/>
          <a:p>
            <a:pPr indent="0" marL="0">
              <a:buNone/>
            </a:pPr>
            <a:r>
              <a:rPr lang="en-US" sz="1400" b="1" dirty="0">
                <a:solidFill>
                  <a:srgbClr val="D9941A"/>
                </a:solidFill>
              </a:rPr>
              <a:t>Hazel</a:t>
            </a:r>
            <a:endParaRPr lang="en-US" sz="1400" dirty="0"/>
          </a:p>
        </p:txBody>
      </p:sp>
      <p:sp>
        <p:nvSpPr>
          <p:cNvPr id="18" name="Text 16"/>
          <p:cNvSpPr/>
          <p:nvPr/>
        </p:nvSpPr>
        <p:spPr>
          <a:xfrm>
            <a:off x="365760" y="2990088"/>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visual thinker</a:t>
            </a:r>
            <a:endParaRPr lang="en-US" sz="900" dirty="0"/>
          </a:p>
        </p:txBody>
      </p:sp>
      <p:sp>
        <p:nvSpPr>
          <p:cNvPr id="19" name="Shape 17"/>
          <p:cNvSpPr/>
          <p:nvPr/>
        </p:nvSpPr>
        <p:spPr>
          <a:xfrm>
            <a:off x="365760" y="3236976"/>
            <a:ext cx="3886200" cy="0"/>
          </a:xfrm>
          <a:prstGeom prst="line">
            <a:avLst/>
          </a:prstGeom>
          <a:noFill/>
          <a:ln w="6350">
            <a:solidFill>
              <a:srgbClr val="CCCCCC"/>
            </a:solidFill>
            <a:prstDash val="solid"/>
          </a:ln>
        </p:spPr>
      </p:sp>
      <p:sp>
        <p:nvSpPr>
          <p:cNvPr id="20" name="Text 18"/>
          <p:cNvSpPr/>
          <p:nvPr/>
        </p:nvSpPr>
        <p:spPr>
          <a:xfrm>
            <a:off x="365760" y="3310128"/>
            <a:ext cx="3886200" cy="731520"/>
          </a:xfrm>
          <a:prstGeom prst="rect">
            <a:avLst/>
          </a:prstGeom>
          <a:noFill/>
          <a:ln/>
        </p:spPr>
        <p:txBody>
          <a:bodyPr wrap="square" lIns="0" tIns="0" rIns="0" bIns="0" rtlCol="0" anchor="ctr"/>
          <a:lstStyle/>
          <a:p>
            <a:pPr indent="0" marL="0">
              <a:buNone/>
            </a:pPr>
            <a:r>
              <a:rPr lang="en-US" sz="1000" dirty="0">
                <a:solidFill>
                  <a:srgbClr val="1A1A2E"/>
                </a:solidFill>
              </a:rPr>
              <a:t>I picture the wholes cut into equal pieces and then banded together in groups the size of the numerator. If the numerator is 2, I band every 2 pieces; if it's 3, I band every 3 — then I just count the bands.</a:t>
            </a:r>
            <a:endParaRPr lang="en-US" sz="1000" dirty="0"/>
          </a:p>
        </p:txBody>
      </p:sp>
      <p:sp>
        <p:nvSpPr>
          <p:cNvPr id="21" name="Shape 19"/>
          <p:cNvSpPr/>
          <p:nvPr/>
        </p:nvSpPr>
        <p:spPr>
          <a:xfrm>
            <a:off x="4709160" y="2578608"/>
            <a:ext cx="4160520" cy="1554480"/>
          </a:xfrm>
          <a:prstGeom prst="roundRect">
            <a:avLst>
              <a:gd name="adj" fmla="val 5882"/>
            </a:avLst>
          </a:prstGeom>
          <a:solidFill>
            <a:srgbClr val="FEF0E6"/>
          </a:solidFill>
          <a:ln w="6350">
            <a:solidFill>
              <a:srgbClr val="DDDDEE"/>
            </a:solidFill>
            <a:prstDash val="solid"/>
          </a:ln>
        </p:spPr>
      </p:sp>
      <p:sp>
        <p:nvSpPr>
          <p:cNvPr id="22" name="Text 20"/>
          <p:cNvSpPr/>
          <p:nvPr/>
        </p:nvSpPr>
        <p:spPr>
          <a:xfrm>
            <a:off x="4846320" y="2670048"/>
            <a:ext cx="3886200" cy="320040"/>
          </a:xfrm>
          <a:prstGeom prst="rect">
            <a:avLst/>
          </a:prstGeom>
          <a:noFill/>
          <a:ln/>
        </p:spPr>
        <p:txBody>
          <a:bodyPr wrap="square" lIns="0" tIns="0" rIns="0" bIns="0" rtlCol="0" anchor="ctr"/>
          <a:lstStyle/>
          <a:p>
            <a:pPr indent="0" marL="0">
              <a:buNone/>
            </a:pPr>
            <a:r>
              <a:rPr lang="en-US" sz="1400" b="1" dirty="0">
                <a:solidFill>
                  <a:srgbClr val="C05818"/>
                </a:solidFill>
              </a:rPr>
              <a:t>Cora</a:t>
            </a:r>
            <a:endParaRPr lang="en-US" sz="1400" dirty="0"/>
          </a:p>
        </p:txBody>
      </p:sp>
      <p:sp>
        <p:nvSpPr>
          <p:cNvPr id="23" name="Text 21"/>
          <p:cNvSpPr/>
          <p:nvPr/>
        </p:nvSpPr>
        <p:spPr>
          <a:xfrm>
            <a:off x="4846320" y="2990088"/>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precise explainer</a:t>
            </a:r>
            <a:endParaRPr lang="en-US" sz="900" dirty="0"/>
          </a:p>
        </p:txBody>
      </p:sp>
      <p:sp>
        <p:nvSpPr>
          <p:cNvPr id="24" name="Shape 22"/>
          <p:cNvSpPr/>
          <p:nvPr/>
        </p:nvSpPr>
        <p:spPr>
          <a:xfrm>
            <a:off x="4846320" y="3236976"/>
            <a:ext cx="3886200" cy="0"/>
          </a:xfrm>
          <a:prstGeom prst="line">
            <a:avLst/>
          </a:prstGeom>
          <a:noFill/>
          <a:ln w="6350">
            <a:solidFill>
              <a:srgbClr val="CCCCCC"/>
            </a:solidFill>
            <a:prstDash val="solid"/>
          </a:ln>
        </p:spPr>
      </p:sp>
      <p:sp>
        <p:nvSpPr>
          <p:cNvPr id="25" name="Text 23"/>
          <p:cNvSpPr/>
          <p:nvPr/>
        </p:nvSpPr>
        <p:spPr>
          <a:xfrm>
            <a:off x="4846320" y="3310128"/>
            <a:ext cx="3886200" cy="731520"/>
          </a:xfrm>
          <a:prstGeom prst="rect">
            <a:avLst/>
          </a:prstGeom>
          <a:noFill/>
          <a:ln/>
        </p:spPr>
        <p:txBody>
          <a:bodyPr wrap="square" lIns="0" tIns="0" rIns="0" bIns="0" rtlCol="0" anchor="ctr"/>
          <a:lstStyle/>
          <a:p>
            <a:pPr indent="0" marL="0">
              <a:buNone/>
            </a:pPr>
            <a:r>
              <a:rPr lang="en-US" sz="1000" dirty="0">
                <a:solidFill>
                  <a:srgbClr val="1A1A2E"/>
                </a:solidFill>
              </a:rPr>
              <a:t>The precise way to say it: to divide a whole number by a fraction, multiply the whole number by the reciprocal of that fraction. If the pieces don't band evenly, the leftover pieces are a partial group, not a full one.</a:t>
            </a:r>
            <a:endParaRPr lang="en-US" sz="1000" dirty="0"/>
          </a:p>
        </p:txBody>
      </p:sp>
      <p:sp>
        <p:nvSpPr>
          <p:cNvPr id="26" name="Shape 24"/>
          <p:cNvSpPr/>
          <p:nvPr/>
        </p:nvSpPr>
        <p:spPr>
          <a:xfrm>
            <a:off x="914400" y="4315968"/>
            <a:ext cx="7315200" cy="438912"/>
          </a:xfrm>
          <a:prstGeom prst="roundRect">
            <a:avLst>
              <a:gd name="adj" fmla="val 12500"/>
            </a:avLst>
          </a:prstGeom>
          <a:solidFill>
            <a:srgbClr val="464EB8"/>
          </a:solidFill>
          <a:ln w="12700">
            <a:solidFill>
              <a:srgbClr val="464EB8"/>
            </a:solidFill>
            <a:prstDash val="solid"/>
          </a:ln>
        </p:spPr>
      </p:sp>
      <p:sp>
        <p:nvSpPr>
          <p:cNvPr id="27" name="Text 25"/>
          <p:cNvSpPr/>
          <p:nvPr/>
        </p:nvSpPr>
        <p:spPr>
          <a:xfrm>
            <a:off x="914400" y="4315968"/>
            <a:ext cx="73152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which crew member thinks most like you today?</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Before Next Class</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Dismissal</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8229600" cy="960120"/>
          </a:xfrm>
          <a:prstGeom prst="roundRect">
            <a:avLst>
              <a:gd name="adj" fmla="val 9524"/>
            </a:avLst>
          </a:prstGeom>
          <a:solidFill>
            <a:srgbClr val="EAE8F5"/>
          </a:solidFill>
          <a:ln w="6350">
            <a:solidFill>
              <a:srgbClr val="DDDDEE"/>
            </a:solidFill>
            <a:prstDash val="solid"/>
          </a:ln>
        </p:spPr>
      </p:sp>
      <p:sp>
        <p:nvSpPr>
          <p:cNvPr id="7" name="Text 5"/>
          <p:cNvSpPr/>
          <p:nvPr/>
        </p:nvSpPr>
        <p:spPr>
          <a:xfrm>
            <a:off x="685800" y="1024128"/>
            <a:ext cx="7772400" cy="804672"/>
          </a:xfrm>
          <a:prstGeom prst="rect">
            <a:avLst/>
          </a:prstGeom>
          <a:noFill/>
          <a:ln/>
        </p:spPr>
        <p:txBody>
          <a:bodyPr wrap="square" lIns="0" tIns="0" rIns="0" bIns="0" rtlCol="0" anchor="ctr"/>
          <a:lstStyle/>
          <a:p>
            <a:pPr indent="0" marL="0">
              <a:buNone/>
            </a:pPr>
            <a:r>
              <a:rPr lang="en-US" sz="1700" b="1" dirty="0">
                <a:solidFill>
                  <a:srgbClr val="4A3D8F"/>
                </a:solidFill>
              </a:rPr>
              <a:t>Complete before your next class:</a:t>
            </a:r>
            <a:endParaRPr lang="en-US" sz="1700" dirty="0"/>
          </a:p>
        </p:txBody>
      </p:sp>
      <p:sp>
        <p:nvSpPr>
          <p:cNvPr id="8" name="Shape 6"/>
          <p:cNvSpPr/>
          <p:nvPr/>
        </p:nvSpPr>
        <p:spPr>
          <a:xfrm>
            <a:off x="457200" y="2057400"/>
            <a:ext cx="8229600" cy="731520"/>
          </a:xfrm>
          <a:prstGeom prst="roundRect">
            <a:avLst>
              <a:gd name="adj" fmla="val 12500"/>
            </a:avLst>
          </a:prstGeom>
          <a:solidFill>
            <a:srgbClr val="FFFFFF"/>
          </a:solidFill>
          <a:ln w="6350">
            <a:solidFill>
              <a:srgbClr val="DDDDEE"/>
            </a:solidFill>
            <a:prstDash val="solid"/>
          </a:ln>
        </p:spPr>
      </p:sp>
      <p:sp>
        <p:nvSpPr>
          <p:cNvPr id="9" name="Text 7"/>
          <p:cNvSpPr/>
          <p:nvPr/>
        </p:nvSpPr>
        <p:spPr>
          <a:xfrm>
            <a:off x="685800" y="2103120"/>
            <a:ext cx="7772400" cy="640080"/>
          </a:xfrm>
          <a:prstGeom prst="rect">
            <a:avLst/>
          </a:prstGeom>
          <a:noFill/>
          <a:ln/>
        </p:spPr>
        <p:txBody>
          <a:bodyPr wrap="square" lIns="0" tIns="0" rIns="0" bIns="0" rtlCol="0" anchor="ctr"/>
          <a:lstStyle/>
          <a:p>
            <a:pPr indent="0" marL="0">
              <a:buNone/>
            </a:pPr>
            <a:r>
              <a:rPr lang="en-US" sz="1500" dirty="0">
                <a:solidFill>
                  <a:srgbClr val="1A1A2E"/>
                </a:solidFill>
              </a:rPr>
              <a:t>1.  Finish the Independent Practice for 5.06.04 (5 problems).</a:t>
            </a:r>
            <a:endParaRPr lang="en-US" sz="1500" dirty="0"/>
          </a:p>
        </p:txBody>
      </p:sp>
      <p:sp>
        <p:nvSpPr>
          <p:cNvPr id="10" name="Shape 8"/>
          <p:cNvSpPr/>
          <p:nvPr/>
        </p:nvSpPr>
        <p:spPr>
          <a:xfrm>
            <a:off x="457200" y="2926080"/>
            <a:ext cx="8229600" cy="731520"/>
          </a:xfrm>
          <a:prstGeom prst="roundRect">
            <a:avLst>
              <a:gd name="adj" fmla="val 12500"/>
            </a:avLst>
          </a:prstGeom>
          <a:solidFill>
            <a:srgbClr val="FFFFFF"/>
          </a:solidFill>
          <a:ln w="6350">
            <a:solidFill>
              <a:srgbClr val="DDDDEE"/>
            </a:solidFill>
            <a:prstDash val="solid"/>
          </a:ln>
        </p:spPr>
      </p:sp>
      <p:sp>
        <p:nvSpPr>
          <p:cNvPr id="11" name="Text 9"/>
          <p:cNvSpPr/>
          <p:nvPr/>
        </p:nvSpPr>
        <p:spPr>
          <a:xfrm>
            <a:off x="685800" y="2971800"/>
            <a:ext cx="7772400" cy="640080"/>
          </a:xfrm>
          <a:prstGeom prst="rect">
            <a:avLst/>
          </a:prstGeom>
          <a:noFill/>
          <a:ln/>
        </p:spPr>
        <p:txBody>
          <a:bodyPr wrap="square" lIns="0" tIns="0" rIns="0" bIns="0" rtlCol="0" anchor="ctr"/>
          <a:lstStyle/>
          <a:p>
            <a:pPr indent="0" marL="0">
              <a:buNone/>
            </a:pPr>
            <a:r>
              <a:rPr lang="en-US" sz="1500" dirty="0">
                <a:solidFill>
                  <a:srgbClr val="1A1A2E"/>
                </a:solidFill>
              </a:rPr>
              <a:t>2.  Review your Exit Check answer and the reasonableness check from today.</a:t>
            </a:r>
            <a:endParaRPr lang="en-US" sz="1500" dirty="0"/>
          </a:p>
        </p:txBody>
      </p:sp>
      <p:sp>
        <p:nvSpPr>
          <p:cNvPr id="12" name="Shape 10"/>
          <p:cNvSpPr/>
          <p:nvPr/>
        </p:nvSpPr>
        <p:spPr>
          <a:xfrm>
            <a:off x="457200" y="3794760"/>
            <a:ext cx="8229600" cy="731520"/>
          </a:xfrm>
          <a:prstGeom prst="roundRect">
            <a:avLst>
              <a:gd name="adj" fmla="val 12500"/>
            </a:avLst>
          </a:prstGeom>
          <a:solidFill>
            <a:srgbClr val="FFFFFF"/>
          </a:solidFill>
          <a:ln w="6350">
            <a:solidFill>
              <a:srgbClr val="DDDDEE"/>
            </a:solidFill>
            <a:prstDash val="solid"/>
          </a:ln>
        </p:spPr>
      </p:sp>
      <p:sp>
        <p:nvSpPr>
          <p:cNvPr id="13" name="Text 11"/>
          <p:cNvSpPr/>
          <p:nvPr/>
        </p:nvSpPr>
        <p:spPr>
          <a:xfrm>
            <a:off x="685800" y="3840480"/>
            <a:ext cx="7772400" cy="640080"/>
          </a:xfrm>
          <a:prstGeom prst="rect">
            <a:avLst/>
          </a:prstGeom>
          <a:noFill/>
          <a:ln/>
        </p:spPr>
        <p:txBody>
          <a:bodyPr wrap="square" lIns="0" tIns="0" rIns="0" bIns="0" rtlCol="0" anchor="ctr"/>
          <a:lstStyle/>
          <a:p>
            <a:pPr indent="0" marL="0">
              <a:buNone/>
            </a:pPr>
            <a:r>
              <a:rPr lang="en-US" sz="1500" dirty="0">
                <a:solidFill>
                  <a:srgbClr val="1A1A2E"/>
                </a:solidFill>
              </a:rPr>
              <a:t>3.  Preview tomorrow: 5.06.05 mixes all of Unit 6's division types into word problems.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5.06.04 Dividing a Whole Number by a Fraction — Teacher Slides</dc:title>
  <dc:subject>PptxGenJS Presentation</dc:subject>
  <dc:creator>PptxGenJS</dc:creator>
  <cp:lastModifiedBy>PptxGenJS</cp:lastModifiedBy>
  <cp:revision>1</cp:revision>
  <dcterms:created xsi:type="dcterms:W3CDTF">2026-09-23T16:49:40Z</dcterms:created>
  <dcterms:modified xsi:type="dcterms:W3CDTF">2026-09-23T16:49:40Z</dcterms:modified>
</cp:coreProperties>
</file>