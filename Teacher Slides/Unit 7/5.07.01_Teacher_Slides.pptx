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Present the conversion. Ask for estimates only — no exact division yet. Collect a range of guesses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Present the conversion. Ask for estimates only — no exact division yet. Collect a range of guesses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Reveal the exact answer (4 ft 10 in) and compare to the estimates. Ask which benchmark got closest, then have students try the cousin (weight, not length) to confirm the estimating strategy transfers across unit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Reveal the exact answer (4 ft 10 in) and compare to the estimates. Ask which benchmark got closest, then have students try the cousin (weight, not length) to confirm the estimating strategy transfers across unit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Title slide. Name Unit 7 as a shift from fraction operations to measurement and area — today's skill (converting a fraction of a unit) is the tool the rest of the unit leans on.
Transition: "Here's exactly what today's goal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Read the I Can aloud. The key idea is that conversion is just counting how many small pieces are inside a fractional amount of the big unit.
Common error: students add the conversion number instead of multiplying.
Transition: "Let's warm up on the conversion facts we'll need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These three conversion facts (12, 16, 3) are the numbers today's multiplication will use. Confirm all three before moving on — if students don't have these memorized, today's model will feel arbitrary.
Common error: mixing up 1 yard = 3 feet with 1 foot = 3 something.
Transition: "Let's see why we'd ever need to convert a fraction of a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Read the ribbon scenario aloud. Don't solve it yet — the goal is to notice that a physical model (a cut-up foot strip lined up against an inch ruler) makes the fraction of a foot visible before any multiplying happens.
Anticipated: students may say 'cut a strip into 3 equal parts' or 'draw a ruler.'
Common error: jumping straight to guessing an answer without a model.
Transition: "Let's notice and wonder about this ribbon before we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Give quiet think time, then share out. Students should notice the units don't match (thirds of a foot vs. inches) and wonder how many inches are in one third of a foot.
Anticipated: 'I wonder what one third of a foot is in inches.'
Transition: "Let's build the foot strip and line it up against the inch ruler."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Physically build this: fold or cut a paper strip into 3 equal parts, shade 2 of them, and hold it against a real inch ruler (or the drawn one here) so students see the 2 shaded thirds land exactly on the 8-inch mark.
Anticipated: students confirm each third = 4 inches by dividing 12 by 3.
Common error: students count the number of PARTS (2) instead of counting the INCHES those parts cover.
Transition: "Let's draw this same idea as a picture, without the physical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through the multiplication step by step, connecting each number back to the strip from the previous slide: the 2 is the shaded thirds, the 12 is the total inches in one foot, and 24/3 = 8 is the same 8 inches the strip showed.
Common error: multiplying numerator and denominator together instead of multiplying the whole fraction by 12.
Transition: "Let's name the general rule this always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State the rule precisely. Emphasize that this is the SAME multiplication move regardless of which units are involved (length, weight, capacity) — only the conversion number changes.
Common error: forgetting which number is the conversion number vs. the fraction.
Transition: "Let's put a name to the words we've been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Quick vocabulary check. Point out that 'conversion number' is the term for the 12, 16, or 3 from today's warm-up.
Transition: "Let's use all of this in a full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Model this step by step. Two and one-half yards times 3: three whole yards' worth is 2 x 3 = 6 feet, plus half of one more yard (1.5 feet), giving 7.5, or seven and one-half feet.
Common error: multiplying only the whole-number part (2 x 3 = 6) and forgetting the extra half-yard.
Transition: "Let's try a weight conversion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Notice 16 is given directly as a hint on the IP for this problem type — model using a given conversion number, not just memorized ones. Five-eighths x 16 = 80/8 = 10.
Common error: dividing 16 by 5 instead of multiplying five-eighths by 16.
Transition: "Now you try one on your own, plus check a classmate's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Students work independently, then respond in chat. Leo is INCORRECT: one-third times 12 equals 4 inches, not 3.
Anticipated error Leo made: guessing or dividing 12 by an unrelated number.
Common error: students may also say 'true' by miscounting the strip model.
Transition: "Here's where this skill leads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Preview tomorrow's shift from a 1-dimensional strip to a 2-dimensional rectangle — same fraction-multiplication skill, new shape.
Transition: "Let's check what you've got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Correct answer: 20 oz. 16 is the 'just used 1 pound and stopped' error. 24 comes from multiplying by 4 instead of by 16. 17 comes from adding instead of multiplying the fractional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Correct answer: 20 oz. 16 is the 'just used 1 pound and stopped' error. 24 comes from multiplying by 4 instead of by 16. 17 comes from adding instead of multiplying the fractional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19456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Shape 3"/>
          <p:cNvSpPr/>
          <p:nvPr/>
        </p:nvSpPr>
        <p:spPr>
          <a:xfrm>
            <a:off x="2395728" y="164592"/>
            <a:ext cx="630936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395728" y="164592"/>
            <a:ext cx="6309360" cy="292608"/>
          </a:xfrm>
          <a:prstGeom prst="rect">
            <a:avLst/>
          </a:prstGeom>
          <a:noFill/>
          <a:ln/>
        </p:spPr>
        <p:txBody>
          <a:bodyPr wrap="square" lIns="0" tIns="0" rIns="0" bIns="0" rtlCol="0" anchor="ctr"/>
          <a:lstStyle/>
          <a:p>
            <a:pPr indent="0" marL="0">
              <a:buNone/>
            </a:pPr>
            <a:r>
              <a:rPr lang="en-US" sz="900" dirty="0">
                <a:solidFill>
                  <a:srgbClr val="FFFFFF"/>
                </a:solidFill>
              </a:rPr>
              <a:t>  ·  5.07.01 · Estimating a Measurement Conversion</a:t>
            </a:r>
            <a:endParaRPr lang="en-US" sz="900" dirty="0"/>
          </a:p>
        </p:txBody>
      </p:sp>
      <p:sp>
        <p:nvSpPr>
          <p:cNvPr id="7" name="Text 5"/>
          <p:cNvSpPr/>
          <p:nvPr/>
        </p:nvSpPr>
        <p:spPr>
          <a:xfrm>
            <a:off x="457200" y="1097280"/>
            <a:ext cx="8229600" cy="182880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58 inches ~ how many feet?</a:t>
            </a:r>
            <a:endParaRPr lang="en-US" sz="3800" dirty="0"/>
          </a:p>
        </p:txBody>
      </p:sp>
      <p:sp>
        <p:nvSpPr>
          <p:cNvPr id="8" name="Text 6"/>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Don't calculate exactly yet -- what's your best estimate?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Check the Estimate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Estimate First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2560320" cy="2743200"/>
          </a:xfrm>
          <a:prstGeom prst="roundRect">
            <a:avLst>
              <a:gd name="adj" fmla="val 3571"/>
            </a:avLst>
          </a:prstGeom>
          <a:solidFill>
            <a:srgbClr val="FFFFFF"/>
          </a:solidFill>
          <a:ln w="6350">
            <a:solidFill>
              <a:srgbClr val="DDDDEE"/>
            </a:solidFill>
            <a:prstDash val="solid"/>
          </a:ln>
        </p:spPr>
      </p:sp>
      <p:sp>
        <p:nvSpPr>
          <p:cNvPr id="7" name="Text 5"/>
          <p:cNvSpPr/>
          <p:nvPr/>
        </p:nvSpPr>
        <p:spPr>
          <a:xfrm>
            <a:off x="5943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Use a benchmark</a:t>
            </a:r>
            <a:endParaRPr lang="en-US" sz="1300" dirty="0"/>
          </a:p>
        </p:txBody>
      </p:sp>
      <p:sp>
        <p:nvSpPr>
          <p:cNvPr id="8" name="Shape 6"/>
          <p:cNvSpPr/>
          <p:nvPr/>
        </p:nvSpPr>
        <p:spPr>
          <a:xfrm>
            <a:off x="594360" y="1508760"/>
            <a:ext cx="2286000" cy="0"/>
          </a:xfrm>
          <a:prstGeom prst="line">
            <a:avLst/>
          </a:prstGeom>
          <a:noFill/>
          <a:ln w="6350">
            <a:solidFill>
              <a:srgbClr val="CCCCCC"/>
            </a:solidFill>
            <a:prstDash val="solid"/>
          </a:ln>
        </p:spPr>
      </p:sp>
      <p:sp>
        <p:nvSpPr>
          <p:cNvPr id="9" name="Text 7"/>
          <p:cNvSpPr/>
          <p:nvPr/>
        </p:nvSpPr>
        <p:spPr>
          <a:xfrm>
            <a:off x="6858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4 feet is 48 inches</a:t>
            </a:r>
            <a:endParaRPr lang="en-US" sz="1200" dirty="0"/>
          </a:p>
        </p:txBody>
      </p:sp>
      <p:sp>
        <p:nvSpPr>
          <p:cNvPr id="10" name="Text 8"/>
          <p:cNvSpPr/>
          <p:nvPr/>
        </p:nvSpPr>
        <p:spPr>
          <a:xfrm>
            <a:off x="6858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5 feet is 60 inches</a:t>
            </a:r>
            <a:endParaRPr lang="en-US" sz="1200" dirty="0"/>
          </a:p>
        </p:txBody>
      </p:sp>
      <p:sp>
        <p:nvSpPr>
          <p:cNvPr id="11" name="Text 9"/>
          <p:cNvSpPr/>
          <p:nvPr/>
        </p:nvSpPr>
        <p:spPr>
          <a:xfrm>
            <a:off x="6858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58 is between, closer to 5 feet</a:t>
            </a:r>
            <a:endParaRPr lang="en-US" sz="1200" dirty="0"/>
          </a:p>
        </p:txBody>
      </p:sp>
      <p:sp>
        <p:nvSpPr>
          <p:cNvPr id="12" name="Shape 10"/>
          <p:cNvSpPr/>
          <p:nvPr/>
        </p:nvSpPr>
        <p:spPr>
          <a:xfrm>
            <a:off x="3200400" y="960120"/>
            <a:ext cx="2560320" cy="2743200"/>
          </a:xfrm>
          <a:prstGeom prst="roundRect">
            <a:avLst>
              <a:gd name="adj" fmla="val 3571"/>
            </a:avLst>
          </a:prstGeom>
          <a:solidFill>
            <a:srgbClr val="FFFFFF"/>
          </a:solidFill>
          <a:ln w="6350">
            <a:solidFill>
              <a:srgbClr val="DDDDEE"/>
            </a:solidFill>
            <a:prstDash val="solid"/>
          </a:ln>
        </p:spPr>
      </p:sp>
      <p:sp>
        <p:nvSpPr>
          <p:cNvPr id="13" name="Text 11"/>
          <p:cNvSpPr/>
          <p:nvPr/>
        </p:nvSpPr>
        <p:spPr>
          <a:xfrm>
            <a:off x="33375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Round to compatible numbers</a:t>
            </a:r>
            <a:endParaRPr lang="en-US" sz="1300" dirty="0"/>
          </a:p>
        </p:txBody>
      </p:sp>
      <p:sp>
        <p:nvSpPr>
          <p:cNvPr id="14" name="Shape 12"/>
          <p:cNvSpPr/>
          <p:nvPr/>
        </p:nvSpPr>
        <p:spPr>
          <a:xfrm>
            <a:off x="3337560" y="1508760"/>
            <a:ext cx="2286000" cy="0"/>
          </a:xfrm>
          <a:prstGeom prst="line">
            <a:avLst/>
          </a:prstGeom>
          <a:noFill/>
          <a:ln w="6350">
            <a:solidFill>
              <a:srgbClr val="CCCCCC"/>
            </a:solidFill>
            <a:prstDash val="solid"/>
          </a:ln>
        </p:spPr>
      </p:sp>
      <p:sp>
        <p:nvSpPr>
          <p:cNvPr id="15" name="Text 13"/>
          <p:cNvSpPr/>
          <p:nvPr/>
        </p:nvSpPr>
        <p:spPr>
          <a:xfrm>
            <a:off x="34290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58 is close to 60</a:t>
            </a:r>
            <a:endParaRPr lang="en-US" sz="1200" dirty="0"/>
          </a:p>
        </p:txBody>
      </p:sp>
      <p:sp>
        <p:nvSpPr>
          <p:cNvPr id="16" name="Text 14"/>
          <p:cNvSpPr/>
          <p:nvPr/>
        </p:nvSpPr>
        <p:spPr>
          <a:xfrm>
            <a:off x="34290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60 divided by 12 is 5</a:t>
            </a:r>
            <a:endParaRPr lang="en-US" sz="1200" dirty="0"/>
          </a:p>
        </p:txBody>
      </p:sp>
      <p:sp>
        <p:nvSpPr>
          <p:cNvPr id="17" name="Text 15"/>
          <p:cNvSpPr/>
          <p:nvPr/>
        </p:nvSpPr>
        <p:spPr>
          <a:xfrm>
            <a:off x="34290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Estimate: about 5 feet</a:t>
            </a:r>
            <a:endParaRPr lang="en-US" sz="1200" dirty="0"/>
          </a:p>
        </p:txBody>
      </p:sp>
      <p:sp>
        <p:nvSpPr>
          <p:cNvPr id="18" name="Shape 16"/>
          <p:cNvSpPr/>
          <p:nvPr/>
        </p:nvSpPr>
        <p:spPr>
          <a:xfrm>
            <a:off x="5943600" y="960120"/>
            <a:ext cx="2560320" cy="2743200"/>
          </a:xfrm>
          <a:prstGeom prst="roundRect">
            <a:avLst>
              <a:gd name="adj" fmla="val 3571"/>
            </a:avLst>
          </a:prstGeom>
          <a:solidFill>
            <a:srgbClr val="FFFFFF"/>
          </a:solidFill>
          <a:ln w="6350">
            <a:solidFill>
              <a:srgbClr val="DDDDEE"/>
            </a:solidFill>
            <a:prstDash val="solid"/>
          </a:ln>
        </p:spPr>
      </p:sp>
      <p:sp>
        <p:nvSpPr>
          <p:cNvPr id="19" name="Text 17"/>
          <p:cNvSpPr/>
          <p:nvPr/>
        </p:nvSpPr>
        <p:spPr>
          <a:xfrm>
            <a:off x="60807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Skip-count by 12</a:t>
            </a:r>
            <a:endParaRPr lang="en-US" sz="1300" dirty="0"/>
          </a:p>
        </p:txBody>
      </p:sp>
      <p:sp>
        <p:nvSpPr>
          <p:cNvPr id="20" name="Shape 18"/>
          <p:cNvSpPr/>
          <p:nvPr/>
        </p:nvSpPr>
        <p:spPr>
          <a:xfrm>
            <a:off x="6080760" y="1508760"/>
            <a:ext cx="2286000" cy="0"/>
          </a:xfrm>
          <a:prstGeom prst="line">
            <a:avLst/>
          </a:prstGeom>
          <a:noFill/>
          <a:ln w="6350">
            <a:solidFill>
              <a:srgbClr val="CCCCCC"/>
            </a:solidFill>
            <a:prstDash val="solid"/>
          </a:ln>
        </p:spPr>
      </p:sp>
      <p:sp>
        <p:nvSpPr>
          <p:cNvPr id="21" name="Text 19"/>
          <p:cNvSpPr/>
          <p:nvPr/>
        </p:nvSpPr>
        <p:spPr>
          <a:xfrm>
            <a:off x="61722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12, 24, 36, 48, 60</a:t>
            </a:r>
            <a:endParaRPr lang="en-US" sz="1200" dirty="0"/>
          </a:p>
        </p:txBody>
      </p:sp>
      <p:sp>
        <p:nvSpPr>
          <p:cNvPr id="22" name="Text 20"/>
          <p:cNvSpPr/>
          <p:nvPr/>
        </p:nvSpPr>
        <p:spPr>
          <a:xfrm>
            <a:off x="61722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58 lands just before 60</a:t>
            </a:r>
            <a:endParaRPr lang="en-US" sz="1200" dirty="0"/>
          </a:p>
        </p:txBody>
      </p:sp>
      <p:sp>
        <p:nvSpPr>
          <p:cNvPr id="23" name="Text 21"/>
          <p:cNvSpPr/>
          <p:nvPr/>
        </p:nvSpPr>
        <p:spPr>
          <a:xfrm>
            <a:off x="61722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Estimate: a little under 5 feet</a:t>
            </a:r>
            <a:endParaRPr lang="en-US" sz="1200" dirty="0"/>
          </a:p>
        </p:txBody>
      </p:sp>
      <p:sp>
        <p:nvSpPr>
          <p:cNvPr id="24" name="Shape 22"/>
          <p:cNvSpPr/>
          <p:nvPr/>
        </p:nvSpPr>
        <p:spPr>
          <a:xfrm>
            <a:off x="457200" y="3794760"/>
            <a:ext cx="8229600" cy="457200"/>
          </a:xfrm>
          <a:prstGeom prst="roundRect">
            <a:avLst>
              <a:gd name="adj" fmla="val 16000"/>
            </a:avLst>
          </a:prstGeom>
          <a:solidFill>
            <a:srgbClr val="2E6E44"/>
          </a:solidFill>
          <a:ln w="12700">
            <a:solidFill>
              <a:srgbClr val="2E6E44"/>
            </a:solidFill>
            <a:prstDash val="solid"/>
          </a:ln>
        </p:spPr>
      </p:sp>
      <p:sp>
        <p:nvSpPr>
          <p:cNvPr id="25" name="Text 23"/>
          <p:cNvSpPr/>
          <p:nvPr/>
        </p:nvSpPr>
        <p:spPr>
          <a:xfrm>
            <a:off x="457200" y="3794760"/>
            <a:ext cx="8229600" cy="457200"/>
          </a:xfrm>
          <a:prstGeom prst="rect">
            <a:avLst/>
          </a:prstGeom>
          <a:noFill/>
          <a:ln/>
        </p:spPr>
        <p:txBody>
          <a:bodyPr wrap="square" lIns="0" tIns="0" rIns="0" bIns="0" rtlCol="0" anchor="ctr"/>
          <a:lstStyle/>
          <a:p>
            <a:pPr algn="ctr" indent="0" marL="0">
              <a:buNone/>
            </a:pPr>
            <a:r>
              <a:rPr lang="en-US" sz="1400" b="1" dirty="0">
                <a:solidFill>
                  <a:srgbClr val="FFFFFF"/>
                </a:solidFill>
              </a:rPr>
              <a:t>Exact answer: 58 in = 4 feet 10 inches (4 x 12 = 48, 58 - 48 = 10)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600200"/>
            <a:ext cx="8229600" cy="1828800"/>
          </a:xfrm>
          <a:prstGeom prst="rect">
            <a:avLst/>
          </a:prstGeom>
          <a:noFill/>
          <a:ln/>
        </p:spPr>
        <p:txBody>
          <a:bodyPr wrap="square" lIns="0" tIns="0" rIns="0" bIns="0" rtlCol="0" anchor="ctr"/>
          <a:lstStyle/>
          <a:p>
            <a:pPr indent="0" marL="0">
              <a:buNone/>
            </a:pPr>
            <a:endParaRPr lang="en-US" sz="2200" dirty="0"/>
          </a:p>
        </p:txBody>
      </p:sp>
      <p:sp>
        <p:nvSpPr>
          <p:cNvPr id="8" name="Shape 6"/>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155448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70 ounces ~ how many pounds?</a:t>
            </a:r>
            <a:endParaRPr lang="en-US" sz="3800" dirty="0"/>
          </a:p>
        </p:txBody>
      </p:sp>
      <p:sp>
        <p:nvSpPr>
          <p:cNvPr id="8" name="Shape 6"/>
          <p:cNvSpPr/>
          <p:nvPr/>
        </p:nvSpPr>
        <p:spPr>
          <a:xfrm>
            <a:off x="1828800" y="379476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79476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estimate + exact answer</a:t>
            </a:r>
            <a:endParaRPr lang="en-US" sz="1200" dirty="0"/>
          </a:p>
        </p:txBody>
      </p:sp>
      <p:sp>
        <p:nvSpPr>
          <p:cNvPr id="10" name="Shape 8"/>
          <p:cNvSpPr/>
          <p:nvPr/>
        </p:nvSpPr>
        <p:spPr>
          <a:xfrm>
            <a:off x="914400" y="434340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434340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4 pounds 6 ounces -- 4 x 16 = 64, 70 - 64 = 6</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5.07.01</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Fractions and Measurement Conversions</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7: Measurement and Area · Lesson 1 of 5</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MA.5.M.1.1   ·   MTR.2.1   ·   MTR.5.1   ·   TX 5.7.A</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convert a fraction or mixed number of a measurement unit into a smaller unit by multiplying by the conversion number.</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“The conversion number tells you how many small units fit inside one big unit — multiply the fraction by that number to find how many small units you have.”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1051560"/>
            <a:ext cx="2651760" cy="2926080"/>
          </a:xfrm>
          <a:prstGeom prst="roundRect">
            <a:avLst>
              <a:gd name="adj" fmla="val 3448"/>
            </a:avLst>
          </a:prstGeom>
          <a:solidFill>
            <a:srgbClr val="FFFFFF"/>
          </a:solidFill>
          <a:ln w="6350">
            <a:solidFill>
              <a:srgbClr val="DDDDEE"/>
            </a:solidFill>
            <a:prstDash val="solid"/>
          </a:ln>
        </p:spPr>
      </p:sp>
      <p:sp>
        <p:nvSpPr>
          <p:cNvPr id="7" name="Text 5"/>
          <p:cNvSpPr/>
          <p:nvPr/>
        </p:nvSpPr>
        <p:spPr>
          <a:xfrm>
            <a:off x="502920" y="1234440"/>
            <a:ext cx="2377440" cy="1280160"/>
          </a:xfrm>
          <a:prstGeom prst="rect">
            <a:avLst/>
          </a:prstGeom>
          <a:noFill/>
          <a:ln/>
        </p:spPr>
        <p:txBody>
          <a:bodyPr wrap="square" lIns="0" tIns="0" rIns="0" bIns="0" rtlCol="0" anchor="ctr"/>
          <a:lstStyle/>
          <a:p>
            <a:pPr algn="ctr" indent="0" marL="0">
              <a:buNone/>
            </a:pPr>
            <a:r>
              <a:rPr lang="en-US" sz="1600" b="1" dirty="0">
                <a:solidFill>
                  <a:srgbClr val="1A1A2E"/>
                </a:solidFill>
                <a:latin typeface="Cambria" pitchFamily="34" charset="0"/>
                <a:ea typeface="Cambria" pitchFamily="34" charset="-122"/>
                <a:cs typeface="Cambria" pitchFamily="34" charset="-120"/>
              </a:rPr>
              <a:t>1 foot = ___ inches</a:t>
            </a:r>
            <a:endParaRPr lang="en-US" sz="1600" dirty="0"/>
          </a:p>
        </p:txBody>
      </p:sp>
      <p:sp>
        <p:nvSpPr>
          <p:cNvPr id="8" name="Shape 6"/>
          <p:cNvSpPr/>
          <p:nvPr/>
        </p:nvSpPr>
        <p:spPr>
          <a:xfrm>
            <a:off x="640080" y="2514600"/>
            <a:ext cx="2103120" cy="0"/>
          </a:xfrm>
          <a:prstGeom prst="line">
            <a:avLst/>
          </a:prstGeom>
          <a:noFill/>
          <a:ln w="6350">
            <a:solidFill>
              <a:srgbClr val="CCCCCC"/>
            </a:solidFill>
            <a:prstDash val="solid"/>
          </a:ln>
        </p:spPr>
      </p:sp>
      <p:sp>
        <p:nvSpPr>
          <p:cNvPr id="9" name="Text 7"/>
          <p:cNvSpPr/>
          <p:nvPr/>
        </p:nvSpPr>
        <p:spPr>
          <a:xfrm>
            <a:off x="502920" y="2606040"/>
            <a:ext cx="2377440" cy="365760"/>
          </a:xfrm>
          <a:prstGeom prst="rect">
            <a:avLst/>
          </a:prstGeom>
          <a:noFill/>
          <a:ln/>
        </p:spPr>
        <p:txBody>
          <a:bodyPr wrap="square" lIns="0" tIns="0" rIns="0" bIns="0" rtlCol="0" anchor="ctr"/>
          <a:lstStyle/>
          <a:p>
            <a:pPr algn="ctr" indent="0" marL="0">
              <a:buNone/>
            </a:pPr>
            <a:r>
              <a:rPr lang="en-US" sz="1100" i="1" dirty="0">
                <a:solidFill>
                  <a:srgbClr val="5A5A7A"/>
                </a:solidFill>
              </a:rPr>
              <a:t>Fill in the blank</a:t>
            </a:r>
            <a:endParaRPr lang="en-US" sz="1100" dirty="0"/>
          </a:p>
        </p:txBody>
      </p:sp>
      <p:sp>
        <p:nvSpPr>
          <p:cNvPr id="10" name="Shape 8"/>
          <p:cNvSpPr/>
          <p:nvPr/>
        </p:nvSpPr>
        <p:spPr>
          <a:xfrm>
            <a:off x="3154680" y="1051560"/>
            <a:ext cx="2651760" cy="2926080"/>
          </a:xfrm>
          <a:prstGeom prst="roundRect">
            <a:avLst>
              <a:gd name="adj" fmla="val 3448"/>
            </a:avLst>
          </a:prstGeom>
          <a:solidFill>
            <a:srgbClr val="FFFFFF"/>
          </a:solidFill>
          <a:ln w="6350">
            <a:solidFill>
              <a:srgbClr val="DDDDEE"/>
            </a:solidFill>
            <a:prstDash val="solid"/>
          </a:ln>
        </p:spPr>
      </p:sp>
      <p:sp>
        <p:nvSpPr>
          <p:cNvPr id="11" name="Text 9"/>
          <p:cNvSpPr/>
          <p:nvPr/>
        </p:nvSpPr>
        <p:spPr>
          <a:xfrm>
            <a:off x="3291840" y="1234440"/>
            <a:ext cx="2377440" cy="1280160"/>
          </a:xfrm>
          <a:prstGeom prst="rect">
            <a:avLst/>
          </a:prstGeom>
          <a:noFill/>
          <a:ln/>
        </p:spPr>
        <p:txBody>
          <a:bodyPr wrap="square" lIns="0" tIns="0" rIns="0" bIns="0" rtlCol="0" anchor="ctr"/>
          <a:lstStyle/>
          <a:p>
            <a:pPr algn="ctr" indent="0" marL="0">
              <a:buNone/>
            </a:pPr>
            <a:r>
              <a:rPr lang="en-US" sz="1600" b="1" dirty="0">
                <a:solidFill>
                  <a:srgbClr val="1A1A2E"/>
                </a:solidFill>
                <a:latin typeface="Cambria" pitchFamily="34" charset="0"/>
                <a:ea typeface="Cambria" pitchFamily="34" charset="-122"/>
                <a:cs typeface="Cambria" pitchFamily="34" charset="-120"/>
              </a:rPr>
              <a:t>1 pound = ___ ounces</a:t>
            </a:r>
            <a:endParaRPr lang="en-US" sz="1600" dirty="0"/>
          </a:p>
        </p:txBody>
      </p:sp>
      <p:sp>
        <p:nvSpPr>
          <p:cNvPr id="12" name="Shape 10"/>
          <p:cNvSpPr/>
          <p:nvPr/>
        </p:nvSpPr>
        <p:spPr>
          <a:xfrm>
            <a:off x="3429000" y="2514600"/>
            <a:ext cx="2103120" cy="0"/>
          </a:xfrm>
          <a:prstGeom prst="line">
            <a:avLst/>
          </a:prstGeom>
          <a:noFill/>
          <a:ln w="6350">
            <a:solidFill>
              <a:srgbClr val="CCCCCC"/>
            </a:solidFill>
            <a:prstDash val="solid"/>
          </a:ln>
        </p:spPr>
      </p:sp>
      <p:sp>
        <p:nvSpPr>
          <p:cNvPr id="13" name="Text 11"/>
          <p:cNvSpPr/>
          <p:nvPr/>
        </p:nvSpPr>
        <p:spPr>
          <a:xfrm>
            <a:off x="3291840" y="2606040"/>
            <a:ext cx="2377440" cy="365760"/>
          </a:xfrm>
          <a:prstGeom prst="rect">
            <a:avLst/>
          </a:prstGeom>
          <a:noFill/>
          <a:ln/>
        </p:spPr>
        <p:txBody>
          <a:bodyPr wrap="square" lIns="0" tIns="0" rIns="0" bIns="0" rtlCol="0" anchor="ctr"/>
          <a:lstStyle/>
          <a:p>
            <a:pPr algn="ctr" indent="0" marL="0">
              <a:buNone/>
            </a:pPr>
            <a:r>
              <a:rPr lang="en-US" sz="1100" i="1" dirty="0">
                <a:solidFill>
                  <a:srgbClr val="5A5A7A"/>
                </a:solidFill>
              </a:rPr>
              <a:t>Fill in the blank</a:t>
            </a:r>
            <a:endParaRPr lang="en-US" sz="1100" dirty="0"/>
          </a:p>
        </p:txBody>
      </p:sp>
      <p:sp>
        <p:nvSpPr>
          <p:cNvPr id="14" name="Shape 12"/>
          <p:cNvSpPr/>
          <p:nvPr/>
        </p:nvSpPr>
        <p:spPr>
          <a:xfrm>
            <a:off x="5943600" y="1051560"/>
            <a:ext cx="2651760" cy="2926080"/>
          </a:xfrm>
          <a:prstGeom prst="roundRect">
            <a:avLst>
              <a:gd name="adj" fmla="val 3448"/>
            </a:avLst>
          </a:prstGeom>
          <a:solidFill>
            <a:srgbClr val="FFFFFF"/>
          </a:solidFill>
          <a:ln w="6350">
            <a:solidFill>
              <a:srgbClr val="DDDDEE"/>
            </a:solidFill>
            <a:prstDash val="solid"/>
          </a:ln>
        </p:spPr>
      </p:sp>
      <p:sp>
        <p:nvSpPr>
          <p:cNvPr id="15" name="Text 13"/>
          <p:cNvSpPr/>
          <p:nvPr/>
        </p:nvSpPr>
        <p:spPr>
          <a:xfrm>
            <a:off x="6080760" y="1234440"/>
            <a:ext cx="2377440" cy="1280160"/>
          </a:xfrm>
          <a:prstGeom prst="rect">
            <a:avLst/>
          </a:prstGeom>
          <a:noFill/>
          <a:ln/>
        </p:spPr>
        <p:txBody>
          <a:bodyPr wrap="square" lIns="0" tIns="0" rIns="0" bIns="0" rtlCol="0" anchor="ctr"/>
          <a:lstStyle/>
          <a:p>
            <a:pPr algn="ctr" indent="0" marL="0">
              <a:buNone/>
            </a:pPr>
            <a:r>
              <a:rPr lang="en-US" sz="1600" b="1" dirty="0">
                <a:solidFill>
                  <a:srgbClr val="1A1A2E"/>
                </a:solidFill>
                <a:latin typeface="Cambria" pitchFamily="34" charset="0"/>
                <a:ea typeface="Cambria" pitchFamily="34" charset="-122"/>
                <a:cs typeface="Cambria" pitchFamily="34" charset="-120"/>
              </a:rPr>
              <a:t>1 yard = ___ feet</a:t>
            </a:r>
            <a:endParaRPr lang="en-US" sz="1600" dirty="0"/>
          </a:p>
        </p:txBody>
      </p:sp>
      <p:sp>
        <p:nvSpPr>
          <p:cNvPr id="16" name="Shape 14"/>
          <p:cNvSpPr/>
          <p:nvPr/>
        </p:nvSpPr>
        <p:spPr>
          <a:xfrm>
            <a:off x="6217920" y="2514600"/>
            <a:ext cx="2103120" cy="0"/>
          </a:xfrm>
          <a:prstGeom prst="line">
            <a:avLst/>
          </a:prstGeom>
          <a:noFill/>
          <a:ln w="6350">
            <a:solidFill>
              <a:srgbClr val="CCCCCC"/>
            </a:solidFill>
            <a:prstDash val="solid"/>
          </a:ln>
        </p:spPr>
      </p:sp>
      <p:sp>
        <p:nvSpPr>
          <p:cNvPr id="17" name="Text 15"/>
          <p:cNvSpPr/>
          <p:nvPr/>
        </p:nvSpPr>
        <p:spPr>
          <a:xfrm>
            <a:off x="6080760" y="2606040"/>
            <a:ext cx="2377440" cy="365760"/>
          </a:xfrm>
          <a:prstGeom prst="rect">
            <a:avLst/>
          </a:prstGeom>
          <a:noFill/>
          <a:ln/>
        </p:spPr>
        <p:txBody>
          <a:bodyPr wrap="square" lIns="0" tIns="0" rIns="0" bIns="0" rtlCol="0" anchor="ctr"/>
          <a:lstStyle/>
          <a:p>
            <a:pPr algn="ctr" indent="0" marL="0">
              <a:buNone/>
            </a:pPr>
            <a:r>
              <a:rPr lang="en-US" sz="1100" i="1" dirty="0">
                <a:solidFill>
                  <a:srgbClr val="5A5A7A"/>
                </a:solidFill>
              </a:rPr>
              <a:t>Fill in the blank</a:t>
            </a:r>
            <a:endParaRPr lang="en-US" sz="1100" dirty="0"/>
          </a:p>
        </p:txBody>
      </p:sp>
      <p:sp>
        <p:nvSpPr>
          <p:cNvPr id="18" name="Shape 16"/>
          <p:cNvSpPr/>
          <p:nvPr/>
        </p:nvSpPr>
        <p:spPr>
          <a:xfrm>
            <a:off x="1371600" y="4160520"/>
            <a:ext cx="6400800" cy="438912"/>
          </a:xfrm>
          <a:prstGeom prst="roundRect">
            <a:avLst>
              <a:gd name="adj" fmla="val 12500"/>
            </a:avLst>
          </a:prstGeom>
          <a:solidFill>
            <a:srgbClr val="464EB8"/>
          </a:solidFill>
          <a:ln w="12700">
            <a:solidFill>
              <a:srgbClr val="464EB8"/>
            </a:solidFill>
            <a:prstDash val="solid"/>
          </a:ln>
        </p:spPr>
      </p:sp>
      <p:sp>
        <p:nvSpPr>
          <p:cNvPr id="19" name="Text 17"/>
          <p:cNvSpPr/>
          <p:nvPr/>
        </p:nvSpPr>
        <p:spPr>
          <a:xfrm>
            <a:off x="1371600" y="416052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all three conversion facts, in order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Real-World Context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51560"/>
            <a:ext cx="8229600" cy="2194560"/>
          </a:xfrm>
          <a:prstGeom prst="roundRect">
            <a:avLst>
              <a:gd name="adj" fmla="val 4167"/>
            </a:avLst>
          </a:prstGeom>
          <a:solidFill>
            <a:srgbClr val="FFFFFF"/>
          </a:solidFill>
          <a:ln w="6350">
            <a:solidFill>
              <a:srgbClr val="DDDDEE"/>
            </a:solidFill>
            <a:prstDash val="solid"/>
          </a:ln>
        </p:spPr>
      </p:sp>
      <p:sp>
        <p:nvSpPr>
          <p:cNvPr id="7" name="Text 5"/>
          <p:cNvSpPr/>
          <p:nvPr/>
        </p:nvSpPr>
        <p:spPr>
          <a:xfrm>
            <a:off x="685800" y="1234440"/>
            <a:ext cx="1828800" cy="1554480"/>
          </a:xfrm>
          <a:prstGeom prst="rect">
            <a:avLst/>
          </a:prstGeom>
          <a:noFill/>
          <a:ln/>
        </p:spPr>
        <p:txBody>
          <a:bodyPr wrap="square" lIns="0" tIns="0" rIns="0" bIns="0" rtlCol="0" anchor="ctr"/>
          <a:lstStyle/>
          <a:p>
            <a:pPr indent="0" marL="0">
              <a:buNone/>
            </a:pPr>
            <a:r>
              <a:rPr lang="en-US" sz="1900" dirty="0">
                <a:solidFill>
                  <a:srgbClr val="1A1A2E"/>
                </a:solidFill>
                <a:latin typeface="Cambria" pitchFamily="34" charset="0"/>
                <a:ea typeface="Cambria" pitchFamily="34" charset="-122"/>
                <a:cs typeface="Cambria" pitchFamily="34" charset="-120"/>
              </a:rPr>
              <a:t>A ribbon is</a:t>
            </a:r>
            <a:endParaRPr lang="en-US" sz="1900" dirty="0"/>
          </a:p>
        </p:txBody>
      </p:sp>
      <p:sp>
        <p:nvSpPr>
          <p:cNvPr id="8" name="Text 6"/>
          <p:cNvSpPr/>
          <p:nvPr/>
        </p:nvSpPr>
        <p:spPr>
          <a:xfrm>
            <a:off x="2423160" y="1417320"/>
            <a:ext cx="731520" cy="457200"/>
          </a:xfrm>
          <a:prstGeom prst="rect">
            <a:avLst/>
          </a:prstGeom>
          <a:noFill/>
          <a:ln/>
        </p:spPr>
        <p:txBody>
          <a:bodyPr wrap="square" lIns="0" tIns="0" rIns="0" bIns="0" rtlCol="0" anchor="b"/>
          <a:lstStyle/>
          <a:p>
            <a:pPr algn="ctr" indent="0" marL="0">
              <a:buNone/>
            </a:pPr>
            <a:r>
              <a:rPr lang="en-US" sz="2400" b="1" dirty="0">
                <a:solidFill>
                  <a:srgbClr val="4A3D8F"/>
                </a:solidFill>
                <a:latin typeface="Cambria" pitchFamily="34" charset="0"/>
                <a:ea typeface="Cambria" pitchFamily="34" charset="-122"/>
                <a:cs typeface="Cambria" pitchFamily="34" charset="-120"/>
              </a:rPr>
              <a:t>2</a:t>
            </a:r>
            <a:endParaRPr lang="en-US" sz="2400" dirty="0"/>
          </a:p>
        </p:txBody>
      </p:sp>
      <p:sp>
        <p:nvSpPr>
          <p:cNvPr id="9" name="Shape 7"/>
          <p:cNvSpPr/>
          <p:nvPr/>
        </p:nvSpPr>
        <p:spPr>
          <a:xfrm>
            <a:off x="2510942" y="1874520"/>
            <a:ext cx="555955" cy="0"/>
          </a:xfrm>
          <a:prstGeom prst="line">
            <a:avLst/>
          </a:prstGeom>
          <a:noFill/>
          <a:ln w="19050">
            <a:solidFill>
              <a:srgbClr val="4A3D8F"/>
            </a:solidFill>
            <a:prstDash val="solid"/>
          </a:ln>
        </p:spPr>
      </p:sp>
      <p:sp>
        <p:nvSpPr>
          <p:cNvPr id="10" name="Text 8"/>
          <p:cNvSpPr/>
          <p:nvPr/>
        </p:nvSpPr>
        <p:spPr>
          <a:xfrm>
            <a:off x="2423160" y="1874520"/>
            <a:ext cx="731520" cy="457200"/>
          </a:xfrm>
          <a:prstGeom prst="rect">
            <a:avLst/>
          </a:prstGeom>
          <a:noFill/>
          <a:ln/>
        </p:spPr>
        <p:txBody>
          <a:bodyPr wrap="square" lIns="0" tIns="0" rIns="0" bIns="0" rtlCol="0" anchor="t"/>
          <a:lstStyle/>
          <a:p>
            <a:pPr algn="ctr" indent="0" marL="0">
              <a:buNone/>
            </a:pPr>
            <a:r>
              <a:rPr lang="en-US" sz="2400" b="1" dirty="0">
                <a:solidFill>
                  <a:srgbClr val="4A3D8F"/>
                </a:solidFill>
                <a:latin typeface="Cambria" pitchFamily="34" charset="0"/>
                <a:ea typeface="Cambria" pitchFamily="34" charset="-122"/>
                <a:cs typeface="Cambria" pitchFamily="34" charset="-120"/>
              </a:rPr>
              <a:t>3</a:t>
            </a:r>
            <a:endParaRPr lang="en-US" sz="2400" dirty="0"/>
          </a:p>
        </p:txBody>
      </p:sp>
      <p:sp>
        <p:nvSpPr>
          <p:cNvPr id="11" name="Text 9"/>
          <p:cNvSpPr/>
          <p:nvPr/>
        </p:nvSpPr>
        <p:spPr>
          <a:xfrm>
            <a:off x="3200400" y="1234440"/>
            <a:ext cx="5120640" cy="1737360"/>
          </a:xfrm>
          <a:prstGeom prst="rect">
            <a:avLst/>
          </a:prstGeom>
          <a:noFill/>
          <a:ln/>
        </p:spPr>
        <p:txBody>
          <a:bodyPr wrap="square" lIns="0" tIns="0" rIns="0" bIns="0" rtlCol="0" anchor="ctr"/>
          <a:lstStyle/>
          <a:p>
            <a:pPr indent="0" marL="0">
              <a:buNone/>
            </a:pPr>
            <a:r>
              <a:rPr lang="en-US" sz="1900" dirty="0">
                <a:solidFill>
                  <a:srgbClr val="1A1A2E"/>
                </a:solidFill>
                <a:latin typeface="Cambria" pitchFamily="34" charset="0"/>
                <a:ea typeface="Cambria" pitchFamily="34" charset="-122"/>
                <a:cs typeface="Cambria" pitchFamily="34" charset="-120"/>
              </a:rPr>
              <a:t>of a foot long. The only ruler in the room is marked in inches.</a:t>
            </a:r>
            <a:endParaRPr lang="en-US" sz="1900" dirty="0"/>
          </a:p>
          <a:p>
            <a:pPr indent="0" marL="0">
              <a:buNone/>
            </a:pPr>
            <a:r>
              <a:rPr lang="en-US" sz="1900" dirty="0">
                <a:solidFill>
                  <a:srgbClr val="1A1A2E"/>
                </a:solidFill>
                <a:latin typeface="Cambria" pitchFamily="34" charset="0"/>
                <a:ea typeface="Cambria" pitchFamily="34" charset="-122"/>
                <a:cs typeface="Cambria" pitchFamily="34" charset="-120"/>
              </a:rPr>
              <a:t>How long is the ribbon in inches?</a:t>
            </a:r>
            <a:endParaRPr lang="en-US" sz="1900" dirty="0"/>
          </a:p>
        </p:txBody>
      </p:sp>
      <p:sp>
        <p:nvSpPr>
          <p:cNvPr id="12" name="Shape 10"/>
          <p:cNvSpPr/>
          <p:nvPr/>
        </p:nvSpPr>
        <p:spPr>
          <a:xfrm>
            <a:off x="914400" y="3520440"/>
            <a:ext cx="7315200" cy="438912"/>
          </a:xfrm>
          <a:prstGeom prst="roundRect">
            <a:avLst>
              <a:gd name="adj" fmla="val 12500"/>
            </a:avLst>
          </a:prstGeom>
          <a:solidFill>
            <a:srgbClr val="464EB8"/>
          </a:solidFill>
          <a:ln w="12700">
            <a:solidFill>
              <a:srgbClr val="464EB8"/>
            </a:solidFill>
            <a:prstDash val="solid"/>
          </a:ln>
        </p:spPr>
      </p:sp>
      <p:sp>
        <p:nvSpPr>
          <p:cNvPr id="13" name="Text 11"/>
          <p:cNvSpPr/>
          <p:nvPr/>
        </p:nvSpPr>
        <p:spPr>
          <a:xfrm>
            <a:off x="914400" y="35204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would you build first to make the length visible?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Think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A ribbon measures two-thirds of a foot. The only ruler nearby shows inches, not thirds of a foot.</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Strip Against the Ruler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Physical Action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8412480" cy="548640"/>
          </a:xfrm>
          <a:prstGeom prst="roundRect">
            <a:avLst>
              <a:gd name="adj" fmla="val 16667"/>
            </a:avLst>
          </a:prstGeom>
          <a:solidFill>
            <a:srgbClr val="EAE8F5"/>
          </a:solidFill>
          <a:ln w="6350">
            <a:solidFill>
              <a:srgbClr val="DDDDEE"/>
            </a:solidFill>
            <a:prstDash val="solid"/>
          </a:ln>
        </p:spPr>
      </p:sp>
      <p:sp>
        <p:nvSpPr>
          <p:cNvPr id="7" name="Text 5"/>
          <p:cNvSpPr/>
          <p:nvPr/>
        </p:nvSpPr>
        <p:spPr>
          <a:xfrm>
            <a:off x="548640" y="914400"/>
            <a:ext cx="8046720" cy="548640"/>
          </a:xfrm>
          <a:prstGeom prst="rect">
            <a:avLst/>
          </a:prstGeom>
          <a:noFill/>
          <a:ln/>
        </p:spPr>
        <p:txBody>
          <a:bodyPr wrap="square" lIns="0" tIns="0" rIns="0" bIns="0" rtlCol="0" anchor="ctr"/>
          <a:lstStyle/>
          <a:p>
            <a:pPr indent="0" marL="0">
              <a:buNone/>
            </a:pPr>
            <a:r>
              <a:rPr lang="en-US" sz="1400" b="1" dirty="0">
                <a:solidFill>
                  <a:srgbClr val="4A3D8F"/>
                </a:solidFill>
              </a:rPr>
              <a:t>Cut a 1-foot strip into 3 equal parts. Shade 2 of the 3 parts. Line the strip up against an inch ruler.</a:t>
            </a:r>
            <a:endParaRPr lang="en-US" sz="1400" dirty="0"/>
          </a:p>
        </p:txBody>
      </p:sp>
      <p:sp>
        <p:nvSpPr>
          <p:cNvPr id="8" name="Shape 6"/>
          <p:cNvSpPr/>
          <p:nvPr/>
        </p:nvSpPr>
        <p:spPr>
          <a:xfrm>
            <a:off x="1188720" y="1691640"/>
            <a:ext cx="2255520" cy="640080"/>
          </a:xfrm>
          <a:prstGeom prst="rect">
            <a:avLst/>
          </a:prstGeom>
          <a:solidFill>
            <a:srgbClr val="4A3D8F"/>
          </a:solidFill>
          <a:ln w="12700">
            <a:solidFill>
              <a:srgbClr val="888888"/>
            </a:solidFill>
            <a:prstDash val="solid"/>
          </a:ln>
        </p:spPr>
      </p:sp>
      <p:sp>
        <p:nvSpPr>
          <p:cNvPr id="9" name="Shape 7"/>
          <p:cNvSpPr/>
          <p:nvPr/>
        </p:nvSpPr>
        <p:spPr>
          <a:xfrm>
            <a:off x="3444240" y="1691640"/>
            <a:ext cx="2255520" cy="640080"/>
          </a:xfrm>
          <a:prstGeom prst="rect">
            <a:avLst/>
          </a:prstGeom>
          <a:solidFill>
            <a:srgbClr val="4A3D8F"/>
          </a:solidFill>
          <a:ln w="12700">
            <a:solidFill>
              <a:srgbClr val="888888"/>
            </a:solidFill>
            <a:prstDash val="solid"/>
          </a:ln>
        </p:spPr>
      </p:sp>
      <p:sp>
        <p:nvSpPr>
          <p:cNvPr id="10" name="Shape 8"/>
          <p:cNvSpPr/>
          <p:nvPr/>
        </p:nvSpPr>
        <p:spPr>
          <a:xfrm>
            <a:off x="5699760" y="1691640"/>
            <a:ext cx="2255520" cy="640080"/>
          </a:xfrm>
          <a:prstGeom prst="rect">
            <a:avLst/>
          </a:prstGeom>
          <a:solidFill>
            <a:srgbClr val="FFFFFF"/>
          </a:solidFill>
          <a:ln w="12700">
            <a:solidFill>
              <a:srgbClr val="888888"/>
            </a:solidFill>
            <a:prstDash val="solid"/>
          </a:ln>
        </p:spPr>
      </p:sp>
      <p:sp>
        <p:nvSpPr>
          <p:cNvPr id="11" name="Shape 9"/>
          <p:cNvSpPr/>
          <p:nvPr/>
        </p:nvSpPr>
        <p:spPr>
          <a:xfrm>
            <a:off x="1188720" y="3108960"/>
            <a:ext cx="6766560" cy="0"/>
          </a:xfrm>
          <a:prstGeom prst="line">
            <a:avLst/>
          </a:prstGeom>
          <a:noFill/>
          <a:ln w="31750">
            <a:solidFill>
              <a:srgbClr val="1B2A4A"/>
            </a:solidFill>
            <a:prstDash val="solid"/>
          </a:ln>
        </p:spPr>
      </p:sp>
      <p:sp>
        <p:nvSpPr>
          <p:cNvPr id="12" name="Text 10"/>
          <p:cNvSpPr/>
          <p:nvPr/>
        </p:nvSpPr>
        <p:spPr>
          <a:xfrm>
            <a:off x="1188720" y="2560320"/>
            <a:ext cx="6766560" cy="320040"/>
          </a:xfrm>
          <a:prstGeom prst="rect">
            <a:avLst/>
          </a:prstGeom>
          <a:noFill/>
          <a:ln/>
        </p:spPr>
        <p:txBody>
          <a:bodyPr wrap="square" lIns="0" tIns="0" rIns="0" bIns="0" rtlCol="0" anchor="ctr"/>
          <a:lstStyle/>
          <a:p>
            <a:pPr algn="ctr" indent="0" marL="0">
              <a:buNone/>
            </a:pPr>
            <a:r>
              <a:rPr lang="en-US" sz="1300" i="1" dirty="0">
                <a:solidFill>
                  <a:srgbClr val="5A5A7A"/>
                </a:solidFill>
              </a:rPr>
              <a:t>Inch ruler (0 to 12 inches = 1 foot)</a:t>
            </a:r>
            <a:endParaRPr lang="en-US" sz="1300" dirty="0"/>
          </a:p>
        </p:txBody>
      </p:sp>
      <p:sp>
        <p:nvSpPr>
          <p:cNvPr id="13" name="Shape 11"/>
          <p:cNvSpPr/>
          <p:nvPr/>
        </p:nvSpPr>
        <p:spPr>
          <a:xfrm>
            <a:off x="1188720" y="2999232"/>
            <a:ext cx="0" cy="219456"/>
          </a:xfrm>
          <a:prstGeom prst="line">
            <a:avLst/>
          </a:prstGeom>
          <a:noFill/>
          <a:ln w="25400">
            <a:solidFill>
              <a:srgbClr val="1B2A4A"/>
            </a:solidFill>
            <a:prstDash val="solid"/>
          </a:ln>
        </p:spPr>
      </p:sp>
      <p:sp>
        <p:nvSpPr>
          <p:cNvPr id="14" name="Text 12"/>
          <p:cNvSpPr/>
          <p:nvPr/>
        </p:nvSpPr>
        <p:spPr>
          <a:xfrm>
            <a:off x="731520" y="323697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0</a:t>
            </a:r>
            <a:endParaRPr lang="en-US" sz="1100" dirty="0"/>
          </a:p>
        </p:txBody>
      </p:sp>
      <p:sp>
        <p:nvSpPr>
          <p:cNvPr id="15" name="Shape 13"/>
          <p:cNvSpPr/>
          <p:nvPr/>
        </p:nvSpPr>
        <p:spPr>
          <a:xfrm>
            <a:off x="3444240" y="2999232"/>
            <a:ext cx="0" cy="219456"/>
          </a:xfrm>
          <a:prstGeom prst="line">
            <a:avLst/>
          </a:prstGeom>
          <a:noFill/>
          <a:ln w="25400">
            <a:solidFill>
              <a:srgbClr val="1B2A4A"/>
            </a:solidFill>
            <a:prstDash val="solid"/>
          </a:ln>
        </p:spPr>
      </p:sp>
      <p:sp>
        <p:nvSpPr>
          <p:cNvPr id="16" name="Text 14"/>
          <p:cNvSpPr/>
          <p:nvPr/>
        </p:nvSpPr>
        <p:spPr>
          <a:xfrm>
            <a:off x="2987040" y="323697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4</a:t>
            </a:r>
            <a:endParaRPr lang="en-US" sz="1100" dirty="0"/>
          </a:p>
        </p:txBody>
      </p:sp>
      <p:sp>
        <p:nvSpPr>
          <p:cNvPr id="17" name="Shape 15"/>
          <p:cNvSpPr/>
          <p:nvPr/>
        </p:nvSpPr>
        <p:spPr>
          <a:xfrm>
            <a:off x="5699760" y="2999232"/>
            <a:ext cx="0" cy="219456"/>
          </a:xfrm>
          <a:prstGeom prst="line">
            <a:avLst/>
          </a:prstGeom>
          <a:noFill/>
          <a:ln w="25400">
            <a:solidFill>
              <a:srgbClr val="1B2A4A"/>
            </a:solidFill>
            <a:prstDash val="solid"/>
          </a:ln>
        </p:spPr>
      </p:sp>
      <p:sp>
        <p:nvSpPr>
          <p:cNvPr id="18" name="Text 16"/>
          <p:cNvSpPr/>
          <p:nvPr/>
        </p:nvSpPr>
        <p:spPr>
          <a:xfrm>
            <a:off x="5242560" y="323697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8</a:t>
            </a:r>
            <a:endParaRPr lang="en-US" sz="1100" dirty="0"/>
          </a:p>
        </p:txBody>
      </p:sp>
      <p:sp>
        <p:nvSpPr>
          <p:cNvPr id="19" name="Shape 17"/>
          <p:cNvSpPr/>
          <p:nvPr/>
        </p:nvSpPr>
        <p:spPr>
          <a:xfrm>
            <a:off x="7955280" y="2999232"/>
            <a:ext cx="0" cy="219456"/>
          </a:xfrm>
          <a:prstGeom prst="line">
            <a:avLst/>
          </a:prstGeom>
          <a:noFill/>
          <a:ln w="25400">
            <a:solidFill>
              <a:srgbClr val="1B2A4A"/>
            </a:solidFill>
            <a:prstDash val="solid"/>
          </a:ln>
        </p:spPr>
      </p:sp>
      <p:sp>
        <p:nvSpPr>
          <p:cNvPr id="20" name="Text 18"/>
          <p:cNvSpPr/>
          <p:nvPr/>
        </p:nvSpPr>
        <p:spPr>
          <a:xfrm>
            <a:off x="7498080" y="323697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12</a:t>
            </a:r>
            <a:endParaRPr lang="en-US" sz="1100" dirty="0"/>
          </a:p>
        </p:txBody>
      </p:sp>
      <p:sp>
        <p:nvSpPr>
          <p:cNvPr id="21" name="Shape 19"/>
          <p:cNvSpPr/>
          <p:nvPr/>
        </p:nvSpPr>
        <p:spPr>
          <a:xfrm>
            <a:off x="822960" y="3840480"/>
            <a:ext cx="7498080" cy="960120"/>
          </a:xfrm>
          <a:prstGeom prst="roundRect">
            <a:avLst>
              <a:gd name="adj" fmla="val 9524"/>
            </a:avLst>
          </a:prstGeom>
          <a:solidFill>
            <a:srgbClr val="FFFFFF"/>
          </a:solidFill>
          <a:ln w="6350">
            <a:solidFill>
              <a:srgbClr val="DDDDEE"/>
            </a:solidFill>
            <a:prstDash val="solid"/>
          </a:ln>
        </p:spPr>
      </p:sp>
      <p:sp>
        <p:nvSpPr>
          <p:cNvPr id="22" name="Text 20"/>
          <p:cNvSpPr/>
          <p:nvPr/>
        </p:nvSpPr>
        <p:spPr>
          <a:xfrm>
            <a:off x="1005840" y="3913632"/>
            <a:ext cx="7132320" cy="82296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Each third of the foot strip lines up with 12 divided by 3, or 4 inches. Two shaded thirds line up with 4 plus 4, or 8 inches.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Multiply the Fraction</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Diagram</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3063240"/>
          </a:xfrm>
          <a:prstGeom prst="roundRect">
            <a:avLst>
              <a:gd name="adj" fmla="val 2985"/>
            </a:avLst>
          </a:prstGeom>
          <a:solidFill>
            <a:srgbClr val="FFFFFF"/>
          </a:solidFill>
          <a:ln w="6350">
            <a:solidFill>
              <a:srgbClr val="DDDDEE"/>
            </a:solidFill>
            <a:prstDash val="solid"/>
          </a:ln>
        </p:spPr>
      </p:sp>
      <p:sp>
        <p:nvSpPr>
          <p:cNvPr id="7" name="Text 5"/>
          <p:cNvSpPr/>
          <p:nvPr/>
        </p:nvSpPr>
        <p:spPr>
          <a:xfrm>
            <a:off x="731520" y="1143000"/>
            <a:ext cx="7680960" cy="457200"/>
          </a:xfrm>
          <a:prstGeom prst="rect">
            <a:avLst/>
          </a:prstGeom>
          <a:noFill/>
          <a:ln/>
        </p:spPr>
        <p:txBody>
          <a:bodyPr wrap="square" lIns="0" tIns="0" rIns="0" bIns="0" rtlCol="0" anchor="ctr"/>
          <a:lstStyle/>
          <a:p>
            <a:pPr indent="0" marL="0">
              <a:buNone/>
            </a:pPr>
            <a:r>
              <a:rPr lang="en-US" sz="1600" b="1" dirty="0">
                <a:solidFill>
                  <a:srgbClr val="4A3D8F"/>
                </a:solidFill>
              </a:rPr>
              <a:t>Two-thirds of a foot, in inches:</a:t>
            </a:r>
            <a:endParaRPr lang="en-US" sz="1600" dirty="0"/>
          </a:p>
        </p:txBody>
      </p:sp>
      <p:sp>
        <p:nvSpPr>
          <p:cNvPr id="8" name="Text 6"/>
          <p:cNvSpPr/>
          <p:nvPr/>
        </p:nvSpPr>
        <p:spPr>
          <a:xfrm>
            <a:off x="914400" y="1737360"/>
            <a:ext cx="914400" cy="502920"/>
          </a:xfrm>
          <a:prstGeom prst="rect">
            <a:avLst/>
          </a:prstGeom>
          <a:noFill/>
          <a:ln/>
        </p:spPr>
        <p:txBody>
          <a:bodyPr wrap="square" lIns="0" tIns="0" rIns="0" bIns="0" rtlCol="0" anchor="b"/>
          <a:lstStyle/>
          <a:p>
            <a:pPr algn="ctr" indent="0" marL="0">
              <a:buNone/>
            </a:pPr>
            <a:r>
              <a:rPr lang="en-US" sz="3400" b="1" dirty="0">
                <a:solidFill>
                  <a:srgbClr val="1A1A2E"/>
                </a:solidFill>
                <a:latin typeface="Cambria" pitchFamily="34" charset="0"/>
                <a:ea typeface="Cambria" pitchFamily="34" charset="-122"/>
                <a:cs typeface="Cambria" pitchFamily="34" charset="-120"/>
              </a:rPr>
              <a:t>2</a:t>
            </a:r>
            <a:endParaRPr lang="en-US" sz="3400" dirty="0"/>
          </a:p>
        </p:txBody>
      </p:sp>
      <p:sp>
        <p:nvSpPr>
          <p:cNvPr id="9" name="Shape 7"/>
          <p:cNvSpPr/>
          <p:nvPr/>
        </p:nvSpPr>
        <p:spPr>
          <a:xfrm>
            <a:off x="1024128" y="2240280"/>
            <a:ext cx="694944" cy="0"/>
          </a:xfrm>
          <a:prstGeom prst="line">
            <a:avLst/>
          </a:prstGeom>
          <a:noFill/>
          <a:ln w="19050">
            <a:solidFill>
              <a:srgbClr val="1A1A2E"/>
            </a:solidFill>
            <a:prstDash val="solid"/>
          </a:ln>
        </p:spPr>
      </p:sp>
      <p:sp>
        <p:nvSpPr>
          <p:cNvPr id="10" name="Text 8"/>
          <p:cNvSpPr/>
          <p:nvPr/>
        </p:nvSpPr>
        <p:spPr>
          <a:xfrm>
            <a:off x="914400" y="2240280"/>
            <a:ext cx="914400" cy="502920"/>
          </a:xfrm>
          <a:prstGeom prst="rect">
            <a:avLst/>
          </a:prstGeom>
          <a:noFill/>
          <a:ln/>
        </p:spPr>
        <p:txBody>
          <a:bodyPr wrap="square" lIns="0" tIns="0" rIns="0" bIns="0" rtlCol="0" anchor="t"/>
          <a:lstStyle/>
          <a:p>
            <a:pPr algn="ctr" indent="0" marL="0">
              <a:buNone/>
            </a:pPr>
            <a:r>
              <a:rPr lang="en-US" sz="3400" b="1" dirty="0">
                <a:solidFill>
                  <a:srgbClr val="1A1A2E"/>
                </a:solidFill>
                <a:latin typeface="Cambria" pitchFamily="34" charset="0"/>
                <a:ea typeface="Cambria" pitchFamily="34" charset="-122"/>
                <a:cs typeface="Cambria" pitchFamily="34" charset="-120"/>
              </a:rPr>
              <a:t>3</a:t>
            </a:r>
            <a:endParaRPr lang="en-US" sz="3400" dirty="0"/>
          </a:p>
        </p:txBody>
      </p:sp>
      <p:sp>
        <p:nvSpPr>
          <p:cNvPr id="11" name="Text 9"/>
          <p:cNvSpPr/>
          <p:nvPr/>
        </p:nvSpPr>
        <p:spPr>
          <a:xfrm>
            <a:off x="1874520" y="1737360"/>
            <a:ext cx="548640" cy="1005840"/>
          </a:xfrm>
          <a:prstGeom prst="rect">
            <a:avLst/>
          </a:prstGeom>
          <a:noFill/>
          <a:ln/>
        </p:spPr>
        <p:txBody>
          <a:bodyPr wrap="square" lIns="0" tIns="0" rIns="0" bIns="0" rtlCol="0" anchor="ctr"/>
          <a:lstStyle/>
          <a:p>
            <a:pPr algn="ctr" indent="0" marL="0">
              <a:buNone/>
            </a:pPr>
            <a:r>
              <a:rPr lang="en-US" sz="3400" b="1" dirty="0">
                <a:solidFill>
                  <a:srgbClr val="1A1A2E"/>
                </a:solidFill>
              </a:rPr>
              <a:t>x</a:t>
            </a:r>
            <a:endParaRPr lang="en-US" sz="3400" dirty="0"/>
          </a:p>
        </p:txBody>
      </p:sp>
      <p:sp>
        <p:nvSpPr>
          <p:cNvPr id="12" name="Text 10"/>
          <p:cNvSpPr/>
          <p:nvPr/>
        </p:nvSpPr>
        <p:spPr>
          <a:xfrm>
            <a:off x="2423160" y="1737360"/>
            <a:ext cx="1005840" cy="1005840"/>
          </a:xfrm>
          <a:prstGeom prst="rect">
            <a:avLst/>
          </a:prstGeom>
          <a:noFill/>
          <a:ln/>
        </p:spPr>
        <p:txBody>
          <a:bodyPr wrap="square" lIns="0" tIns="0" rIns="0" bIns="0" rtlCol="0" anchor="ctr"/>
          <a:lstStyle/>
          <a:p>
            <a:pPr algn="ctr" indent="0" marL="0">
              <a:buNone/>
            </a:pPr>
            <a:r>
              <a:rPr lang="en-US" sz="3400" b="1" dirty="0">
                <a:solidFill>
                  <a:srgbClr val="1A1A2E"/>
                </a:solidFill>
                <a:latin typeface="Cambria" pitchFamily="34" charset="0"/>
                <a:ea typeface="Cambria" pitchFamily="34" charset="-122"/>
                <a:cs typeface="Cambria" pitchFamily="34" charset="-120"/>
              </a:rPr>
              <a:t>12</a:t>
            </a:r>
            <a:endParaRPr lang="en-US" sz="3400" dirty="0"/>
          </a:p>
        </p:txBody>
      </p:sp>
      <p:sp>
        <p:nvSpPr>
          <p:cNvPr id="13" name="Text 11"/>
          <p:cNvSpPr/>
          <p:nvPr/>
        </p:nvSpPr>
        <p:spPr>
          <a:xfrm>
            <a:off x="3429000" y="1737360"/>
            <a:ext cx="548640" cy="1005840"/>
          </a:xfrm>
          <a:prstGeom prst="rect">
            <a:avLst/>
          </a:prstGeom>
          <a:noFill/>
          <a:ln/>
        </p:spPr>
        <p:txBody>
          <a:bodyPr wrap="square" lIns="0" tIns="0" rIns="0" bIns="0" rtlCol="0" anchor="ctr"/>
          <a:lstStyle/>
          <a:p>
            <a:pPr algn="ctr" indent="0" marL="0">
              <a:buNone/>
            </a:pPr>
            <a:r>
              <a:rPr lang="en-US" sz="3400" b="1" dirty="0">
                <a:solidFill>
                  <a:srgbClr val="1A1A2E"/>
                </a:solidFill>
              </a:rPr>
              <a:t>=</a:t>
            </a:r>
            <a:endParaRPr lang="en-US" sz="3400" dirty="0"/>
          </a:p>
        </p:txBody>
      </p:sp>
      <p:sp>
        <p:nvSpPr>
          <p:cNvPr id="14" name="Text 12"/>
          <p:cNvSpPr/>
          <p:nvPr/>
        </p:nvSpPr>
        <p:spPr>
          <a:xfrm>
            <a:off x="3977640" y="1737360"/>
            <a:ext cx="1188720" cy="502920"/>
          </a:xfrm>
          <a:prstGeom prst="rect">
            <a:avLst/>
          </a:prstGeom>
          <a:noFill/>
          <a:ln/>
        </p:spPr>
        <p:txBody>
          <a:bodyPr wrap="square" lIns="0" tIns="0" rIns="0" bIns="0" rtlCol="0" anchor="b"/>
          <a:lstStyle/>
          <a:p>
            <a:pPr algn="ctr" indent="0" marL="0">
              <a:buNone/>
            </a:pPr>
            <a:r>
              <a:rPr lang="en-US" sz="3400" b="1" dirty="0">
                <a:solidFill>
                  <a:srgbClr val="1A1A2E"/>
                </a:solidFill>
                <a:latin typeface="Cambria" pitchFamily="34" charset="0"/>
                <a:ea typeface="Cambria" pitchFamily="34" charset="-122"/>
                <a:cs typeface="Cambria" pitchFamily="34" charset="-120"/>
              </a:rPr>
              <a:t>24</a:t>
            </a:r>
            <a:endParaRPr lang="en-US" sz="3400" dirty="0"/>
          </a:p>
        </p:txBody>
      </p:sp>
      <p:sp>
        <p:nvSpPr>
          <p:cNvPr id="15" name="Shape 13"/>
          <p:cNvSpPr/>
          <p:nvPr/>
        </p:nvSpPr>
        <p:spPr>
          <a:xfrm>
            <a:off x="4120286" y="2240280"/>
            <a:ext cx="903427" cy="0"/>
          </a:xfrm>
          <a:prstGeom prst="line">
            <a:avLst/>
          </a:prstGeom>
          <a:noFill/>
          <a:ln w="19050">
            <a:solidFill>
              <a:srgbClr val="1A1A2E"/>
            </a:solidFill>
            <a:prstDash val="solid"/>
          </a:ln>
        </p:spPr>
      </p:sp>
      <p:sp>
        <p:nvSpPr>
          <p:cNvPr id="16" name="Text 14"/>
          <p:cNvSpPr/>
          <p:nvPr/>
        </p:nvSpPr>
        <p:spPr>
          <a:xfrm>
            <a:off x="3977640" y="2240280"/>
            <a:ext cx="1188720" cy="502920"/>
          </a:xfrm>
          <a:prstGeom prst="rect">
            <a:avLst/>
          </a:prstGeom>
          <a:noFill/>
          <a:ln/>
        </p:spPr>
        <p:txBody>
          <a:bodyPr wrap="square" lIns="0" tIns="0" rIns="0" bIns="0" rtlCol="0" anchor="t"/>
          <a:lstStyle/>
          <a:p>
            <a:pPr algn="ctr" indent="0" marL="0">
              <a:buNone/>
            </a:pPr>
            <a:r>
              <a:rPr lang="en-US" sz="3400" b="1" dirty="0">
                <a:solidFill>
                  <a:srgbClr val="1A1A2E"/>
                </a:solidFill>
                <a:latin typeface="Cambria" pitchFamily="34" charset="0"/>
                <a:ea typeface="Cambria" pitchFamily="34" charset="-122"/>
                <a:cs typeface="Cambria" pitchFamily="34" charset="-120"/>
              </a:rPr>
              <a:t>3</a:t>
            </a:r>
            <a:endParaRPr lang="en-US" sz="3400" dirty="0"/>
          </a:p>
        </p:txBody>
      </p:sp>
      <p:sp>
        <p:nvSpPr>
          <p:cNvPr id="17" name="Text 15"/>
          <p:cNvSpPr/>
          <p:nvPr/>
        </p:nvSpPr>
        <p:spPr>
          <a:xfrm>
            <a:off x="5257800" y="1737360"/>
            <a:ext cx="3108960" cy="1005840"/>
          </a:xfrm>
          <a:prstGeom prst="rect">
            <a:avLst/>
          </a:prstGeom>
          <a:noFill/>
          <a:ln/>
        </p:spPr>
        <p:txBody>
          <a:bodyPr wrap="square" lIns="0" tIns="0" rIns="0" bIns="0" rtlCol="0" anchor="ctr"/>
          <a:lstStyle/>
          <a:p>
            <a:pPr algn="l" indent="0" marL="0">
              <a:buNone/>
            </a:pPr>
            <a:r>
              <a:rPr lang="en-US" sz="3400" b="1" dirty="0">
                <a:solidFill>
                  <a:srgbClr val="2E6E44"/>
                </a:solidFill>
                <a:latin typeface="Cambria" pitchFamily="34" charset="0"/>
                <a:ea typeface="Cambria" pitchFamily="34" charset="-122"/>
                <a:cs typeface="Cambria" pitchFamily="34" charset="-120"/>
              </a:rPr>
              <a:t>= 8 in</a:t>
            </a:r>
            <a:endParaRPr lang="en-US" sz="3400" dirty="0"/>
          </a:p>
        </p:txBody>
      </p:sp>
      <p:sp>
        <p:nvSpPr>
          <p:cNvPr id="18" name="Shape 16"/>
          <p:cNvSpPr/>
          <p:nvPr/>
        </p:nvSpPr>
        <p:spPr>
          <a:xfrm>
            <a:off x="731520" y="2926080"/>
            <a:ext cx="7680960" cy="0"/>
          </a:xfrm>
          <a:prstGeom prst="line">
            <a:avLst/>
          </a:prstGeom>
          <a:noFill/>
          <a:ln w="6350">
            <a:solidFill>
              <a:srgbClr val="DDDDEE"/>
            </a:solidFill>
            <a:prstDash val="solid"/>
          </a:ln>
        </p:spPr>
      </p:sp>
      <p:sp>
        <p:nvSpPr>
          <p:cNvPr id="19" name="Text 17"/>
          <p:cNvSpPr/>
          <p:nvPr/>
        </p:nvSpPr>
        <p:spPr>
          <a:xfrm>
            <a:off x="731520" y="3063240"/>
            <a:ext cx="7680960" cy="914400"/>
          </a:xfrm>
          <a:prstGeom prst="rect">
            <a:avLst/>
          </a:prstGeom>
          <a:noFill/>
          <a:ln/>
        </p:spPr>
        <p:txBody>
          <a:bodyPr wrap="square" lIns="0" tIns="0" rIns="0" bIns="0" rtlCol="0" anchor="ctr"/>
          <a:lstStyle/>
          <a:p>
            <a:pPr indent="0" marL="0">
              <a:buNone/>
            </a:pPr>
            <a:r>
              <a:rPr lang="en-US" sz="1400" i="1" dirty="0">
                <a:solidFill>
                  <a:srgbClr val="5A5A7A"/>
                </a:solidFill>
                <a:latin typeface="Cambria" pitchFamily="34" charset="0"/>
                <a:ea typeface="Cambria" pitchFamily="34" charset="-122"/>
                <a:cs typeface="Cambria" pitchFamily="34" charset="-120"/>
              </a:rPr>
              <a:t>The fraction tells you how many thirds. Multiplying by 12 tells you how many inches are in ALL of the foot — then you keep only the shaded thirds.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The Conversion Rule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Rule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548640" y="1188720"/>
            <a:ext cx="8046720" cy="2651760"/>
          </a:xfrm>
          <a:prstGeom prst="roundRect">
            <a:avLst>
              <a:gd name="adj" fmla="val 3448"/>
            </a:avLst>
          </a:prstGeom>
          <a:solidFill>
            <a:srgbClr val="EAE8F5"/>
          </a:solidFill>
          <a:ln w="6350">
            <a:solidFill>
              <a:srgbClr val="DDDDEE"/>
            </a:solidFill>
            <a:prstDash val="solid"/>
          </a:ln>
        </p:spPr>
      </p:sp>
      <p:sp>
        <p:nvSpPr>
          <p:cNvPr id="7" name="Text 5"/>
          <p:cNvSpPr/>
          <p:nvPr/>
        </p:nvSpPr>
        <p:spPr>
          <a:xfrm>
            <a:off x="822960" y="1371600"/>
            <a:ext cx="7498080" cy="6400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To convert a fraction (or mixed number) of a bigger unit into a smaller unit:</a:t>
            </a:r>
            <a:endParaRPr lang="en-US" sz="1600" dirty="0"/>
          </a:p>
        </p:txBody>
      </p:sp>
      <p:sp>
        <p:nvSpPr>
          <p:cNvPr id="8" name="Text 6"/>
          <p:cNvSpPr/>
          <p:nvPr/>
        </p:nvSpPr>
        <p:spPr>
          <a:xfrm>
            <a:off x="822960" y="2057400"/>
            <a:ext cx="7498080" cy="1005840"/>
          </a:xfrm>
          <a:prstGeom prst="rect">
            <a:avLst/>
          </a:prstGeom>
          <a:noFill/>
          <a:ln/>
        </p:spPr>
        <p:txBody>
          <a:bodyPr wrap="square" lIns="0" tIns="0" rIns="0" bIns="0" rtlCol="0" anchor="ctr"/>
          <a:lstStyle/>
          <a:p>
            <a:pPr indent="0" marL="0">
              <a:buNone/>
            </a:pPr>
            <a:r>
              <a:rPr lang="en-US" sz="1900" b="1" dirty="0">
                <a:solidFill>
                  <a:srgbClr val="1A1A2E"/>
                </a:solidFill>
                <a:latin typeface="Cambria" pitchFamily="34" charset="0"/>
                <a:ea typeface="Cambria" pitchFamily="34" charset="-122"/>
                <a:cs typeface="Cambria" pitchFamily="34" charset="-120"/>
              </a:rPr>
              <a:t>Multiply the fraction (or mixed number) by the conversion number — the number of small units inside one big unit.</a:t>
            </a:r>
            <a:endParaRPr lang="en-US" sz="1900" dirty="0"/>
          </a:p>
        </p:txBody>
      </p:sp>
      <p:sp>
        <p:nvSpPr>
          <p:cNvPr id="9" name="Text 7"/>
          <p:cNvSpPr/>
          <p:nvPr/>
        </p:nvSpPr>
        <p:spPr>
          <a:xfrm>
            <a:off x="822960" y="3200400"/>
            <a:ext cx="7498080" cy="457200"/>
          </a:xfrm>
          <a:prstGeom prst="rect">
            <a:avLst/>
          </a:prstGeom>
          <a:noFill/>
          <a:ln/>
        </p:spPr>
        <p:txBody>
          <a:bodyPr wrap="square" lIns="0" tIns="0" rIns="0" bIns="0" rtlCol="0" anchor="ctr"/>
          <a:lstStyle/>
          <a:p>
            <a:pPr indent="0" marL="0">
              <a:buNone/>
            </a:pPr>
            <a:r>
              <a:rPr lang="en-US" sz="1200" i="1" dirty="0">
                <a:solidFill>
                  <a:srgbClr val="5A5A7A"/>
                </a:solidFill>
              </a:rPr>
              <a:t>Say "fraction" and "conversion number" — never a bare letter.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4023360" cy="1600200"/>
          </a:xfrm>
          <a:prstGeom prst="roundRect">
            <a:avLst>
              <a:gd name="adj" fmla="val 5714"/>
            </a:avLst>
          </a:prstGeom>
          <a:solidFill>
            <a:srgbClr val="FFFFFF"/>
          </a:solidFill>
          <a:ln w="6350">
            <a:solidFill>
              <a:srgbClr val="DDDDEE"/>
            </a:solidFill>
            <a:prstDash val="solid"/>
          </a:ln>
        </p:spPr>
      </p:sp>
      <p:sp>
        <p:nvSpPr>
          <p:cNvPr id="7" name="Text 5"/>
          <p:cNvSpPr/>
          <p:nvPr/>
        </p:nvSpPr>
        <p:spPr>
          <a:xfrm>
            <a:off x="640080" y="1069848"/>
            <a:ext cx="365760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conversion</a:t>
            </a:r>
            <a:endParaRPr lang="en-US" sz="1600" dirty="0"/>
          </a:p>
        </p:txBody>
      </p:sp>
      <p:sp>
        <p:nvSpPr>
          <p:cNvPr id="8" name="Text 6"/>
          <p:cNvSpPr/>
          <p:nvPr/>
        </p:nvSpPr>
        <p:spPr>
          <a:xfrm>
            <a:off x="640080" y="1463040"/>
            <a:ext cx="3657600" cy="548640"/>
          </a:xfrm>
          <a:prstGeom prst="rect">
            <a:avLst/>
          </a:prstGeom>
          <a:noFill/>
          <a:ln/>
        </p:spPr>
        <p:txBody>
          <a:bodyPr wrap="square" lIns="0" tIns="0" rIns="0" bIns="0" rtlCol="0" anchor="ctr"/>
          <a:lstStyle/>
          <a:p>
            <a:pPr indent="0" marL="0">
              <a:buNone/>
            </a:pPr>
            <a:r>
              <a:rPr lang="en-US" sz="1200" dirty="0">
                <a:solidFill>
                  <a:srgbClr val="1A1A2E"/>
                </a:solidFill>
              </a:rPr>
              <a:t>Writing the same measurement using a different unit.</a:t>
            </a:r>
            <a:endParaRPr lang="en-US" sz="1200" dirty="0"/>
          </a:p>
        </p:txBody>
      </p:sp>
      <p:sp>
        <p:nvSpPr>
          <p:cNvPr id="9" name="Text 7"/>
          <p:cNvSpPr/>
          <p:nvPr/>
        </p:nvSpPr>
        <p:spPr>
          <a:xfrm>
            <a:off x="640080" y="2039112"/>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Converting one-half of a foot to inches gives six inches.</a:t>
            </a:r>
            <a:endParaRPr lang="en-US" sz="1100" dirty="0"/>
          </a:p>
        </p:txBody>
      </p:sp>
      <p:sp>
        <p:nvSpPr>
          <p:cNvPr id="10" name="Shape 8"/>
          <p:cNvSpPr/>
          <p:nvPr/>
        </p:nvSpPr>
        <p:spPr>
          <a:xfrm>
            <a:off x="4663440" y="960120"/>
            <a:ext cx="4023360" cy="1600200"/>
          </a:xfrm>
          <a:prstGeom prst="roundRect">
            <a:avLst>
              <a:gd name="adj" fmla="val 5714"/>
            </a:avLst>
          </a:prstGeom>
          <a:solidFill>
            <a:srgbClr val="FFFFFF"/>
          </a:solidFill>
          <a:ln w="6350">
            <a:solidFill>
              <a:srgbClr val="DDDDEE"/>
            </a:solidFill>
            <a:prstDash val="solid"/>
          </a:ln>
        </p:spPr>
      </p:sp>
      <p:sp>
        <p:nvSpPr>
          <p:cNvPr id="11" name="Text 9"/>
          <p:cNvSpPr/>
          <p:nvPr/>
        </p:nvSpPr>
        <p:spPr>
          <a:xfrm>
            <a:off x="4846320" y="1069848"/>
            <a:ext cx="365760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conversion number</a:t>
            </a:r>
            <a:endParaRPr lang="en-US" sz="1600" dirty="0"/>
          </a:p>
        </p:txBody>
      </p:sp>
      <p:sp>
        <p:nvSpPr>
          <p:cNvPr id="12" name="Text 10"/>
          <p:cNvSpPr/>
          <p:nvPr/>
        </p:nvSpPr>
        <p:spPr>
          <a:xfrm>
            <a:off x="4846320" y="1463040"/>
            <a:ext cx="3657600" cy="548640"/>
          </a:xfrm>
          <a:prstGeom prst="rect">
            <a:avLst/>
          </a:prstGeom>
          <a:noFill/>
          <a:ln/>
        </p:spPr>
        <p:txBody>
          <a:bodyPr wrap="square" lIns="0" tIns="0" rIns="0" bIns="0" rtlCol="0" anchor="ctr"/>
          <a:lstStyle/>
          <a:p>
            <a:pPr indent="0" marL="0">
              <a:buNone/>
            </a:pPr>
            <a:r>
              <a:rPr lang="en-US" sz="1200" dirty="0">
                <a:solidFill>
                  <a:srgbClr val="1A1A2E"/>
                </a:solidFill>
              </a:rPr>
              <a:t>How many small units fit inside one big unit.</a:t>
            </a:r>
            <a:endParaRPr lang="en-US" sz="1200" dirty="0"/>
          </a:p>
        </p:txBody>
      </p:sp>
      <p:sp>
        <p:nvSpPr>
          <p:cNvPr id="13" name="Text 11"/>
          <p:cNvSpPr/>
          <p:nvPr/>
        </p:nvSpPr>
        <p:spPr>
          <a:xfrm>
            <a:off x="4846320" y="2039112"/>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Twelve is the conversion number for feet to inches.</a:t>
            </a:r>
            <a:endParaRPr lang="en-US" sz="1100" dirty="0"/>
          </a:p>
        </p:txBody>
      </p:sp>
      <p:sp>
        <p:nvSpPr>
          <p:cNvPr id="14" name="Shape 12"/>
          <p:cNvSpPr/>
          <p:nvPr/>
        </p:nvSpPr>
        <p:spPr>
          <a:xfrm>
            <a:off x="457200" y="2743200"/>
            <a:ext cx="4023360" cy="1600200"/>
          </a:xfrm>
          <a:prstGeom prst="roundRect">
            <a:avLst>
              <a:gd name="adj" fmla="val 5714"/>
            </a:avLst>
          </a:prstGeom>
          <a:solidFill>
            <a:srgbClr val="FFFFFF"/>
          </a:solidFill>
          <a:ln w="6350">
            <a:solidFill>
              <a:srgbClr val="DDDDEE"/>
            </a:solidFill>
            <a:prstDash val="solid"/>
          </a:ln>
        </p:spPr>
      </p:sp>
      <p:sp>
        <p:nvSpPr>
          <p:cNvPr id="15" name="Text 13"/>
          <p:cNvSpPr/>
          <p:nvPr/>
        </p:nvSpPr>
        <p:spPr>
          <a:xfrm>
            <a:off x="640080" y="2852928"/>
            <a:ext cx="365760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mixed number</a:t>
            </a:r>
            <a:endParaRPr lang="en-US" sz="1600" dirty="0"/>
          </a:p>
        </p:txBody>
      </p:sp>
      <p:sp>
        <p:nvSpPr>
          <p:cNvPr id="16" name="Text 14"/>
          <p:cNvSpPr/>
          <p:nvPr/>
        </p:nvSpPr>
        <p:spPr>
          <a:xfrm>
            <a:off x="640080" y="3246120"/>
            <a:ext cx="3657600" cy="548640"/>
          </a:xfrm>
          <a:prstGeom prst="rect">
            <a:avLst/>
          </a:prstGeom>
          <a:noFill/>
          <a:ln/>
        </p:spPr>
        <p:txBody>
          <a:bodyPr wrap="square" lIns="0" tIns="0" rIns="0" bIns="0" rtlCol="0" anchor="ctr"/>
          <a:lstStyle/>
          <a:p>
            <a:pPr indent="0" marL="0">
              <a:buNone/>
            </a:pPr>
            <a:r>
              <a:rPr lang="en-US" sz="1200" dirty="0">
                <a:solidFill>
                  <a:srgbClr val="1A1A2E"/>
                </a:solidFill>
              </a:rPr>
              <a:t>A whole number and a fraction together.</a:t>
            </a:r>
            <a:endParaRPr lang="en-US" sz="1200" dirty="0"/>
          </a:p>
        </p:txBody>
      </p:sp>
      <p:sp>
        <p:nvSpPr>
          <p:cNvPr id="17" name="Text 15"/>
          <p:cNvSpPr/>
          <p:nvPr/>
        </p:nvSpPr>
        <p:spPr>
          <a:xfrm>
            <a:off x="640080" y="3822192"/>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Three and three-fourths feet is a mixed number of feet.</a:t>
            </a:r>
            <a:endParaRPr lang="en-US" sz="1100" dirty="0"/>
          </a:p>
        </p:txBody>
      </p:sp>
      <p:sp>
        <p:nvSpPr>
          <p:cNvPr id="18" name="Shape 16"/>
          <p:cNvSpPr/>
          <p:nvPr/>
        </p:nvSpPr>
        <p:spPr>
          <a:xfrm>
            <a:off x="4663440" y="2743200"/>
            <a:ext cx="4023360" cy="1600200"/>
          </a:xfrm>
          <a:prstGeom prst="roundRect">
            <a:avLst>
              <a:gd name="adj" fmla="val 5714"/>
            </a:avLst>
          </a:prstGeom>
          <a:solidFill>
            <a:srgbClr val="FFFFFF"/>
          </a:solidFill>
          <a:ln w="6350">
            <a:solidFill>
              <a:srgbClr val="DDDDEE"/>
            </a:solidFill>
            <a:prstDash val="solid"/>
          </a:ln>
        </p:spPr>
      </p:sp>
      <p:sp>
        <p:nvSpPr>
          <p:cNvPr id="19" name="Text 17"/>
          <p:cNvSpPr/>
          <p:nvPr/>
        </p:nvSpPr>
        <p:spPr>
          <a:xfrm>
            <a:off x="4846320" y="2852928"/>
            <a:ext cx="365760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equivalent measurement</a:t>
            </a:r>
            <a:endParaRPr lang="en-US" sz="1600" dirty="0"/>
          </a:p>
        </p:txBody>
      </p:sp>
      <p:sp>
        <p:nvSpPr>
          <p:cNvPr id="20" name="Text 18"/>
          <p:cNvSpPr/>
          <p:nvPr/>
        </p:nvSpPr>
        <p:spPr>
          <a:xfrm>
            <a:off x="4846320" y="3246120"/>
            <a:ext cx="3657600" cy="548640"/>
          </a:xfrm>
          <a:prstGeom prst="rect">
            <a:avLst/>
          </a:prstGeom>
          <a:noFill/>
          <a:ln/>
        </p:spPr>
        <p:txBody>
          <a:bodyPr wrap="square" lIns="0" tIns="0" rIns="0" bIns="0" rtlCol="0" anchor="ctr"/>
          <a:lstStyle/>
          <a:p>
            <a:pPr indent="0" marL="0">
              <a:buNone/>
            </a:pPr>
            <a:r>
              <a:rPr lang="en-US" sz="1200" dirty="0">
                <a:solidFill>
                  <a:srgbClr val="1A1A2E"/>
                </a:solidFill>
              </a:rPr>
              <a:t>Two measurements that describe the same amount using different units.</a:t>
            </a:r>
            <a:endParaRPr lang="en-US" sz="1200" dirty="0"/>
          </a:p>
        </p:txBody>
      </p:sp>
      <p:sp>
        <p:nvSpPr>
          <p:cNvPr id="21" name="Text 19"/>
          <p:cNvSpPr/>
          <p:nvPr/>
        </p:nvSpPr>
        <p:spPr>
          <a:xfrm>
            <a:off x="4846320" y="3822192"/>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Eight inches and two-thirds of a foot are equivalent.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A</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Length · Mixed Number</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36576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Text 6"/>
          <p:cNvSpPr/>
          <p:nvPr/>
        </p:nvSpPr>
        <p:spPr>
          <a:xfrm>
            <a:off x="365760" y="1234440"/>
            <a:ext cx="365760" cy="594360"/>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2</a:t>
            </a:r>
            <a:endParaRPr lang="en-US" sz="2200" dirty="0"/>
          </a:p>
        </p:txBody>
      </p:sp>
      <p:sp>
        <p:nvSpPr>
          <p:cNvPr id="9" name="Text 7"/>
          <p:cNvSpPr/>
          <p:nvPr/>
        </p:nvSpPr>
        <p:spPr>
          <a:xfrm>
            <a:off x="777240" y="1188720"/>
            <a:ext cx="548640" cy="320040"/>
          </a:xfrm>
          <a:prstGeom prst="rect">
            <a:avLst/>
          </a:prstGeom>
          <a:noFill/>
          <a:ln/>
        </p:spPr>
        <p:txBody>
          <a:bodyPr wrap="square" lIns="0" tIns="0" rIns="0" bIns="0" rtlCol="0" anchor="b"/>
          <a:lstStyle/>
          <a:p>
            <a:pPr algn="ctr" indent="0" marL="0">
              <a:buNone/>
            </a:pPr>
            <a:r>
              <a:rPr lang="en-US" sz="1800" b="1" dirty="0">
                <a:solidFill>
                  <a:srgbClr val="1A1A2E"/>
                </a:solidFill>
                <a:latin typeface="Cambria" pitchFamily="34" charset="0"/>
                <a:ea typeface="Cambria" pitchFamily="34" charset="-122"/>
                <a:cs typeface="Cambria" pitchFamily="34" charset="-120"/>
              </a:rPr>
              <a:t>1</a:t>
            </a:r>
            <a:endParaRPr lang="en-US" sz="1800" dirty="0"/>
          </a:p>
        </p:txBody>
      </p:sp>
      <p:sp>
        <p:nvSpPr>
          <p:cNvPr id="10" name="Shape 8"/>
          <p:cNvSpPr/>
          <p:nvPr/>
        </p:nvSpPr>
        <p:spPr>
          <a:xfrm>
            <a:off x="843077" y="1508760"/>
            <a:ext cx="416966" cy="0"/>
          </a:xfrm>
          <a:prstGeom prst="line">
            <a:avLst/>
          </a:prstGeom>
          <a:noFill/>
          <a:ln w="19050">
            <a:solidFill>
              <a:srgbClr val="1A1A2E"/>
            </a:solidFill>
            <a:prstDash val="solid"/>
          </a:ln>
        </p:spPr>
      </p:sp>
      <p:sp>
        <p:nvSpPr>
          <p:cNvPr id="11" name="Text 9"/>
          <p:cNvSpPr/>
          <p:nvPr/>
        </p:nvSpPr>
        <p:spPr>
          <a:xfrm>
            <a:off x="777240" y="1508760"/>
            <a:ext cx="548640" cy="320040"/>
          </a:xfrm>
          <a:prstGeom prst="rect">
            <a:avLst/>
          </a:prstGeom>
          <a:noFill/>
          <a:ln/>
        </p:spPr>
        <p:txBody>
          <a:bodyPr wrap="square" lIns="0" tIns="0" rIns="0" bIns="0" rtlCol="0" anchor="t"/>
          <a:lstStyle/>
          <a:p>
            <a:pPr algn="ctr" indent="0" marL="0">
              <a:buNone/>
            </a:pPr>
            <a:r>
              <a:rPr lang="en-US" sz="1800" b="1" dirty="0">
                <a:solidFill>
                  <a:srgbClr val="1A1A2E"/>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371600" y="1234440"/>
            <a:ext cx="5486400" cy="594360"/>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yards = ___ feet</a:t>
            </a:r>
            <a:endParaRPr lang="en-US" sz="2200" dirty="0"/>
          </a:p>
        </p:txBody>
      </p:sp>
      <p:sp>
        <p:nvSpPr>
          <p:cNvPr id="13" name="Shape 11"/>
          <p:cNvSpPr/>
          <p:nvPr/>
        </p:nvSpPr>
        <p:spPr>
          <a:xfrm>
            <a:off x="365760" y="1965960"/>
            <a:ext cx="4069080" cy="1188720"/>
          </a:xfrm>
          <a:prstGeom prst="roundRect">
            <a:avLst>
              <a:gd name="adj" fmla="val 7692"/>
            </a:avLst>
          </a:prstGeom>
          <a:solidFill>
            <a:srgbClr val="FFFFFF"/>
          </a:solidFill>
          <a:ln w="6350">
            <a:solidFill>
              <a:srgbClr val="DDDDEE"/>
            </a:solidFill>
            <a:prstDash val="solid"/>
          </a:ln>
        </p:spPr>
      </p:sp>
      <p:sp>
        <p:nvSpPr>
          <p:cNvPr id="14" name="Shape 12"/>
          <p:cNvSpPr/>
          <p:nvPr/>
        </p:nvSpPr>
        <p:spPr>
          <a:xfrm>
            <a:off x="502920" y="2039112"/>
            <a:ext cx="347472" cy="347472"/>
          </a:xfrm>
          <a:prstGeom prst="ellipse">
            <a:avLst/>
          </a:prstGeom>
          <a:solidFill>
            <a:srgbClr val="4A3D8F"/>
          </a:solidFill>
          <a:ln w="12700">
            <a:solidFill>
              <a:srgbClr val="4A3D8F"/>
            </a:solidFill>
            <a:prstDash val="solid"/>
          </a:ln>
        </p:spPr>
      </p:sp>
      <p:sp>
        <p:nvSpPr>
          <p:cNvPr id="15" name="Text 13"/>
          <p:cNvSpPr/>
          <p:nvPr/>
        </p:nvSpPr>
        <p:spPr>
          <a:xfrm>
            <a:off x="502920" y="2039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6" name="Text 14"/>
          <p:cNvSpPr/>
          <p:nvPr/>
        </p:nvSpPr>
        <p:spPr>
          <a:xfrm>
            <a:off x="96012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Conversion number</a:t>
            </a:r>
            <a:endParaRPr lang="en-US" sz="1200" dirty="0"/>
          </a:p>
        </p:txBody>
      </p:sp>
      <p:sp>
        <p:nvSpPr>
          <p:cNvPr id="17" name="Text 15"/>
          <p:cNvSpPr/>
          <p:nvPr/>
        </p:nvSpPr>
        <p:spPr>
          <a:xfrm>
            <a:off x="96012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1 yard = 3 feet, so 3 is the conversion number.</a:t>
            </a:r>
            <a:endParaRPr lang="en-US" sz="1100" dirty="0"/>
          </a:p>
        </p:txBody>
      </p:sp>
      <p:sp>
        <p:nvSpPr>
          <p:cNvPr id="18" name="Shape 16"/>
          <p:cNvSpPr/>
          <p:nvPr/>
        </p:nvSpPr>
        <p:spPr>
          <a:xfrm>
            <a:off x="4663440" y="1965960"/>
            <a:ext cx="4069080" cy="1188720"/>
          </a:xfrm>
          <a:prstGeom prst="roundRect">
            <a:avLst>
              <a:gd name="adj" fmla="val 7692"/>
            </a:avLst>
          </a:prstGeom>
          <a:solidFill>
            <a:srgbClr val="FFFFFF"/>
          </a:solidFill>
          <a:ln w="6350">
            <a:solidFill>
              <a:srgbClr val="DDDDEE"/>
            </a:solidFill>
            <a:prstDash val="solid"/>
          </a:ln>
        </p:spPr>
      </p:sp>
      <p:sp>
        <p:nvSpPr>
          <p:cNvPr id="19" name="Shape 17"/>
          <p:cNvSpPr/>
          <p:nvPr/>
        </p:nvSpPr>
        <p:spPr>
          <a:xfrm>
            <a:off x="4800600" y="2039112"/>
            <a:ext cx="347472" cy="347472"/>
          </a:xfrm>
          <a:prstGeom prst="ellipse">
            <a:avLst/>
          </a:prstGeom>
          <a:solidFill>
            <a:srgbClr val="4A3D8F"/>
          </a:solidFill>
          <a:ln w="12700">
            <a:solidFill>
              <a:srgbClr val="4A3D8F"/>
            </a:solidFill>
            <a:prstDash val="solid"/>
          </a:ln>
        </p:spPr>
      </p:sp>
      <p:sp>
        <p:nvSpPr>
          <p:cNvPr id="20" name="Text 18"/>
          <p:cNvSpPr/>
          <p:nvPr/>
        </p:nvSpPr>
        <p:spPr>
          <a:xfrm>
            <a:off x="4800600" y="2039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1" name="Text 19"/>
          <p:cNvSpPr/>
          <p:nvPr/>
        </p:nvSpPr>
        <p:spPr>
          <a:xfrm>
            <a:off x="525780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Multiply</a:t>
            </a:r>
            <a:endParaRPr lang="en-US" sz="1200" dirty="0"/>
          </a:p>
        </p:txBody>
      </p:sp>
      <p:sp>
        <p:nvSpPr>
          <p:cNvPr id="22" name="Text 20"/>
          <p:cNvSpPr/>
          <p:nvPr/>
        </p:nvSpPr>
        <p:spPr>
          <a:xfrm>
            <a:off x="525780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Multiply the mixed number by 3: two and one-half times three.</a:t>
            </a:r>
            <a:endParaRPr lang="en-US" sz="1100" dirty="0"/>
          </a:p>
        </p:txBody>
      </p:sp>
      <p:sp>
        <p:nvSpPr>
          <p:cNvPr id="23" name="Shape 21"/>
          <p:cNvSpPr/>
          <p:nvPr/>
        </p:nvSpPr>
        <p:spPr>
          <a:xfrm>
            <a:off x="365760" y="3291840"/>
            <a:ext cx="4069080" cy="1188720"/>
          </a:xfrm>
          <a:prstGeom prst="roundRect">
            <a:avLst>
              <a:gd name="adj" fmla="val 7692"/>
            </a:avLst>
          </a:prstGeom>
          <a:solidFill>
            <a:srgbClr val="FFFFFF"/>
          </a:solidFill>
          <a:ln w="6350">
            <a:solidFill>
              <a:srgbClr val="DDDDEE"/>
            </a:solidFill>
            <a:prstDash val="solid"/>
          </a:ln>
        </p:spPr>
      </p:sp>
      <p:sp>
        <p:nvSpPr>
          <p:cNvPr id="24" name="Shape 22"/>
          <p:cNvSpPr/>
          <p:nvPr/>
        </p:nvSpPr>
        <p:spPr>
          <a:xfrm>
            <a:off x="502920" y="3364992"/>
            <a:ext cx="347472" cy="347472"/>
          </a:xfrm>
          <a:prstGeom prst="ellipse">
            <a:avLst/>
          </a:prstGeom>
          <a:solidFill>
            <a:srgbClr val="4A3D8F"/>
          </a:solidFill>
          <a:ln w="12700">
            <a:solidFill>
              <a:srgbClr val="4A3D8F"/>
            </a:solidFill>
            <a:prstDash val="solid"/>
          </a:ln>
        </p:spPr>
      </p:sp>
      <p:sp>
        <p:nvSpPr>
          <p:cNvPr id="25" name="Text 23"/>
          <p:cNvSpPr/>
          <p:nvPr/>
        </p:nvSpPr>
        <p:spPr>
          <a:xfrm>
            <a:off x="50292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4"/>
          <p:cNvSpPr/>
          <p:nvPr/>
        </p:nvSpPr>
        <p:spPr>
          <a:xfrm>
            <a:off x="96012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Break it apart</a:t>
            </a:r>
            <a:endParaRPr lang="en-US" sz="1200" dirty="0"/>
          </a:p>
        </p:txBody>
      </p:sp>
      <p:sp>
        <p:nvSpPr>
          <p:cNvPr id="27" name="Text 25"/>
          <p:cNvSpPr/>
          <p:nvPr/>
        </p:nvSpPr>
        <p:spPr>
          <a:xfrm>
            <a:off x="96012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2 wholes x 3 = 6, plus half of 3 (1.5), so 6 + 1.5 = 7.5.</a:t>
            </a:r>
            <a:endParaRPr lang="en-US" sz="1100" dirty="0"/>
          </a:p>
        </p:txBody>
      </p:sp>
      <p:sp>
        <p:nvSpPr>
          <p:cNvPr id="28" name="Shape 26"/>
          <p:cNvSpPr/>
          <p:nvPr/>
        </p:nvSpPr>
        <p:spPr>
          <a:xfrm>
            <a:off x="4663440" y="3291840"/>
            <a:ext cx="4069080" cy="1188720"/>
          </a:xfrm>
          <a:prstGeom prst="roundRect">
            <a:avLst>
              <a:gd name="adj" fmla="val 7692"/>
            </a:avLst>
          </a:prstGeom>
          <a:solidFill>
            <a:srgbClr val="FFFFFF"/>
          </a:solidFill>
          <a:ln w="6350">
            <a:solidFill>
              <a:srgbClr val="DDDDEE"/>
            </a:solidFill>
            <a:prstDash val="solid"/>
          </a:ln>
        </p:spPr>
      </p:sp>
      <p:sp>
        <p:nvSpPr>
          <p:cNvPr id="29" name="Shape 27"/>
          <p:cNvSpPr/>
          <p:nvPr/>
        </p:nvSpPr>
        <p:spPr>
          <a:xfrm>
            <a:off x="4800600" y="3364992"/>
            <a:ext cx="347472" cy="347472"/>
          </a:xfrm>
          <a:prstGeom prst="ellipse">
            <a:avLst/>
          </a:prstGeom>
          <a:solidFill>
            <a:srgbClr val="4A3D8F"/>
          </a:solidFill>
          <a:ln w="12700">
            <a:solidFill>
              <a:srgbClr val="4A3D8F"/>
            </a:solidFill>
            <a:prstDash val="solid"/>
          </a:ln>
        </p:spPr>
      </p:sp>
      <p:sp>
        <p:nvSpPr>
          <p:cNvPr id="30" name="Text 28"/>
          <p:cNvSpPr/>
          <p:nvPr/>
        </p:nvSpPr>
        <p:spPr>
          <a:xfrm>
            <a:off x="480060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1" name="Text 29"/>
          <p:cNvSpPr/>
          <p:nvPr/>
        </p:nvSpPr>
        <p:spPr>
          <a:xfrm>
            <a:off x="525780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Answer</a:t>
            </a:r>
            <a:endParaRPr lang="en-US" sz="1200" dirty="0"/>
          </a:p>
        </p:txBody>
      </p:sp>
      <p:sp>
        <p:nvSpPr>
          <p:cNvPr id="32" name="Text 30"/>
          <p:cNvSpPr/>
          <p:nvPr/>
        </p:nvSpPr>
        <p:spPr>
          <a:xfrm>
            <a:off x="525780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2 and one-half yards = 7 and one-half feet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B</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Weight · Fraction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36576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Text 6"/>
          <p:cNvSpPr/>
          <p:nvPr/>
        </p:nvSpPr>
        <p:spPr>
          <a:xfrm>
            <a:off x="365760" y="1188720"/>
            <a:ext cx="640080" cy="320040"/>
          </a:xfrm>
          <a:prstGeom prst="rect">
            <a:avLst/>
          </a:prstGeom>
          <a:noFill/>
          <a:ln/>
        </p:spPr>
        <p:txBody>
          <a:bodyPr wrap="square" lIns="0" tIns="0" rIns="0" bIns="0" rtlCol="0" anchor="b"/>
          <a:lstStyle/>
          <a:p>
            <a:pPr algn="ctr" indent="0" marL="0">
              <a:buNone/>
            </a:pPr>
            <a:r>
              <a:rPr lang="en-US" sz="1800" b="1" dirty="0">
                <a:solidFill>
                  <a:srgbClr val="1A1A2E"/>
                </a:solidFill>
                <a:latin typeface="Cambria" pitchFamily="34" charset="0"/>
                <a:ea typeface="Cambria" pitchFamily="34" charset="-122"/>
                <a:cs typeface="Cambria" pitchFamily="34" charset="-120"/>
              </a:rPr>
              <a:t>5</a:t>
            </a:r>
            <a:endParaRPr lang="en-US" sz="1800" dirty="0"/>
          </a:p>
        </p:txBody>
      </p:sp>
      <p:sp>
        <p:nvSpPr>
          <p:cNvPr id="9" name="Shape 7"/>
          <p:cNvSpPr/>
          <p:nvPr/>
        </p:nvSpPr>
        <p:spPr>
          <a:xfrm>
            <a:off x="442570" y="1508760"/>
            <a:ext cx="486461" cy="0"/>
          </a:xfrm>
          <a:prstGeom prst="line">
            <a:avLst/>
          </a:prstGeom>
          <a:noFill/>
          <a:ln w="19050">
            <a:solidFill>
              <a:srgbClr val="1A1A2E"/>
            </a:solidFill>
            <a:prstDash val="solid"/>
          </a:ln>
        </p:spPr>
      </p:sp>
      <p:sp>
        <p:nvSpPr>
          <p:cNvPr id="10" name="Text 8"/>
          <p:cNvSpPr/>
          <p:nvPr/>
        </p:nvSpPr>
        <p:spPr>
          <a:xfrm>
            <a:off x="365760" y="1508760"/>
            <a:ext cx="640080" cy="320040"/>
          </a:xfrm>
          <a:prstGeom prst="rect">
            <a:avLst/>
          </a:prstGeom>
          <a:noFill/>
          <a:ln/>
        </p:spPr>
        <p:txBody>
          <a:bodyPr wrap="square" lIns="0" tIns="0" rIns="0" bIns="0" rtlCol="0" anchor="t"/>
          <a:lstStyle/>
          <a:p>
            <a:pPr algn="ctr" indent="0" marL="0">
              <a:buNone/>
            </a:pPr>
            <a:r>
              <a:rPr lang="en-US" sz="1800" b="1" dirty="0">
                <a:solidFill>
                  <a:srgbClr val="1A1A2E"/>
                </a:solidFill>
                <a:latin typeface="Cambria" pitchFamily="34" charset="0"/>
                <a:ea typeface="Cambria" pitchFamily="34" charset="-122"/>
                <a:cs typeface="Cambria" pitchFamily="34" charset="-120"/>
              </a:rPr>
              <a:t>8</a:t>
            </a:r>
            <a:endParaRPr lang="en-US" sz="1800" dirty="0"/>
          </a:p>
        </p:txBody>
      </p:sp>
      <p:sp>
        <p:nvSpPr>
          <p:cNvPr id="11" name="Text 9"/>
          <p:cNvSpPr/>
          <p:nvPr/>
        </p:nvSpPr>
        <p:spPr>
          <a:xfrm>
            <a:off x="1097280" y="1234440"/>
            <a:ext cx="5943600" cy="594360"/>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pound = ___ ounces</a:t>
            </a:r>
            <a:endParaRPr lang="en-US" sz="2200" dirty="0"/>
          </a:p>
        </p:txBody>
      </p:sp>
      <p:sp>
        <p:nvSpPr>
          <p:cNvPr id="12" name="Shape 10"/>
          <p:cNvSpPr/>
          <p:nvPr/>
        </p:nvSpPr>
        <p:spPr>
          <a:xfrm>
            <a:off x="365760" y="1965960"/>
            <a:ext cx="4069080" cy="1188720"/>
          </a:xfrm>
          <a:prstGeom prst="roundRect">
            <a:avLst>
              <a:gd name="adj" fmla="val 7692"/>
            </a:avLst>
          </a:prstGeom>
          <a:solidFill>
            <a:srgbClr val="FFFFFF"/>
          </a:solidFill>
          <a:ln w="6350">
            <a:solidFill>
              <a:srgbClr val="DDDDEE"/>
            </a:solidFill>
            <a:prstDash val="solid"/>
          </a:ln>
        </p:spPr>
      </p:sp>
      <p:sp>
        <p:nvSpPr>
          <p:cNvPr id="13" name="Shape 11"/>
          <p:cNvSpPr/>
          <p:nvPr/>
        </p:nvSpPr>
        <p:spPr>
          <a:xfrm>
            <a:off x="502920" y="2039112"/>
            <a:ext cx="347472" cy="347472"/>
          </a:xfrm>
          <a:prstGeom prst="ellipse">
            <a:avLst/>
          </a:prstGeom>
          <a:solidFill>
            <a:srgbClr val="4A3D8F"/>
          </a:solidFill>
          <a:ln w="12700">
            <a:solidFill>
              <a:srgbClr val="4A3D8F"/>
            </a:solidFill>
            <a:prstDash val="solid"/>
          </a:ln>
        </p:spPr>
      </p:sp>
      <p:sp>
        <p:nvSpPr>
          <p:cNvPr id="14" name="Text 12"/>
          <p:cNvSpPr/>
          <p:nvPr/>
        </p:nvSpPr>
        <p:spPr>
          <a:xfrm>
            <a:off x="502920" y="2039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3"/>
          <p:cNvSpPr/>
          <p:nvPr/>
        </p:nvSpPr>
        <p:spPr>
          <a:xfrm>
            <a:off x="96012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Conversion number</a:t>
            </a:r>
            <a:endParaRPr lang="en-US" sz="1200" dirty="0"/>
          </a:p>
        </p:txBody>
      </p:sp>
      <p:sp>
        <p:nvSpPr>
          <p:cNvPr id="16" name="Text 14"/>
          <p:cNvSpPr/>
          <p:nvPr/>
        </p:nvSpPr>
        <p:spPr>
          <a:xfrm>
            <a:off x="96012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1 pound = 16 ounces, so 16 is the conversion number.</a:t>
            </a:r>
            <a:endParaRPr lang="en-US" sz="1100" dirty="0"/>
          </a:p>
        </p:txBody>
      </p:sp>
      <p:sp>
        <p:nvSpPr>
          <p:cNvPr id="17" name="Shape 15"/>
          <p:cNvSpPr/>
          <p:nvPr/>
        </p:nvSpPr>
        <p:spPr>
          <a:xfrm>
            <a:off x="4663440" y="1965960"/>
            <a:ext cx="4069080" cy="1188720"/>
          </a:xfrm>
          <a:prstGeom prst="roundRect">
            <a:avLst>
              <a:gd name="adj" fmla="val 7692"/>
            </a:avLst>
          </a:prstGeom>
          <a:solidFill>
            <a:srgbClr val="FFFFFF"/>
          </a:solidFill>
          <a:ln w="6350">
            <a:solidFill>
              <a:srgbClr val="DDDDEE"/>
            </a:solidFill>
            <a:prstDash val="solid"/>
          </a:ln>
        </p:spPr>
      </p:sp>
      <p:sp>
        <p:nvSpPr>
          <p:cNvPr id="18" name="Shape 16"/>
          <p:cNvSpPr/>
          <p:nvPr/>
        </p:nvSpPr>
        <p:spPr>
          <a:xfrm>
            <a:off x="4800600" y="2039112"/>
            <a:ext cx="347472" cy="347472"/>
          </a:xfrm>
          <a:prstGeom prst="ellipse">
            <a:avLst/>
          </a:prstGeom>
          <a:solidFill>
            <a:srgbClr val="4A3D8F"/>
          </a:solidFill>
          <a:ln w="12700">
            <a:solidFill>
              <a:srgbClr val="4A3D8F"/>
            </a:solidFill>
            <a:prstDash val="solid"/>
          </a:ln>
        </p:spPr>
      </p:sp>
      <p:sp>
        <p:nvSpPr>
          <p:cNvPr id="19" name="Text 17"/>
          <p:cNvSpPr/>
          <p:nvPr/>
        </p:nvSpPr>
        <p:spPr>
          <a:xfrm>
            <a:off x="4800600" y="2039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0" name="Text 18"/>
          <p:cNvSpPr/>
          <p:nvPr/>
        </p:nvSpPr>
        <p:spPr>
          <a:xfrm>
            <a:off x="525780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Multiply</a:t>
            </a:r>
            <a:endParaRPr lang="en-US" sz="1200" dirty="0"/>
          </a:p>
        </p:txBody>
      </p:sp>
      <p:sp>
        <p:nvSpPr>
          <p:cNvPr id="21" name="Text 19"/>
          <p:cNvSpPr/>
          <p:nvPr/>
        </p:nvSpPr>
        <p:spPr>
          <a:xfrm>
            <a:off x="525780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Five-eighths times sixteen: sixteen divided into eighths is 2 each, so five eighths is 5 x 2.</a:t>
            </a:r>
            <a:endParaRPr lang="en-US" sz="1100" dirty="0"/>
          </a:p>
        </p:txBody>
      </p:sp>
      <p:sp>
        <p:nvSpPr>
          <p:cNvPr id="22" name="Shape 20"/>
          <p:cNvSpPr/>
          <p:nvPr/>
        </p:nvSpPr>
        <p:spPr>
          <a:xfrm>
            <a:off x="365760" y="3291840"/>
            <a:ext cx="4069080" cy="1188720"/>
          </a:xfrm>
          <a:prstGeom prst="roundRect">
            <a:avLst>
              <a:gd name="adj" fmla="val 7692"/>
            </a:avLst>
          </a:prstGeom>
          <a:solidFill>
            <a:srgbClr val="FFFFFF"/>
          </a:solidFill>
          <a:ln w="6350">
            <a:solidFill>
              <a:srgbClr val="DDDDEE"/>
            </a:solidFill>
            <a:prstDash val="solid"/>
          </a:ln>
        </p:spPr>
      </p:sp>
      <p:sp>
        <p:nvSpPr>
          <p:cNvPr id="23" name="Shape 21"/>
          <p:cNvSpPr/>
          <p:nvPr/>
        </p:nvSpPr>
        <p:spPr>
          <a:xfrm>
            <a:off x="502920" y="3364992"/>
            <a:ext cx="347472" cy="347472"/>
          </a:xfrm>
          <a:prstGeom prst="ellipse">
            <a:avLst/>
          </a:prstGeom>
          <a:solidFill>
            <a:srgbClr val="4A3D8F"/>
          </a:solidFill>
          <a:ln w="12700">
            <a:solidFill>
              <a:srgbClr val="4A3D8F"/>
            </a:solidFill>
            <a:prstDash val="solid"/>
          </a:ln>
        </p:spPr>
      </p:sp>
      <p:sp>
        <p:nvSpPr>
          <p:cNvPr id="24" name="Text 22"/>
          <p:cNvSpPr/>
          <p:nvPr/>
        </p:nvSpPr>
        <p:spPr>
          <a:xfrm>
            <a:off x="50292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5" name="Text 23"/>
          <p:cNvSpPr/>
          <p:nvPr/>
        </p:nvSpPr>
        <p:spPr>
          <a:xfrm>
            <a:off x="96012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Simplify</a:t>
            </a:r>
            <a:endParaRPr lang="en-US" sz="1200" dirty="0"/>
          </a:p>
        </p:txBody>
      </p:sp>
      <p:sp>
        <p:nvSpPr>
          <p:cNvPr id="26" name="Text 24"/>
          <p:cNvSpPr/>
          <p:nvPr/>
        </p:nvSpPr>
        <p:spPr>
          <a:xfrm>
            <a:off x="96012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5 x 2 = 10</a:t>
            </a:r>
            <a:endParaRPr lang="en-US" sz="1100" dirty="0"/>
          </a:p>
        </p:txBody>
      </p:sp>
      <p:sp>
        <p:nvSpPr>
          <p:cNvPr id="27" name="Shape 25"/>
          <p:cNvSpPr/>
          <p:nvPr/>
        </p:nvSpPr>
        <p:spPr>
          <a:xfrm>
            <a:off x="4663440" y="3291840"/>
            <a:ext cx="4069080" cy="1188720"/>
          </a:xfrm>
          <a:prstGeom prst="roundRect">
            <a:avLst>
              <a:gd name="adj" fmla="val 7692"/>
            </a:avLst>
          </a:prstGeom>
          <a:solidFill>
            <a:srgbClr val="FFFFFF"/>
          </a:solidFill>
          <a:ln w="6350">
            <a:solidFill>
              <a:srgbClr val="DDDDEE"/>
            </a:solidFill>
            <a:prstDash val="solid"/>
          </a:ln>
        </p:spPr>
      </p:sp>
      <p:sp>
        <p:nvSpPr>
          <p:cNvPr id="28" name="Shape 26"/>
          <p:cNvSpPr/>
          <p:nvPr/>
        </p:nvSpPr>
        <p:spPr>
          <a:xfrm>
            <a:off x="4800600" y="3364992"/>
            <a:ext cx="347472" cy="347472"/>
          </a:xfrm>
          <a:prstGeom prst="ellipse">
            <a:avLst/>
          </a:prstGeom>
          <a:solidFill>
            <a:srgbClr val="4A3D8F"/>
          </a:solidFill>
          <a:ln w="12700">
            <a:solidFill>
              <a:srgbClr val="4A3D8F"/>
            </a:solidFill>
            <a:prstDash val="solid"/>
          </a:ln>
        </p:spPr>
      </p:sp>
      <p:sp>
        <p:nvSpPr>
          <p:cNvPr id="29" name="Text 27"/>
          <p:cNvSpPr/>
          <p:nvPr/>
        </p:nvSpPr>
        <p:spPr>
          <a:xfrm>
            <a:off x="480060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0" name="Text 28"/>
          <p:cNvSpPr/>
          <p:nvPr/>
        </p:nvSpPr>
        <p:spPr>
          <a:xfrm>
            <a:off x="525780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Answer</a:t>
            </a:r>
            <a:endParaRPr lang="en-US" sz="1200" dirty="0"/>
          </a:p>
        </p:txBody>
      </p:sp>
      <p:sp>
        <p:nvSpPr>
          <p:cNvPr id="31" name="Text 29"/>
          <p:cNvSpPr/>
          <p:nvPr/>
        </p:nvSpPr>
        <p:spPr>
          <a:xfrm>
            <a:off x="525780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Five-eighths pound = 10 ounces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Check the Claim</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1920240" cy="292608"/>
          </a:xfrm>
          <a:prstGeom prst="roundRect">
            <a:avLst>
              <a:gd name="adj" fmla="val 18750"/>
            </a:avLst>
          </a:prstGeom>
          <a:solidFill>
            <a:srgbClr val="2E6E44"/>
          </a:solidFill>
          <a:ln w="12700">
            <a:solidFill>
              <a:srgbClr val="2E6E44"/>
            </a:solidFill>
            <a:prstDash val="solid"/>
          </a:ln>
        </p:spPr>
      </p:sp>
      <p:sp>
        <p:nvSpPr>
          <p:cNvPr id="7" name="Text 5"/>
          <p:cNvSpPr/>
          <p:nvPr/>
        </p:nvSpPr>
        <p:spPr>
          <a:xfrm>
            <a:off x="36576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YOUR TURN</a:t>
            </a:r>
            <a:endParaRPr lang="en-US" sz="800" dirty="0"/>
          </a:p>
        </p:txBody>
      </p:sp>
      <p:sp>
        <p:nvSpPr>
          <p:cNvPr id="8" name="Shape 6"/>
          <p:cNvSpPr/>
          <p:nvPr/>
        </p:nvSpPr>
        <p:spPr>
          <a:xfrm>
            <a:off x="365760" y="1371600"/>
            <a:ext cx="8412480" cy="1828800"/>
          </a:xfrm>
          <a:prstGeom prst="roundRect">
            <a:avLst>
              <a:gd name="adj" fmla="val 5000"/>
            </a:avLst>
          </a:prstGeom>
          <a:solidFill>
            <a:srgbClr val="FFFFFF"/>
          </a:solidFill>
          <a:ln w="6350">
            <a:solidFill>
              <a:srgbClr val="DDDDEE"/>
            </a:solidFill>
            <a:prstDash val="solid"/>
          </a:ln>
        </p:spPr>
      </p:sp>
      <p:sp>
        <p:nvSpPr>
          <p:cNvPr id="9" name="Text 7"/>
          <p:cNvSpPr/>
          <p:nvPr/>
        </p:nvSpPr>
        <p:spPr>
          <a:xfrm>
            <a:off x="594360" y="1508760"/>
            <a:ext cx="1554480" cy="155448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Leo says</a:t>
            </a:r>
            <a:endParaRPr lang="en-US" sz="1800" dirty="0"/>
          </a:p>
        </p:txBody>
      </p:sp>
      <p:sp>
        <p:nvSpPr>
          <p:cNvPr id="10" name="Text 8"/>
          <p:cNvSpPr/>
          <p:nvPr/>
        </p:nvSpPr>
        <p:spPr>
          <a:xfrm>
            <a:off x="2148840" y="1783080"/>
            <a:ext cx="594360" cy="457200"/>
          </a:xfrm>
          <a:prstGeom prst="rect">
            <a:avLst/>
          </a:prstGeom>
          <a:noFill/>
          <a:ln/>
        </p:spPr>
        <p:txBody>
          <a:bodyPr wrap="square" lIns="0" tIns="0" rIns="0" bIns="0" rtlCol="0" anchor="b"/>
          <a:lstStyle/>
          <a:p>
            <a:pPr algn="ctr" indent="0" marL="0">
              <a:buNone/>
            </a:pPr>
            <a:r>
              <a:rPr lang="en-US" sz="2200" b="1" dirty="0">
                <a:solidFill>
                  <a:srgbClr val="4A3D8F"/>
                </a:solidFill>
                <a:latin typeface="Cambria" pitchFamily="34" charset="0"/>
                <a:ea typeface="Cambria" pitchFamily="34" charset="-122"/>
                <a:cs typeface="Cambria" pitchFamily="34" charset="-120"/>
              </a:rPr>
              <a:t>1</a:t>
            </a:r>
            <a:endParaRPr lang="en-US" sz="2200" dirty="0"/>
          </a:p>
        </p:txBody>
      </p:sp>
      <p:sp>
        <p:nvSpPr>
          <p:cNvPr id="11" name="Shape 9"/>
          <p:cNvSpPr/>
          <p:nvPr/>
        </p:nvSpPr>
        <p:spPr>
          <a:xfrm>
            <a:off x="2220163" y="2240280"/>
            <a:ext cx="451714" cy="0"/>
          </a:xfrm>
          <a:prstGeom prst="line">
            <a:avLst/>
          </a:prstGeom>
          <a:noFill/>
          <a:ln w="19050">
            <a:solidFill>
              <a:srgbClr val="4A3D8F"/>
            </a:solidFill>
            <a:prstDash val="solid"/>
          </a:ln>
        </p:spPr>
      </p:sp>
      <p:sp>
        <p:nvSpPr>
          <p:cNvPr id="12" name="Text 10"/>
          <p:cNvSpPr/>
          <p:nvPr/>
        </p:nvSpPr>
        <p:spPr>
          <a:xfrm>
            <a:off x="2148840" y="2240280"/>
            <a:ext cx="594360" cy="457200"/>
          </a:xfrm>
          <a:prstGeom prst="rect">
            <a:avLst/>
          </a:prstGeom>
          <a:noFill/>
          <a:ln/>
        </p:spPr>
        <p:txBody>
          <a:bodyPr wrap="square" lIns="0" tIns="0" rIns="0" bIns="0" rtlCol="0" anchor="t"/>
          <a:lstStyle/>
          <a:p>
            <a:pPr algn="ctr" indent="0" marL="0">
              <a:buNone/>
            </a:pPr>
            <a:r>
              <a:rPr lang="en-US" sz="2200" b="1" dirty="0">
                <a:solidFill>
                  <a:srgbClr val="4A3D8F"/>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2834640" y="1508760"/>
            <a:ext cx="5669280" cy="155448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of a foot is 3 inches. Is Leo correct? Use the conversion rule to check.</a:t>
            </a:r>
            <a:endParaRPr lang="en-US" sz="1800" dirty="0"/>
          </a:p>
        </p:txBody>
      </p:sp>
      <p:sp>
        <p:nvSpPr>
          <p:cNvPr id="14" name="Shape 12"/>
          <p:cNvSpPr/>
          <p:nvPr/>
        </p:nvSpPr>
        <p:spPr>
          <a:xfrm>
            <a:off x="1097280" y="3429000"/>
            <a:ext cx="6949440" cy="438912"/>
          </a:xfrm>
          <a:prstGeom prst="roundRect">
            <a:avLst>
              <a:gd name="adj" fmla="val 12500"/>
            </a:avLst>
          </a:prstGeom>
          <a:solidFill>
            <a:srgbClr val="464EB8"/>
          </a:solidFill>
          <a:ln w="12700">
            <a:solidFill>
              <a:srgbClr val="464EB8"/>
            </a:solidFill>
            <a:prstDash val="solid"/>
          </a:ln>
        </p:spPr>
      </p:sp>
      <p:sp>
        <p:nvSpPr>
          <p:cNvPr id="15" name="Text 13"/>
          <p:cNvSpPr/>
          <p:nvPr/>
        </p:nvSpPr>
        <p:spPr>
          <a:xfrm>
            <a:off x="1097280" y="3429000"/>
            <a:ext cx="694944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true or false + the correct number of inches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Goes Next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280160"/>
            <a:ext cx="8229600" cy="2194560"/>
          </a:xfrm>
          <a:prstGeom prst="roundRect">
            <a:avLst>
              <a:gd name="adj" fmla="val 4167"/>
            </a:avLst>
          </a:prstGeom>
          <a:solidFill>
            <a:srgbClr val="E6F2EA"/>
          </a:solidFill>
          <a:ln w="6350">
            <a:solidFill>
              <a:srgbClr val="DDDDEE"/>
            </a:solidFill>
            <a:prstDash val="solid"/>
          </a:ln>
        </p:spPr>
      </p:sp>
      <p:sp>
        <p:nvSpPr>
          <p:cNvPr id="7" name="Text 5"/>
          <p:cNvSpPr/>
          <p:nvPr/>
        </p:nvSpPr>
        <p:spPr>
          <a:xfrm>
            <a:off x="731520" y="1463040"/>
            <a:ext cx="7680960" cy="182880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Next lesson (5.07.02), fractions move from a strip to the SIDE of a rectangle — you'll tile a rectangle with fractional side lengths to find its area.</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One and one-fourth pounds equals how many ounces?</a:t>
            </a:r>
            <a:endParaRPr lang="en-US" sz="2000" dirty="0"/>
          </a:p>
        </p:txBody>
      </p:sp>
      <p:sp>
        <p:nvSpPr>
          <p:cNvPr id="8" name="Shape 6"/>
          <p:cNvSpPr/>
          <p:nvPr/>
        </p:nvSpPr>
        <p:spPr>
          <a:xfrm>
            <a:off x="914400" y="2103120"/>
            <a:ext cx="182880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16</a:t>
            </a:r>
            <a:endParaRPr lang="en-US" sz="2000" dirty="0"/>
          </a:p>
        </p:txBody>
      </p:sp>
      <p:sp>
        <p:nvSpPr>
          <p:cNvPr id="10" name="Shape 8"/>
          <p:cNvSpPr/>
          <p:nvPr/>
        </p:nvSpPr>
        <p:spPr>
          <a:xfrm>
            <a:off x="2926080" y="2103120"/>
            <a:ext cx="182880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92608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20</a:t>
            </a:r>
            <a:endParaRPr lang="en-US" sz="2000" dirty="0"/>
          </a:p>
        </p:txBody>
      </p:sp>
      <p:sp>
        <p:nvSpPr>
          <p:cNvPr id="12" name="Shape 10"/>
          <p:cNvSpPr/>
          <p:nvPr/>
        </p:nvSpPr>
        <p:spPr>
          <a:xfrm>
            <a:off x="4937760" y="2103120"/>
            <a:ext cx="182880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93776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24</a:t>
            </a:r>
            <a:endParaRPr lang="en-US" sz="2000" dirty="0"/>
          </a:p>
        </p:txBody>
      </p:sp>
      <p:sp>
        <p:nvSpPr>
          <p:cNvPr id="14" name="Shape 12"/>
          <p:cNvSpPr/>
          <p:nvPr/>
        </p:nvSpPr>
        <p:spPr>
          <a:xfrm>
            <a:off x="694944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9494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17</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One and one-fourth pounds equals how many ounces?</a:t>
            </a:r>
            <a:endParaRPr lang="en-US" sz="2000" dirty="0"/>
          </a:p>
        </p:txBody>
      </p:sp>
      <p:sp>
        <p:nvSpPr>
          <p:cNvPr id="8" name="Shape 6"/>
          <p:cNvSpPr/>
          <p:nvPr/>
        </p:nvSpPr>
        <p:spPr>
          <a:xfrm>
            <a:off x="914400" y="2103120"/>
            <a:ext cx="182880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16</a:t>
            </a:r>
            <a:endParaRPr lang="en-US" sz="2000" dirty="0"/>
          </a:p>
        </p:txBody>
      </p:sp>
      <p:sp>
        <p:nvSpPr>
          <p:cNvPr id="10" name="Shape 8"/>
          <p:cNvSpPr/>
          <p:nvPr/>
        </p:nvSpPr>
        <p:spPr>
          <a:xfrm>
            <a:off x="2926080" y="2103120"/>
            <a:ext cx="1828800" cy="822960"/>
          </a:xfrm>
          <a:prstGeom prst="roundRect">
            <a:avLst>
              <a:gd name="adj" fmla="val 8889"/>
            </a:avLst>
          </a:prstGeom>
          <a:solidFill>
            <a:srgbClr val="2E6E44"/>
          </a:solidFill>
          <a:ln w="12700">
            <a:solidFill>
              <a:srgbClr val="2E6E44"/>
            </a:solidFill>
            <a:prstDash val="solid"/>
          </a:ln>
        </p:spPr>
      </p:sp>
      <p:sp>
        <p:nvSpPr>
          <p:cNvPr id="11" name="Text 9"/>
          <p:cNvSpPr/>
          <p:nvPr/>
        </p:nvSpPr>
        <p:spPr>
          <a:xfrm>
            <a:off x="2926080" y="2103120"/>
            <a:ext cx="1828800" cy="822960"/>
          </a:xfrm>
          <a:prstGeom prst="rect">
            <a:avLst/>
          </a:prstGeom>
          <a:noFill/>
          <a:ln/>
        </p:spPr>
        <p:txBody>
          <a:bodyPr wrap="square" lIns="0" tIns="0" rIns="0" bIns="0" rtlCol="0" anchor="ctr"/>
          <a:lstStyle/>
          <a:p>
            <a:pPr algn="ctr" indent="0" marL="0">
              <a:buNone/>
            </a:pPr>
            <a:r>
              <a:rPr lang="en-US" sz="2000" b="1" dirty="0">
                <a:solidFill>
                  <a:srgbClr val="FFFFFF"/>
                </a:solidFill>
              </a:rPr>
              <a:t>20</a:t>
            </a:r>
            <a:endParaRPr lang="en-US" sz="2000" dirty="0"/>
          </a:p>
        </p:txBody>
      </p:sp>
      <p:sp>
        <p:nvSpPr>
          <p:cNvPr id="12" name="Shape 10"/>
          <p:cNvSpPr/>
          <p:nvPr/>
        </p:nvSpPr>
        <p:spPr>
          <a:xfrm>
            <a:off x="4937760" y="2103120"/>
            <a:ext cx="182880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93776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24</a:t>
            </a:r>
            <a:endParaRPr lang="en-US" sz="2000" dirty="0"/>
          </a:p>
        </p:txBody>
      </p:sp>
      <p:sp>
        <p:nvSpPr>
          <p:cNvPr id="14" name="Shape 12"/>
          <p:cNvSpPr/>
          <p:nvPr/>
        </p:nvSpPr>
        <p:spPr>
          <a:xfrm>
            <a:off x="694944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9494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17</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One whole pound is 16 ounces. One-fourth of 16 ounces is 4 more ounces. 16 plus 4 equals 20 ounces.</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every conversion uses the same move: multiply the fraction by the conversion number. It didn't matter if I was converting feet, pounds, or yards — the multiplication step never changed, only the conversion number did.</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checked my answer by working backwards. Five-eighths of a pound equals ten ounces, so ten ounces divided by sixteen should give back five-eighths of a pound — and it does, so my conversion checks out.</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a foot-long strip cut into equal pieces, laid right on top of an inch ruler. Whatever fraction is shaded, I can just read off how many inches that shaded part covers.</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term is conversion number — it's how many of the smaller unit fit inside one of the bigger unit. Multiplying a fraction by the conversion number gives an equivalent measurement in the smaller unit.</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5.07.01 Independent Practice (5 problems).</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Review the conversion numbers: 1 ft = 12 in, 1 lb = 16 oz, 1 yd = 3 ft.</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5.07.02: Fractions and Area — think about what tiling a rectangle might look like.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5.07.01 Fractions and Measurement Conversions — Teacher Slides</dc:title>
  <dc:subject>PptxGenJS Presentation</dc:subject>
  <dc:creator>PptxGenJS</dc:creator>
  <cp:lastModifiedBy>PptxGenJS</cp:lastModifiedBy>
  <cp:revision>1</cp:revision>
  <dcterms:created xsi:type="dcterms:W3CDTF">2026-09-23T20:23:58Z</dcterms:created>
  <dcterms:modified xsi:type="dcterms:W3CDTF">2026-09-23T20:23:58Z</dcterms:modified>
</cp:coreProperties>
</file>