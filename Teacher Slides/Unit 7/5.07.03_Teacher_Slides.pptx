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Present the equation. Give 60 seconds of silent think time. Ask for a thumbs show (true/false/not sure) before discussing.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Present the equation. Give 60 seconds of silent think time. Ask for a thumbs show (true/false/not sure) before discussing.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Reveal: FALSE. 8x5=40 is the RECTANGLE's area -- the triangle is half of that, 20. Have students try the cousin to confirm the halving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Reveal: FALSE. 8x5=40 is the RECTANGLE's area -- the triangle is half of that, 20. Have students try the cousin to confirm the halving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 min) Title slide. Yesterday we tiled rectangles with fractional sides. Today a rectangle gets cut in half to reveal a triangle's area.
Transition: "Here's exactly what today's goal is."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Read the I Can aloud. The key idea is that a triangle's area formula isn't a new rule -- it's the rectangle rule, cut in half.
Common error: students think triangle area is unrelated to the rectangle rule they already know.
Transition: "Let's warm up on halving the products we'll need today."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 min) Halving a product is exactly the last step of finding a triangle's area. Confirm all three before moving on.
Common error: students divide the wrong number, or forget a remainder when a product is odd.
Transition: "Let's see why we'd ever need to cut a rectangle in half."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 min) Read the garden scenario aloud. Don't solve it yet -- the goal is to notice that a physical model (a rectangle built around the triangle) makes the area visible before any calculating happens.
Anticipated: students may say 'draw a rectangle around it' or 'cut it in half.'
Common error: guessing an answer without a model.
Transition: "Let's notice and wonder about this garden before we build it."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 min) Give quiet think time, then share out. Students should notice the triangle isn't a rectangle and wonder whether the rectangle formula could still help somehow.
Anticipated: 'I wonder if you could draw a rectangle around the triangle.'
Transition: "Let's build a rectangle around a simpler triangle and cut it in half."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 min) Physically build this: draw or fold a 6x4 rectangle, then cut it along the diagonal. Lay the two triangle halves on top of each other to show they match exactly.
Anticipated: students confirm both halves are congruent by comparing them directly.
Common error: students assume the two halves might not be exactly equal without checking.
Transition: "Let's draw this same idea as a picture, without cutting anything."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 min) Walk through the two-step process: find the rectangle's area first (base x height), then divide by 2 to get the triangle's area. The dashed diagonal is the cut from the previous slide.
Common error: forgetting the divide-by-2 step and stopping at the rectangle's area.
Transition: "Let's name the general rule this always follows."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State the rule precisely. Emphasize this is the rectangle rule, then always divide by 2 for a triangle.
Common error: forgetting the divide-by-2 step, or dividing the base or height individually instead of the final product.
Transition: "Let's put a name to the words we've been using."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Quick vocabulary check. Point out that base and height are the same two measurements from the rectangle rule.
Transition: "Let's use all of this in a full worked example."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 min) Model this step by step: 8 x 6 = 48, then 48 divided by 2 = 24 square centimeters.
Common error: stopping after the multiplication and forgetting to divide by 2.
Transition: "What if we know the area and one measurement, but not the other?"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 min) When area and one dimension are known, work backwards: double the area first (undoing the divide-by-2), THEN divide by the known side.
Common error: dividing 30 by 12 directly, skipping the doubling step.
Transition: "Let's reason about the rectangle-triangle connection without calculating."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 min) This is a reasoning-only question -- no calculating required. The diagonal always splits a rectangle into two congruent triangles, so each is exactly half.
Common error: students think the halves might be close but not exactly equal.
Transition: "Now you try one on your own, with a real-world context."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 min) Students work independently, then respond in chat. 9 x 4 = 36, divided by 2 = 18 square feet.
Anticipated error: students may stop at 36 and forget the divide-by-2 step, just like the true/false Number Talk misconception.
Transition: "Here's where this skill leads next."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 min) Preview tomorrow's shift from right triangles to triangles with a shifted top point -- same base x height divided by 2 rule, less obvious rectangle.
Transition: "Let's check what you've got today."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Correct answer: 35 sq in. 70 is the rectangle's area, forgetting to divide by 2. 17 comes from adding instead of multiplying. 3.5 comes from an unrelated division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Correct answer: 35 sq in. 70 is the rectangle's area, forgetting to divide by 2. 17 comes from adding instead of multiplying. 3.5 comes from an unrelated division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TRUE OR FALSE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395728" y="164592"/>
            <a:ext cx="630936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95728" y="16459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5.07.03 · True or False: Triangle Area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area of a triangle with base 8 and height 5 is 40 square units.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9BB"/>
                </a:solidFill>
              </a:rPr>
              <a:t>Is this true or false? Be ready to prove it.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Prove It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True or False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51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Some students think TRUE because…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x 5 = 40, so they think that IS the area.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multiplied base times height and stopped there.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051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6E10"/>
                </a:solidFill>
              </a:rPr>
              <a:t>Some students think FALSE because…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691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triangle is always half of the rectangle sharing its base and height.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2286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of 8 x 5 (=40) is 20, not 40.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TRUE OR FALSE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The Rule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CCFF"/>
                </a:solidFill>
              </a:rPr>
              <a:t>Every time you find a triangle's area, you ___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triangle's area is always exactly half of the rectangle that shares its base and height.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0" y="434340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343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the rule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TRUE OR FALSE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area of a triangle with base 12 and height 3 is 18 square units.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286000" y="379476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37947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true or false?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34340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True -- half of 12 x 3 (=36) is 18.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5.07.03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 of a Triangle Part 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7: Measurement and Area · Lesson 3 of 5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MA.5.GR.2.1   ·   MTR.2.1   ·   MTR.5.1   ·   TX 5.4.H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can find the area of a right triangle by building the rectangle around it and taking half.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right triangle is exactly half of the rectangle that shares its base and height -- cut the rectangle corner to corner and the two halves match exactly.”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Warm-Up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Readiness Check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344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of 24 = ___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514600"/>
            <a:ext cx="2103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Fill in the blank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105156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2344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of 40 = ___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429000" y="2514600"/>
            <a:ext cx="2103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Fill in the blank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105156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2344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of 18 = ___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17920" y="2514600"/>
            <a:ext cx="2103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Fill in the blank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371600" y="416052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416052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all three answers, in order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Hook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Real-World Context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82296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3444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triangular garden has a base of 9 feet and a height of 4 feet. How much soil does it need to fill it?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914400" y="3520440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52044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what would you build first to make the area visible?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Think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triangular garden has a straight base and a straight height, but no rectangle drawn anywhere near it.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Concrete: Cut the Rectangle in Half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Physical Action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Build a rectangle around the pennant (base 6 in, height 4 in). Cut it corner to corner and compare the two halves.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14600" y="1645920"/>
            <a:ext cx="4114800" cy="2743200"/>
          </a:xfrm>
          <a:custGeom>
            <a:avLst/>
            <a:gdLst/>
            <a:ahLst/>
            <a:cxnLst/>
            <a:rect l="l" t="t" r="r" b="b"/>
            <a:pathLst>
              <a:path w="4114800" h="2743200">
                <a:moveTo>
                  <a:pt x="0" y="0"/>
                </a:moveTo>
                <a:lnTo>
                  <a:pt x="4114800" y="0"/>
                </a:lnTo>
                <a:lnTo>
                  <a:pt x="4114800" y="2743200"/>
                </a:lnTo>
                <a:close/>
              </a:path>
            </a:pathLst>
          </a:custGeom>
          <a:solidFill>
            <a:srgbClr val="4A3D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0" y="1645920"/>
            <a:ext cx="4114800" cy="2743200"/>
          </a:xfrm>
          <a:custGeom>
            <a:avLst/>
            <a:gdLst/>
            <a:ahLst/>
            <a:cxnLst/>
            <a:rect l="l" t="t" r="r" b="b"/>
            <a:pathLst>
              <a:path w="4114800" h="2743200">
                <a:moveTo>
                  <a:pt x="0" y="0"/>
                </a:moveTo>
                <a:lnTo>
                  <a:pt x="4114800" y="2743200"/>
                </a:lnTo>
                <a:lnTo>
                  <a:pt x="0" y="2743200"/>
                </a:lnTo>
                <a:close/>
              </a:path>
            </a:pathLst>
          </a:custGeom>
          <a:solidFill>
            <a:srgbClr val="E6F2E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4600" y="1645920"/>
            <a:ext cx="4114800" cy="2743200"/>
          </a:xfrm>
          <a:custGeom>
            <a:avLst/>
            <a:gdLst/>
            <a:ahLst/>
            <a:cxnLst/>
            <a:rect l="l" t="t" r="r" b="b"/>
            <a:pathLst>
              <a:path w="4114800" h="2743200">
                <a:moveTo>
                  <a:pt x="0" y="0"/>
                </a:moveTo>
                <a:lnTo>
                  <a:pt x="4114800" y="0"/>
                </a:lnTo>
                <a:lnTo>
                  <a:pt x="4114800" y="2743200"/>
                </a:lnTo>
                <a:lnTo>
                  <a:pt x="0" y="27432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40487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sq 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08960" y="322783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6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sq 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14600" y="444398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Rectangle = 6 x 4 = 24 sq in. Each half (each triangle) = 12 sq in.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Pictorial: From Rectangle to Triangle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Diagram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51760" y="1234440"/>
            <a:ext cx="384048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51760" y="1234440"/>
            <a:ext cx="3840480" cy="1645920"/>
          </a:xfrm>
          <a:prstGeom prst="line">
            <a:avLst/>
          </a:prstGeom>
          <a:noFill/>
          <a:ln w="25400">
            <a:solidFill>
              <a:srgbClr val="4A3D8F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2651760" y="2926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5A7A"/>
                </a:solidFill>
              </a:rPr>
              <a:t>base = 6 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54480" y="1554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5A7A"/>
                </a:solidFill>
              </a:rPr>
              <a:t>height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A5A7A"/>
                </a:solidFill>
              </a:rPr>
              <a:t>= 4 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246120"/>
            <a:ext cx="7680960" cy="0"/>
          </a:xfrm>
          <a:prstGeom prst="line">
            <a:avLst/>
          </a:prstGeom>
          <a:noFill/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3832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 of rectangle = base x height = 6 x 4 = 24 sq in     Area of triangle = 24 divided by 2 = 12 sq in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Abstract: The Triangle Area Rule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Rule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88720"/>
            <a:ext cx="8046720" cy="2651760"/>
          </a:xfrm>
          <a:prstGeom prst="roundRect">
            <a:avLst>
              <a:gd name="adj" fmla="val 3448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find the area of a right triangle: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 the base by the height, then divide by 2 (or take half of the product).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7A"/>
                </a:solidFill>
              </a:rPr>
              <a:t>Say "base" and "height" -- never a bare letter.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Terms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69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amount of flat space inside a shape, measured in square units.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0391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e.g., The pennant has an area of 12 square inches.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69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1463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side of a triangle used as the starting measurement.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20391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e.g., The 6-inch side is the base of the pennant.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52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height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3246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straight-up distance from the base to the opposite corner.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8221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e.g., The 4-inch side is the height of the pennant.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74320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852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triangle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6320" y="3246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A triangle with one square corner -- exactly half of the rectangle built around it.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8221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e.g., The pennant is a right triangle.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 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Whole-Number Area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2344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8 cm, height 6 cm. Area = ___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03911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039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Multiply base x height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x 6 = 48 (that's the rectangle's area).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96596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203911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57800" y="2039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Divide by 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57800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 divided by 2 = 24.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36499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3364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Check the unit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answer is in square centimeters.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29184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336499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3364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Answer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5780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triangle's area is 24 square centimeters.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 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Find a Missing Dimension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23444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 = 30 sq cm, base = 12 cm. Height = ___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03911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039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Reverse the rule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x height = area x 2 (undo the divide-by-2 step first).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96596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203911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57800" y="2039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Double the area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57800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x 2 = 60.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36499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3364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Divide by the base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divided by 12 = 5.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29184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336499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3364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Answer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5780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missing height is 5 centimeters.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 C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Reason Without Calculating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rectangle and a triangle share the same base and height. Why is the triangle's area exactly half the rectangle's area?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2194560" cy="1463040"/>
          </a:xfrm>
          <a:custGeom>
            <a:avLst/>
            <a:gdLst/>
            <a:ahLst/>
            <a:cxnLst/>
            <a:rect l="l" t="t" r="r" b="b"/>
            <a:pathLst>
              <a:path w="2194560" h="1463040">
                <a:moveTo>
                  <a:pt x="0" y="0"/>
                </a:moveTo>
                <a:lnTo>
                  <a:pt x="2194560" y="0"/>
                </a:lnTo>
                <a:lnTo>
                  <a:pt x="2194560" y="1463040"/>
                </a:lnTo>
                <a:close/>
              </a:path>
            </a:pathLst>
          </a:custGeom>
          <a:solidFill>
            <a:srgbClr val="4A3D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1371600"/>
            <a:ext cx="2194560" cy="1463040"/>
          </a:xfrm>
          <a:custGeom>
            <a:avLst/>
            <a:gdLst/>
            <a:ahLst/>
            <a:cxnLst/>
            <a:rect l="l" t="t" r="r" b="b"/>
            <a:pathLst>
              <a:path w="2194560" h="1463040">
                <a:moveTo>
                  <a:pt x="0" y="0"/>
                </a:moveTo>
                <a:lnTo>
                  <a:pt x="2194560" y="1463040"/>
                </a:lnTo>
                <a:lnTo>
                  <a:pt x="0" y="1463040"/>
                </a:lnTo>
                <a:close/>
              </a:path>
            </a:pathLst>
          </a:custGeom>
          <a:solidFill>
            <a:srgbClr val="E6F2E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0" y="1371600"/>
            <a:ext cx="2194560" cy="1463040"/>
          </a:xfrm>
          <a:custGeom>
            <a:avLst/>
            <a:gdLst/>
            <a:ahLst/>
            <a:cxnLst/>
            <a:rect l="l" t="t" r="r" b="b"/>
            <a:pathLst>
              <a:path w="2194560" h="1463040">
                <a:moveTo>
                  <a:pt x="0" y="0"/>
                </a:moveTo>
                <a:lnTo>
                  <a:pt x="2194560" y="0"/>
                </a:lnTo>
                <a:lnTo>
                  <a:pt x="2194560" y="1463040"/>
                </a:lnTo>
                <a:lnTo>
                  <a:pt x="0" y="146304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 w="31750">
            <a:solidFill>
              <a:srgbClr val="1B2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246120"/>
            <a:ext cx="804672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337560"/>
            <a:ext cx="7589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diagonal cut always makes two congruent (exactly matching) triangles. One of those triangles is the shape we care about -- since the two pieces are equal, each one must be exactly half of the whole rectangle's area.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Applied · Triangular Garden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YOUR TURN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8412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508760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triangular garden has a base of 9 feet and a height of 4 feet. How many square feet of soil does the garden need?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3429000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42900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the area in square feet AND your two steps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Where This Goes Next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8229600" cy="2194560"/>
          </a:xfrm>
          <a:prstGeom prst="roundRect">
            <a:avLst>
              <a:gd name="adj" fmla="val 4167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6304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lesson (5.07.04), triangles whose top point is NOT directly over a corner -- you'll see the same half-of-a-rectangle idea still works.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triangle has a base of 10 inches and a height of 7 inches. What is its area?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35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92608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70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93776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94944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3.5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triangle has a base of 10 inches and a height of 7 inches. What is its area?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35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92608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70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93776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94944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3.5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10 x 7 = 70 (the rectangle's area). Divide by 2: 70 divided by 2 = 35 square inches.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every triangle's area is exactly half of a rectangle with the same base and height -- no matter what the numbers are, that halving relationship never changes.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checked my triangle's area by doubling it -- if the triangle is 12 square inches, doubling gives 24, which should match the base times height of the rectangle around it.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cutting a rectangle corner to corner with scissors. The two triangle pieces always land on top of each other perfectly -- that's how I know they're exactly equal halves.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way to say it: the area of a right triangle equals base times height, divided by 2. That division by 2 is what separates the triangle rule from the rectangle rule.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thinks most like you today?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Complete the 5.07.03 Independent Practice (5 problems).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Review today's rule: Area = (base x height) divided by 2.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Preview 5.07.04: Area of a Triangle Part 2 -- think about a triangle whose top point isn't over a corner.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5.07.03 Area of a Triangle Part 1 — Teacher Slides</dc:title>
  <dc:subject>PptxGenJS Presentation</dc:subject>
  <dc:creator>PptxGenJS</dc:creator>
  <cp:lastModifiedBy>PptxGenJS</cp:lastModifiedBy>
  <cp:revision>1</cp:revision>
  <dcterms:created xsi:type="dcterms:W3CDTF">2026-09-24T14:02:44Z</dcterms:created>
  <dcterms:modified xsi:type="dcterms:W3CDTF">2026-09-24T14:02:44Z</dcterms:modified>
</cp:coreProperties>
</file>