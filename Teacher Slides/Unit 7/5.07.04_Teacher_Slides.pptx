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Present only the first problem. Give 45 seconds of think time before revealing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Present only the first problem. Give 45 seconds of think time before revealing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Name the pattern: doubling the base (with height fixed) doubles the triangle's area. Have students try the cousin string to confirm the pattern transfers.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Name the pattern: doubling the base (with height fixed) doubles the triangle's area. Have students try the cousin string to confirm the pattern transfers.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Title slide. Yesterday's triangle had its top point directly over a corner. Today the top point can be anywhere along the top -- the same rule still works.
Transition: "Here's exactly what today's goal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Read the I Can aloud. The key idea is that the halving relationship from yesterday didn't depend on the triangle being a right triangle -- it works for ANY triangle.
Common error: students think a different formula is needed when the shape looks less like 'half a rectangle.'
Transition: "Let's warm up on halving the products we'll need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Same halving skill from yesterday -- the last step of any triangle's area. Confirm all three before moving on.
Common error: students divide the wrong number, or forget a remainder.
Transition: "Let's see a triangle where the top point isn't over a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Read the wall scenario aloud. Don't solve it yet -- the goal is to notice that even a triangle that isn't a simple right triangle can still be measured with a rectangle and a height line.
Anticipated: students may say 'draw a rectangle around it' or 'find the height first.'
Common error: guessing an answer without a model.
Transition: "Let's notice and wonder about a triangle shaped like a sail."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Give quiet think time, then share out. Students should notice this triangle looks different from yesterday's and wonder if the same rectangle-and-half idea still works.
Anticipated: 'I wonder if you still build a rectangle even though the top point moved.'
Transition: "Let's build the rectangle around the sail and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Physically build this: draw the 8x5 rectangle, mark the top point where the sail's peak sits, then draw the dashed height line straight down from that point to the base -- it splits the rectangle into two smaller rectangles, and the sail is exactly half of each.
Anticipated: students see that even though the peak isn't centered, each smaller rectangle still gets cut exactly in half.
Common error: students think the halving only works when the peak is centered or over a corner.
Transition: "Let's draw this same idea as a picture, without the physical rectangle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Walk through the same two-step process as yesterday: rectangle area, then divide by 2. Point out this works no matter where the top point sits -- the height is always the straight-up distance, not a slanted side.
Common error: measuring along a slanted side instead of the straight-up height.
Transition: "Let's name the general rule this always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State the rule precisely. Emphasize the SAME rule from yesterday applies -- the only new idea is that height is measured straight up, not along a slanted side.
Common error: measuring a slanted side and calling it the height.
Transition: "Let's put a name to the words we've been 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Quick vocabulary check. Point out that height is defined by direction (straight up), not by which side looks longest.
Transition: "Let's use all of this in a full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Model this step by step: 14 x 5 = 70, then 70 divided by 2 = 35 square meters.
Common error: stopping after the multiplication and forgetting to divide by 2.
Transition: "What if a side length is a fraction?"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The rule doesn't change with a fractional base: convert to an improper fraction, multiply by the height, then divide by 2. 13/2 x 4 = 52/2 = 26; 26 divided by 2 = 13 square inches.
Common error: forgetting to convert the mixed number before multiplying.
Transition: "What if we know the area and the height, but not the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Same reversal as yesterday: double the area first, THEN divide by the known dimension.
Common error: dividing 24 by 8 directly, skipping the doubling step.
Transition: "Now try a reasoning question -- no calculating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Students work independently, then respond in chat. NO -- many base/height pairs give area 20: base 10 &amp; height 4 (10x4/2=20), or base 5 &amp; height 8 (5x8/2=20).
Anticipated error: students assume equal area must mean equal base and height, like equal fractions must look identical.
Transition: "Here's where this skill leads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Preview tomorrow's shift from single shapes to composite figures made of several rectangles and triangles.
Transition: "Let's check what you've got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Correct: 54 sq ft, yes. 108 sq ft forgets to divide by 2. 54 sq ft/no miscompares 54 to 50. 27 sq ft comes from dividing by 4 instead of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Correct: 54 sq ft, yes. 108 sq ft forgets to divide by 2. 54 sq ft/no miscompares 54 to 50. 27 sq ft comes from dividing by 4 instead of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37744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3774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Shape 3"/>
          <p:cNvSpPr/>
          <p:nvPr/>
        </p:nvSpPr>
        <p:spPr>
          <a:xfrm>
            <a:off x="2578608" y="164592"/>
            <a:ext cx="612648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578608" y="164592"/>
            <a:ext cx="6126480" cy="292608"/>
          </a:xfrm>
          <a:prstGeom prst="rect">
            <a:avLst/>
          </a:prstGeom>
          <a:noFill/>
          <a:ln/>
        </p:spPr>
        <p:txBody>
          <a:bodyPr wrap="square" lIns="0" tIns="0" rIns="0" bIns="0" rtlCol="0" anchor="ctr"/>
          <a:lstStyle/>
          <a:p>
            <a:pPr indent="0" marL="0">
              <a:buNone/>
            </a:pPr>
            <a:r>
              <a:rPr lang="en-US" sz="900" dirty="0">
                <a:solidFill>
                  <a:srgbClr val="FFFFFF"/>
                </a:solidFill>
              </a:rPr>
              <a:t>  ·  5.07.04 · Triangle Area Number String</a:t>
            </a:r>
            <a:endParaRPr lang="en-US" sz="900" dirty="0"/>
          </a:p>
        </p:txBody>
      </p:sp>
      <p:sp>
        <p:nvSpPr>
          <p:cNvPr id="7" name="Text 5"/>
          <p:cNvSpPr/>
          <p:nvPr/>
        </p:nvSpPr>
        <p:spPr>
          <a:xfrm>
            <a:off x="457200" y="1371600"/>
            <a:ext cx="8229600" cy="18288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(6 x 4) ÷ 2</a:t>
            </a:r>
            <a:endParaRPr lang="en-US" sz="4400" dirty="0"/>
          </a:p>
        </p:txBody>
      </p:sp>
      <p:sp>
        <p:nvSpPr>
          <p:cNvPr id="8" name="Text 6"/>
          <p:cNvSpPr/>
          <p:nvPr/>
        </p:nvSpPr>
        <p:spPr>
          <a:xfrm>
            <a:off x="457200" y="3749040"/>
            <a:ext cx="8229600" cy="640080"/>
          </a:xfrm>
          <a:prstGeom prst="rect">
            <a:avLst/>
          </a:prstGeom>
          <a:noFill/>
          <a:ln/>
        </p:spPr>
        <p:txBody>
          <a:bodyPr wrap="square" lIns="0" tIns="0" rIns="0" bIns="0" rtlCol="0" anchor="ctr"/>
          <a:lstStyle/>
          <a:p>
            <a:pPr algn="ctr" indent="0" marL="0">
              <a:buNone/>
            </a:pPr>
            <a:r>
              <a:rPr lang="en-US" sz="1500" i="1" dirty="0">
                <a:solidFill>
                  <a:srgbClr val="8899BB"/>
                </a:solidFill>
              </a:rPr>
              <a:t>Solve the first problem. What strategy did you use?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The String Unfolds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Number String</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868680"/>
          </a:xfrm>
          <a:prstGeom prst="roundRect">
            <a:avLst>
              <a:gd name="adj" fmla="val 10526"/>
            </a:avLst>
          </a:prstGeom>
          <a:solidFill>
            <a:srgbClr val="FFFFFF"/>
          </a:solidFill>
          <a:ln w="6350">
            <a:solidFill>
              <a:srgbClr val="DDDDEE"/>
            </a:solidFill>
            <a:prstDash val="solid"/>
          </a:ln>
        </p:spPr>
      </p:sp>
      <p:sp>
        <p:nvSpPr>
          <p:cNvPr id="7" name="Text 5"/>
          <p:cNvSpPr/>
          <p:nvPr/>
        </p:nvSpPr>
        <p:spPr>
          <a:xfrm>
            <a:off x="685800" y="96012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(6 x 4) ÷ 2</a:t>
            </a:r>
            <a:endParaRPr lang="en-US" sz="2000" dirty="0"/>
          </a:p>
        </p:txBody>
      </p:sp>
      <p:sp>
        <p:nvSpPr>
          <p:cNvPr id="8" name="Text 6"/>
          <p:cNvSpPr/>
          <p:nvPr/>
        </p:nvSpPr>
        <p:spPr>
          <a:xfrm>
            <a:off x="5029200" y="96012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12</a:t>
            </a:r>
            <a:endParaRPr lang="en-US" sz="2000" dirty="0"/>
          </a:p>
        </p:txBody>
      </p:sp>
      <p:sp>
        <p:nvSpPr>
          <p:cNvPr id="9" name="Shape 7"/>
          <p:cNvSpPr/>
          <p:nvPr/>
        </p:nvSpPr>
        <p:spPr>
          <a:xfrm>
            <a:off x="457200" y="2011680"/>
            <a:ext cx="8229600" cy="868680"/>
          </a:xfrm>
          <a:prstGeom prst="roundRect">
            <a:avLst>
              <a:gd name="adj" fmla="val 10526"/>
            </a:avLst>
          </a:prstGeom>
          <a:solidFill>
            <a:srgbClr val="FFFFFF"/>
          </a:solidFill>
          <a:ln w="6350">
            <a:solidFill>
              <a:srgbClr val="DDDDEE"/>
            </a:solidFill>
            <a:prstDash val="solid"/>
          </a:ln>
        </p:spPr>
      </p:sp>
      <p:sp>
        <p:nvSpPr>
          <p:cNvPr id="10" name="Text 8"/>
          <p:cNvSpPr/>
          <p:nvPr/>
        </p:nvSpPr>
        <p:spPr>
          <a:xfrm>
            <a:off x="685800" y="201168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(6 x 8) ÷ 2</a:t>
            </a:r>
            <a:endParaRPr lang="en-US" sz="2000" dirty="0"/>
          </a:p>
        </p:txBody>
      </p:sp>
      <p:sp>
        <p:nvSpPr>
          <p:cNvPr id="11" name="Text 9"/>
          <p:cNvSpPr/>
          <p:nvPr/>
        </p:nvSpPr>
        <p:spPr>
          <a:xfrm>
            <a:off x="5029200" y="201168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24</a:t>
            </a:r>
            <a:endParaRPr lang="en-US" sz="2000" dirty="0"/>
          </a:p>
        </p:txBody>
      </p:sp>
      <p:sp>
        <p:nvSpPr>
          <p:cNvPr id="12" name="Shape 10"/>
          <p:cNvSpPr/>
          <p:nvPr/>
        </p:nvSpPr>
        <p:spPr>
          <a:xfrm>
            <a:off x="137160" y="1920240"/>
            <a:ext cx="0" cy="137160"/>
          </a:xfrm>
          <a:prstGeom prst="line">
            <a:avLst/>
          </a:prstGeom>
          <a:noFill/>
          <a:ln w="25400">
            <a:solidFill>
              <a:srgbClr val="D9941A"/>
            </a:solidFill>
            <a:prstDash val="solid"/>
            <a:tailEnd type="triangle"/>
          </a:ln>
        </p:spPr>
      </p:sp>
      <p:sp>
        <p:nvSpPr>
          <p:cNvPr id="13" name="Shape 11"/>
          <p:cNvSpPr/>
          <p:nvPr/>
        </p:nvSpPr>
        <p:spPr>
          <a:xfrm>
            <a:off x="457200" y="3063240"/>
            <a:ext cx="8229600" cy="868680"/>
          </a:xfrm>
          <a:prstGeom prst="roundRect">
            <a:avLst>
              <a:gd name="adj" fmla="val 10526"/>
            </a:avLst>
          </a:prstGeom>
          <a:solidFill>
            <a:srgbClr val="FFFFFF"/>
          </a:solidFill>
          <a:ln w="6350">
            <a:solidFill>
              <a:srgbClr val="DDDDEE"/>
            </a:solidFill>
            <a:prstDash val="solid"/>
          </a:ln>
        </p:spPr>
      </p:sp>
      <p:sp>
        <p:nvSpPr>
          <p:cNvPr id="14" name="Text 12"/>
          <p:cNvSpPr/>
          <p:nvPr/>
        </p:nvSpPr>
        <p:spPr>
          <a:xfrm>
            <a:off x="685800" y="306324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(6 x 16) ÷ 2</a:t>
            </a:r>
            <a:endParaRPr lang="en-US" sz="2000" dirty="0"/>
          </a:p>
        </p:txBody>
      </p:sp>
      <p:sp>
        <p:nvSpPr>
          <p:cNvPr id="15" name="Text 13"/>
          <p:cNvSpPr/>
          <p:nvPr/>
        </p:nvSpPr>
        <p:spPr>
          <a:xfrm>
            <a:off x="5029200" y="306324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48</a:t>
            </a:r>
            <a:endParaRPr lang="en-US" sz="2000" dirty="0"/>
          </a:p>
        </p:txBody>
      </p:sp>
      <p:sp>
        <p:nvSpPr>
          <p:cNvPr id="16" name="Shape 14"/>
          <p:cNvSpPr/>
          <p:nvPr/>
        </p:nvSpPr>
        <p:spPr>
          <a:xfrm>
            <a:off x="137160" y="2971800"/>
            <a:ext cx="0" cy="137160"/>
          </a:xfrm>
          <a:prstGeom prst="line">
            <a:avLst/>
          </a:prstGeom>
          <a:noFill/>
          <a:ln w="25400">
            <a:solidFill>
              <a:srgbClr val="D9941A"/>
            </a:solidFill>
            <a:prstDash val="solid"/>
            <a:tailEnd type="triangle"/>
          </a:ln>
        </p:spPr>
      </p:sp>
      <p:sp>
        <p:nvSpPr>
          <p:cNvPr id="17" name="Shape 15"/>
          <p:cNvSpPr/>
          <p:nvPr/>
        </p:nvSpPr>
        <p:spPr>
          <a:xfrm>
            <a:off x="1371600" y="4279392"/>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79392"/>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what changed each time?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Pattern</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08760"/>
            <a:ext cx="8229600" cy="548640"/>
          </a:xfrm>
          <a:prstGeom prst="rect">
            <a:avLst/>
          </a:prstGeom>
          <a:noFill/>
          <a:ln/>
        </p:spPr>
        <p:txBody>
          <a:bodyPr wrap="square" lIns="0" tIns="0" rIns="0" bIns="0" rtlCol="0" anchor="ctr"/>
          <a:lstStyle/>
          <a:p>
            <a:pPr indent="0" marL="0">
              <a:buNone/>
            </a:pPr>
            <a:r>
              <a:rPr lang="en-US" sz="1800" i="1" dirty="0">
                <a:solidFill>
                  <a:srgbClr val="CCCCFF"/>
                </a:solidFill>
              </a:rPr>
              <a:t>When the height stays the same and the base doubles, ___</a:t>
            </a:r>
            <a:endParaRPr lang="en-US" sz="1800" dirty="0"/>
          </a:p>
        </p:txBody>
      </p:sp>
      <p:sp>
        <p:nvSpPr>
          <p:cNvPr id="8" name="Text 6"/>
          <p:cNvSpPr/>
          <p:nvPr/>
        </p:nvSpPr>
        <p:spPr>
          <a:xfrm>
            <a:off x="457200" y="2148840"/>
            <a:ext cx="8229600" cy="1828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triangle's area doubles too -- doubling one factor always doubles the product.</a:t>
            </a:r>
            <a:endParaRPr lang="en-US" sz="2200" dirty="0"/>
          </a:p>
        </p:txBody>
      </p:sp>
      <p:sp>
        <p:nvSpPr>
          <p:cNvPr id="9" name="Shape 7"/>
          <p:cNvSpPr/>
          <p:nvPr/>
        </p:nvSpPr>
        <p:spPr>
          <a:xfrm>
            <a:off x="2286000" y="4343400"/>
            <a:ext cx="45720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2286000" y="43434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pattern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the Next String</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Text 5"/>
          <p:cNvSpPr/>
          <p:nvPr/>
        </p:nvSpPr>
        <p:spPr>
          <a:xfrm>
            <a:off x="457200" y="155448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(10 x 3) ÷ 2</a:t>
            </a:r>
            <a:endParaRPr lang="en-US" sz="2600" dirty="0"/>
          </a:p>
        </p:txBody>
      </p:sp>
      <p:sp>
        <p:nvSpPr>
          <p:cNvPr id="8" name="Text 6"/>
          <p:cNvSpPr/>
          <p:nvPr/>
        </p:nvSpPr>
        <p:spPr>
          <a:xfrm>
            <a:off x="457200" y="224028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(10 x 6) ÷ 2</a:t>
            </a:r>
            <a:endParaRPr lang="en-US" sz="2600" dirty="0"/>
          </a:p>
        </p:txBody>
      </p:sp>
      <p:sp>
        <p:nvSpPr>
          <p:cNvPr id="9" name="Shape 7"/>
          <p:cNvSpPr/>
          <p:nvPr/>
        </p:nvSpPr>
        <p:spPr>
          <a:xfrm>
            <a:off x="1828800" y="4343400"/>
            <a:ext cx="54864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1828800" y="434340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5.07.04</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Area of a Triangle Part 2</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7: Measurement and Area · Lesson 4 of 5</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MA.5.GR.2.1   ·   MTR.2.1   ·   MTR.5.1   ·   TX 5.4.H</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I can find the area of any triangle -- even one whose top point isn't over either corner -- using the same base times height divided by 2 rule.</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“No matter where the top point sits, the rectangle built around a triangle can always be split so the triangle covers exactly half of it.”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Warm-Up</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Readiness Check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1051560"/>
            <a:ext cx="2651760" cy="2926080"/>
          </a:xfrm>
          <a:prstGeom prst="roundRect">
            <a:avLst>
              <a:gd name="adj" fmla="val 3448"/>
            </a:avLst>
          </a:prstGeom>
          <a:solidFill>
            <a:srgbClr val="FFFFFF"/>
          </a:solidFill>
          <a:ln w="6350">
            <a:solidFill>
              <a:srgbClr val="DDDDEE"/>
            </a:solidFill>
            <a:prstDash val="solid"/>
          </a:ln>
        </p:spPr>
      </p:sp>
      <p:sp>
        <p:nvSpPr>
          <p:cNvPr id="7" name="Text 5"/>
          <p:cNvSpPr/>
          <p:nvPr/>
        </p:nvSpPr>
        <p:spPr>
          <a:xfrm>
            <a:off x="502920" y="1234440"/>
            <a:ext cx="2377440" cy="1280160"/>
          </a:xfrm>
          <a:prstGeom prst="rect">
            <a:avLst/>
          </a:prstGeom>
          <a:noFill/>
          <a:ln/>
        </p:spPr>
        <p:txBody>
          <a:bodyPr wrap="square" lIns="0" tIns="0" rIns="0" bIns="0" rtlCol="0" anchor="ctr"/>
          <a:lstStyle/>
          <a:p>
            <a:pPr algn="ctr" indent="0" marL="0">
              <a:buNone/>
            </a:pPr>
            <a:r>
              <a:rPr lang="en-US" sz="1800" b="1" dirty="0">
                <a:solidFill>
                  <a:srgbClr val="1A1A2E"/>
                </a:solidFill>
                <a:latin typeface="Cambria" pitchFamily="34" charset="0"/>
                <a:ea typeface="Cambria" pitchFamily="34" charset="-122"/>
                <a:cs typeface="Cambria" pitchFamily="34" charset="-120"/>
              </a:rPr>
              <a:t>Half of 30 = ___</a:t>
            </a:r>
            <a:endParaRPr lang="en-US" sz="1800" dirty="0"/>
          </a:p>
        </p:txBody>
      </p:sp>
      <p:sp>
        <p:nvSpPr>
          <p:cNvPr id="8" name="Shape 6"/>
          <p:cNvSpPr/>
          <p:nvPr/>
        </p:nvSpPr>
        <p:spPr>
          <a:xfrm>
            <a:off x="640080" y="2514600"/>
            <a:ext cx="2103120" cy="0"/>
          </a:xfrm>
          <a:prstGeom prst="line">
            <a:avLst/>
          </a:prstGeom>
          <a:noFill/>
          <a:ln w="6350">
            <a:solidFill>
              <a:srgbClr val="CCCCCC"/>
            </a:solidFill>
            <a:prstDash val="solid"/>
          </a:ln>
        </p:spPr>
      </p:sp>
      <p:sp>
        <p:nvSpPr>
          <p:cNvPr id="9" name="Text 7"/>
          <p:cNvSpPr/>
          <p:nvPr/>
        </p:nvSpPr>
        <p:spPr>
          <a:xfrm>
            <a:off x="502920" y="2606040"/>
            <a:ext cx="2377440" cy="365760"/>
          </a:xfrm>
          <a:prstGeom prst="rect">
            <a:avLst/>
          </a:prstGeom>
          <a:noFill/>
          <a:ln/>
        </p:spPr>
        <p:txBody>
          <a:bodyPr wrap="square" lIns="0" tIns="0" rIns="0" bIns="0" rtlCol="0" anchor="ctr"/>
          <a:lstStyle/>
          <a:p>
            <a:pPr algn="ctr" indent="0" marL="0">
              <a:buNone/>
            </a:pPr>
            <a:r>
              <a:rPr lang="en-US" sz="1100" i="1" dirty="0">
                <a:solidFill>
                  <a:srgbClr val="5A5A7A"/>
                </a:solidFill>
              </a:rPr>
              <a:t>Fill in the blank</a:t>
            </a:r>
            <a:endParaRPr lang="en-US" sz="1100" dirty="0"/>
          </a:p>
        </p:txBody>
      </p:sp>
      <p:sp>
        <p:nvSpPr>
          <p:cNvPr id="10" name="Shape 8"/>
          <p:cNvSpPr/>
          <p:nvPr/>
        </p:nvSpPr>
        <p:spPr>
          <a:xfrm>
            <a:off x="3154680" y="1051560"/>
            <a:ext cx="2651760" cy="2926080"/>
          </a:xfrm>
          <a:prstGeom prst="roundRect">
            <a:avLst>
              <a:gd name="adj" fmla="val 3448"/>
            </a:avLst>
          </a:prstGeom>
          <a:solidFill>
            <a:srgbClr val="FFFFFF"/>
          </a:solidFill>
          <a:ln w="6350">
            <a:solidFill>
              <a:srgbClr val="DDDDEE"/>
            </a:solidFill>
            <a:prstDash val="solid"/>
          </a:ln>
        </p:spPr>
      </p:sp>
      <p:sp>
        <p:nvSpPr>
          <p:cNvPr id="11" name="Text 9"/>
          <p:cNvSpPr/>
          <p:nvPr/>
        </p:nvSpPr>
        <p:spPr>
          <a:xfrm>
            <a:off x="3291840" y="1234440"/>
            <a:ext cx="2377440" cy="1280160"/>
          </a:xfrm>
          <a:prstGeom prst="rect">
            <a:avLst/>
          </a:prstGeom>
          <a:noFill/>
          <a:ln/>
        </p:spPr>
        <p:txBody>
          <a:bodyPr wrap="square" lIns="0" tIns="0" rIns="0" bIns="0" rtlCol="0" anchor="ctr"/>
          <a:lstStyle/>
          <a:p>
            <a:pPr algn="ctr" indent="0" marL="0">
              <a:buNone/>
            </a:pPr>
            <a:r>
              <a:rPr lang="en-US" sz="1800" b="1" dirty="0">
                <a:solidFill>
                  <a:srgbClr val="1A1A2E"/>
                </a:solidFill>
                <a:latin typeface="Cambria" pitchFamily="34" charset="0"/>
                <a:ea typeface="Cambria" pitchFamily="34" charset="-122"/>
                <a:cs typeface="Cambria" pitchFamily="34" charset="-120"/>
              </a:rPr>
              <a:t>Half of 56 = ___</a:t>
            </a:r>
            <a:endParaRPr lang="en-US" sz="1800" dirty="0"/>
          </a:p>
        </p:txBody>
      </p:sp>
      <p:sp>
        <p:nvSpPr>
          <p:cNvPr id="12" name="Shape 10"/>
          <p:cNvSpPr/>
          <p:nvPr/>
        </p:nvSpPr>
        <p:spPr>
          <a:xfrm>
            <a:off x="3429000" y="2514600"/>
            <a:ext cx="2103120" cy="0"/>
          </a:xfrm>
          <a:prstGeom prst="line">
            <a:avLst/>
          </a:prstGeom>
          <a:noFill/>
          <a:ln w="6350">
            <a:solidFill>
              <a:srgbClr val="CCCCCC"/>
            </a:solidFill>
            <a:prstDash val="solid"/>
          </a:ln>
        </p:spPr>
      </p:sp>
      <p:sp>
        <p:nvSpPr>
          <p:cNvPr id="13" name="Text 11"/>
          <p:cNvSpPr/>
          <p:nvPr/>
        </p:nvSpPr>
        <p:spPr>
          <a:xfrm>
            <a:off x="3291840" y="2606040"/>
            <a:ext cx="2377440" cy="365760"/>
          </a:xfrm>
          <a:prstGeom prst="rect">
            <a:avLst/>
          </a:prstGeom>
          <a:noFill/>
          <a:ln/>
        </p:spPr>
        <p:txBody>
          <a:bodyPr wrap="square" lIns="0" tIns="0" rIns="0" bIns="0" rtlCol="0" anchor="ctr"/>
          <a:lstStyle/>
          <a:p>
            <a:pPr algn="ctr" indent="0" marL="0">
              <a:buNone/>
            </a:pPr>
            <a:r>
              <a:rPr lang="en-US" sz="1100" i="1" dirty="0">
                <a:solidFill>
                  <a:srgbClr val="5A5A7A"/>
                </a:solidFill>
              </a:rPr>
              <a:t>Fill in the blank</a:t>
            </a:r>
            <a:endParaRPr lang="en-US" sz="1100" dirty="0"/>
          </a:p>
        </p:txBody>
      </p:sp>
      <p:sp>
        <p:nvSpPr>
          <p:cNvPr id="14" name="Shape 12"/>
          <p:cNvSpPr/>
          <p:nvPr/>
        </p:nvSpPr>
        <p:spPr>
          <a:xfrm>
            <a:off x="5943600" y="1051560"/>
            <a:ext cx="2651760" cy="2926080"/>
          </a:xfrm>
          <a:prstGeom prst="roundRect">
            <a:avLst>
              <a:gd name="adj" fmla="val 3448"/>
            </a:avLst>
          </a:prstGeom>
          <a:solidFill>
            <a:srgbClr val="FFFFFF"/>
          </a:solidFill>
          <a:ln w="6350">
            <a:solidFill>
              <a:srgbClr val="DDDDEE"/>
            </a:solidFill>
            <a:prstDash val="solid"/>
          </a:ln>
        </p:spPr>
      </p:sp>
      <p:sp>
        <p:nvSpPr>
          <p:cNvPr id="15" name="Text 13"/>
          <p:cNvSpPr/>
          <p:nvPr/>
        </p:nvSpPr>
        <p:spPr>
          <a:xfrm>
            <a:off x="6080760" y="1234440"/>
            <a:ext cx="2377440" cy="1280160"/>
          </a:xfrm>
          <a:prstGeom prst="rect">
            <a:avLst/>
          </a:prstGeom>
          <a:noFill/>
          <a:ln/>
        </p:spPr>
        <p:txBody>
          <a:bodyPr wrap="square" lIns="0" tIns="0" rIns="0" bIns="0" rtlCol="0" anchor="ctr"/>
          <a:lstStyle/>
          <a:p>
            <a:pPr algn="ctr" indent="0" marL="0">
              <a:buNone/>
            </a:pPr>
            <a:r>
              <a:rPr lang="en-US" sz="1800" b="1" dirty="0">
                <a:solidFill>
                  <a:srgbClr val="1A1A2E"/>
                </a:solidFill>
                <a:latin typeface="Cambria" pitchFamily="34" charset="0"/>
                <a:ea typeface="Cambria" pitchFamily="34" charset="-122"/>
                <a:cs typeface="Cambria" pitchFamily="34" charset="-120"/>
              </a:rPr>
              <a:t>Half of 22 = ___</a:t>
            </a:r>
            <a:endParaRPr lang="en-US" sz="1800" dirty="0"/>
          </a:p>
        </p:txBody>
      </p:sp>
      <p:sp>
        <p:nvSpPr>
          <p:cNvPr id="16" name="Shape 14"/>
          <p:cNvSpPr/>
          <p:nvPr/>
        </p:nvSpPr>
        <p:spPr>
          <a:xfrm>
            <a:off x="6217920" y="2514600"/>
            <a:ext cx="2103120" cy="0"/>
          </a:xfrm>
          <a:prstGeom prst="line">
            <a:avLst/>
          </a:prstGeom>
          <a:noFill/>
          <a:ln w="6350">
            <a:solidFill>
              <a:srgbClr val="CCCCCC"/>
            </a:solidFill>
            <a:prstDash val="solid"/>
          </a:ln>
        </p:spPr>
      </p:sp>
      <p:sp>
        <p:nvSpPr>
          <p:cNvPr id="17" name="Text 15"/>
          <p:cNvSpPr/>
          <p:nvPr/>
        </p:nvSpPr>
        <p:spPr>
          <a:xfrm>
            <a:off x="6080760" y="2606040"/>
            <a:ext cx="2377440" cy="365760"/>
          </a:xfrm>
          <a:prstGeom prst="rect">
            <a:avLst/>
          </a:prstGeom>
          <a:noFill/>
          <a:ln/>
        </p:spPr>
        <p:txBody>
          <a:bodyPr wrap="square" lIns="0" tIns="0" rIns="0" bIns="0" rtlCol="0" anchor="ctr"/>
          <a:lstStyle/>
          <a:p>
            <a:pPr algn="ctr" indent="0" marL="0">
              <a:buNone/>
            </a:pPr>
            <a:r>
              <a:rPr lang="en-US" sz="1100" i="1" dirty="0">
                <a:solidFill>
                  <a:srgbClr val="5A5A7A"/>
                </a:solidFill>
              </a:rPr>
              <a:t>Fill in the blank</a:t>
            </a:r>
            <a:endParaRPr lang="en-US" sz="1100" dirty="0"/>
          </a:p>
        </p:txBody>
      </p:sp>
      <p:sp>
        <p:nvSpPr>
          <p:cNvPr id="18" name="Shape 16"/>
          <p:cNvSpPr/>
          <p:nvPr/>
        </p:nvSpPr>
        <p:spPr>
          <a:xfrm>
            <a:off x="1371600" y="4160520"/>
            <a:ext cx="6400800" cy="438912"/>
          </a:xfrm>
          <a:prstGeom prst="roundRect">
            <a:avLst>
              <a:gd name="adj" fmla="val 12500"/>
            </a:avLst>
          </a:prstGeom>
          <a:solidFill>
            <a:srgbClr val="464EB8"/>
          </a:solidFill>
          <a:ln w="12700">
            <a:solidFill>
              <a:srgbClr val="464EB8"/>
            </a:solidFill>
            <a:prstDash val="solid"/>
          </a:ln>
        </p:spPr>
      </p:sp>
      <p:sp>
        <p:nvSpPr>
          <p:cNvPr id="19" name="Text 17"/>
          <p:cNvSpPr/>
          <p:nvPr/>
        </p:nvSpPr>
        <p:spPr>
          <a:xfrm>
            <a:off x="1371600" y="416052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all three answers, in order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Hook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Real-World Context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51560"/>
            <a:ext cx="8229600" cy="2194560"/>
          </a:xfrm>
          <a:prstGeom prst="roundRect">
            <a:avLst>
              <a:gd name="adj" fmla="val 4167"/>
            </a:avLst>
          </a:prstGeom>
          <a:solidFill>
            <a:srgbClr val="FFFFFF"/>
          </a:solidFill>
          <a:ln w="6350">
            <a:solidFill>
              <a:srgbClr val="DDDDEE"/>
            </a:solidFill>
            <a:prstDash val="solid"/>
          </a:ln>
        </p:spPr>
      </p:sp>
      <p:sp>
        <p:nvSpPr>
          <p:cNvPr id="7" name="Text 5"/>
          <p:cNvSpPr/>
          <p:nvPr/>
        </p:nvSpPr>
        <p:spPr>
          <a:xfrm>
            <a:off x="685800" y="1188720"/>
            <a:ext cx="7772400" cy="1920240"/>
          </a:xfrm>
          <a:prstGeom prst="rect">
            <a:avLst/>
          </a:prstGeom>
          <a:noFill/>
          <a:ln/>
        </p:spPr>
        <p:txBody>
          <a:bodyPr wrap="square" lIns="0" tIns="0" rIns="0" bIns="0" rtlCol="0" anchor="ctr"/>
          <a:lstStyle/>
          <a:p>
            <a:pPr indent="0" marL="0">
              <a:buNone/>
            </a:pPr>
            <a:r>
              <a:rPr lang="en-US" sz="1700" dirty="0">
                <a:solidFill>
                  <a:srgbClr val="1A1A2E"/>
                </a:solidFill>
                <a:latin typeface="Cambria" pitchFamily="34" charset="0"/>
                <a:ea typeface="Cambria" pitchFamily="34" charset="-122"/>
                <a:cs typeface="Cambria" pitchFamily="34" charset="-120"/>
              </a:rPr>
              <a:t>Sophia is painting a triangular wall section with a base of 12 feet and a height of 9 feet. One can of paint covers 50 square feet. Does she need more than one can?</a:t>
            </a:r>
            <a:endParaRPr lang="en-US" sz="1700" dirty="0"/>
          </a:p>
        </p:txBody>
      </p:sp>
      <p:sp>
        <p:nvSpPr>
          <p:cNvPr id="8" name="Shape 6"/>
          <p:cNvSpPr/>
          <p:nvPr/>
        </p:nvSpPr>
        <p:spPr>
          <a:xfrm>
            <a:off x="914400" y="3520440"/>
            <a:ext cx="73152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914400" y="352044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what would you build first to make the area visible?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Think</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A sail's top point sits in the middle, not over either corner of its base -- but the base and height can still be measured.</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 Split by the Height Line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Physical Action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14400"/>
            <a:ext cx="8412480" cy="548640"/>
          </a:xfrm>
          <a:prstGeom prst="roundRect">
            <a:avLst>
              <a:gd name="adj" fmla="val 16667"/>
            </a:avLst>
          </a:prstGeom>
          <a:solidFill>
            <a:srgbClr val="EAE8F5"/>
          </a:solidFill>
          <a:ln w="6350">
            <a:solidFill>
              <a:srgbClr val="DDDDEE"/>
            </a:solidFill>
            <a:prstDash val="solid"/>
          </a:ln>
        </p:spPr>
      </p:sp>
      <p:sp>
        <p:nvSpPr>
          <p:cNvPr id="7" name="Text 5"/>
          <p:cNvSpPr/>
          <p:nvPr/>
        </p:nvSpPr>
        <p:spPr>
          <a:xfrm>
            <a:off x="548640" y="914400"/>
            <a:ext cx="8046720" cy="548640"/>
          </a:xfrm>
          <a:prstGeom prst="rect">
            <a:avLst/>
          </a:prstGeom>
          <a:noFill/>
          <a:ln/>
        </p:spPr>
        <p:txBody>
          <a:bodyPr wrap="square" lIns="0" tIns="0" rIns="0" bIns="0" rtlCol="0" anchor="ctr"/>
          <a:lstStyle/>
          <a:p>
            <a:pPr indent="0" marL="0">
              <a:buNone/>
            </a:pPr>
            <a:r>
              <a:rPr lang="en-US" sz="1300" b="1" dirty="0">
                <a:solidFill>
                  <a:srgbClr val="4A3D8F"/>
                </a:solidFill>
              </a:rPr>
              <a:t>Build the rectangle around the sail (base 8 ft, height 5 ft). Draw the height line straight down from the top point.</a:t>
            </a:r>
            <a:endParaRPr lang="en-US" sz="1300" dirty="0"/>
          </a:p>
        </p:txBody>
      </p:sp>
      <p:sp>
        <p:nvSpPr>
          <p:cNvPr id="8" name="Shape 6"/>
          <p:cNvSpPr/>
          <p:nvPr/>
        </p:nvSpPr>
        <p:spPr>
          <a:xfrm>
            <a:off x="3026664" y="1737360"/>
            <a:ext cx="3364992" cy="2103120"/>
          </a:xfrm>
          <a:custGeom>
            <a:avLst/>
            <a:gdLst/>
            <a:ahLst/>
            <a:cxnLst/>
            <a:rect l="l" t="t" r="r" b="b"/>
            <a:pathLst>
              <a:path w="3364992" h="2103120">
                <a:moveTo>
                  <a:pt x="0" y="0"/>
                </a:moveTo>
                <a:lnTo>
                  <a:pt x="1261872" y="0"/>
                </a:lnTo>
                <a:lnTo>
                  <a:pt x="0" y="2103120"/>
                </a:lnTo>
                <a:close/>
              </a:path>
            </a:pathLst>
          </a:custGeom>
          <a:solidFill>
            <a:srgbClr val="E4E4EC"/>
          </a:solidFill>
          <a:ln w="19050">
            <a:solidFill>
              <a:srgbClr val="FFFFFF"/>
            </a:solidFill>
            <a:prstDash val="solid"/>
          </a:ln>
        </p:spPr>
      </p:sp>
      <p:sp>
        <p:nvSpPr>
          <p:cNvPr id="9" name="Shape 7"/>
          <p:cNvSpPr/>
          <p:nvPr/>
        </p:nvSpPr>
        <p:spPr>
          <a:xfrm>
            <a:off x="3026664" y="1737360"/>
            <a:ext cx="3364992" cy="2103120"/>
          </a:xfrm>
          <a:custGeom>
            <a:avLst/>
            <a:gdLst/>
            <a:ahLst/>
            <a:cxnLst/>
            <a:rect l="l" t="t" r="r" b="b"/>
            <a:pathLst>
              <a:path w="3364992" h="2103120">
                <a:moveTo>
                  <a:pt x="1261872" y="0"/>
                </a:moveTo>
                <a:lnTo>
                  <a:pt x="3364992" y="0"/>
                </a:lnTo>
                <a:lnTo>
                  <a:pt x="3364992" y="2103120"/>
                </a:lnTo>
                <a:close/>
              </a:path>
            </a:pathLst>
          </a:custGeom>
          <a:solidFill>
            <a:srgbClr val="E4E4EC"/>
          </a:solidFill>
          <a:ln w="19050">
            <a:solidFill>
              <a:srgbClr val="FFFFFF"/>
            </a:solidFill>
            <a:prstDash val="solid"/>
          </a:ln>
        </p:spPr>
      </p:sp>
      <p:sp>
        <p:nvSpPr>
          <p:cNvPr id="10" name="Shape 8"/>
          <p:cNvSpPr/>
          <p:nvPr/>
        </p:nvSpPr>
        <p:spPr>
          <a:xfrm>
            <a:off x="3026664" y="1737360"/>
            <a:ext cx="3364992" cy="2103120"/>
          </a:xfrm>
          <a:custGeom>
            <a:avLst/>
            <a:gdLst/>
            <a:ahLst/>
            <a:cxnLst/>
            <a:rect l="l" t="t" r="r" b="b"/>
            <a:pathLst>
              <a:path w="3364992" h="2103120">
                <a:moveTo>
                  <a:pt x="1261872" y="0"/>
                </a:moveTo>
                <a:lnTo>
                  <a:pt x="0" y="2103120"/>
                </a:lnTo>
                <a:lnTo>
                  <a:pt x="3364992" y="2103120"/>
                </a:lnTo>
                <a:close/>
              </a:path>
            </a:pathLst>
          </a:custGeom>
          <a:solidFill>
            <a:srgbClr val="4A3D8F"/>
          </a:solidFill>
          <a:ln w="19050">
            <a:solidFill>
              <a:srgbClr val="FFFFFF"/>
            </a:solidFill>
            <a:prstDash val="solid"/>
          </a:ln>
        </p:spPr>
      </p:sp>
      <p:sp>
        <p:nvSpPr>
          <p:cNvPr id="11" name="Shape 9"/>
          <p:cNvSpPr/>
          <p:nvPr/>
        </p:nvSpPr>
        <p:spPr>
          <a:xfrm>
            <a:off x="3026664" y="1737360"/>
            <a:ext cx="3364992" cy="2103120"/>
          </a:xfrm>
          <a:custGeom>
            <a:avLst/>
            <a:gdLst/>
            <a:ahLst/>
            <a:cxnLst/>
            <a:rect l="l" t="t" r="r" b="b"/>
            <a:pathLst>
              <a:path w="3364992" h="2103120">
                <a:moveTo>
                  <a:pt x="0" y="0"/>
                </a:moveTo>
                <a:lnTo>
                  <a:pt x="3364992" y="0"/>
                </a:lnTo>
                <a:lnTo>
                  <a:pt x="3364992" y="2103120"/>
                </a:lnTo>
                <a:lnTo>
                  <a:pt x="0" y="2103120"/>
                </a:lnTo>
                <a:close/>
              </a:path>
            </a:pathLst>
          </a:custGeom>
          <a:solidFill>
            <a:srgbClr val="FFFFFF">
              <a:alpha val="0"/>
            </a:srgbClr>
          </a:solidFill>
          <a:ln w="31750">
            <a:solidFill>
              <a:srgbClr val="1B2A4A"/>
            </a:solidFill>
            <a:prstDash val="solid"/>
          </a:ln>
        </p:spPr>
      </p:sp>
      <p:sp>
        <p:nvSpPr>
          <p:cNvPr id="12" name="Text 10"/>
          <p:cNvSpPr/>
          <p:nvPr/>
        </p:nvSpPr>
        <p:spPr>
          <a:xfrm>
            <a:off x="4069080" y="2953512"/>
            <a:ext cx="12801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20 sq ft</a:t>
            </a:r>
            <a:endParaRPr lang="en-US" sz="1300" dirty="0"/>
          </a:p>
        </p:txBody>
      </p:sp>
      <p:sp>
        <p:nvSpPr>
          <p:cNvPr id="13" name="Shape 11"/>
          <p:cNvSpPr/>
          <p:nvPr/>
        </p:nvSpPr>
        <p:spPr>
          <a:xfrm>
            <a:off x="4288536" y="1737360"/>
            <a:ext cx="0" cy="2103120"/>
          </a:xfrm>
          <a:prstGeom prst="line">
            <a:avLst/>
          </a:prstGeom>
          <a:noFill/>
          <a:ln w="25400">
            <a:solidFill>
              <a:srgbClr val="1B2A4A"/>
            </a:solidFill>
            <a:prstDash val="dash"/>
          </a:ln>
        </p:spPr>
      </p:sp>
      <p:sp>
        <p:nvSpPr>
          <p:cNvPr id="14" name="Shape 12"/>
          <p:cNvSpPr/>
          <p:nvPr/>
        </p:nvSpPr>
        <p:spPr>
          <a:xfrm>
            <a:off x="822960" y="3977640"/>
            <a:ext cx="7498080" cy="868680"/>
          </a:xfrm>
          <a:prstGeom prst="roundRect">
            <a:avLst>
              <a:gd name="adj" fmla="val 10526"/>
            </a:avLst>
          </a:prstGeom>
          <a:solidFill>
            <a:srgbClr val="FFFFFF"/>
          </a:solidFill>
          <a:ln w="6350">
            <a:solidFill>
              <a:srgbClr val="DDDDEE"/>
            </a:solidFill>
            <a:prstDash val="solid"/>
          </a:ln>
        </p:spPr>
      </p:sp>
      <p:sp>
        <p:nvSpPr>
          <p:cNvPr id="15" name="Text 13"/>
          <p:cNvSpPr/>
          <p:nvPr/>
        </p:nvSpPr>
        <p:spPr>
          <a:xfrm>
            <a:off x="1005840" y="4023360"/>
            <a:ext cx="7132320" cy="77724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The height line splits the rectangle into two smaller rectangles. The sail covers exactly half of EACH one, so the sail is half of the whole rectangle: 40 divided by 2 = 20 square feet.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 The Rule Still Works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Diagram</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103120"/>
          </a:xfrm>
          <a:prstGeom prst="roundRect">
            <a:avLst>
              <a:gd name="adj" fmla="val 4348"/>
            </a:avLst>
          </a:prstGeom>
          <a:solidFill>
            <a:srgbClr val="FFFFFF"/>
          </a:solidFill>
          <a:ln w="6350">
            <a:solidFill>
              <a:srgbClr val="DDDDEE"/>
            </a:solidFill>
            <a:prstDash val="solid"/>
          </a:ln>
        </p:spPr>
      </p:sp>
      <p:sp>
        <p:nvSpPr>
          <p:cNvPr id="7" name="Shape 5"/>
          <p:cNvSpPr/>
          <p:nvPr/>
        </p:nvSpPr>
        <p:spPr>
          <a:xfrm>
            <a:off x="2651760" y="1234440"/>
            <a:ext cx="3840480" cy="1645920"/>
          </a:xfrm>
          <a:prstGeom prst="rect">
            <a:avLst/>
          </a:prstGeom>
          <a:solidFill>
            <a:srgbClr val="FFFFFF"/>
          </a:solidFill>
          <a:ln w="25400">
            <a:solidFill>
              <a:srgbClr val="1B2A4A"/>
            </a:solidFill>
            <a:prstDash val="solid"/>
          </a:ln>
        </p:spPr>
      </p:sp>
      <p:sp>
        <p:nvSpPr>
          <p:cNvPr id="8" name="Shape 6"/>
          <p:cNvSpPr/>
          <p:nvPr/>
        </p:nvSpPr>
        <p:spPr>
          <a:xfrm>
            <a:off x="4206240" y="1234440"/>
            <a:ext cx="0" cy="1645920"/>
          </a:xfrm>
          <a:prstGeom prst="line">
            <a:avLst/>
          </a:prstGeom>
          <a:noFill/>
          <a:ln w="25400">
            <a:solidFill>
              <a:srgbClr val="4A3D8F"/>
            </a:solidFill>
            <a:prstDash val="dash"/>
          </a:ln>
        </p:spPr>
      </p:sp>
      <p:sp>
        <p:nvSpPr>
          <p:cNvPr id="9" name="Text 7"/>
          <p:cNvSpPr/>
          <p:nvPr/>
        </p:nvSpPr>
        <p:spPr>
          <a:xfrm>
            <a:off x="2651760" y="2926080"/>
            <a:ext cx="3840480" cy="274320"/>
          </a:xfrm>
          <a:prstGeom prst="rect">
            <a:avLst/>
          </a:prstGeom>
          <a:noFill/>
          <a:ln/>
        </p:spPr>
        <p:txBody>
          <a:bodyPr wrap="square" lIns="0" tIns="0" rIns="0" bIns="0" rtlCol="0" anchor="ctr"/>
          <a:lstStyle/>
          <a:p>
            <a:pPr algn="ctr" indent="0" marL="0">
              <a:buNone/>
            </a:pPr>
            <a:r>
              <a:rPr lang="en-US" sz="1200" i="1" dirty="0">
                <a:solidFill>
                  <a:srgbClr val="5A5A7A"/>
                </a:solidFill>
              </a:rPr>
              <a:t>base = 8 ft</a:t>
            </a:r>
            <a:endParaRPr lang="en-US" sz="1200" dirty="0"/>
          </a:p>
        </p:txBody>
      </p:sp>
      <p:sp>
        <p:nvSpPr>
          <p:cNvPr id="10" name="Text 8"/>
          <p:cNvSpPr/>
          <p:nvPr/>
        </p:nvSpPr>
        <p:spPr>
          <a:xfrm>
            <a:off x="1554480" y="1554480"/>
            <a:ext cx="1005840" cy="1005840"/>
          </a:xfrm>
          <a:prstGeom prst="rect">
            <a:avLst/>
          </a:prstGeom>
          <a:noFill/>
          <a:ln/>
        </p:spPr>
        <p:txBody>
          <a:bodyPr wrap="square" lIns="0" tIns="0" rIns="0" bIns="0" rtlCol="0" anchor="ctr"/>
          <a:lstStyle/>
          <a:p>
            <a:pPr algn="ctr" indent="0" marL="0">
              <a:buNone/>
            </a:pPr>
            <a:r>
              <a:rPr lang="en-US" sz="1200" i="1" dirty="0">
                <a:solidFill>
                  <a:srgbClr val="5A5A7A"/>
                </a:solidFill>
              </a:rPr>
              <a:t>height</a:t>
            </a:r>
            <a:endParaRPr lang="en-US" sz="1200" dirty="0"/>
          </a:p>
          <a:p>
            <a:pPr algn="ctr" indent="0" marL="0">
              <a:buNone/>
            </a:pPr>
            <a:r>
              <a:rPr lang="en-US" sz="1200" i="1" dirty="0">
                <a:solidFill>
                  <a:srgbClr val="5A5A7A"/>
                </a:solidFill>
              </a:rPr>
              <a:t>= 5 ft</a:t>
            </a:r>
            <a:endParaRPr lang="en-US" sz="1200" dirty="0"/>
          </a:p>
        </p:txBody>
      </p:sp>
      <p:sp>
        <p:nvSpPr>
          <p:cNvPr id="11" name="Shape 9"/>
          <p:cNvSpPr/>
          <p:nvPr/>
        </p:nvSpPr>
        <p:spPr>
          <a:xfrm>
            <a:off x="731520" y="3246120"/>
            <a:ext cx="7680960" cy="0"/>
          </a:xfrm>
          <a:prstGeom prst="line">
            <a:avLst/>
          </a:prstGeom>
          <a:noFill/>
          <a:ln w="6350">
            <a:solidFill>
              <a:srgbClr val="DDDDEE"/>
            </a:solidFill>
            <a:prstDash val="solid"/>
          </a:ln>
        </p:spPr>
      </p:sp>
      <p:sp>
        <p:nvSpPr>
          <p:cNvPr id="12" name="Text 10"/>
          <p:cNvSpPr/>
          <p:nvPr/>
        </p:nvSpPr>
        <p:spPr>
          <a:xfrm>
            <a:off x="731520" y="3383280"/>
            <a:ext cx="7680960" cy="731520"/>
          </a:xfrm>
          <a:prstGeom prst="rect">
            <a:avLst/>
          </a:prstGeom>
          <a:noFill/>
          <a:ln/>
        </p:spPr>
        <p:txBody>
          <a:bodyPr wrap="square" lIns="0" tIns="0" rIns="0" bIns="0" rtlCol="0" anchor="ctr"/>
          <a:lstStyle/>
          <a:p>
            <a:pPr indent="0" marL="0">
              <a:buNone/>
            </a:pPr>
            <a:r>
              <a:rPr lang="en-US" sz="1400" b="1" dirty="0">
                <a:solidFill>
                  <a:srgbClr val="1A1A2E"/>
                </a:solidFill>
                <a:latin typeface="Cambria" pitchFamily="34" charset="0"/>
                <a:ea typeface="Cambria" pitchFamily="34" charset="-122"/>
                <a:cs typeface="Cambria" pitchFamily="34" charset="-120"/>
              </a:rPr>
              <a:t>Area of rectangle = base x height = 8 x 5 = 40 sq ft     Area of triangle = 40 divided by 2 = 20 sq ft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 The Rule for ANY Triangle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Rule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548640" y="1188720"/>
            <a:ext cx="8046720" cy="2651760"/>
          </a:xfrm>
          <a:prstGeom prst="roundRect">
            <a:avLst>
              <a:gd name="adj" fmla="val 3448"/>
            </a:avLst>
          </a:prstGeom>
          <a:solidFill>
            <a:srgbClr val="EAE8F5"/>
          </a:solidFill>
          <a:ln w="6350">
            <a:solidFill>
              <a:srgbClr val="DDDDEE"/>
            </a:solidFill>
            <a:prstDash val="solid"/>
          </a:ln>
        </p:spPr>
      </p:sp>
      <p:sp>
        <p:nvSpPr>
          <p:cNvPr id="7" name="Text 5"/>
          <p:cNvSpPr/>
          <p:nvPr/>
        </p:nvSpPr>
        <p:spPr>
          <a:xfrm>
            <a:off x="822960" y="1371600"/>
            <a:ext cx="7498080" cy="54864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To find the area of ANY triangle:</a:t>
            </a:r>
            <a:endParaRPr lang="en-US" sz="1600" dirty="0"/>
          </a:p>
        </p:txBody>
      </p:sp>
      <p:sp>
        <p:nvSpPr>
          <p:cNvPr id="8" name="Text 6"/>
          <p:cNvSpPr/>
          <p:nvPr/>
        </p:nvSpPr>
        <p:spPr>
          <a:xfrm>
            <a:off x="822960" y="1965960"/>
            <a:ext cx="7498080" cy="1325880"/>
          </a:xfrm>
          <a:prstGeom prst="rect">
            <a:avLst/>
          </a:prstGeom>
          <a:noFill/>
          <a:ln/>
        </p:spPr>
        <p:txBody>
          <a:bodyPr wrap="square" lIns="0" tIns="0" rIns="0" bIns="0" rtlCol="0" anchor="ctr"/>
          <a:lstStyle/>
          <a:p>
            <a:pPr indent="0" marL="0">
              <a:buNone/>
            </a:pPr>
            <a:r>
              <a:rPr lang="en-US" sz="1700" b="1" dirty="0">
                <a:solidFill>
                  <a:srgbClr val="1A1A2E"/>
                </a:solidFill>
                <a:latin typeface="Cambria" pitchFamily="34" charset="0"/>
                <a:ea typeface="Cambria" pitchFamily="34" charset="-122"/>
                <a:cs typeface="Cambria" pitchFamily="34" charset="-120"/>
              </a:rPr>
              <a:t>Multiply the base by the height (the straight-up distance from the base to the opposite point), then divide by 2 -- it does not matter where that point sits.</a:t>
            </a:r>
            <a:endParaRPr lang="en-US" sz="1700" dirty="0"/>
          </a:p>
        </p:txBody>
      </p:sp>
      <p:sp>
        <p:nvSpPr>
          <p:cNvPr id="9" name="Text 7"/>
          <p:cNvSpPr/>
          <p:nvPr/>
        </p:nvSpPr>
        <p:spPr>
          <a:xfrm>
            <a:off x="822960" y="3383280"/>
            <a:ext cx="7498080" cy="457200"/>
          </a:xfrm>
          <a:prstGeom prst="rect">
            <a:avLst/>
          </a:prstGeom>
          <a:noFill/>
          <a:ln/>
        </p:spPr>
        <p:txBody>
          <a:bodyPr wrap="square" lIns="0" tIns="0" rIns="0" bIns="0" rtlCol="0" anchor="ctr"/>
          <a:lstStyle/>
          <a:p>
            <a:pPr indent="0" marL="0">
              <a:buNone/>
            </a:pPr>
            <a:r>
              <a:rPr lang="en-US" sz="1200" i="1" dirty="0">
                <a:solidFill>
                  <a:srgbClr val="5A5A7A"/>
                </a:solidFill>
              </a:rPr>
              <a:t>Say "base" and "height" -- never a bare letter.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Key Terms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4023360" cy="1600200"/>
          </a:xfrm>
          <a:prstGeom prst="roundRect">
            <a:avLst>
              <a:gd name="adj" fmla="val 5714"/>
            </a:avLst>
          </a:prstGeom>
          <a:solidFill>
            <a:srgbClr val="FFFFFF"/>
          </a:solidFill>
          <a:ln w="6350">
            <a:solidFill>
              <a:srgbClr val="DDDDEE"/>
            </a:solidFill>
            <a:prstDash val="solid"/>
          </a:ln>
        </p:spPr>
      </p:sp>
      <p:sp>
        <p:nvSpPr>
          <p:cNvPr id="7" name="Text 5"/>
          <p:cNvSpPr/>
          <p:nvPr/>
        </p:nvSpPr>
        <p:spPr>
          <a:xfrm>
            <a:off x="640080" y="1069848"/>
            <a:ext cx="365760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area</a:t>
            </a:r>
            <a:endParaRPr lang="en-US" sz="1600" dirty="0"/>
          </a:p>
        </p:txBody>
      </p:sp>
      <p:sp>
        <p:nvSpPr>
          <p:cNvPr id="8" name="Text 6"/>
          <p:cNvSpPr/>
          <p:nvPr/>
        </p:nvSpPr>
        <p:spPr>
          <a:xfrm>
            <a:off x="640080" y="1463040"/>
            <a:ext cx="3657600" cy="685800"/>
          </a:xfrm>
          <a:prstGeom prst="rect">
            <a:avLst/>
          </a:prstGeom>
          <a:noFill/>
          <a:ln/>
        </p:spPr>
        <p:txBody>
          <a:bodyPr wrap="square" lIns="0" tIns="0" rIns="0" bIns="0" rtlCol="0" anchor="ctr"/>
          <a:lstStyle/>
          <a:p>
            <a:pPr indent="0" marL="0">
              <a:buNone/>
            </a:pPr>
            <a:r>
              <a:rPr lang="en-US" sz="1150" dirty="0">
                <a:solidFill>
                  <a:srgbClr val="1A1A2E"/>
                </a:solidFill>
              </a:rPr>
              <a:t>The amount of flat space inside a shape, measured in square units.</a:t>
            </a:r>
            <a:endParaRPr lang="en-US" sz="1150" dirty="0"/>
          </a:p>
        </p:txBody>
      </p:sp>
      <p:sp>
        <p:nvSpPr>
          <p:cNvPr id="9" name="Text 7"/>
          <p:cNvSpPr/>
          <p:nvPr/>
        </p:nvSpPr>
        <p:spPr>
          <a:xfrm>
            <a:off x="640080" y="2167128"/>
            <a:ext cx="3657600" cy="365760"/>
          </a:xfrm>
          <a:prstGeom prst="rect">
            <a:avLst/>
          </a:prstGeom>
          <a:noFill/>
          <a:ln/>
        </p:spPr>
        <p:txBody>
          <a:bodyPr wrap="square" lIns="0" tIns="0" rIns="0" bIns="0" rtlCol="0" anchor="ctr"/>
          <a:lstStyle/>
          <a:p>
            <a:pPr indent="0" marL="0">
              <a:buNone/>
            </a:pPr>
            <a:r>
              <a:rPr lang="en-US" sz="1100" i="1" dirty="0">
                <a:solidFill>
                  <a:srgbClr val="5A5A7A"/>
                </a:solidFill>
              </a:rPr>
              <a:t>e.g., The sail has an area of 20 square feet.</a:t>
            </a:r>
            <a:endParaRPr lang="en-US" sz="1100" dirty="0"/>
          </a:p>
        </p:txBody>
      </p:sp>
      <p:sp>
        <p:nvSpPr>
          <p:cNvPr id="10" name="Shape 8"/>
          <p:cNvSpPr/>
          <p:nvPr/>
        </p:nvSpPr>
        <p:spPr>
          <a:xfrm>
            <a:off x="4663440" y="960120"/>
            <a:ext cx="4023360" cy="1600200"/>
          </a:xfrm>
          <a:prstGeom prst="roundRect">
            <a:avLst>
              <a:gd name="adj" fmla="val 5714"/>
            </a:avLst>
          </a:prstGeom>
          <a:solidFill>
            <a:srgbClr val="FFFFFF"/>
          </a:solidFill>
          <a:ln w="6350">
            <a:solidFill>
              <a:srgbClr val="DDDDEE"/>
            </a:solidFill>
            <a:prstDash val="solid"/>
          </a:ln>
        </p:spPr>
      </p:sp>
      <p:sp>
        <p:nvSpPr>
          <p:cNvPr id="11" name="Text 9"/>
          <p:cNvSpPr/>
          <p:nvPr/>
        </p:nvSpPr>
        <p:spPr>
          <a:xfrm>
            <a:off x="4846320" y="1069848"/>
            <a:ext cx="365760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base</a:t>
            </a:r>
            <a:endParaRPr lang="en-US" sz="1600" dirty="0"/>
          </a:p>
        </p:txBody>
      </p:sp>
      <p:sp>
        <p:nvSpPr>
          <p:cNvPr id="12" name="Text 10"/>
          <p:cNvSpPr/>
          <p:nvPr/>
        </p:nvSpPr>
        <p:spPr>
          <a:xfrm>
            <a:off x="4846320" y="1463040"/>
            <a:ext cx="3657600" cy="685800"/>
          </a:xfrm>
          <a:prstGeom prst="rect">
            <a:avLst/>
          </a:prstGeom>
          <a:noFill/>
          <a:ln/>
        </p:spPr>
        <p:txBody>
          <a:bodyPr wrap="square" lIns="0" tIns="0" rIns="0" bIns="0" rtlCol="0" anchor="ctr"/>
          <a:lstStyle/>
          <a:p>
            <a:pPr indent="0" marL="0">
              <a:buNone/>
            </a:pPr>
            <a:r>
              <a:rPr lang="en-US" sz="1150" dirty="0">
                <a:solidFill>
                  <a:srgbClr val="1A1A2E"/>
                </a:solidFill>
              </a:rPr>
              <a:t>The side of a triangle used as the starting measurement.</a:t>
            </a:r>
            <a:endParaRPr lang="en-US" sz="1150" dirty="0"/>
          </a:p>
        </p:txBody>
      </p:sp>
      <p:sp>
        <p:nvSpPr>
          <p:cNvPr id="13" name="Text 11"/>
          <p:cNvSpPr/>
          <p:nvPr/>
        </p:nvSpPr>
        <p:spPr>
          <a:xfrm>
            <a:off x="4846320" y="2167128"/>
            <a:ext cx="3657600" cy="365760"/>
          </a:xfrm>
          <a:prstGeom prst="rect">
            <a:avLst/>
          </a:prstGeom>
          <a:noFill/>
          <a:ln/>
        </p:spPr>
        <p:txBody>
          <a:bodyPr wrap="square" lIns="0" tIns="0" rIns="0" bIns="0" rtlCol="0" anchor="ctr"/>
          <a:lstStyle/>
          <a:p>
            <a:pPr indent="0" marL="0">
              <a:buNone/>
            </a:pPr>
            <a:r>
              <a:rPr lang="en-US" sz="1100" i="1" dirty="0">
                <a:solidFill>
                  <a:srgbClr val="5A5A7A"/>
                </a:solidFill>
              </a:rPr>
              <a:t>e.g., The 8-foot side is the base of the sail.</a:t>
            </a:r>
            <a:endParaRPr lang="en-US" sz="1100" dirty="0"/>
          </a:p>
        </p:txBody>
      </p:sp>
      <p:sp>
        <p:nvSpPr>
          <p:cNvPr id="14" name="Shape 12"/>
          <p:cNvSpPr/>
          <p:nvPr/>
        </p:nvSpPr>
        <p:spPr>
          <a:xfrm>
            <a:off x="457200" y="2743200"/>
            <a:ext cx="4023360" cy="1600200"/>
          </a:xfrm>
          <a:prstGeom prst="roundRect">
            <a:avLst>
              <a:gd name="adj" fmla="val 5714"/>
            </a:avLst>
          </a:prstGeom>
          <a:solidFill>
            <a:srgbClr val="FFFFFF"/>
          </a:solidFill>
          <a:ln w="6350">
            <a:solidFill>
              <a:srgbClr val="DDDDEE"/>
            </a:solidFill>
            <a:prstDash val="solid"/>
          </a:ln>
        </p:spPr>
      </p:sp>
      <p:sp>
        <p:nvSpPr>
          <p:cNvPr id="15" name="Text 13"/>
          <p:cNvSpPr/>
          <p:nvPr/>
        </p:nvSpPr>
        <p:spPr>
          <a:xfrm>
            <a:off x="640080" y="2852928"/>
            <a:ext cx="365760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height</a:t>
            </a:r>
            <a:endParaRPr lang="en-US" sz="1600" dirty="0"/>
          </a:p>
        </p:txBody>
      </p:sp>
      <p:sp>
        <p:nvSpPr>
          <p:cNvPr id="16" name="Text 14"/>
          <p:cNvSpPr/>
          <p:nvPr/>
        </p:nvSpPr>
        <p:spPr>
          <a:xfrm>
            <a:off x="640080" y="3246120"/>
            <a:ext cx="3657600" cy="685800"/>
          </a:xfrm>
          <a:prstGeom prst="rect">
            <a:avLst/>
          </a:prstGeom>
          <a:noFill/>
          <a:ln/>
        </p:spPr>
        <p:txBody>
          <a:bodyPr wrap="square" lIns="0" tIns="0" rIns="0" bIns="0" rtlCol="0" anchor="ctr"/>
          <a:lstStyle/>
          <a:p>
            <a:pPr indent="0" marL="0">
              <a:buNone/>
            </a:pPr>
            <a:r>
              <a:rPr lang="en-US" sz="1150" dirty="0">
                <a:solidFill>
                  <a:srgbClr val="1A1A2E"/>
                </a:solidFill>
              </a:rPr>
              <a:t>The straight-up distance from the base to the point opposite it -- even if that point isn't over either corner.</a:t>
            </a:r>
            <a:endParaRPr lang="en-US" sz="1150" dirty="0"/>
          </a:p>
        </p:txBody>
      </p:sp>
      <p:sp>
        <p:nvSpPr>
          <p:cNvPr id="17" name="Text 15"/>
          <p:cNvSpPr/>
          <p:nvPr/>
        </p:nvSpPr>
        <p:spPr>
          <a:xfrm>
            <a:off x="640080" y="3950208"/>
            <a:ext cx="3657600" cy="365760"/>
          </a:xfrm>
          <a:prstGeom prst="rect">
            <a:avLst/>
          </a:prstGeom>
          <a:noFill/>
          <a:ln/>
        </p:spPr>
        <p:txBody>
          <a:bodyPr wrap="square" lIns="0" tIns="0" rIns="0" bIns="0" rtlCol="0" anchor="ctr"/>
          <a:lstStyle/>
          <a:p>
            <a:pPr indent="0" marL="0">
              <a:buNone/>
            </a:pPr>
            <a:r>
              <a:rPr lang="en-US" sz="1100" i="1" dirty="0">
                <a:solidFill>
                  <a:srgbClr val="5A5A7A"/>
                </a:solidFill>
              </a:rPr>
              <a:t>e.g., The 5-foot straight-up distance is the sail's height.</a:t>
            </a:r>
            <a:endParaRPr lang="en-US" sz="1100" dirty="0"/>
          </a:p>
        </p:txBody>
      </p:sp>
      <p:sp>
        <p:nvSpPr>
          <p:cNvPr id="18" name="Shape 16"/>
          <p:cNvSpPr/>
          <p:nvPr/>
        </p:nvSpPr>
        <p:spPr>
          <a:xfrm>
            <a:off x="4663440" y="2743200"/>
            <a:ext cx="4023360" cy="1600200"/>
          </a:xfrm>
          <a:prstGeom prst="roundRect">
            <a:avLst>
              <a:gd name="adj" fmla="val 5714"/>
            </a:avLst>
          </a:prstGeom>
          <a:solidFill>
            <a:srgbClr val="FFFFFF"/>
          </a:solidFill>
          <a:ln w="6350">
            <a:solidFill>
              <a:srgbClr val="DDDDEE"/>
            </a:solidFill>
            <a:prstDash val="solid"/>
          </a:ln>
        </p:spPr>
      </p:sp>
      <p:sp>
        <p:nvSpPr>
          <p:cNvPr id="19" name="Text 17"/>
          <p:cNvSpPr/>
          <p:nvPr/>
        </p:nvSpPr>
        <p:spPr>
          <a:xfrm>
            <a:off x="4846320" y="2852928"/>
            <a:ext cx="365760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vertex</a:t>
            </a:r>
            <a:endParaRPr lang="en-US" sz="1600" dirty="0"/>
          </a:p>
        </p:txBody>
      </p:sp>
      <p:sp>
        <p:nvSpPr>
          <p:cNvPr id="20" name="Text 18"/>
          <p:cNvSpPr/>
          <p:nvPr/>
        </p:nvSpPr>
        <p:spPr>
          <a:xfrm>
            <a:off x="4846320" y="3246120"/>
            <a:ext cx="3657600" cy="685800"/>
          </a:xfrm>
          <a:prstGeom prst="rect">
            <a:avLst/>
          </a:prstGeom>
          <a:noFill/>
          <a:ln/>
        </p:spPr>
        <p:txBody>
          <a:bodyPr wrap="square" lIns="0" tIns="0" rIns="0" bIns="0" rtlCol="0" anchor="ctr"/>
          <a:lstStyle/>
          <a:p>
            <a:pPr indent="0" marL="0">
              <a:buNone/>
            </a:pPr>
            <a:r>
              <a:rPr lang="en-US" sz="1150" dirty="0">
                <a:solidFill>
                  <a:srgbClr val="1A1A2E"/>
                </a:solidFill>
              </a:rPr>
              <a:t>A corner point of a shape -- for a triangle, the point opposite the base.</a:t>
            </a:r>
            <a:endParaRPr lang="en-US" sz="1150" dirty="0"/>
          </a:p>
        </p:txBody>
      </p:sp>
      <p:sp>
        <p:nvSpPr>
          <p:cNvPr id="21" name="Text 19"/>
          <p:cNvSpPr/>
          <p:nvPr/>
        </p:nvSpPr>
        <p:spPr>
          <a:xfrm>
            <a:off x="4846320" y="3950208"/>
            <a:ext cx="3657600" cy="365760"/>
          </a:xfrm>
          <a:prstGeom prst="rect">
            <a:avLst/>
          </a:prstGeom>
          <a:noFill/>
          <a:ln/>
        </p:spPr>
        <p:txBody>
          <a:bodyPr wrap="square" lIns="0" tIns="0" rIns="0" bIns="0" rtlCol="0" anchor="ctr"/>
          <a:lstStyle/>
          <a:p>
            <a:pPr indent="0" marL="0">
              <a:buNone/>
            </a:pPr>
            <a:r>
              <a:rPr lang="en-US" sz="1100" i="1" dirty="0">
                <a:solidFill>
                  <a:srgbClr val="5A5A7A"/>
                </a:solidFill>
              </a:rPr>
              <a:t>e.g., The sail's top vertex sits in the middle of the base, not over a corner.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A</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Whole-Number Area</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36576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Text 6"/>
          <p:cNvSpPr/>
          <p:nvPr/>
        </p:nvSpPr>
        <p:spPr>
          <a:xfrm>
            <a:off x="365760" y="1234440"/>
            <a:ext cx="7772400" cy="594360"/>
          </a:xfrm>
          <a:prstGeom prst="rect">
            <a:avLst/>
          </a:prstGeom>
          <a:noFill/>
          <a:ln/>
        </p:spPr>
        <p:txBody>
          <a:bodyPr wrap="square" lIns="0" tIns="0" rIns="0" bIns="0" rtlCol="0" anchor="ctr"/>
          <a:lstStyle/>
          <a:p>
            <a:pPr indent="0" marL="0">
              <a:buNone/>
            </a:pPr>
            <a:r>
              <a:rPr lang="en-US" sz="2200" b="1" dirty="0">
                <a:solidFill>
                  <a:srgbClr val="1A1A2E"/>
                </a:solidFill>
                <a:latin typeface="Cambria" pitchFamily="34" charset="0"/>
                <a:ea typeface="Cambria" pitchFamily="34" charset="-122"/>
                <a:cs typeface="Cambria" pitchFamily="34" charset="-120"/>
              </a:rPr>
              <a:t>base 14 m, height 5 m. Area = ___</a:t>
            </a:r>
            <a:endParaRPr lang="en-US" sz="2200" dirty="0"/>
          </a:p>
        </p:txBody>
      </p:sp>
      <p:sp>
        <p:nvSpPr>
          <p:cNvPr id="9" name="Shape 7"/>
          <p:cNvSpPr/>
          <p:nvPr/>
        </p:nvSpPr>
        <p:spPr>
          <a:xfrm>
            <a:off x="365760" y="1965960"/>
            <a:ext cx="4069080" cy="1188720"/>
          </a:xfrm>
          <a:prstGeom prst="roundRect">
            <a:avLst>
              <a:gd name="adj" fmla="val 7692"/>
            </a:avLst>
          </a:prstGeom>
          <a:solidFill>
            <a:srgbClr val="FFFFFF"/>
          </a:solidFill>
          <a:ln w="6350">
            <a:solidFill>
              <a:srgbClr val="DDDDEE"/>
            </a:solidFill>
            <a:prstDash val="solid"/>
          </a:ln>
        </p:spPr>
      </p:sp>
      <p:sp>
        <p:nvSpPr>
          <p:cNvPr id="10" name="Shape 8"/>
          <p:cNvSpPr/>
          <p:nvPr/>
        </p:nvSpPr>
        <p:spPr>
          <a:xfrm>
            <a:off x="502920" y="2039112"/>
            <a:ext cx="347472" cy="347472"/>
          </a:xfrm>
          <a:prstGeom prst="ellipse">
            <a:avLst/>
          </a:prstGeom>
          <a:solidFill>
            <a:srgbClr val="4A3D8F"/>
          </a:solidFill>
          <a:ln w="12700">
            <a:solidFill>
              <a:srgbClr val="4A3D8F"/>
            </a:solidFill>
            <a:prstDash val="solid"/>
          </a:ln>
        </p:spPr>
      </p:sp>
      <p:sp>
        <p:nvSpPr>
          <p:cNvPr id="11" name="Text 9"/>
          <p:cNvSpPr/>
          <p:nvPr/>
        </p:nvSpPr>
        <p:spPr>
          <a:xfrm>
            <a:off x="502920" y="20391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2" name="Text 10"/>
          <p:cNvSpPr/>
          <p:nvPr/>
        </p:nvSpPr>
        <p:spPr>
          <a:xfrm>
            <a:off x="960120" y="203911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Multiply base x height</a:t>
            </a:r>
            <a:endParaRPr lang="en-US" sz="1200" dirty="0"/>
          </a:p>
        </p:txBody>
      </p:sp>
      <p:sp>
        <p:nvSpPr>
          <p:cNvPr id="13" name="Text 11"/>
          <p:cNvSpPr/>
          <p:nvPr/>
        </p:nvSpPr>
        <p:spPr>
          <a:xfrm>
            <a:off x="960120" y="237744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14 x 5 = 70 (the rectangle's area).</a:t>
            </a:r>
            <a:endParaRPr lang="en-US" sz="1100" dirty="0"/>
          </a:p>
        </p:txBody>
      </p:sp>
      <p:sp>
        <p:nvSpPr>
          <p:cNvPr id="14" name="Shape 12"/>
          <p:cNvSpPr/>
          <p:nvPr/>
        </p:nvSpPr>
        <p:spPr>
          <a:xfrm>
            <a:off x="4663440" y="1965960"/>
            <a:ext cx="4069080" cy="1188720"/>
          </a:xfrm>
          <a:prstGeom prst="roundRect">
            <a:avLst>
              <a:gd name="adj" fmla="val 7692"/>
            </a:avLst>
          </a:prstGeom>
          <a:solidFill>
            <a:srgbClr val="FFFFFF"/>
          </a:solidFill>
          <a:ln w="6350">
            <a:solidFill>
              <a:srgbClr val="DDDDEE"/>
            </a:solidFill>
            <a:prstDash val="solid"/>
          </a:ln>
        </p:spPr>
      </p:sp>
      <p:sp>
        <p:nvSpPr>
          <p:cNvPr id="15" name="Shape 13"/>
          <p:cNvSpPr/>
          <p:nvPr/>
        </p:nvSpPr>
        <p:spPr>
          <a:xfrm>
            <a:off x="4800600" y="2039112"/>
            <a:ext cx="347472" cy="347472"/>
          </a:xfrm>
          <a:prstGeom prst="ellipse">
            <a:avLst/>
          </a:prstGeom>
          <a:solidFill>
            <a:srgbClr val="4A3D8F"/>
          </a:solidFill>
          <a:ln w="12700">
            <a:solidFill>
              <a:srgbClr val="4A3D8F"/>
            </a:solidFill>
            <a:prstDash val="solid"/>
          </a:ln>
        </p:spPr>
      </p:sp>
      <p:sp>
        <p:nvSpPr>
          <p:cNvPr id="16" name="Text 14"/>
          <p:cNvSpPr/>
          <p:nvPr/>
        </p:nvSpPr>
        <p:spPr>
          <a:xfrm>
            <a:off x="4800600" y="20391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5"/>
          <p:cNvSpPr/>
          <p:nvPr/>
        </p:nvSpPr>
        <p:spPr>
          <a:xfrm>
            <a:off x="5257800" y="203911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Divide by 2</a:t>
            </a:r>
            <a:endParaRPr lang="en-US" sz="1200" dirty="0"/>
          </a:p>
        </p:txBody>
      </p:sp>
      <p:sp>
        <p:nvSpPr>
          <p:cNvPr id="18" name="Text 16"/>
          <p:cNvSpPr/>
          <p:nvPr/>
        </p:nvSpPr>
        <p:spPr>
          <a:xfrm>
            <a:off x="5257800" y="237744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70 divided by 2 = 35.</a:t>
            </a:r>
            <a:endParaRPr lang="en-US" sz="1100" dirty="0"/>
          </a:p>
        </p:txBody>
      </p:sp>
      <p:sp>
        <p:nvSpPr>
          <p:cNvPr id="19" name="Shape 17"/>
          <p:cNvSpPr/>
          <p:nvPr/>
        </p:nvSpPr>
        <p:spPr>
          <a:xfrm>
            <a:off x="365760" y="3291840"/>
            <a:ext cx="4069080" cy="1188720"/>
          </a:xfrm>
          <a:prstGeom prst="roundRect">
            <a:avLst>
              <a:gd name="adj" fmla="val 7692"/>
            </a:avLst>
          </a:prstGeom>
          <a:solidFill>
            <a:srgbClr val="FFFFFF"/>
          </a:solidFill>
          <a:ln w="6350">
            <a:solidFill>
              <a:srgbClr val="DDDDEE"/>
            </a:solidFill>
            <a:prstDash val="solid"/>
          </a:ln>
        </p:spPr>
      </p:sp>
      <p:sp>
        <p:nvSpPr>
          <p:cNvPr id="20" name="Shape 18"/>
          <p:cNvSpPr/>
          <p:nvPr/>
        </p:nvSpPr>
        <p:spPr>
          <a:xfrm>
            <a:off x="502920" y="3364992"/>
            <a:ext cx="347472" cy="347472"/>
          </a:xfrm>
          <a:prstGeom prst="ellipse">
            <a:avLst/>
          </a:prstGeom>
          <a:solidFill>
            <a:srgbClr val="4A3D8F"/>
          </a:solidFill>
          <a:ln w="12700">
            <a:solidFill>
              <a:srgbClr val="4A3D8F"/>
            </a:solidFill>
            <a:prstDash val="solid"/>
          </a:ln>
        </p:spPr>
      </p:sp>
      <p:sp>
        <p:nvSpPr>
          <p:cNvPr id="21" name="Text 19"/>
          <p:cNvSpPr/>
          <p:nvPr/>
        </p:nvSpPr>
        <p:spPr>
          <a:xfrm>
            <a:off x="502920" y="3364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2" name="Text 20"/>
          <p:cNvSpPr/>
          <p:nvPr/>
        </p:nvSpPr>
        <p:spPr>
          <a:xfrm>
            <a:off x="960120" y="336499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Check the unit</a:t>
            </a:r>
            <a:endParaRPr lang="en-US" sz="1200" dirty="0"/>
          </a:p>
        </p:txBody>
      </p:sp>
      <p:sp>
        <p:nvSpPr>
          <p:cNvPr id="23" name="Text 21"/>
          <p:cNvSpPr/>
          <p:nvPr/>
        </p:nvSpPr>
        <p:spPr>
          <a:xfrm>
            <a:off x="960120" y="370332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The answer is in square meters.</a:t>
            </a:r>
            <a:endParaRPr lang="en-US" sz="1100" dirty="0"/>
          </a:p>
        </p:txBody>
      </p:sp>
      <p:sp>
        <p:nvSpPr>
          <p:cNvPr id="24" name="Shape 22"/>
          <p:cNvSpPr/>
          <p:nvPr/>
        </p:nvSpPr>
        <p:spPr>
          <a:xfrm>
            <a:off x="4663440" y="3291840"/>
            <a:ext cx="4069080" cy="1188720"/>
          </a:xfrm>
          <a:prstGeom prst="roundRect">
            <a:avLst>
              <a:gd name="adj" fmla="val 7692"/>
            </a:avLst>
          </a:prstGeom>
          <a:solidFill>
            <a:srgbClr val="FFFFFF"/>
          </a:solidFill>
          <a:ln w="6350">
            <a:solidFill>
              <a:srgbClr val="DDDDEE"/>
            </a:solidFill>
            <a:prstDash val="solid"/>
          </a:ln>
        </p:spPr>
      </p:sp>
      <p:sp>
        <p:nvSpPr>
          <p:cNvPr id="25" name="Shape 23"/>
          <p:cNvSpPr/>
          <p:nvPr/>
        </p:nvSpPr>
        <p:spPr>
          <a:xfrm>
            <a:off x="4800600" y="3364992"/>
            <a:ext cx="347472" cy="347472"/>
          </a:xfrm>
          <a:prstGeom prst="ellipse">
            <a:avLst/>
          </a:prstGeom>
          <a:solidFill>
            <a:srgbClr val="4A3D8F"/>
          </a:solidFill>
          <a:ln w="12700">
            <a:solidFill>
              <a:srgbClr val="4A3D8F"/>
            </a:solidFill>
            <a:prstDash val="solid"/>
          </a:ln>
        </p:spPr>
      </p:sp>
      <p:sp>
        <p:nvSpPr>
          <p:cNvPr id="26" name="Text 24"/>
          <p:cNvSpPr/>
          <p:nvPr/>
        </p:nvSpPr>
        <p:spPr>
          <a:xfrm>
            <a:off x="4800600" y="3364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7" name="Text 25"/>
          <p:cNvSpPr/>
          <p:nvPr/>
        </p:nvSpPr>
        <p:spPr>
          <a:xfrm>
            <a:off x="5257800" y="336499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Answer</a:t>
            </a:r>
            <a:endParaRPr lang="en-US" sz="1200" dirty="0"/>
          </a:p>
        </p:txBody>
      </p:sp>
      <p:sp>
        <p:nvSpPr>
          <p:cNvPr id="28" name="Text 26"/>
          <p:cNvSpPr/>
          <p:nvPr/>
        </p:nvSpPr>
        <p:spPr>
          <a:xfrm>
            <a:off x="5257800" y="370332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The triangle's area is 35 square meters.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B</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Fractional Base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36576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Text 6"/>
          <p:cNvSpPr/>
          <p:nvPr/>
        </p:nvSpPr>
        <p:spPr>
          <a:xfrm>
            <a:off x="365760" y="1188720"/>
            <a:ext cx="1188720" cy="640080"/>
          </a:xfrm>
          <a:prstGeom prst="rect">
            <a:avLst/>
          </a:prstGeom>
          <a:noFill/>
          <a:ln/>
        </p:spPr>
        <p:txBody>
          <a:bodyPr wrap="square" lIns="0" tIns="0" rIns="0" bIns="0" rtlCol="0" anchor="ctr"/>
          <a:lstStyle/>
          <a:p>
            <a:pPr indent="0" marL="0">
              <a:buNone/>
            </a:pPr>
            <a:r>
              <a:rPr lang="en-US" sz="2200" b="1" dirty="0">
                <a:solidFill>
                  <a:srgbClr val="1A1A2E"/>
                </a:solidFill>
                <a:latin typeface="Cambria" pitchFamily="34" charset="0"/>
                <a:ea typeface="Cambria" pitchFamily="34" charset="-122"/>
                <a:cs typeface="Cambria" pitchFamily="34" charset="-120"/>
              </a:rPr>
              <a:t>base 6</a:t>
            </a:r>
            <a:endParaRPr lang="en-US" sz="2200" dirty="0"/>
          </a:p>
        </p:txBody>
      </p:sp>
      <p:sp>
        <p:nvSpPr>
          <p:cNvPr id="9" name="Text 7"/>
          <p:cNvSpPr/>
          <p:nvPr/>
        </p:nvSpPr>
        <p:spPr>
          <a:xfrm>
            <a:off x="1554480" y="1188720"/>
            <a:ext cx="548640" cy="320040"/>
          </a:xfrm>
          <a:prstGeom prst="rect">
            <a:avLst/>
          </a:prstGeom>
          <a:noFill/>
          <a:ln/>
        </p:spPr>
        <p:txBody>
          <a:bodyPr wrap="square" lIns="0" tIns="0" rIns="0" bIns="0" rtlCol="0" anchor="b"/>
          <a:lstStyle/>
          <a:p>
            <a:pPr algn="ctr" indent="0" marL="0">
              <a:buNone/>
            </a:pPr>
            <a:r>
              <a:rPr lang="en-US" sz="1800" b="1" dirty="0">
                <a:solidFill>
                  <a:srgbClr val="1A1A2E"/>
                </a:solidFill>
                <a:latin typeface="Cambria" pitchFamily="34" charset="0"/>
                <a:ea typeface="Cambria" pitchFamily="34" charset="-122"/>
                <a:cs typeface="Cambria" pitchFamily="34" charset="-120"/>
              </a:rPr>
              <a:t>1</a:t>
            </a:r>
            <a:endParaRPr lang="en-US" sz="1800" dirty="0"/>
          </a:p>
        </p:txBody>
      </p:sp>
      <p:sp>
        <p:nvSpPr>
          <p:cNvPr id="10" name="Shape 8"/>
          <p:cNvSpPr/>
          <p:nvPr/>
        </p:nvSpPr>
        <p:spPr>
          <a:xfrm>
            <a:off x="1620317" y="1508760"/>
            <a:ext cx="416966" cy="0"/>
          </a:xfrm>
          <a:prstGeom prst="line">
            <a:avLst/>
          </a:prstGeom>
          <a:noFill/>
          <a:ln w="19050">
            <a:solidFill>
              <a:srgbClr val="1A1A2E"/>
            </a:solidFill>
            <a:prstDash val="solid"/>
          </a:ln>
        </p:spPr>
      </p:sp>
      <p:sp>
        <p:nvSpPr>
          <p:cNvPr id="11" name="Text 9"/>
          <p:cNvSpPr/>
          <p:nvPr/>
        </p:nvSpPr>
        <p:spPr>
          <a:xfrm>
            <a:off x="1554480" y="1508760"/>
            <a:ext cx="548640" cy="320040"/>
          </a:xfrm>
          <a:prstGeom prst="rect">
            <a:avLst/>
          </a:prstGeom>
          <a:noFill/>
          <a:ln/>
        </p:spPr>
        <p:txBody>
          <a:bodyPr wrap="square" lIns="0" tIns="0" rIns="0" bIns="0" rtlCol="0" anchor="t"/>
          <a:lstStyle/>
          <a:p>
            <a:pPr algn="ctr" indent="0" marL="0">
              <a:buNone/>
            </a:pPr>
            <a:r>
              <a:rPr lang="en-US" sz="1800" b="1" dirty="0">
                <a:solidFill>
                  <a:srgbClr val="1A1A2E"/>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2148840" y="1188720"/>
            <a:ext cx="5486400" cy="640080"/>
          </a:xfrm>
          <a:prstGeom prst="rect">
            <a:avLst/>
          </a:prstGeom>
          <a:noFill/>
          <a:ln/>
        </p:spPr>
        <p:txBody>
          <a:bodyPr wrap="square" lIns="0" tIns="0" rIns="0" bIns="0" rtlCol="0" anchor="ctr"/>
          <a:lstStyle/>
          <a:p>
            <a:pPr indent="0" marL="0">
              <a:buNone/>
            </a:pPr>
            <a:r>
              <a:rPr lang="en-US" sz="2200" b="1" dirty="0">
                <a:solidFill>
                  <a:srgbClr val="1A1A2E"/>
                </a:solidFill>
                <a:latin typeface="Cambria" pitchFamily="34" charset="0"/>
                <a:ea typeface="Cambria" pitchFamily="34" charset="-122"/>
                <a:cs typeface="Cambria" pitchFamily="34" charset="-120"/>
              </a:rPr>
              <a:t>in, height 4 in. Area = ___</a:t>
            </a:r>
            <a:endParaRPr lang="en-US" sz="2200" dirty="0"/>
          </a:p>
        </p:txBody>
      </p:sp>
      <p:sp>
        <p:nvSpPr>
          <p:cNvPr id="13" name="Shape 11"/>
          <p:cNvSpPr/>
          <p:nvPr/>
        </p:nvSpPr>
        <p:spPr>
          <a:xfrm>
            <a:off x="365760" y="1965960"/>
            <a:ext cx="4069080" cy="1188720"/>
          </a:xfrm>
          <a:prstGeom prst="roundRect">
            <a:avLst>
              <a:gd name="adj" fmla="val 7692"/>
            </a:avLst>
          </a:prstGeom>
          <a:solidFill>
            <a:srgbClr val="FFFFFF"/>
          </a:solidFill>
          <a:ln w="6350">
            <a:solidFill>
              <a:srgbClr val="DDDDEE"/>
            </a:solidFill>
            <a:prstDash val="solid"/>
          </a:ln>
        </p:spPr>
      </p:sp>
      <p:sp>
        <p:nvSpPr>
          <p:cNvPr id="14" name="Shape 12"/>
          <p:cNvSpPr/>
          <p:nvPr/>
        </p:nvSpPr>
        <p:spPr>
          <a:xfrm>
            <a:off x="502920" y="2039112"/>
            <a:ext cx="347472" cy="347472"/>
          </a:xfrm>
          <a:prstGeom prst="ellipse">
            <a:avLst/>
          </a:prstGeom>
          <a:solidFill>
            <a:srgbClr val="4A3D8F"/>
          </a:solidFill>
          <a:ln w="12700">
            <a:solidFill>
              <a:srgbClr val="4A3D8F"/>
            </a:solidFill>
            <a:prstDash val="solid"/>
          </a:ln>
        </p:spPr>
      </p:sp>
      <p:sp>
        <p:nvSpPr>
          <p:cNvPr id="15" name="Text 13"/>
          <p:cNvSpPr/>
          <p:nvPr/>
        </p:nvSpPr>
        <p:spPr>
          <a:xfrm>
            <a:off x="502920" y="2039112"/>
            <a:ext cx="347472" cy="347472"/>
          </a:xfrm>
          <a:prstGeom prst="rect">
            <a:avLst/>
          </a:prstGeom>
          <a:noFill/>
          <a:ln/>
        </p:spPr>
        <p:txBody>
          <a:bodyPr wrap="square" lIns="0" tIns="0" rIns="0" bIns="0" rtlCol="0" anchor="ctr"/>
          <a:lstStyle/>
          <a:p>
            <a:pPr algn="ctr" indent="0" marL="0">
              <a:buNone/>
            </a:pPr>
            <a:r>
              <a:rPr lang="en-US" sz="1300" b="1" dirty="0">
                <a:solidFill>
                  <a:srgbClr val="4A3D8F"/>
                </a:solidFill>
              </a:rPr>
              <a:t>1</a:t>
            </a:r>
            <a:endParaRPr lang="en-US" sz="1300" dirty="0"/>
          </a:p>
        </p:txBody>
      </p:sp>
      <p:sp>
        <p:nvSpPr>
          <p:cNvPr id="16" name="Text 14"/>
          <p:cNvSpPr/>
          <p:nvPr/>
        </p:nvSpPr>
        <p:spPr>
          <a:xfrm>
            <a:off x="960120" y="203911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Rewrite the mixed number</a:t>
            </a:r>
            <a:endParaRPr lang="en-US" sz="1200" dirty="0"/>
          </a:p>
        </p:txBody>
      </p:sp>
      <p:sp>
        <p:nvSpPr>
          <p:cNvPr id="17" name="Text 15"/>
          <p:cNvSpPr/>
          <p:nvPr/>
        </p:nvSpPr>
        <p:spPr>
          <a:xfrm>
            <a:off x="960120" y="237744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6 and one-half = thirteen-halves.</a:t>
            </a:r>
            <a:endParaRPr lang="en-US" sz="1100" dirty="0"/>
          </a:p>
        </p:txBody>
      </p:sp>
      <p:sp>
        <p:nvSpPr>
          <p:cNvPr id="18" name="Shape 16"/>
          <p:cNvSpPr/>
          <p:nvPr/>
        </p:nvSpPr>
        <p:spPr>
          <a:xfrm>
            <a:off x="4663440" y="1965960"/>
            <a:ext cx="4069080" cy="1188720"/>
          </a:xfrm>
          <a:prstGeom prst="roundRect">
            <a:avLst>
              <a:gd name="adj" fmla="val 7692"/>
            </a:avLst>
          </a:prstGeom>
          <a:solidFill>
            <a:srgbClr val="FFFFFF"/>
          </a:solidFill>
          <a:ln w="6350">
            <a:solidFill>
              <a:srgbClr val="DDDDEE"/>
            </a:solidFill>
            <a:prstDash val="solid"/>
          </a:ln>
        </p:spPr>
      </p:sp>
      <p:sp>
        <p:nvSpPr>
          <p:cNvPr id="19" name="Shape 17"/>
          <p:cNvSpPr/>
          <p:nvPr/>
        </p:nvSpPr>
        <p:spPr>
          <a:xfrm>
            <a:off x="4800600" y="2039112"/>
            <a:ext cx="347472" cy="347472"/>
          </a:xfrm>
          <a:prstGeom prst="ellipse">
            <a:avLst/>
          </a:prstGeom>
          <a:solidFill>
            <a:srgbClr val="4A3D8F"/>
          </a:solidFill>
          <a:ln w="12700">
            <a:solidFill>
              <a:srgbClr val="4A3D8F"/>
            </a:solidFill>
            <a:prstDash val="solid"/>
          </a:ln>
        </p:spPr>
      </p:sp>
      <p:sp>
        <p:nvSpPr>
          <p:cNvPr id="20" name="Text 18"/>
          <p:cNvSpPr/>
          <p:nvPr/>
        </p:nvSpPr>
        <p:spPr>
          <a:xfrm>
            <a:off x="4800600" y="2039112"/>
            <a:ext cx="347472" cy="347472"/>
          </a:xfrm>
          <a:prstGeom prst="rect">
            <a:avLst/>
          </a:prstGeom>
          <a:noFill/>
          <a:ln/>
        </p:spPr>
        <p:txBody>
          <a:bodyPr wrap="square" lIns="0" tIns="0" rIns="0" bIns="0" rtlCol="0" anchor="ctr"/>
          <a:lstStyle/>
          <a:p>
            <a:pPr algn="ctr" indent="0" marL="0">
              <a:buNone/>
            </a:pPr>
            <a:r>
              <a:rPr lang="en-US" sz="1300" b="1" dirty="0">
                <a:solidFill>
                  <a:srgbClr val="4A3D8F"/>
                </a:solidFill>
              </a:rPr>
              <a:t>2</a:t>
            </a:r>
            <a:endParaRPr lang="en-US" sz="1300" dirty="0"/>
          </a:p>
        </p:txBody>
      </p:sp>
      <p:sp>
        <p:nvSpPr>
          <p:cNvPr id="21" name="Text 19"/>
          <p:cNvSpPr/>
          <p:nvPr/>
        </p:nvSpPr>
        <p:spPr>
          <a:xfrm>
            <a:off x="5257800" y="203911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Multiply base x height</a:t>
            </a:r>
            <a:endParaRPr lang="en-US" sz="1200" dirty="0"/>
          </a:p>
        </p:txBody>
      </p:sp>
      <p:sp>
        <p:nvSpPr>
          <p:cNvPr id="22" name="Text 20"/>
          <p:cNvSpPr/>
          <p:nvPr/>
        </p:nvSpPr>
        <p:spPr>
          <a:xfrm>
            <a:off x="5257800" y="237744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thirteen-halves x 4 = fifty-two-halves.</a:t>
            </a:r>
            <a:endParaRPr lang="en-US" sz="1100" dirty="0"/>
          </a:p>
        </p:txBody>
      </p:sp>
      <p:sp>
        <p:nvSpPr>
          <p:cNvPr id="23" name="Shape 21"/>
          <p:cNvSpPr/>
          <p:nvPr/>
        </p:nvSpPr>
        <p:spPr>
          <a:xfrm>
            <a:off x="365760" y="3291840"/>
            <a:ext cx="4069080" cy="1188720"/>
          </a:xfrm>
          <a:prstGeom prst="roundRect">
            <a:avLst>
              <a:gd name="adj" fmla="val 7692"/>
            </a:avLst>
          </a:prstGeom>
          <a:solidFill>
            <a:srgbClr val="FFFFFF"/>
          </a:solidFill>
          <a:ln w="6350">
            <a:solidFill>
              <a:srgbClr val="DDDDEE"/>
            </a:solidFill>
            <a:prstDash val="solid"/>
          </a:ln>
        </p:spPr>
      </p:sp>
      <p:sp>
        <p:nvSpPr>
          <p:cNvPr id="24" name="Shape 22"/>
          <p:cNvSpPr/>
          <p:nvPr/>
        </p:nvSpPr>
        <p:spPr>
          <a:xfrm>
            <a:off x="502920" y="3364992"/>
            <a:ext cx="347472" cy="347472"/>
          </a:xfrm>
          <a:prstGeom prst="ellipse">
            <a:avLst/>
          </a:prstGeom>
          <a:solidFill>
            <a:srgbClr val="4A3D8F"/>
          </a:solidFill>
          <a:ln w="12700">
            <a:solidFill>
              <a:srgbClr val="4A3D8F"/>
            </a:solidFill>
            <a:prstDash val="solid"/>
          </a:ln>
        </p:spPr>
      </p:sp>
      <p:sp>
        <p:nvSpPr>
          <p:cNvPr id="25" name="Text 23"/>
          <p:cNvSpPr/>
          <p:nvPr/>
        </p:nvSpPr>
        <p:spPr>
          <a:xfrm>
            <a:off x="502920" y="3364992"/>
            <a:ext cx="347472" cy="347472"/>
          </a:xfrm>
          <a:prstGeom prst="rect">
            <a:avLst/>
          </a:prstGeom>
          <a:noFill/>
          <a:ln/>
        </p:spPr>
        <p:txBody>
          <a:bodyPr wrap="square" lIns="0" tIns="0" rIns="0" bIns="0" rtlCol="0" anchor="ctr"/>
          <a:lstStyle/>
          <a:p>
            <a:pPr algn="ctr" indent="0" marL="0">
              <a:buNone/>
            </a:pPr>
            <a:r>
              <a:rPr lang="en-US" sz="1300" b="1" dirty="0">
                <a:solidFill>
                  <a:srgbClr val="4A3D8F"/>
                </a:solidFill>
              </a:rPr>
              <a:t>3</a:t>
            </a:r>
            <a:endParaRPr lang="en-US" sz="1300" dirty="0"/>
          </a:p>
        </p:txBody>
      </p:sp>
      <p:sp>
        <p:nvSpPr>
          <p:cNvPr id="26" name="Text 24"/>
          <p:cNvSpPr/>
          <p:nvPr/>
        </p:nvSpPr>
        <p:spPr>
          <a:xfrm>
            <a:off x="960120" y="336499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Simplify, then halve</a:t>
            </a:r>
            <a:endParaRPr lang="en-US" sz="1200" dirty="0"/>
          </a:p>
        </p:txBody>
      </p:sp>
      <p:sp>
        <p:nvSpPr>
          <p:cNvPr id="27" name="Text 25"/>
          <p:cNvSpPr/>
          <p:nvPr/>
        </p:nvSpPr>
        <p:spPr>
          <a:xfrm>
            <a:off x="960120" y="370332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52/2 = 26, then 26 divided by 2 = 13.</a:t>
            </a:r>
            <a:endParaRPr lang="en-US" sz="1100" dirty="0"/>
          </a:p>
        </p:txBody>
      </p:sp>
      <p:sp>
        <p:nvSpPr>
          <p:cNvPr id="28" name="Shape 26"/>
          <p:cNvSpPr/>
          <p:nvPr/>
        </p:nvSpPr>
        <p:spPr>
          <a:xfrm>
            <a:off x="4663440" y="3291840"/>
            <a:ext cx="4069080" cy="1188720"/>
          </a:xfrm>
          <a:prstGeom prst="roundRect">
            <a:avLst>
              <a:gd name="adj" fmla="val 7692"/>
            </a:avLst>
          </a:prstGeom>
          <a:solidFill>
            <a:srgbClr val="FFFFFF"/>
          </a:solidFill>
          <a:ln w="6350">
            <a:solidFill>
              <a:srgbClr val="DDDDEE"/>
            </a:solidFill>
            <a:prstDash val="solid"/>
          </a:ln>
        </p:spPr>
      </p:sp>
      <p:sp>
        <p:nvSpPr>
          <p:cNvPr id="29" name="Shape 27"/>
          <p:cNvSpPr/>
          <p:nvPr/>
        </p:nvSpPr>
        <p:spPr>
          <a:xfrm>
            <a:off x="4800600" y="3364992"/>
            <a:ext cx="347472" cy="347472"/>
          </a:xfrm>
          <a:prstGeom prst="ellipse">
            <a:avLst/>
          </a:prstGeom>
          <a:solidFill>
            <a:srgbClr val="4A3D8F"/>
          </a:solidFill>
          <a:ln w="12700">
            <a:solidFill>
              <a:srgbClr val="4A3D8F"/>
            </a:solidFill>
            <a:prstDash val="solid"/>
          </a:ln>
        </p:spPr>
      </p:sp>
      <p:sp>
        <p:nvSpPr>
          <p:cNvPr id="30" name="Text 28"/>
          <p:cNvSpPr/>
          <p:nvPr/>
        </p:nvSpPr>
        <p:spPr>
          <a:xfrm>
            <a:off x="4800600" y="3364992"/>
            <a:ext cx="347472" cy="347472"/>
          </a:xfrm>
          <a:prstGeom prst="rect">
            <a:avLst/>
          </a:prstGeom>
          <a:noFill/>
          <a:ln/>
        </p:spPr>
        <p:txBody>
          <a:bodyPr wrap="square" lIns="0" tIns="0" rIns="0" bIns="0" rtlCol="0" anchor="ctr"/>
          <a:lstStyle/>
          <a:p>
            <a:pPr algn="ctr" indent="0" marL="0">
              <a:buNone/>
            </a:pPr>
            <a:r>
              <a:rPr lang="en-US" sz="1300" b="1" dirty="0">
                <a:solidFill>
                  <a:srgbClr val="4A3D8F"/>
                </a:solidFill>
              </a:rPr>
              <a:t>4</a:t>
            </a:r>
            <a:endParaRPr lang="en-US" sz="1300" dirty="0"/>
          </a:p>
        </p:txBody>
      </p:sp>
      <p:sp>
        <p:nvSpPr>
          <p:cNvPr id="31" name="Text 29"/>
          <p:cNvSpPr/>
          <p:nvPr/>
        </p:nvSpPr>
        <p:spPr>
          <a:xfrm>
            <a:off x="5257800" y="336499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Answer</a:t>
            </a:r>
            <a:endParaRPr lang="en-US" sz="1200" dirty="0"/>
          </a:p>
        </p:txBody>
      </p:sp>
      <p:sp>
        <p:nvSpPr>
          <p:cNvPr id="32" name="Text 30"/>
          <p:cNvSpPr/>
          <p:nvPr/>
        </p:nvSpPr>
        <p:spPr>
          <a:xfrm>
            <a:off x="5257800" y="370332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The triangle's area is 13 square inches.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C</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Find a Missing Dimension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36576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Text 6"/>
          <p:cNvSpPr/>
          <p:nvPr/>
        </p:nvSpPr>
        <p:spPr>
          <a:xfrm>
            <a:off x="365760" y="1234440"/>
            <a:ext cx="7955280" cy="59436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Area = 24 sq ft, height = 8 ft. Base = ___</a:t>
            </a:r>
            <a:endParaRPr lang="en-US" sz="2000" dirty="0"/>
          </a:p>
        </p:txBody>
      </p:sp>
      <p:sp>
        <p:nvSpPr>
          <p:cNvPr id="9" name="Shape 7"/>
          <p:cNvSpPr/>
          <p:nvPr/>
        </p:nvSpPr>
        <p:spPr>
          <a:xfrm>
            <a:off x="365760" y="1965960"/>
            <a:ext cx="4069080" cy="1188720"/>
          </a:xfrm>
          <a:prstGeom prst="roundRect">
            <a:avLst>
              <a:gd name="adj" fmla="val 7692"/>
            </a:avLst>
          </a:prstGeom>
          <a:solidFill>
            <a:srgbClr val="FFFFFF"/>
          </a:solidFill>
          <a:ln w="6350">
            <a:solidFill>
              <a:srgbClr val="DDDDEE"/>
            </a:solidFill>
            <a:prstDash val="solid"/>
          </a:ln>
        </p:spPr>
      </p:sp>
      <p:sp>
        <p:nvSpPr>
          <p:cNvPr id="10" name="Shape 8"/>
          <p:cNvSpPr/>
          <p:nvPr/>
        </p:nvSpPr>
        <p:spPr>
          <a:xfrm>
            <a:off x="502920" y="2039112"/>
            <a:ext cx="347472" cy="347472"/>
          </a:xfrm>
          <a:prstGeom prst="ellipse">
            <a:avLst/>
          </a:prstGeom>
          <a:solidFill>
            <a:srgbClr val="4A3D8F"/>
          </a:solidFill>
          <a:ln w="12700">
            <a:solidFill>
              <a:srgbClr val="4A3D8F"/>
            </a:solidFill>
            <a:prstDash val="solid"/>
          </a:ln>
        </p:spPr>
      </p:sp>
      <p:sp>
        <p:nvSpPr>
          <p:cNvPr id="11" name="Text 9"/>
          <p:cNvSpPr/>
          <p:nvPr/>
        </p:nvSpPr>
        <p:spPr>
          <a:xfrm>
            <a:off x="502920" y="20391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2" name="Text 10"/>
          <p:cNvSpPr/>
          <p:nvPr/>
        </p:nvSpPr>
        <p:spPr>
          <a:xfrm>
            <a:off x="960120" y="203911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Reverse the rule</a:t>
            </a:r>
            <a:endParaRPr lang="en-US" sz="1200" dirty="0"/>
          </a:p>
        </p:txBody>
      </p:sp>
      <p:sp>
        <p:nvSpPr>
          <p:cNvPr id="13" name="Text 11"/>
          <p:cNvSpPr/>
          <p:nvPr/>
        </p:nvSpPr>
        <p:spPr>
          <a:xfrm>
            <a:off x="960120" y="237744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base x height = area x 2 (undo the divide-by-2 step first).</a:t>
            </a:r>
            <a:endParaRPr lang="en-US" sz="1100" dirty="0"/>
          </a:p>
        </p:txBody>
      </p:sp>
      <p:sp>
        <p:nvSpPr>
          <p:cNvPr id="14" name="Shape 12"/>
          <p:cNvSpPr/>
          <p:nvPr/>
        </p:nvSpPr>
        <p:spPr>
          <a:xfrm>
            <a:off x="4663440" y="1965960"/>
            <a:ext cx="4069080" cy="1188720"/>
          </a:xfrm>
          <a:prstGeom prst="roundRect">
            <a:avLst>
              <a:gd name="adj" fmla="val 7692"/>
            </a:avLst>
          </a:prstGeom>
          <a:solidFill>
            <a:srgbClr val="FFFFFF"/>
          </a:solidFill>
          <a:ln w="6350">
            <a:solidFill>
              <a:srgbClr val="DDDDEE"/>
            </a:solidFill>
            <a:prstDash val="solid"/>
          </a:ln>
        </p:spPr>
      </p:sp>
      <p:sp>
        <p:nvSpPr>
          <p:cNvPr id="15" name="Shape 13"/>
          <p:cNvSpPr/>
          <p:nvPr/>
        </p:nvSpPr>
        <p:spPr>
          <a:xfrm>
            <a:off x="4800600" y="2039112"/>
            <a:ext cx="347472" cy="347472"/>
          </a:xfrm>
          <a:prstGeom prst="ellipse">
            <a:avLst/>
          </a:prstGeom>
          <a:solidFill>
            <a:srgbClr val="4A3D8F"/>
          </a:solidFill>
          <a:ln w="12700">
            <a:solidFill>
              <a:srgbClr val="4A3D8F"/>
            </a:solidFill>
            <a:prstDash val="solid"/>
          </a:ln>
        </p:spPr>
      </p:sp>
      <p:sp>
        <p:nvSpPr>
          <p:cNvPr id="16" name="Text 14"/>
          <p:cNvSpPr/>
          <p:nvPr/>
        </p:nvSpPr>
        <p:spPr>
          <a:xfrm>
            <a:off x="4800600" y="20391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5"/>
          <p:cNvSpPr/>
          <p:nvPr/>
        </p:nvSpPr>
        <p:spPr>
          <a:xfrm>
            <a:off x="5257800" y="203911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Double the area</a:t>
            </a:r>
            <a:endParaRPr lang="en-US" sz="1200" dirty="0"/>
          </a:p>
        </p:txBody>
      </p:sp>
      <p:sp>
        <p:nvSpPr>
          <p:cNvPr id="18" name="Text 16"/>
          <p:cNvSpPr/>
          <p:nvPr/>
        </p:nvSpPr>
        <p:spPr>
          <a:xfrm>
            <a:off x="5257800" y="237744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24 x 2 = 48.</a:t>
            </a:r>
            <a:endParaRPr lang="en-US" sz="1100" dirty="0"/>
          </a:p>
        </p:txBody>
      </p:sp>
      <p:sp>
        <p:nvSpPr>
          <p:cNvPr id="19" name="Shape 17"/>
          <p:cNvSpPr/>
          <p:nvPr/>
        </p:nvSpPr>
        <p:spPr>
          <a:xfrm>
            <a:off x="365760" y="3291840"/>
            <a:ext cx="4069080" cy="1188720"/>
          </a:xfrm>
          <a:prstGeom prst="roundRect">
            <a:avLst>
              <a:gd name="adj" fmla="val 7692"/>
            </a:avLst>
          </a:prstGeom>
          <a:solidFill>
            <a:srgbClr val="FFFFFF"/>
          </a:solidFill>
          <a:ln w="6350">
            <a:solidFill>
              <a:srgbClr val="DDDDEE"/>
            </a:solidFill>
            <a:prstDash val="solid"/>
          </a:ln>
        </p:spPr>
      </p:sp>
      <p:sp>
        <p:nvSpPr>
          <p:cNvPr id="20" name="Shape 18"/>
          <p:cNvSpPr/>
          <p:nvPr/>
        </p:nvSpPr>
        <p:spPr>
          <a:xfrm>
            <a:off x="502920" y="3364992"/>
            <a:ext cx="347472" cy="347472"/>
          </a:xfrm>
          <a:prstGeom prst="ellipse">
            <a:avLst/>
          </a:prstGeom>
          <a:solidFill>
            <a:srgbClr val="4A3D8F"/>
          </a:solidFill>
          <a:ln w="12700">
            <a:solidFill>
              <a:srgbClr val="4A3D8F"/>
            </a:solidFill>
            <a:prstDash val="solid"/>
          </a:ln>
        </p:spPr>
      </p:sp>
      <p:sp>
        <p:nvSpPr>
          <p:cNvPr id="21" name="Text 19"/>
          <p:cNvSpPr/>
          <p:nvPr/>
        </p:nvSpPr>
        <p:spPr>
          <a:xfrm>
            <a:off x="502920" y="3364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2" name="Text 20"/>
          <p:cNvSpPr/>
          <p:nvPr/>
        </p:nvSpPr>
        <p:spPr>
          <a:xfrm>
            <a:off x="960120" y="336499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Divide by the height</a:t>
            </a:r>
            <a:endParaRPr lang="en-US" sz="1200" dirty="0"/>
          </a:p>
        </p:txBody>
      </p:sp>
      <p:sp>
        <p:nvSpPr>
          <p:cNvPr id="23" name="Text 21"/>
          <p:cNvSpPr/>
          <p:nvPr/>
        </p:nvSpPr>
        <p:spPr>
          <a:xfrm>
            <a:off x="960120" y="370332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48 divided by 8 = 6.</a:t>
            </a:r>
            <a:endParaRPr lang="en-US" sz="1100" dirty="0"/>
          </a:p>
        </p:txBody>
      </p:sp>
      <p:sp>
        <p:nvSpPr>
          <p:cNvPr id="24" name="Shape 22"/>
          <p:cNvSpPr/>
          <p:nvPr/>
        </p:nvSpPr>
        <p:spPr>
          <a:xfrm>
            <a:off x="4663440" y="3291840"/>
            <a:ext cx="4069080" cy="1188720"/>
          </a:xfrm>
          <a:prstGeom prst="roundRect">
            <a:avLst>
              <a:gd name="adj" fmla="val 7692"/>
            </a:avLst>
          </a:prstGeom>
          <a:solidFill>
            <a:srgbClr val="FFFFFF"/>
          </a:solidFill>
          <a:ln w="6350">
            <a:solidFill>
              <a:srgbClr val="DDDDEE"/>
            </a:solidFill>
            <a:prstDash val="solid"/>
          </a:ln>
        </p:spPr>
      </p:sp>
      <p:sp>
        <p:nvSpPr>
          <p:cNvPr id="25" name="Shape 23"/>
          <p:cNvSpPr/>
          <p:nvPr/>
        </p:nvSpPr>
        <p:spPr>
          <a:xfrm>
            <a:off x="4800600" y="3364992"/>
            <a:ext cx="347472" cy="347472"/>
          </a:xfrm>
          <a:prstGeom prst="ellipse">
            <a:avLst/>
          </a:prstGeom>
          <a:solidFill>
            <a:srgbClr val="4A3D8F"/>
          </a:solidFill>
          <a:ln w="12700">
            <a:solidFill>
              <a:srgbClr val="4A3D8F"/>
            </a:solidFill>
            <a:prstDash val="solid"/>
          </a:ln>
        </p:spPr>
      </p:sp>
      <p:sp>
        <p:nvSpPr>
          <p:cNvPr id="26" name="Text 24"/>
          <p:cNvSpPr/>
          <p:nvPr/>
        </p:nvSpPr>
        <p:spPr>
          <a:xfrm>
            <a:off x="4800600" y="3364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7" name="Text 25"/>
          <p:cNvSpPr/>
          <p:nvPr/>
        </p:nvSpPr>
        <p:spPr>
          <a:xfrm>
            <a:off x="5257800" y="3364992"/>
            <a:ext cx="3291840" cy="347472"/>
          </a:xfrm>
          <a:prstGeom prst="rect">
            <a:avLst/>
          </a:prstGeom>
          <a:noFill/>
          <a:ln/>
        </p:spPr>
        <p:txBody>
          <a:bodyPr wrap="square" lIns="0" tIns="0" rIns="0" bIns="0" rtlCol="0" anchor="ctr"/>
          <a:lstStyle/>
          <a:p>
            <a:pPr indent="0" marL="0">
              <a:buNone/>
            </a:pPr>
            <a:r>
              <a:rPr lang="en-US" sz="1200" b="1" dirty="0">
                <a:solidFill>
                  <a:srgbClr val="4A3D8F"/>
                </a:solidFill>
              </a:rPr>
              <a:t>Answer</a:t>
            </a:r>
            <a:endParaRPr lang="en-US" sz="1200" dirty="0"/>
          </a:p>
        </p:txBody>
      </p:sp>
      <p:sp>
        <p:nvSpPr>
          <p:cNvPr id="28" name="Text 26"/>
          <p:cNvSpPr/>
          <p:nvPr/>
        </p:nvSpPr>
        <p:spPr>
          <a:xfrm>
            <a:off x="5257800" y="3703320"/>
            <a:ext cx="3291840" cy="594360"/>
          </a:xfrm>
          <a:prstGeom prst="rect">
            <a:avLst/>
          </a:prstGeom>
          <a:noFill/>
          <a:ln/>
        </p:spPr>
        <p:txBody>
          <a:bodyPr wrap="square" lIns="0" tIns="0" rIns="0" bIns="0" rtlCol="0" anchor="ctr"/>
          <a:lstStyle/>
          <a:p>
            <a:pPr indent="0" marL="0">
              <a:buNone/>
            </a:pPr>
            <a:r>
              <a:rPr lang="en-US" sz="1100" dirty="0">
                <a:solidFill>
                  <a:srgbClr val="1A1A2E"/>
                </a:solidFill>
                <a:latin typeface="Cambria" pitchFamily="34" charset="0"/>
                <a:ea typeface="Cambria" pitchFamily="34" charset="-122"/>
                <a:cs typeface="Cambria" pitchFamily="34" charset="-120"/>
              </a:rPr>
              <a:t>The missing base is 6 feet.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Reasoning</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365760" y="914400"/>
            <a:ext cx="1920240" cy="292608"/>
          </a:xfrm>
          <a:prstGeom prst="roundRect">
            <a:avLst>
              <a:gd name="adj" fmla="val 18750"/>
            </a:avLst>
          </a:prstGeom>
          <a:solidFill>
            <a:srgbClr val="2E6E44"/>
          </a:solidFill>
          <a:ln w="12700">
            <a:solidFill>
              <a:srgbClr val="2E6E44"/>
            </a:solidFill>
            <a:prstDash val="solid"/>
          </a:ln>
        </p:spPr>
      </p:sp>
      <p:sp>
        <p:nvSpPr>
          <p:cNvPr id="7" name="Text 5"/>
          <p:cNvSpPr/>
          <p:nvPr/>
        </p:nvSpPr>
        <p:spPr>
          <a:xfrm>
            <a:off x="36576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YOUR TURN</a:t>
            </a:r>
            <a:endParaRPr lang="en-US" sz="800" dirty="0"/>
          </a:p>
        </p:txBody>
      </p:sp>
      <p:sp>
        <p:nvSpPr>
          <p:cNvPr id="8" name="Shape 6"/>
          <p:cNvSpPr/>
          <p:nvPr/>
        </p:nvSpPr>
        <p:spPr>
          <a:xfrm>
            <a:off x="365760" y="1371600"/>
            <a:ext cx="8412480" cy="1828800"/>
          </a:xfrm>
          <a:prstGeom prst="roundRect">
            <a:avLst>
              <a:gd name="adj" fmla="val 5000"/>
            </a:avLst>
          </a:prstGeom>
          <a:solidFill>
            <a:srgbClr val="FFFFFF"/>
          </a:solidFill>
          <a:ln w="6350">
            <a:solidFill>
              <a:srgbClr val="DDDDEE"/>
            </a:solidFill>
            <a:prstDash val="solid"/>
          </a:ln>
        </p:spPr>
      </p:sp>
      <p:sp>
        <p:nvSpPr>
          <p:cNvPr id="9" name="Text 7"/>
          <p:cNvSpPr/>
          <p:nvPr/>
        </p:nvSpPr>
        <p:spPr>
          <a:xfrm>
            <a:off x="594360" y="1508760"/>
            <a:ext cx="7955280" cy="1554480"/>
          </a:xfrm>
          <a:prstGeom prst="rect">
            <a:avLst/>
          </a:prstGeom>
          <a:noFill/>
          <a:ln/>
        </p:spPr>
        <p:txBody>
          <a:bodyPr wrap="square" lIns="0" tIns="0" rIns="0" bIns="0" rtlCol="0" anchor="ctr"/>
          <a:lstStyle/>
          <a:p>
            <a:pPr indent="0" marL="0">
              <a:buNone/>
            </a:pPr>
            <a:r>
              <a:rPr lang="en-US" sz="1700" dirty="0">
                <a:solidFill>
                  <a:srgbClr val="1A1A2E"/>
                </a:solidFill>
                <a:latin typeface="Cambria" pitchFamily="34" charset="0"/>
                <a:ea typeface="Cambria" pitchFamily="34" charset="-122"/>
                <a:cs typeface="Cambria" pitchFamily="34" charset="-120"/>
              </a:rPr>
              <a:t>Two triangles both have an area of 20 square centimeters. Must they have the same base and the same height? Give an example or explain why not.</a:t>
            </a:r>
            <a:endParaRPr lang="en-US" sz="1700" dirty="0"/>
          </a:p>
        </p:txBody>
      </p:sp>
      <p:sp>
        <p:nvSpPr>
          <p:cNvPr id="10" name="Shape 8"/>
          <p:cNvSpPr/>
          <p:nvPr/>
        </p:nvSpPr>
        <p:spPr>
          <a:xfrm>
            <a:off x="548640" y="3429000"/>
            <a:ext cx="804672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548640" y="3429000"/>
            <a:ext cx="804672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yes or no AND one example base/height pair for each triangle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Where This Goes Next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280160"/>
            <a:ext cx="8229600" cy="2194560"/>
          </a:xfrm>
          <a:prstGeom prst="roundRect">
            <a:avLst>
              <a:gd name="adj" fmla="val 4167"/>
            </a:avLst>
          </a:prstGeom>
          <a:solidFill>
            <a:srgbClr val="E6F2EA"/>
          </a:solidFill>
          <a:ln w="6350">
            <a:solidFill>
              <a:srgbClr val="DDDDEE"/>
            </a:solidFill>
            <a:prstDash val="solid"/>
          </a:ln>
        </p:spPr>
      </p:sp>
      <p:sp>
        <p:nvSpPr>
          <p:cNvPr id="7" name="Text 5"/>
          <p:cNvSpPr/>
          <p:nvPr/>
        </p:nvSpPr>
        <p:spPr>
          <a:xfrm>
            <a:off x="731520" y="1463040"/>
            <a:ext cx="7680960" cy="182880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Next lesson (5.07.05), shapes get broken into the rectangles and triangles you already know how to measure -- then you add all the pieces together.</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280160"/>
          </a:xfrm>
          <a:prstGeom prst="roundRect">
            <a:avLst>
              <a:gd name="adj" fmla="val 7143"/>
            </a:avLst>
          </a:prstGeom>
          <a:solidFill>
            <a:srgbClr val="FFFFFF"/>
          </a:solidFill>
          <a:ln w="6350">
            <a:solidFill>
              <a:srgbClr val="DDDDEE"/>
            </a:solidFill>
            <a:prstDash val="solid"/>
          </a:ln>
        </p:spPr>
      </p:sp>
      <p:sp>
        <p:nvSpPr>
          <p:cNvPr id="7" name="Text 5"/>
          <p:cNvSpPr/>
          <p:nvPr/>
        </p:nvSpPr>
        <p:spPr>
          <a:xfrm>
            <a:off x="914400" y="1051560"/>
            <a:ext cx="7315200" cy="1097280"/>
          </a:xfrm>
          <a:prstGeom prst="rect">
            <a:avLst/>
          </a:prstGeom>
          <a:noFill/>
          <a:ln/>
        </p:spPr>
        <p:txBody>
          <a:bodyPr wrap="square" lIns="0" tIns="0" rIns="0" bIns="0" rtlCol="0" anchor="ctr"/>
          <a:lstStyle/>
          <a:p>
            <a:pPr indent="0" marL="0">
              <a:buNone/>
            </a:pPr>
            <a:r>
              <a:rPr lang="en-US" sz="1700" b="1" dirty="0">
                <a:solidFill>
                  <a:srgbClr val="1A1A2E"/>
                </a:solidFill>
                <a:latin typeface="Cambria" pitchFamily="34" charset="0"/>
                <a:ea typeface="Cambria" pitchFamily="34" charset="-122"/>
                <a:cs typeface="Cambria" pitchFamily="34" charset="-120"/>
              </a:rPr>
              <a:t>A triangular wall section has base 12 ft and height 9 ft. One can of paint covers 50 sq ft. Does Sophia need more than one can?</a:t>
            </a:r>
            <a:endParaRPr lang="en-US" sz="1700" dirty="0"/>
          </a:p>
        </p:txBody>
      </p:sp>
      <p:sp>
        <p:nvSpPr>
          <p:cNvPr id="8" name="Shape 6"/>
          <p:cNvSpPr/>
          <p:nvPr/>
        </p:nvSpPr>
        <p:spPr>
          <a:xfrm>
            <a:off x="822960" y="2468880"/>
            <a:ext cx="192024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822960" y="2468880"/>
            <a:ext cx="1920240" cy="822960"/>
          </a:xfrm>
          <a:prstGeom prst="rect">
            <a:avLst/>
          </a:prstGeom>
          <a:noFill/>
          <a:ln/>
        </p:spPr>
        <p:txBody>
          <a:bodyPr wrap="square" lIns="0" tIns="0" rIns="0" bIns="0" rtlCol="0" anchor="ctr"/>
          <a:lstStyle/>
          <a:p>
            <a:pPr algn="ctr" indent="0" marL="0">
              <a:buNone/>
            </a:pPr>
            <a:r>
              <a:rPr lang="en-US" sz="1500" b="1" dirty="0">
                <a:solidFill>
                  <a:srgbClr val="1A1A2E"/>
                </a:solidFill>
              </a:rPr>
              <a:t>54 sq ft, yes</a:t>
            </a:r>
            <a:endParaRPr lang="en-US" sz="1500" dirty="0"/>
          </a:p>
        </p:txBody>
      </p:sp>
      <p:sp>
        <p:nvSpPr>
          <p:cNvPr id="10" name="Shape 8"/>
          <p:cNvSpPr/>
          <p:nvPr/>
        </p:nvSpPr>
        <p:spPr>
          <a:xfrm>
            <a:off x="2880360" y="2468880"/>
            <a:ext cx="192024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80360" y="2468880"/>
            <a:ext cx="1920240" cy="822960"/>
          </a:xfrm>
          <a:prstGeom prst="rect">
            <a:avLst/>
          </a:prstGeom>
          <a:noFill/>
          <a:ln/>
        </p:spPr>
        <p:txBody>
          <a:bodyPr wrap="square" lIns="0" tIns="0" rIns="0" bIns="0" rtlCol="0" anchor="ctr"/>
          <a:lstStyle/>
          <a:p>
            <a:pPr algn="ctr" indent="0" marL="0">
              <a:buNone/>
            </a:pPr>
            <a:r>
              <a:rPr lang="en-US" sz="1500" b="1" dirty="0">
                <a:solidFill>
                  <a:srgbClr val="1A1A2E"/>
                </a:solidFill>
              </a:rPr>
              <a:t>108 sq ft, yes</a:t>
            </a:r>
            <a:endParaRPr lang="en-US" sz="1500" dirty="0"/>
          </a:p>
        </p:txBody>
      </p:sp>
      <p:sp>
        <p:nvSpPr>
          <p:cNvPr id="12" name="Shape 10"/>
          <p:cNvSpPr/>
          <p:nvPr/>
        </p:nvSpPr>
        <p:spPr>
          <a:xfrm>
            <a:off x="4937760" y="2468880"/>
            <a:ext cx="192024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937760" y="2468880"/>
            <a:ext cx="1920240" cy="822960"/>
          </a:xfrm>
          <a:prstGeom prst="rect">
            <a:avLst/>
          </a:prstGeom>
          <a:noFill/>
          <a:ln/>
        </p:spPr>
        <p:txBody>
          <a:bodyPr wrap="square" lIns="0" tIns="0" rIns="0" bIns="0" rtlCol="0" anchor="ctr"/>
          <a:lstStyle/>
          <a:p>
            <a:pPr algn="ctr" indent="0" marL="0">
              <a:buNone/>
            </a:pPr>
            <a:r>
              <a:rPr lang="en-US" sz="1500" b="1" dirty="0">
                <a:solidFill>
                  <a:srgbClr val="1A1A2E"/>
                </a:solidFill>
              </a:rPr>
              <a:t>54 sq ft, no</a:t>
            </a:r>
            <a:endParaRPr lang="en-US" sz="1500" dirty="0"/>
          </a:p>
        </p:txBody>
      </p:sp>
      <p:sp>
        <p:nvSpPr>
          <p:cNvPr id="14" name="Shape 12"/>
          <p:cNvSpPr/>
          <p:nvPr/>
        </p:nvSpPr>
        <p:spPr>
          <a:xfrm>
            <a:off x="6995160" y="2468880"/>
            <a:ext cx="192024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995160" y="2468880"/>
            <a:ext cx="1920240" cy="822960"/>
          </a:xfrm>
          <a:prstGeom prst="rect">
            <a:avLst/>
          </a:prstGeom>
          <a:noFill/>
          <a:ln/>
        </p:spPr>
        <p:txBody>
          <a:bodyPr wrap="square" lIns="0" tIns="0" rIns="0" bIns="0" rtlCol="0" anchor="ctr"/>
          <a:lstStyle/>
          <a:p>
            <a:pPr algn="ctr" indent="0" marL="0">
              <a:buNone/>
            </a:pPr>
            <a:r>
              <a:rPr lang="en-US" sz="1500" b="1" dirty="0">
                <a:solidFill>
                  <a:srgbClr val="1A1A2E"/>
                </a:solidFill>
              </a:rPr>
              <a:t>27 sq ft, no</a:t>
            </a:r>
            <a:endParaRPr lang="en-US" sz="15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280160"/>
          </a:xfrm>
          <a:prstGeom prst="roundRect">
            <a:avLst>
              <a:gd name="adj" fmla="val 7143"/>
            </a:avLst>
          </a:prstGeom>
          <a:solidFill>
            <a:srgbClr val="FFFFFF"/>
          </a:solidFill>
          <a:ln w="6350">
            <a:solidFill>
              <a:srgbClr val="DDDDEE"/>
            </a:solidFill>
            <a:prstDash val="solid"/>
          </a:ln>
        </p:spPr>
      </p:sp>
      <p:sp>
        <p:nvSpPr>
          <p:cNvPr id="7" name="Text 5"/>
          <p:cNvSpPr/>
          <p:nvPr/>
        </p:nvSpPr>
        <p:spPr>
          <a:xfrm>
            <a:off x="914400" y="1051560"/>
            <a:ext cx="7315200" cy="1097280"/>
          </a:xfrm>
          <a:prstGeom prst="rect">
            <a:avLst/>
          </a:prstGeom>
          <a:noFill/>
          <a:ln/>
        </p:spPr>
        <p:txBody>
          <a:bodyPr wrap="square" lIns="0" tIns="0" rIns="0" bIns="0" rtlCol="0" anchor="ctr"/>
          <a:lstStyle/>
          <a:p>
            <a:pPr indent="0" marL="0">
              <a:buNone/>
            </a:pPr>
            <a:r>
              <a:rPr lang="en-US" sz="1700" b="1" dirty="0">
                <a:solidFill>
                  <a:srgbClr val="1A1A2E"/>
                </a:solidFill>
                <a:latin typeface="Cambria" pitchFamily="34" charset="0"/>
                <a:ea typeface="Cambria" pitchFamily="34" charset="-122"/>
                <a:cs typeface="Cambria" pitchFamily="34" charset="-120"/>
              </a:rPr>
              <a:t>A triangular wall section has base 12 ft and height 9 ft. One can of paint covers 50 sq ft. Does Sophia need more than one can?</a:t>
            </a:r>
            <a:endParaRPr lang="en-US" sz="1700" dirty="0"/>
          </a:p>
        </p:txBody>
      </p:sp>
      <p:sp>
        <p:nvSpPr>
          <p:cNvPr id="8" name="Shape 6"/>
          <p:cNvSpPr/>
          <p:nvPr/>
        </p:nvSpPr>
        <p:spPr>
          <a:xfrm>
            <a:off x="822960" y="2468880"/>
            <a:ext cx="1920240" cy="822960"/>
          </a:xfrm>
          <a:prstGeom prst="roundRect">
            <a:avLst>
              <a:gd name="adj" fmla="val 8889"/>
            </a:avLst>
          </a:prstGeom>
          <a:solidFill>
            <a:srgbClr val="2E6E44"/>
          </a:solidFill>
          <a:ln w="12700">
            <a:solidFill>
              <a:srgbClr val="2E6E44"/>
            </a:solidFill>
            <a:prstDash val="solid"/>
          </a:ln>
        </p:spPr>
      </p:sp>
      <p:sp>
        <p:nvSpPr>
          <p:cNvPr id="9" name="Text 7"/>
          <p:cNvSpPr/>
          <p:nvPr/>
        </p:nvSpPr>
        <p:spPr>
          <a:xfrm>
            <a:off x="822960" y="2468880"/>
            <a:ext cx="1920240" cy="822960"/>
          </a:xfrm>
          <a:prstGeom prst="rect">
            <a:avLst/>
          </a:prstGeom>
          <a:noFill/>
          <a:ln/>
        </p:spPr>
        <p:txBody>
          <a:bodyPr wrap="square" lIns="0" tIns="0" rIns="0" bIns="0" rtlCol="0" anchor="ctr"/>
          <a:lstStyle/>
          <a:p>
            <a:pPr algn="ctr" indent="0" marL="0">
              <a:buNone/>
            </a:pPr>
            <a:r>
              <a:rPr lang="en-US" sz="1500" b="1" dirty="0">
                <a:solidFill>
                  <a:srgbClr val="FFFFFF"/>
                </a:solidFill>
              </a:rPr>
              <a:t>54 sq ft, yes</a:t>
            </a:r>
            <a:endParaRPr lang="en-US" sz="1500" dirty="0"/>
          </a:p>
        </p:txBody>
      </p:sp>
      <p:sp>
        <p:nvSpPr>
          <p:cNvPr id="10" name="Shape 8"/>
          <p:cNvSpPr/>
          <p:nvPr/>
        </p:nvSpPr>
        <p:spPr>
          <a:xfrm>
            <a:off x="2880360" y="2468880"/>
            <a:ext cx="192024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80360" y="2468880"/>
            <a:ext cx="1920240" cy="822960"/>
          </a:xfrm>
          <a:prstGeom prst="rect">
            <a:avLst/>
          </a:prstGeom>
          <a:noFill/>
          <a:ln/>
        </p:spPr>
        <p:txBody>
          <a:bodyPr wrap="square" lIns="0" tIns="0" rIns="0" bIns="0" rtlCol="0" anchor="ctr"/>
          <a:lstStyle/>
          <a:p>
            <a:pPr algn="ctr" indent="0" marL="0">
              <a:buNone/>
            </a:pPr>
            <a:r>
              <a:rPr lang="en-US" sz="1500" b="1" dirty="0">
                <a:solidFill>
                  <a:srgbClr val="1A1A2E"/>
                </a:solidFill>
              </a:rPr>
              <a:t>108 sq ft, yes</a:t>
            </a:r>
            <a:endParaRPr lang="en-US" sz="1500" dirty="0"/>
          </a:p>
        </p:txBody>
      </p:sp>
      <p:sp>
        <p:nvSpPr>
          <p:cNvPr id="12" name="Shape 10"/>
          <p:cNvSpPr/>
          <p:nvPr/>
        </p:nvSpPr>
        <p:spPr>
          <a:xfrm>
            <a:off x="4937760" y="2468880"/>
            <a:ext cx="192024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937760" y="2468880"/>
            <a:ext cx="1920240" cy="822960"/>
          </a:xfrm>
          <a:prstGeom prst="rect">
            <a:avLst/>
          </a:prstGeom>
          <a:noFill/>
          <a:ln/>
        </p:spPr>
        <p:txBody>
          <a:bodyPr wrap="square" lIns="0" tIns="0" rIns="0" bIns="0" rtlCol="0" anchor="ctr"/>
          <a:lstStyle/>
          <a:p>
            <a:pPr algn="ctr" indent="0" marL="0">
              <a:buNone/>
            </a:pPr>
            <a:r>
              <a:rPr lang="en-US" sz="1500" b="1" dirty="0">
                <a:solidFill>
                  <a:srgbClr val="1A1A2E"/>
                </a:solidFill>
              </a:rPr>
              <a:t>54 sq ft, no</a:t>
            </a:r>
            <a:endParaRPr lang="en-US" sz="1500" dirty="0"/>
          </a:p>
        </p:txBody>
      </p:sp>
      <p:sp>
        <p:nvSpPr>
          <p:cNvPr id="14" name="Shape 12"/>
          <p:cNvSpPr/>
          <p:nvPr/>
        </p:nvSpPr>
        <p:spPr>
          <a:xfrm>
            <a:off x="6995160" y="2468880"/>
            <a:ext cx="192024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995160" y="2468880"/>
            <a:ext cx="1920240" cy="822960"/>
          </a:xfrm>
          <a:prstGeom prst="rect">
            <a:avLst/>
          </a:prstGeom>
          <a:noFill/>
          <a:ln/>
        </p:spPr>
        <p:txBody>
          <a:bodyPr wrap="square" lIns="0" tIns="0" rIns="0" bIns="0" rtlCol="0" anchor="ctr"/>
          <a:lstStyle/>
          <a:p>
            <a:pPr algn="ctr" indent="0" marL="0">
              <a:buNone/>
            </a:pPr>
            <a:r>
              <a:rPr lang="en-US" sz="1500" b="1" dirty="0">
                <a:solidFill>
                  <a:srgbClr val="1A1A2E"/>
                </a:solidFill>
              </a:rPr>
              <a:t>27 sq ft, no</a:t>
            </a:r>
            <a:endParaRPr lang="en-US" sz="15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12 x 9 = 108, divided by 2 = 54 sq ft. Since 54 is more than 50, Sophia needs more than one can.</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the top point can slide anywhere along the top of the rectangle and the triangle is still exactly half. The base and height never change meaning, even when the shape looks slanted or lopsided.</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checked by drawing the height line straight down from the top point -- it always splits the big rectangle into two smaller rectangles, and the triangle takes exactly half of each one, no matter where that point landed.</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the height line as a plumb line dropping straight down from the top point, like a string with a weight on it -- that's the true height, not the slanted edge of the triangle.</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way to say it: height is the straight-up distance from the base to the opposite vertex, not the length of a slanted side. Area still equals base times height, divided by 2.</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Complete the 5.07.04 Independent Practice (5 problems).</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Review today's rule: height is the straight-up distance, not a slanted side.</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Preview 5.07.05: Area of Complex Figures -- think about breaking a shape into pieces.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5.07.04 Area of a Triangle Part 2 — Teacher Slides</dc:title>
  <dc:subject>PptxGenJS Presentation</dc:subject>
  <dc:creator>PptxGenJS</dc:creator>
  <cp:lastModifiedBy>PptxGenJS</cp:lastModifiedBy>
  <cp:revision>1</cp:revision>
  <dcterms:created xsi:type="dcterms:W3CDTF">2026-09-24T14:06:34Z</dcterms:created>
  <dcterms:modified xsi:type="dcterms:W3CDTF">2026-09-24T14:06:34Z</dcterms:modified>
</cp:coreProperties>
</file>