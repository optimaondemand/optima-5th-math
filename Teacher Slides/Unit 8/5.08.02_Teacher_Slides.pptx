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Present the problem. Give 60 seconds of silent think time before taking strategies.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Present the problem. Give 60 seconds of silent think time before taking strategies.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Name the rule: multiplication of three factors can be grouped any way. Have students try the cousin using a DIFFERENT grouping than they used the first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Name the rule: multiplication of three factors can be grouped any way. Have students try the cousin using a DIFFERENT grouping than they used the first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Title slide. Yesterday we counted layer by layer -- today that counting turns into a multiplication shortcut.
Transition: "Here's exactly what today's goal is."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Read the I Can aloud. The key idea: multiplying length x width x height is just a fast way to do yesterday's layer counting.
Common error: students think this is an entirely new idea instead of a shortcut for counting layers.
Transition: "Let's warm up on one-layer counting first."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These three facts are exactly what today's shipping-box shortcut needs. Confirm all three before moving on.
Common error: forgetting to multiply the third factor.
Transition: "Let's see a real box that needs this shortcut."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Read the shipping box scenario aloud. Yesterday students would build and count -- today, ask if there's a shortcut.
Anticipated: some students may already guess 'multiply all three numbers.'
Common error: guessing an answer without justifying it.
Transition: "Let's notice and wonder about this box before we solve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Give quiet think time, then share out. Students should notice three separate measurements and wonder if they all get multiplied together.
Anticipated: 'I wonder if you just multiply 6 x 3 x 4.'
Transition: "Let's build one layer, then stack copies of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Physically build one 6x3 layer (18 cubes), then place three IDENTICAL copies on top -- no recounting needed since every layer is the same. 18, 36, 54, 72.
Anticipated: students realize repeating a known layer is faster than counting cube by cube.
Common error: recounting each layer from scratch instead of reusing the layer total.
Transition: "Let's see this same box as a labeled diagram."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Show the same box as a labeled technical diagram -- length, width, and height marked directly on the shape, then the multiplication that finds volume.
Common error: mixing up which arrow is length vs. width.
Transition: "Let's name the general rule this always follows."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State the rule precisely: multiply all three dimensions. Emphasize this always matches yesterday's layer-counting result.
Common error: adding the three dimensions instead of multiplying.
Transition: "Let's put a name to the words we've been using."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Quick vocabulary check. Point out these are the three measurements multiplied together to find a cuboid's volume.
Transition: "Let's use all of this in a full worked example."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Model this step by step: 6x3=18, then 18x4=72 -- or straight through, 6x3x4=72.
Common error: multiplying only two of the three dimensions.
Transition: "Let's try a box with much bigger numbers."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Same shortcut, bigger numbers -- the formula doesn't change just because the tank is large.
Common error: losing track of place value while multiplying 1,800 x 40.
Transition: "Now you compare two boxes to see which holds more."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Students work independently, then respond in chat. Box A: 10x6x3=180. Box B: 9x5x4=180. They are EQUAL -- a nice surprise after 'which is bigger' framing.
Anticipated error: assuming the box with bigger individual numbers must win.
Transition: "Here's where this skill leads next."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Preview that tomorrow's lesson runs today's formula in reverse.
Transition: "Let's check what you've got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Correct answer: It doubles. Common error: assuming volume quadruples because 3 dimensions are involved (only ONE dimension changed).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Correct answer: It doubles. Common error: assuming volume quadruples because 3 dimensions are involved (only ONE dimension changed).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029968" y="164592"/>
            <a:ext cx="66751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29968" y="16459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5.08.02 · Solve It: Multiplying Three Factors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x 4 x 3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What do you notice? What strategies come to mind?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Strategy Gallery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Talk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Left to right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x 4 = 20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x 3 = 60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Group the easiest pair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00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x 3 = 12 first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x 12 = 60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9601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Multiply in any order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807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00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x 5 = 15 first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x 4 = 60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828800" y="452628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45262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strategy did you try first?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When you multiply three numbers, the order you group them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multiply three factors in any order or grouping -- the product is always the same.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x 2 x 5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60 -- group 6 x 2 = 12, then 12 x 5 = 60 (or 2 x 5 = 10, then 10 x 6 = 60)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5.08.02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of Cuboids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8: Volume of Solid Figures · Lesson 2 of 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MA.5.GR.3.2   ·   MTR.2.1   ·   MTR.5.1   ·   TX 5.6.B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find the volume of a cuboid by multiplying its length, width, and height.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“Volume begins with one cube, then grows into layers.”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layer of cubes 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long and 3 wide.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cubes 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layer?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887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layer of 12 cubes 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stacked 5 times. How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cubes total?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292608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1887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Multiply: 2 x 6 x 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(any grouping)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292608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416052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1605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all three answers, in order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shipping box is 6 cm long, 3 cm wide, and 4 cm tall. How many 1-cm cubes fit inside?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749808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2044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is there a faster way than building and counting every cube?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shipping box is 6 cm long, 3 cm wide, and 4 cm tall -- three measurements, one box.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Build One Layer, Stack Copies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Physical 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3D8F"/>
                </a:solidFill>
              </a:rPr>
              <a:t>Build the shipping box: one 6x3 layer, then stack 4 identical copies of that same layer.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00270" y="3663130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322363" y="335257"/>
                </a:moveTo>
                <a:lnTo>
                  <a:pt x="0" y="496439"/>
                </a:lnTo>
                <a:lnTo>
                  <a:pt x="0" y="161181"/>
                </a:lnTo>
                <a:lnTo>
                  <a:pt x="322363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77907" y="3824311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322363" y="335257"/>
                </a:moveTo>
                <a:lnTo>
                  <a:pt x="0" y="496439"/>
                </a:lnTo>
                <a:lnTo>
                  <a:pt x="0" y="161181"/>
                </a:lnTo>
                <a:lnTo>
                  <a:pt x="322363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55544" y="3985493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322363" y="335257"/>
                </a:moveTo>
                <a:lnTo>
                  <a:pt x="0" y="496439"/>
                </a:lnTo>
                <a:lnTo>
                  <a:pt x="0" y="161181"/>
                </a:lnTo>
                <a:lnTo>
                  <a:pt x="322363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00270" y="3327872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322363" y="335257"/>
                </a:moveTo>
                <a:lnTo>
                  <a:pt x="0" y="496439"/>
                </a:lnTo>
                <a:lnTo>
                  <a:pt x="0" y="161181"/>
                </a:lnTo>
                <a:lnTo>
                  <a:pt x="322363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77907" y="3489054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322363" y="335257"/>
                </a:moveTo>
                <a:lnTo>
                  <a:pt x="0" y="496439"/>
                </a:lnTo>
                <a:lnTo>
                  <a:pt x="0" y="161181"/>
                </a:lnTo>
                <a:lnTo>
                  <a:pt x="322363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55544" y="3650235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322363" y="335257"/>
                </a:moveTo>
                <a:lnTo>
                  <a:pt x="0" y="496439"/>
                </a:lnTo>
                <a:lnTo>
                  <a:pt x="0" y="161181"/>
                </a:lnTo>
                <a:lnTo>
                  <a:pt x="322363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00270" y="2992615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322363" y="335257"/>
                </a:moveTo>
                <a:lnTo>
                  <a:pt x="0" y="496439"/>
                </a:lnTo>
                <a:lnTo>
                  <a:pt x="0" y="161181"/>
                </a:lnTo>
                <a:lnTo>
                  <a:pt x="322363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77907" y="3153796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322363" y="335257"/>
                </a:moveTo>
                <a:lnTo>
                  <a:pt x="0" y="496439"/>
                </a:lnTo>
                <a:lnTo>
                  <a:pt x="0" y="161181"/>
                </a:lnTo>
                <a:lnTo>
                  <a:pt x="322363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55544" y="3314978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322363" y="335257"/>
                </a:moveTo>
                <a:lnTo>
                  <a:pt x="0" y="496439"/>
                </a:lnTo>
                <a:lnTo>
                  <a:pt x="0" y="161181"/>
                </a:lnTo>
                <a:lnTo>
                  <a:pt x="322363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00270" y="2657357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322363" y="335257"/>
                </a:moveTo>
                <a:lnTo>
                  <a:pt x="0" y="496439"/>
                </a:lnTo>
                <a:lnTo>
                  <a:pt x="0" y="161181"/>
                </a:lnTo>
                <a:lnTo>
                  <a:pt x="322363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77907" y="2818539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322363" y="335257"/>
                </a:moveTo>
                <a:lnTo>
                  <a:pt x="0" y="496439"/>
                </a:lnTo>
                <a:lnTo>
                  <a:pt x="0" y="161181"/>
                </a:lnTo>
                <a:lnTo>
                  <a:pt x="322363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55544" y="2979720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322363" y="335257"/>
                </a:moveTo>
                <a:lnTo>
                  <a:pt x="0" y="496439"/>
                </a:lnTo>
                <a:lnTo>
                  <a:pt x="0" y="161181"/>
                </a:lnTo>
                <a:lnTo>
                  <a:pt x="322363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21367" y="3179585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43730" y="3340767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66093" y="3501948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88456" y="3663130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10819" y="3824311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3181" y="3985493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21367" y="2844328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43730" y="3005509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66093" y="3166691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88456" y="3327872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10819" y="3489054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33181" y="3650235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21367" y="2509070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43730" y="2670252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66093" y="2831433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88456" y="2992615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10819" y="3153796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33181" y="3314978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21367" y="2173813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43730" y="2334994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66093" y="2496176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88456" y="2657357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10819" y="2818539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33181" y="2979720"/>
            <a:ext cx="322363" cy="496439"/>
          </a:xfrm>
          <a:custGeom>
            <a:avLst/>
            <a:gdLst/>
            <a:ahLst/>
            <a:cxnLst/>
            <a:rect l="l" t="t" r="r" b="b"/>
            <a:pathLst>
              <a:path w="322363" h="496439">
                <a:moveTo>
                  <a:pt x="0" y="335257"/>
                </a:moveTo>
                <a:lnTo>
                  <a:pt x="322363" y="496439"/>
                </a:lnTo>
                <a:lnTo>
                  <a:pt x="322363" y="1611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66093" y="1690268"/>
            <a:ext cx="644726" cy="322363"/>
          </a:xfrm>
          <a:custGeom>
            <a:avLst/>
            <a:gdLst/>
            <a:ahLst/>
            <a:cxnLst/>
            <a:rect l="l" t="t" r="r" b="b"/>
            <a:pathLst>
              <a:path w="644726" h="322363">
                <a:moveTo>
                  <a:pt x="322363" y="0"/>
                </a:moveTo>
                <a:lnTo>
                  <a:pt x="644726" y="161181"/>
                </a:lnTo>
                <a:lnTo>
                  <a:pt x="322363" y="322363"/>
                </a:lnTo>
                <a:lnTo>
                  <a:pt x="0" y="1611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87288" y="171429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E66"/>
                </a:solidFill>
              </a:rPr>
              <a:t>1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088456" y="1851450"/>
            <a:ext cx="644726" cy="322363"/>
          </a:xfrm>
          <a:custGeom>
            <a:avLst/>
            <a:gdLst/>
            <a:ahLst/>
            <a:cxnLst/>
            <a:rect l="l" t="t" r="r" b="b"/>
            <a:pathLst>
              <a:path w="644726" h="322363">
                <a:moveTo>
                  <a:pt x="322363" y="0"/>
                </a:moveTo>
                <a:lnTo>
                  <a:pt x="644726" y="161181"/>
                </a:lnTo>
                <a:lnTo>
                  <a:pt x="322363" y="322363"/>
                </a:lnTo>
                <a:lnTo>
                  <a:pt x="0" y="1611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09651" y="1875471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E66"/>
                </a:solidFill>
              </a:rPr>
              <a:t>2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410819" y="2012631"/>
            <a:ext cx="644726" cy="322363"/>
          </a:xfrm>
          <a:custGeom>
            <a:avLst/>
            <a:gdLst/>
            <a:ahLst/>
            <a:cxnLst/>
            <a:rect l="l" t="t" r="r" b="b"/>
            <a:pathLst>
              <a:path w="644726" h="322363">
                <a:moveTo>
                  <a:pt x="322363" y="0"/>
                </a:moveTo>
                <a:lnTo>
                  <a:pt x="644726" y="161181"/>
                </a:lnTo>
                <a:lnTo>
                  <a:pt x="322363" y="322363"/>
                </a:lnTo>
                <a:lnTo>
                  <a:pt x="0" y="1611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32013" y="2036653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E66"/>
                </a:solidFill>
              </a:rPr>
              <a:t>3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33181" y="2173813"/>
            <a:ext cx="644726" cy="322363"/>
          </a:xfrm>
          <a:custGeom>
            <a:avLst/>
            <a:gdLst/>
            <a:ahLst/>
            <a:cxnLst/>
            <a:rect l="l" t="t" r="r" b="b"/>
            <a:pathLst>
              <a:path w="644726" h="322363">
                <a:moveTo>
                  <a:pt x="322363" y="0"/>
                </a:moveTo>
                <a:lnTo>
                  <a:pt x="644726" y="161181"/>
                </a:lnTo>
                <a:lnTo>
                  <a:pt x="322363" y="322363"/>
                </a:lnTo>
                <a:lnTo>
                  <a:pt x="0" y="1611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4376" y="219783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E66"/>
                </a:solidFill>
              </a:rPr>
              <a:t>4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055544" y="2334994"/>
            <a:ext cx="644726" cy="322363"/>
          </a:xfrm>
          <a:custGeom>
            <a:avLst/>
            <a:gdLst/>
            <a:ahLst/>
            <a:cxnLst/>
            <a:rect l="l" t="t" r="r" b="b"/>
            <a:pathLst>
              <a:path w="644726" h="322363">
                <a:moveTo>
                  <a:pt x="322363" y="0"/>
                </a:moveTo>
                <a:lnTo>
                  <a:pt x="644726" y="161181"/>
                </a:lnTo>
                <a:lnTo>
                  <a:pt x="322363" y="322363"/>
                </a:lnTo>
                <a:lnTo>
                  <a:pt x="0" y="1611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76739" y="235901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E66"/>
                </a:solidFill>
              </a:rPr>
              <a:t>5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377907" y="2496176"/>
            <a:ext cx="644726" cy="322363"/>
          </a:xfrm>
          <a:custGeom>
            <a:avLst/>
            <a:gdLst/>
            <a:ahLst/>
            <a:cxnLst/>
            <a:rect l="l" t="t" r="r" b="b"/>
            <a:pathLst>
              <a:path w="644726" h="322363">
                <a:moveTo>
                  <a:pt x="322363" y="0"/>
                </a:moveTo>
                <a:lnTo>
                  <a:pt x="644726" y="161181"/>
                </a:lnTo>
                <a:lnTo>
                  <a:pt x="322363" y="322363"/>
                </a:lnTo>
                <a:lnTo>
                  <a:pt x="0" y="1611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99102" y="2520197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E66"/>
                </a:solidFill>
              </a:rPr>
              <a:t>6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443730" y="1851450"/>
            <a:ext cx="644726" cy="322363"/>
          </a:xfrm>
          <a:custGeom>
            <a:avLst/>
            <a:gdLst/>
            <a:ahLst/>
            <a:cxnLst/>
            <a:rect l="l" t="t" r="r" b="b"/>
            <a:pathLst>
              <a:path w="644726" h="322363">
                <a:moveTo>
                  <a:pt x="322363" y="0"/>
                </a:moveTo>
                <a:lnTo>
                  <a:pt x="644726" y="161181"/>
                </a:lnTo>
                <a:lnTo>
                  <a:pt x="322363" y="322363"/>
                </a:lnTo>
                <a:lnTo>
                  <a:pt x="0" y="1611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64925" y="1875471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E66"/>
                </a:solidFill>
              </a:rPr>
              <a:t>7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766093" y="2012631"/>
            <a:ext cx="644726" cy="322363"/>
          </a:xfrm>
          <a:custGeom>
            <a:avLst/>
            <a:gdLst/>
            <a:ahLst/>
            <a:cxnLst/>
            <a:rect l="l" t="t" r="r" b="b"/>
            <a:pathLst>
              <a:path w="644726" h="322363">
                <a:moveTo>
                  <a:pt x="322363" y="0"/>
                </a:moveTo>
                <a:lnTo>
                  <a:pt x="644726" y="161181"/>
                </a:lnTo>
                <a:lnTo>
                  <a:pt x="322363" y="322363"/>
                </a:lnTo>
                <a:lnTo>
                  <a:pt x="0" y="1611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87288" y="2036653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E66"/>
                </a:solidFill>
              </a:rPr>
              <a:t>8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088456" y="2173813"/>
            <a:ext cx="644726" cy="322363"/>
          </a:xfrm>
          <a:custGeom>
            <a:avLst/>
            <a:gdLst/>
            <a:ahLst/>
            <a:cxnLst/>
            <a:rect l="l" t="t" r="r" b="b"/>
            <a:pathLst>
              <a:path w="644726" h="322363">
                <a:moveTo>
                  <a:pt x="322363" y="0"/>
                </a:moveTo>
                <a:lnTo>
                  <a:pt x="644726" y="161181"/>
                </a:lnTo>
                <a:lnTo>
                  <a:pt x="322363" y="322363"/>
                </a:lnTo>
                <a:lnTo>
                  <a:pt x="0" y="1611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09651" y="219783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E66"/>
                </a:solidFill>
              </a:rPr>
              <a:t>9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410819" y="2334994"/>
            <a:ext cx="644726" cy="322363"/>
          </a:xfrm>
          <a:custGeom>
            <a:avLst/>
            <a:gdLst/>
            <a:ahLst/>
            <a:cxnLst/>
            <a:rect l="l" t="t" r="r" b="b"/>
            <a:pathLst>
              <a:path w="644726" h="322363">
                <a:moveTo>
                  <a:pt x="322363" y="0"/>
                </a:moveTo>
                <a:lnTo>
                  <a:pt x="644726" y="161181"/>
                </a:lnTo>
                <a:lnTo>
                  <a:pt x="322363" y="322363"/>
                </a:lnTo>
                <a:lnTo>
                  <a:pt x="0" y="1611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32013" y="235901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E66"/>
                </a:solidFill>
              </a:rPr>
              <a:t>10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733181" y="2496176"/>
            <a:ext cx="644726" cy="322363"/>
          </a:xfrm>
          <a:custGeom>
            <a:avLst/>
            <a:gdLst/>
            <a:ahLst/>
            <a:cxnLst/>
            <a:rect l="l" t="t" r="r" b="b"/>
            <a:pathLst>
              <a:path w="644726" h="322363">
                <a:moveTo>
                  <a:pt x="322363" y="0"/>
                </a:moveTo>
                <a:lnTo>
                  <a:pt x="644726" y="161181"/>
                </a:lnTo>
                <a:lnTo>
                  <a:pt x="322363" y="322363"/>
                </a:lnTo>
                <a:lnTo>
                  <a:pt x="0" y="1611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54376" y="2520197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E66"/>
                </a:solidFill>
              </a:rPr>
              <a:t>11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055544" y="2657357"/>
            <a:ext cx="644726" cy="322363"/>
          </a:xfrm>
          <a:custGeom>
            <a:avLst/>
            <a:gdLst/>
            <a:ahLst/>
            <a:cxnLst/>
            <a:rect l="l" t="t" r="r" b="b"/>
            <a:pathLst>
              <a:path w="644726" h="322363">
                <a:moveTo>
                  <a:pt x="322363" y="0"/>
                </a:moveTo>
                <a:lnTo>
                  <a:pt x="644726" y="161181"/>
                </a:lnTo>
                <a:lnTo>
                  <a:pt x="322363" y="322363"/>
                </a:lnTo>
                <a:lnTo>
                  <a:pt x="0" y="1611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76739" y="2681379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E66"/>
                </a:solidFill>
              </a:rPr>
              <a:t>12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121367" y="2012631"/>
            <a:ext cx="644726" cy="322363"/>
          </a:xfrm>
          <a:custGeom>
            <a:avLst/>
            <a:gdLst/>
            <a:ahLst/>
            <a:cxnLst/>
            <a:rect l="l" t="t" r="r" b="b"/>
            <a:pathLst>
              <a:path w="644726" h="322363">
                <a:moveTo>
                  <a:pt x="322363" y="0"/>
                </a:moveTo>
                <a:lnTo>
                  <a:pt x="644726" y="161181"/>
                </a:lnTo>
                <a:lnTo>
                  <a:pt x="322363" y="322363"/>
                </a:lnTo>
                <a:lnTo>
                  <a:pt x="0" y="1611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42562" y="2036653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E66"/>
                </a:solidFill>
              </a:rPr>
              <a:t>13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443730" y="2173813"/>
            <a:ext cx="644726" cy="322363"/>
          </a:xfrm>
          <a:custGeom>
            <a:avLst/>
            <a:gdLst/>
            <a:ahLst/>
            <a:cxnLst/>
            <a:rect l="l" t="t" r="r" b="b"/>
            <a:pathLst>
              <a:path w="644726" h="322363">
                <a:moveTo>
                  <a:pt x="322363" y="0"/>
                </a:moveTo>
                <a:lnTo>
                  <a:pt x="644726" y="161181"/>
                </a:lnTo>
                <a:lnTo>
                  <a:pt x="322363" y="322363"/>
                </a:lnTo>
                <a:lnTo>
                  <a:pt x="0" y="1611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564925" y="219783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E66"/>
                </a:solidFill>
              </a:rPr>
              <a:t>14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766093" y="2334994"/>
            <a:ext cx="644726" cy="322363"/>
          </a:xfrm>
          <a:custGeom>
            <a:avLst/>
            <a:gdLst/>
            <a:ahLst/>
            <a:cxnLst/>
            <a:rect l="l" t="t" r="r" b="b"/>
            <a:pathLst>
              <a:path w="644726" h="322363">
                <a:moveTo>
                  <a:pt x="322363" y="0"/>
                </a:moveTo>
                <a:lnTo>
                  <a:pt x="644726" y="161181"/>
                </a:lnTo>
                <a:lnTo>
                  <a:pt x="322363" y="322363"/>
                </a:lnTo>
                <a:lnTo>
                  <a:pt x="0" y="1611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87288" y="235901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E66"/>
                </a:solidFill>
              </a:rPr>
              <a:t>15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088456" y="2496176"/>
            <a:ext cx="644726" cy="322363"/>
          </a:xfrm>
          <a:custGeom>
            <a:avLst/>
            <a:gdLst/>
            <a:ahLst/>
            <a:cxnLst/>
            <a:rect l="l" t="t" r="r" b="b"/>
            <a:pathLst>
              <a:path w="644726" h="322363">
                <a:moveTo>
                  <a:pt x="322363" y="0"/>
                </a:moveTo>
                <a:lnTo>
                  <a:pt x="644726" y="161181"/>
                </a:lnTo>
                <a:lnTo>
                  <a:pt x="322363" y="322363"/>
                </a:lnTo>
                <a:lnTo>
                  <a:pt x="0" y="1611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09651" y="2520197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E66"/>
                </a:solidFill>
              </a:rPr>
              <a:t>16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410819" y="2657357"/>
            <a:ext cx="644726" cy="322363"/>
          </a:xfrm>
          <a:custGeom>
            <a:avLst/>
            <a:gdLst/>
            <a:ahLst/>
            <a:cxnLst/>
            <a:rect l="l" t="t" r="r" b="b"/>
            <a:pathLst>
              <a:path w="644726" h="322363">
                <a:moveTo>
                  <a:pt x="322363" y="0"/>
                </a:moveTo>
                <a:lnTo>
                  <a:pt x="644726" y="161181"/>
                </a:lnTo>
                <a:lnTo>
                  <a:pt x="322363" y="322363"/>
                </a:lnTo>
                <a:lnTo>
                  <a:pt x="0" y="1611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32013" y="2681379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E66"/>
                </a:solidFill>
              </a:rPr>
              <a:t>17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733181" y="2818539"/>
            <a:ext cx="644726" cy="322363"/>
          </a:xfrm>
          <a:custGeom>
            <a:avLst/>
            <a:gdLst/>
            <a:ahLst/>
            <a:cxnLst/>
            <a:rect l="l" t="t" r="r" b="b"/>
            <a:pathLst>
              <a:path w="644726" h="322363">
                <a:moveTo>
                  <a:pt x="322363" y="0"/>
                </a:moveTo>
                <a:lnTo>
                  <a:pt x="644726" y="161181"/>
                </a:lnTo>
                <a:lnTo>
                  <a:pt x="322363" y="322363"/>
                </a:lnTo>
                <a:lnTo>
                  <a:pt x="0" y="1611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54376" y="284256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2E66"/>
                </a:solidFill>
              </a:rPr>
              <a:t>18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088456" y="1690268"/>
            <a:ext cx="1934178" cy="967089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5055544" y="2657357"/>
            <a:ext cx="967089" cy="483544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121367" y="2173813"/>
            <a:ext cx="1934178" cy="967089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3121367" y="1690268"/>
            <a:ext cx="967089" cy="483544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6022633" y="2657357"/>
            <a:ext cx="914" cy="1341030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5055544" y="3140902"/>
            <a:ext cx="914" cy="1341030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3121367" y="2173813"/>
            <a:ext cx="914" cy="1341030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5055544" y="3998387"/>
            <a:ext cx="967089" cy="483544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21367" y="3514843"/>
            <a:ext cx="1934178" cy="967089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5055544" y="3663130"/>
            <a:ext cx="967089" cy="4835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121367" y="3179585"/>
            <a:ext cx="1934178" cy="967089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5055544" y="3327872"/>
            <a:ext cx="967089" cy="4835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121367" y="2844328"/>
            <a:ext cx="1934178" cy="967089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5055544" y="2992615"/>
            <a:ext cx="967089" cy="4835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21367" y="2509070"/>
            <a:ext cx="1934178" cy="967089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402656" y="4117259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402656" y="4117259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6 cm long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5630529" y="4322455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630529" y="4322455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3 cm wide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5192704" y="3674257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192704" y="3674257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4 cm tall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1463040" y="474573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One layer of 18 cubes, copied 4 times -- 72 unit cubes total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A Labeled Diagram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1234440"/>
            <a:ext cx="3017520" cy="2103120"/>
          </a:xfrm>
          <a:custGeom>
            <a:avLst/>
            <a:gdLst/>
            <a:ahLst/>
            <a:cxnLst/>
            <a:rect l="l" t="t" r="r" b="b"/>
            <a:pathLst>
              <a:path w="3017520" h="2103120">
                <a:moveTo>
                  <a:pt x="0" y="457200"/>
                </a:moveTo>
                <a:lnTo>
                  <a:pt x="2194560" y="457200"/>
                </a:lnTo>
                <a:lnTo>
                  <a:pt x="3017520" y="0"/>
                </a:lnTo>
                <a:lnTo>
                  <a:pt x="822960" y="0"/>
                </a:lnTo>
                <a:close/>
              </a:path>
            </a:pathLst>
          </a:custGeom>
          <a:solidFill>
            <a:srgbClr val="C9BEE8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1234440"/>
            <a:ext cx="3017520" cy="2103120"/>
          </a:xfrm>
          <a:custGeom>
            <a:avLst/>
            <a:gdLst/>
            <a:ahLst/>
            <a:cxnLst/>
            <a:rect l="l" t="t" r="r" b="b"/>
            <a:pathLst>
              <a:path w="3017520" h="2103120">
                <a:moveTo>
                  <a:pt x="2194560" y="457200"/>
                </a:moveTo>
                <a:lnTo>
                  <a:pt x="2194560" y="2103120"/>
                </a:lnTo>
                <a:lnTo>
                  <a:pt x="3017520" y="1645920"/>
                </a:lnTo>
                <a:lnTo>
                  <a:pt x="3017520" y="0"/>
                </a:lnTo>
                <a:close/>
              </a:path>
            </a:pathLst>
          </a:custGeom>
          <a:solidFill>
            <a:srgbClr val="4A3D8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234440"/>
            <a:ext cx="3017520" cy="2103120"/>
          </a:xfrm>
          <a:custGeom>
            <a:avLst/>
            <a:gdLst/>
            <a:ahLst/>
            <a:cxnLst/>
            <a:rect l="l" t="t" r="r" b="b"/>
            <a:pathLst>
              <a:path w="3017520" h="2103120">
                <a:moveTo>
                  <a:pt x="0" y="457200"/>
                </a:moveTo>
                <a:lnTo>
                  <a:pt x="2194560" y="457200"/>
                </a:lnTo>
                <a:lnTo>
                  <a:pt x="219456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EAE8F5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3374136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33741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4A3D8F"/>
                </a:solidFill>
              </a:rPr>
              <a:t>length = 6 cm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23560" y="1316736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13167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E6E44"/>
                </a:solidFill>
              </a:rPr>
              <a:t>width = 3 cm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2368296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23682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A66E10"/>
                </a:solidFill>
              </a:rPr>
              <a:t>height = 4 cm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= length x width x height = 6 x 3 x 4 = 72 cubic cm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Volume Equals Length Times Width Times Height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8046720" cy="2834640"/>
          </a:xfrm>
          <a:prstGeom prst="roundRect">
            <a:avLst>
              <a:gd name="adj" fmla="val 322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34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find the volume of a cuboid: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the length by the width by the height.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= length x width x height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shortcut always gives the same answer as counting layer by layer -- it's just faster.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Say "length," "width," and "height" -- never a bare letter.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cuboid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A solid figure with 6 rectangular faces -- a box shape.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167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The shipping box is a cuboid.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The longest horizontal edge of a cuboid.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2167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The box's length is 6 cm.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width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The shorter horizontal edge of a cuboid.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The box's width is 3 cm.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246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The vertical edge of a cuboid, from bottom to top.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The box's height is 4 cm.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The Shipping Box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box is 6 cm long, 3 cm wide, 4 cm tall. Volume = ___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Find the bottom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x 3 = 18 cubes.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Count the layers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box is 4 cm tall, so 4 layers.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Multiply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x 4 = 72.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= 6 x 3 x 4 = 72 cubic cm.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 Fish Tank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fish tank is 60 cm long, 30 cm wide, 40 cm tall. Volume = ___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Find the bottom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x 30 = 1,800 sq cm.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Count the layers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tank is 40 cm tall.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Multiply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1,800 x 40 = 72,000.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= 72,000 cubic cm.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Applied · Compare Two Boxes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YOUR TURN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63040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A is 10 cm x 6 cm x 3 cm. Box B is 9 cm x 5 cm x 4 cm. Which box has the greater volume -- and by how much?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841248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42900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both volumes AND which is greater (or if they're equal)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Goes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up is 5.08.03: Finding the Length of an Edge -- you'll know the volume and work backward to find a missing side.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double the height of a cuboid but keep the length and width the same, what happens to the volume?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It doubles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210312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Stays the same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Quadruples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4088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Cut in half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double the height of a cuboid but keep the length and width the same, what happens to the volume?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It doubles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210312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Stays the same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Quadruples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4088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Cut in half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Doubling one factor in a multiplication doubles the product -- so the volume doubles too.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that the order I multiply length, width, and height doesn't change the answer -- 6x3x4 and 4x6x3 both give 72.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checked my fish tank answer by grouping differently: 60x30 first, then times 40. I also tried 30x40 first, then times 60. Both gave 72,000.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a labeled diagram of the box, with three arrows for length, width, and height, instead of counting every single cube.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a cuboid's volume equals length times width times height -- that's the shortcut for counting cubes layer by layer.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5.08.02 Independent Practice (5 problems).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Review today's shortcut: Volume = length x width x height.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 5.08.03 -- tomorrow you'll know the volume and solve backward for a missing edge.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5.08.02 Volume of Cuboids — Teacher Slides</dc:title>
  <dc:subject>PptxGenJS Presentation</dc:subject>
  <dc:creator>PptxGenJS</dc:creator>
  <cp:lastModifiedBy>PptxGenJS</cp:lastModifiedBy>
  <cp:revision>1</cp:revision>
  <dcterms:created xsi:type="dcterms:W3CDTF">2026-09-24T15:08:05Z</dcterms:created>
  <dcterms:modified xsi:type="dcterms:W3CDTF">2026-09-24T15:08:05Z</dcterms:modified>
</cp:coreProperties>
</file>