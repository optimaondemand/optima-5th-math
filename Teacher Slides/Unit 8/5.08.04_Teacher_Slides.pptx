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only the first problem. Give 45 seconds of think time before revealing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only the first problem. Give 45 seconds of think time before revealing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Reveal each problem in turn: 24, then 24 again, then their sum 48. Ask what relationship connects them -- two separate blocks, added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Reveal each problem in turn: 24, then 24 again, then their sum 48. Ask what relationship connects them -- two separate blocks, added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Title slide. So far every box has been one simple cuboid. Today solids are built from more than one piece.
Transition: "Here's exactly what today's goal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Read the I Can aloud. A complex solid is just two or more familiar boxes put together -- no new formula, just careful splitting.
Common error: students think a complex solid needs a brand-new rule.
Transition: "Let's warm up on combining volumes."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These are exactly the add-and-subtract moves today's glued blocks need. Confirm all three before moving on.
Common error: subtracting instead of adding when pieces are simply joined.
Transition: "Let's see two blocks that are glued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Read the glued blocks scenario aloud. Each block alone is something students already know how to measure.
Anticipated: students may already guess 'find each one, then add.'
Common error: guessing you multiply the two volumes together.
Transition: "Let's notice and wonder about these blocks before we build them."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Give quiet think time, then share out. Students should notice each block is a familiar cuboid and wonder how the two combine.
Anticipated: 'I wonder if you find each volume separately first.'
Transition: "Let's actually build both blocks and combine them."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Physically build Block A and Block B side by side (not overlapping), count each one, then combine the totals: 24 + 24 = 48.
Anticipated: students confirm each block's count matches yesterday's layer-counting method.
Common error: trying to count the combined solid as one big box instead of two separate pieces.
Transition: "Let's see this same combination as a labeled diagram."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Show each block's volume as its own labeled card, then combine into a single total card -- the diagram makes the add-two-volumes move explicit.
Common error: adding one dimension from each block instead of adding the two full volumes.
Transition: "Let's name the general rule this always follows."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State both methods precisely: add for joined pieces, subtract for a missing piece. Both are just today's block-and-count skill, applied twice.
Common error: mixing up when to add versus subtract.
Transition: "Let's put a name to the words we've been using."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Quick vocabulary check. Point out decompose is the action, complex solid is the shape you're acting on.
Transition: "Let's use all of this in a full worked example."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Model this step by step: 24 for Block A, 24 for Block B, add for 48.
Common error: multiplying the two block volumes together instead of adding.
Transition: "What if a piece is MISSING instead of joined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This is the SUBTRACT case: 10x8x4=320 for the whole box, minus the 5x3x4=60 missing corner, gives 260.
Common error: adding the missing corner instead of subtracting it.
Transition: "What if the solid is already split into two labeled pieces?"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This T-shaped solid is already decomposed into two named cuboids -- find each, then add: 48 + 30 = 78.
Common error: forgetting to decompose and trying to multiply all the numbers together at once.
Transition: "Now you try one on your own, with a real-world context."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Students work independently, then respond in chat. Bottom: 50x30x10=15,000. Top: 50x15x10=7,500. Total: 22,500 cubic cm.
Anticipated error: multiplying the two block volumes instead of adding.
Transition: "Here's where this skill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Preview that tomorrow's lesson connects volume to liquid capacity.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Correct answer: add both volumes, then subtract the overlap. Common error: simply adding both volumes without checking for shared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Correct answer: add both volumes, then subtract the overlap. Common error: simply adding both volumes without checking for shared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78608" y="16459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8608" y="1645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5.08.04 · Number String: Adding Two Volumes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3 x 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Solve the first problem. What strategy did you use?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String Unfolds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3 x 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x 3 x 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" y="192024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+ 24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48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" y="297180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279392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changed each time?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 two blocks are joined with no overlap, the total volume is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by adding the two separate volumes together.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pattern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the Next String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x 2 x 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x 2 x 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+ 24 = ?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5.08.04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of Complex Shapes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8: Volume of Solid Figures · Lesson 4 of 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MA.5.GR.3.3   ·   MTR.2.1   ·   MTR.5.1   ·   TX 5.4.G   ·   TX 5.4.H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find the volume of a complex solid by splitting it into simpler cuboids, finding each volume, and adding them (or subtracting a missing piece).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“Volume begins with one cube, then grows into layers.”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Cuboid A is 24 cubic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units. Cuboid B is 16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cubic units. Combined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shape's volume 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 A missing corner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20. Remaining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calculation: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x 2 x 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all three answers, in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toy blocks are glued side by side. Block A is 4 x 3 x 2. Block B is 2 x 3 x 4. What is the total volume?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74980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04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do you add or multiply the two blocks' volumes together?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toy blocks are glued side by side: Block A is 4 x 3 x 2, Block B is 2 x 3 x 4.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Build Each Block, Then Combine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Physical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D8F"/>
                </a:solidFill>
              </a:rPr>
              <a:t>Build Block A and Block B separately, count each one, then combine the counts.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2440" y="2943860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436880" y="454355"/>
                </a:moveTo>
                <a:lnTo>
                  <a:pt x="0" y="672795"/>
                </a:lnTo>
                <a:lnTo>
                  <a:pt x="0" y="218440"/>
                </a:lnTo>
                <a:lnTo>
                  <a:pt x="436880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5560" y="3162300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436880" y="454355"/>
                </a:moveTo>
                <a:lnTo>
                  <a:pt x="0" y="672795"/>
                </a:lnTo>
                <a:lnTo>
                  <a:pt x="0" y="218440"/>
                </a:lnTo>
                <a:lnTo>
                  <a:pt x="436880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8680" y="3380740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436880" y="454355"/>
                </a:moveTo>
                <a:lnTo>
                  <a:pt x="0" y="672795"/>
                </a:lnTo>
                <a:lnTo>
                  <a:pt x="0" y="218440"/>
                </a:lnTo>
                <a:lnTo>
                  <a:pt x="436880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2440" y="2489505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436880" y="454355"/>
                </a:moveTo>
                <a:lnTo>
                  <a:pt x="0" y="672795"/>
                </a:lnTo>
                <a:lnTo>
                  <a:pt x="0" y="218440"/>
                </a:lnTo>
                <a:lnTo>
                  <a:pt x="436880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5560" y="2707945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436880" y="454355"/>
                </a:moveTo>
                <a:lnTo>
                  <a:pt x="0" y="672795"/>
                </a:lnTo>
                <a:lnTo>
                  <a:pt x="0" y="218440"/>
                </a:lnTo>
                <a:lnTo>
                  <a:pt x="436880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8680" y="2926385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436880" y="454355"/>
                </a:moveTo>
                <a:lnTo>
                  <a:pt x="0" y="672795"/>
                </a:lnTo>
                <a:lnTo>
                  <a:pt x="0" y="218440"/>
                </a:lnTo>
                <a:lnTo>
                  <a:pt x="436880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1160" y="2725420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0" y="454355"/>
                </a:moveTo>
                <a:lnTo>
                  <a:pt x="436880" y="672795"/>
                </a:lnTo>
                <a:lnTo>
                  <a:pt x="436880" y="218440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040" y="2943860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0" y="454355"/>
                </a:moveTo>
                <a:lnTo>
                  <a:pt x="436880" y="672795"/>
                </a:lnTo>
                <a:lnTo>
                  <a:pt x="436880" y="218440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64920" y="3162300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0" y="454355"/>
                </a:moveTo>
                <a:lnTo>
                  <a:pt x="436880" y="672795"/>
                </a:lnTo>
                <a:lnTo>
                  <a:pt x="436880" y="218440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1800" y="3380740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0" y="454355"/>
                </a:moveTo>
                <a:lnTo>
                  <a:pt x="436880" y="672795"/>
                </a:lnTo>
                <a:lnTo>
                  <a:pt x="436880" y="218440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1160" y="2271065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0" y="454355"/>
                </a:moveTo>
                <a:lnTo>
                  <a:pt x="436880" y="672795"/>
                </a:lnTo>
                <a:lnTo>
                  <a:pt x="436880" y="218440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040" y="2489505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0" y="454355"/>
                </a:moveTo>
                <a:lnTo>
                  <a:pt x="436880" y="672795"/>
                </a:lnTo>
                <a:lnTo>
                  <a:pt x="436880" y="218440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64920" y="2707945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0" y="454355"/>
                </a:moveTo>
                <a:lnTo>
                  <a:pt x="436880" y="672795"/>
                </a:lnTo>
                <a:lnTo>
                  <a:pt x="436880" y="218440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01800" y="2926385"/>
            <a:ext cx="436880" cy="672795"/>
          </a:xfrm>
          <a:custGeom>
            <a:avLst/>
            <a:gdLst/>
            <a:ahLst/>
            <a:cxnLst/>
            <a:rect l="l" t="t" r="r" b="b"/>
            <a:pathLst>
              <a:path w="436880" h="672795">
                <a:moveTo>
                  <a:pt x="0" y="454355"/>
                </a:moveTo>
                <a:lnTo>
                  <a:pt x="436880" y="672795"/>
                </a:lnTo>
                <a:lnTo>
                  <a:pt x="436880" y="218440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4920" y="161574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0632" y="169702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1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701800" y="183418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37512" y="191546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2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138680" y="205262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4392" y="213390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3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575560" y="227106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11272" y="235234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4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28040" y="183418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3752" y="191546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5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264920" y="205262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00632" y="213390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6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701800" y="227106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37512" y="235234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7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138680" y="248950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4392" y="257078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8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91160" y="205262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872" y="213390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9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28040" y="227106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3752" y="235234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10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264920" y="248950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00632" y="257078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11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701800" y="2707945"/>
            <a:ext cx="873760" cy="436880"/>
          </a:xfrm>
          <a:custGeom>
            <a:avLst/>
            <a:gdLst/>
            <a:ahLst/>
            <a:cxnLst/>
            <a:rect l="l" t="t" r="r" b="b"/>
            <a:pathLst>
              <a:path w="873760" h="436880">
                <a:moveTo>
                  <a:pt x="436880" y="0"/>
                </a:moveTo>
                <a:lnTo>
                  <a:pt x="873760" y="218440"/>
                </a:lnTo>
                <a:lnTo>
                  <a:pt x="436880" y="436880"/>
                </a:lnTo>
                <a:lnTo>
                  <a:pt x="0" y="218440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37512" y="2789225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12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701800" y="1615745"/>
            <a:ext cx="1747520" cy="87376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2138680" y="2489505"/>
            <a:ext cx="1310640" cy="65532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1160" y="2271065"/>
            <a:ext cx="1747520" cy="87376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391160" y="1615745"/>
            <a:ext cx="1310640" cy="65532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3449320" y="2489505"/>
            <a:ext cx="914" cy="90871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2138680" y="3144825"/>
            <a:ext cx="914" cy="90871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391160" y="2271065"/>
            <a:ext cx="914" cy="90871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2138680" y="3398215"/>
            <a:ext cx="1310640" cy="65532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1160" y="3179775"/>
            <a:ext cx="1747520" cy="87376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2138680" y="2943860"/>
            <a:ext cx="1310640" cy="6553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1160" y="2725420"/>
            <a:ext cx="1747520" cy="8737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9120" y="3735527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9120" y="373552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885440" y="3808171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85440" y="3808171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275840" y="346202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75840" y="34620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1440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Block A: 24 cubes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703320" y="2377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+</a:t>
            </a:r>
            <a:endParaRPr lang="en-US" sz="3200" dirty="0"/>
          </a:p>
        </p:txBody>
      </p:sp>
      <p:sp>
        <p:nvSpPr>
          <p:cNvPr id="65" name="Shape 63"/>
          <p:cNvSpPr/>
          <p:nvPr/>
        </p:nvSpPr>
        <p:spPr>
          <a:xfrm>
            <a:off x="6584092" y="3123807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8057" y="3306825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52023" y="3489842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4092" y="2743131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18057" y="2926149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52023" y="3109166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84092" y="2362455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18057" y="2545473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52023" y="2728490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84092" y="1981779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18057" y="2164797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52023" y="2347814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366035" y="380676"/>
                </a:moveTo>
                <a:lnTo>
                  <a:pt x="0" y="563693"/>
                </a:lnTo>
                <a:lnTo>
                  <a:pt x="0" y="183017"/>
                </a:lnTo>
                <a:lnTo>
                  <a:pt x="366035" y="0"/>
                </a:lnTo>
                <a:close/>
              </a:path>
            </a:pathLst>
          </a:custGeom>
          <a:solidFill>
            <a:srgbClr val="2E6E4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19954" y="3306825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0" y="380676"/>
                </a:moveTo>
                <a:lnTo>
                  <a:pt x="366035" y="563693"/>
                </a:lnTo>
                <a:lnTo>
                  <a:pt x="366035" y="183017"/>
                </a:lnTo>
                <a:lnTo>
                  <a:pt x="0" y="0"/>
                </a:lnTo>
                <a:close/>
              </a:path>
            </a:pathLst>
          </a:custGeom>
          <a:solidFill>
            <a:srgbClr val="1A55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5988" y="3489842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0" y="380676"/>
                </a:moveTo>
                <a:lnTo>
                  <a:pt x="366035" y="563693"/>
                </a:lnTo>
                <a:lnTo>
                  <a:pt x="366035" y="183017"/>
                </a:lnTo>
                <a:lnTo>
                  <a:pt x="0" y="0"/>
                </a:lnTo>
                <a:close/>
              </a:path>
            </a:pathLst>
          </a:custGeom>
          <a:solidFill>
            <a:srgbClr val="1A55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119954" y="2926149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0" y="380676"/>
                </a:moveTo>
                <a:lnTo>
                  <a:pt x="366035" y="563693"/>
                </a:lnTo>
                <a:lnTo>
                  <a:pt x="366035" y="183017"/>
                </a:lnTo>
                <a:lnTo>
                  <a:pt x="0" y="0"/>
                </a:lnTo>
                <a:close/>
              </a:path>
            </a:pathLst>
          </a:custGeom>
          <a:solidFill>
            <a:srgbClr val="1A55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485988" y="3109166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0" y="380676"/>
                </a:moveTo>
                <a:lnTo>
                  <a:pt x="366035" y="563693"/>
                </a:lnTo>
                <a:lnTo>
                  <a:pt x="366035" y="183017"/>
                </a:lnTo>
                <a:lnTo>
                  <a:pt x="0" y="0"/>
                </a:lnTo>
                <a:close/>
              </a:path>
            </a:pathLst>
          </a:custGeom>
          <a:solidFill>
            <a:srgbClr val="1A55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119954" y="2545473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0" y="380676"/>
                </a:moveTo>
                <a:lnTo>
                  <a:pt x="366035" y="563693"/>
                </a:lnTo>
                <a:lnTo>
                  <a:pt x="366035" y="183017"/>
                </a:lnTo>
                <a:lnTo>
                  <a:pt x="0" y="0"/>
                </a:lnTo>
                <a:close/>
              </a:path>
            </a:pathLst>
          </a:custGeom>
          <a:solidFill>
            <a:srgbClr val="1A55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5988" y="2728490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0" y="380676"/>
                </a:moveTo>
                <a:lnTo>
                  <a:pt x="366035" y="563693"/>
                </a:lnTo>
                <a:lnTo>
                  <a:pt x="366035" y="183017"/>
                </a:lnTo>
                <a:lnTo>
                  <a:pt x="0" y="0"/>
                </a:lnTo>
                <a:close/>
              </a:path>
            </a:pathLst>
          </a:custGeom>
          <a:solidFill>
            <a:srgbClr val="1A55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19954" y="2164797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0" y="380676"/>
                </a:moveTo>
                <a:lnTo>
                  <a:pt x="366035" y="563693"/>
                </a:lnTo>
                <a:lnTo>
                  <a:pt x="366035" y="183017"/>
                </a:lnTo>
                <a:lnTo>
                  <a:pt x="0" y="0"/>
                </a:lnTo>
                <a:close/>
              </a:path>
            </a:pathLst>
          </a:custGeom>
          <a:solidFill>
            <a:srgbClr val="1A55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85988" y="2347814"/>
            <a:ext cx="366035" cy="563693"/>
          </a:xfrm>
          <a:custGeom>
            <a:avLst/>
            <a:gdLst/>
            <a:ahLst/>
            <a:cxnLst/>
            <a:rect l="l" t="t" r="r" b="b"/>
            <a:pathLst>
              <a:path w="366035" h="563693">
                <a:moveTo>
                  <a:pt x="0" y="380676"/>
                </a:moveTo>
                <a:lnTo>
                  <a:pt x="366035" y="563693"/>
                </a:lnTo>
                <a:lnTo>
                  <a:pt x="366035" y="183017"/>
                </a:lnTo>
                <a:lnTo>
                  <a:pt x="0" y="0"/>
                </a:lnTo>
                <a:close/>
              </a:path>
            </a:pathLst>
          </a:custGeom>
          <a:solidFill>
            <a:srgbClr val="1A55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852023" y="1615745"/>
            <a:ext cx="732069" cy="366035"/>
          </a:xfrm>
          <a:custGeom>
            <a:avLst/>
            <a:gdLst/>
            <a:ahLst/>
            <a:cxnLst/>
            <a:rect l="l" t="t" r="r" b="b"/>
            <a:pathLst>
              <a:path w="732069" h="366035">
                <a:moveTo>
                  <a:pt x="366035" y="0"/>
                </a:moveTo>
                <a:lnTo>
                  <a:pt x="732069" y="183017"/>
                </a:lnTo>
                <a:lnTo>
                  <a:pt x="366035" y="366035"/>
                </a:lnTo>
                <a:lnTo>
                  <a:pt x="0" y="183017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016889" y="166160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1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218057" y="1798762"/>
            <a:ext cx="732069" cy="366035"/>
          </a:xfrm>
          <a:custGeom>
            <a:avLst/>
            <a:gdLst/>
            <a:ahLst/>
            <a:cxnLst/>
            <a:rect l="l" t="t" r="r" b="b"/>
            <a:pathLst>
              <a:path w="732069" h="366035">
                <a:moveTo>
                  <a:pt x="366035" y="0"/>
                </a:moveTo>
                <a:lnTo>
                  <a:pt x="732069" y="183017"/>
                </a:lnTo>
                <a:lnTo>
                  <a:pt x="366035" y="366035"/>
                </a:lnTo>
                <a:lnTo>
                  <a:pt x="0" y="183017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82924" y="1844619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2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5485988" y="1798762"/>
            <a:ext cx="732069" cy="366035"/>
          </a:xfrm>
          <a:custGeom>
            <a:avLst/>
            <a:gdLst/>
            <a:ahLst/>
            <a:cxnLst/>
            <a:rect l="l" t="t" r="r" b="b"/>
            <a:pathLst>
              <a:path w="732069" h="366035">
                <a:moveTo>
                  <a:pt x="366035" y="0"/>
                </a:moveTo>
                <a:lnTo>
                  <a:pt x="732069" y="183017"/>
                </a:lnTo>
                <a:lnTo>
                  <a:pt x="366035" y="366035"/>
                </a:lnTo>
                <a:lnTo>
                  <a:pt x="0" y="183017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50855" y="1844619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3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852023" y="1981779"/>
            <a:ext cx="732069" cy="366035"/>
          </a:xfrm>
          <a:custGeom>
            <a:avLst/>
            <a:gdLst/>
            <a:ahLst/>
            <a:cxnLst/>
            <a:rect l="l" t="t" r="r" b="b"/>
            <a:pathLst>
              <a:path w="732069" h="366035">
                <a:moveTo>
                  <a:pt x="366035" y="0"/>
                </a:moveTo>
                <a:lnTo>
                  <a:pt x="732069" y="183017"/>
                </a:lnTo>
                <a:lnTo>
                  <a:pt x="366035" y="366035"/>
                </a:lnTo>
                <a:lnTo>
                  <a:pt x="0" y="183017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16889" y="2027637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4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5119954" y="1981779"/>
            <a:ext cx="732069" cy="366035"/>
          </a:xfrm>
          <a:custGeom>
            <a:avLst/>
            <a:gdLst/>
            <a:ahLst/>
            <a:cxnLst/>
            <a:rect l="l" t="t" r="r" b="b"/>
            <a:pathLst>
              <a:path w="732069" h="366035">
                <a:moveTo>
                  <a:pt x="366035" y="0"/>
                </a:moveTo>
                <a:lnTo>
                  <a:pt x="732069" y="183017"/>
                </a:lnTo>
                <a:lnTo>
                  <a:pt x="366035" y="366035"/>
                </a:lnTo>
                <a:lnTo>
                  <a:pt x="0" y="183017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284820" y="2027637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5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5485988" y="2164797"/>
            <a:ext cx="732069" cy="366035"/>
          </a:xfrm>
          <a:custGeom>
            <a:avLst/>
            <a:gdLst/>
            <a:ahLst/>
            <a:cxnLst/>
            <a:rect l="l" t="t" r="r" b="b"/>
            <a:pathLst>
              <a:path w="732069" h="366035">
                <a:moveTo>
                  <a:pt x="366035" y="0"/>
                </a:moveTo>
                <a:lnTo>
                  <a:pt x="732069" y="183017"/>
                </a:lnTo>
                <a:lnTo>
                  <a:pt x="366035" y="366035"/>
                </a:lnTo>
                <a:lnTo>
                  <a:pt x="0" y="183017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650855" y="221065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2E66"/>
                </a:solidFill>
              </a:rPr>
              <a:t>6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218057" y="1615745"/>
            <a:ext cx="732069" cy="366035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5852023" y="1981779"/>
            <a:ext cx="1098104" cy="549052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119954" y="2164797"/>
            <a:ext cx="732069" cy="366035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5119954" y="1615745"/>
            <a:ext cx="1098104" cy="549052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6950126" y="1981779"/>
            <a:ext cx="914" cy="1522704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5852023" y="2530831"/>
            <a:ext cx="914" cy="1522704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5119954" y="2164797"/>
            <a:ext cx="914" cy="1522704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5852023" y="3504483"/>
            <a:ext cx="1098104" cy="549052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19954" y="3687501"/>
            <a:ext cx="732069" cy="366035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5852023" y="3123807"/>
            <a:ext cx="1098104" cy="54905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119954" y="3306825"/>
            <a:ext cx="732069" cy="36603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5852023" y="2743131"/>
            <a:ext cx="1098104" cy="54905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119954" y="2926149"/>
            <a:ext cx="732069" cy="36603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5852023" y="2362455"/>
            <a:ext cx="1098104" cy="54905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119954" y="2545473"/>
            <a:ext cx="732069" cy="36603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800188" y="398939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800188" y="398939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2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6492515" y="3861305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492515" y="3861305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3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5989183" y="3155023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989183" y="315502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4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4206240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Block B: 24 cubes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1A2E"/>
                </a:solidFill>
              </a:rPr>
              <a:t>24 + 24 = 48 unit cubes total -- no overlap, so we add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Two Labeled Volumes, Added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344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Block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3 x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24 cubic units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828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+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206240" y="12344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Block 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x 3 x 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24 cubic units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1828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=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7498080" y="1417320"/>
            <a:ext cx="1005840" cy="1463040"/>
          </a:xfrm>
          <a:prstGeom prst="roundRect">
            <a:avLst>
              <a:gd name="adj" fmla="val 9091"/>
            </a:avLst>
          </a:prstGeom>
          <a:solidFill>
            <a:srgbClr val="4A3D8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508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98080" y="2103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total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+ 24 = 48 cubic units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Split, Find Each Part, Combine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3108960"/>
          </a:xfrm>
          <a:prstGeom prst="roundRect">
            <a:avLst>
              <a:gd name="adj" fmla="val 294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43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the volume of a complex solid: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it into simpler cuboids, and find the volume of each part.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parts are joined with no overlap, ADD the volumes together.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piece is removed from a larger solid, SUBTRACT the missing piece's volume instead.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Never count the same region twice.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solid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 solid shape made of two or more simpler cuboids joined together.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7A"/>
                </a:solidFill>
              </a:rPr>
              <a:t>e.g., The glued toy blocks form a complex solid.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To break a solid apart into simpler pieces that are easier to measure.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7A"/>
                </a:solidFill>
              </a:rPr>
              <a:t>e.g., We decomposed the T-shaped solid into two cuboids.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 region that belongs to more than one piece at the same time.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7A"/>
                </a:solidFill>
              </a:rPr>
              <a:t>e.g., If two blocks overlap, that shared space must not be counted twice.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volume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The volume left after a piece is removed from a larger solid.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7A"/>
                </a:solidFill>
              </a:rPr>
              <a:t>e.g., The L-shaped solid's remaining volume is the outer box minus the missing corner.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Two Blocks Joined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A is 4x3x2. Block B is 2x3x4. Total volume = ___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Block A's volume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3 x 2 = 24.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Block B's volume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x 3 x 4 = 24.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Add -- no overlap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+ 24 = 48.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total volume is 48 cubic units.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Subtract a Missing Corner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10x8x4 outer solid, with a 5x3x4 corner removed. Remaining volume = ___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whole solid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x 8 x 4 = 320.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missing piece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x 3 x 4 = 60.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Subtract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320 - 60 = 260.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remaining volume is 260 cubic in.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 T-Shaped Solid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cuboid 8x2x3, bottom cuboid 3x2x5. Total volume = ___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top cuboid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x 2 x 3 = 48.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bottom cuboid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x 2 x 5 = 30.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Add -- no overlap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+ 30 = 78.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total volume is 78 cubic cm.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Applied · A Stepped Block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step is built from two rectangular blocks. The bottom block is 50 cm x 30 cm x 10 cm. The top block is 50 cm x 15 cm x 10 cm. What is the total volume of the step?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80467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29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both block volumes AND the total volume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Goes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 is 5.08.05: Volume and Capacity, Part 1 -- you'll fill boxes with water instead of cubes, and see that 1 cubic centimeter holds 1 milliliter.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is split into two boxes that OVERLAP a little (they share some space). To find the total volume, what should you do?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</a:rPr>
              <a:t>Add both, then subtract the overlap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1752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</a:rPr>
              <a:t>Just add both volumes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</a:rPr>
              <a:t>Subtract the smaller box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</a:rPr>
              <a:t>Multiply the volumes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is split into two boxes that OVERLAP a little (they share some space). To find the total volume, what should you do?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Add both, then subtract the overlap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1752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</a:rPr>
              <a:t>Just add both volumes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</a:rPr>
              <a:t>Subtract the smaller box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</a:rPr>
              <a:t>Multiply the volumes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If the pieces overlap, adding both volumes counts the shared region twice -- subtract the overlap once to fix that.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first thing to check is whether the pieces overlap or not -- that decides whether I add or subtract.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checked my T-shaped answer by decomposing it a completely different way -- splitting it into a left column and a right column instead of top and bottom. Both ways gave 78.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a complex solid like LEGO blocks snapped together, or a block with a bite taken out of one corner.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a complex solid is decomposed into simpler cuboids, and its volume is the sum of the parts -- or the whole minus any missing piece.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5.08.04 Independent Practice (5 problems).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Review today's two methods: split-and-add for joined pieces, whole-minus-missing-piece for a removed corner.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5.08.05 -- tomorrow volume connects to liquid capacity in milliliters and liters.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5.08.04 Volume of Complex Shapes — Teacher Slides</dc:title>
  <dc:subject>PptxGenJS Presentation</dc:subject>
  <dc:creator>PptxGenJS</dc:creator>
  <cp:lastModifiedBy>PptxGenJS</cp:lastModifiedBy>
  <cp:revision>1</cp:revision>
  <dcterms:created xsi:type="dcterms:W3CDTF">2026-09-24T15:13:11Z</dcterms:created>
  <dcterms:modified xsi:type="dcterms:W3CDTF">2026-09-24T15:13:11Z</dcterms:modified>
</cp:coreProperties>
</file>