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all 4 items. Give a minute of think time -- every item can be defended as the one that doesn't belong.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Present all 4 items. Give a minute of think time -- every item can be defended as the one that doesn't belong.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Walk through each item's defensible reason out loud. The goal is recognizing that cm³, mL, and L can all describe the same amount, just in different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Walk through each item's defensible reason out loud. The goal is recognizing that cm³, mL, and L can all describe the same amount, just in different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Title slide. Every cubic centimeter we've been counting can also be thought of as a milliliter of liquid.
Transition: "Here's exactly what today's goal 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Read the I Can aloud. Every unit cube we've been counting IS a milliliter when the container holds liquid instead of solid cubes.
Common error: students think capacity needs a totally different calculation than volume.
Transition: "Let's warm up on the conversion facts we'll need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These three conversion facts are exactly what today's fish-tank problem needs. Confirm all three before moving on.
Common error: mixing up which direction to convert (mL to L or L to mL).
Transition: "Let's see a real tank that needs these conversions."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Read the fish tank scenario aloud. Students already know how to find its volume -- the new question is what unit water gets measured in.
Anticipated: some students may already say 'they're the same number, just called something different.'
Common error: assuming water needs a totally different formula.
Transition: "Let's notice and wonder about this tank before we fill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Give quiet think time, then share out. Students should notice the tank's volume calculation looks identical to past lessons and wonder how it connects to water.
Anticipated: 'I wonder if the cubic centimeters just become milliliters.'
Transition: "Let's pour water into the tank one layer at a time."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Physically pour water: one 1-cm layer fills 4x3=12 cm3, which is 12 mL. Pour a second layer (24 mL), then a third (36 mL) -- the tank is now full.
Anticipated: students connect each poured layer directly to the layer-counting they've done all week.
Common error: forgetting that cm3 and mL are literally the same number, not two separate calculations.
Transition: "Let's see the cm-to-mL connection as a diagram."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 min) Show both equivalences as diagrams: one cube of space holds one mL of water, and 1,000 of those milliliters make one liter.
Common error: mixing up which conversion (cm3-to-mL or mL-to-L) applies to a given problem.
Transition: "Let's name the general rule this always follows."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State the rule precisely: volume in cubic cm equals capacity in mL, no extra work needed. Only dividing by 1,000 is new, to reach liters.
Common error: multiplying by 1,000 instead of dividing when converting to liters.
Transition: "Let's put a name to the words we've been using."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 min) Quick vocabulary check. Point out capacity and volume describe the same space, just with liquid-focused units.
Transition: "Let's use all of this in a full worked example."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Model this step by step: 10x10=100 cm3=100 mL per layer, 20 layers gives 2,000 mL, divide by 1,000 for 2 liters.
Common error: stopping at 2,000 mL without converting to liters when liters are asked for.
Transition: "What if the question only asks for milliliters?"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Sometimes the question just wants milliliters -- volume in cm3 IS the mL amount, no extra step needed.
Common error: dividing by 1,000 when the question never asked for liters.
Transition: "What if you're only given the volume, not the dimensions?"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This time the volume is given directly -- no dimensions to multiply. Convert cm3 to mL for free, then divide by 1,000 for liters.
Common error: trying to multiply by 3 dimensions that were never given.
Transition: "Now you try one on your own, with a real container."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 min) Students work independently, then respond in chat. 40x25x30=30,000 cm3=30,000 mL, divided by 1,000 = 30 liters.
Anticipated error: stopping at 30,000 mL without the final division for liters.
Transition: "Here's where this skill leads next."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Preview that tomorrow's lesson runs today's process in reverse.
Transition: "Let's check what you've got today."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Correct answer: 2 L. Common error: forgetting to divide by 1,000 (choosing 2,000 L), or misplacing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Correct answer: 2 L. Common error: forgetting to divide by 1,000 (choosing 2,000 L), or misplacing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WHICH ONE DOESN'T BELONG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44368" y="164592"/>
            <a:ext cx="576072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4368" y="1645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5.08.05 · Which Doesn't Belong: Volume and Capacity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cm³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1887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liter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mL x 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01752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2A3B5A"/>
          </a:solidFill>
          <a:ln w="12700">
            <a:solidFill>
              <a:srgbClr val="4A5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mL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Answer Can Be Right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Which Doesn't Belong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cm³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written in cubic units (cm³) instead of a liquid-capacity unit.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liter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already written in liters, with no conversion needed.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mL x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written as a multiplication expression instead of a single amount.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4069080" cy="1645920"/>
          </a:xfrm>
          <a:prstGeom prst="roundRect">
            <a:avLst>
              <a:gd name="adj" fmla="val 5556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81635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The only one that does NOT equal 1,000 mL -- it's double all the others.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448056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4805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</a:rPr>
              <a:t>Vocabulary Connection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is how much a container can hold, measured in milliliters or liters. Which item is measured in a unit that ISN'T capacity?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34340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item fits the word?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WHICH DOESN'T BELONG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cm³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liters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mL x 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029200" y="3108960"/>
            <a:ext cx="3200400" cy="1280160"/>
          </a:xfrm>
          <a:prstGeom prst="roundRect">
            <a:avLst>
              <a:gd name="adj" fmla="val 7143"/>
            </a:avLst>
          </a:prstGeom>
          <a:solidFill>
            <a:srgbClr val="1A5533"/>
          </a:solidFill>
          <a:ln w="12700">
            <a:solidFill>
              <a:srgbClr val="3A7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mL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828800" y="4434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pick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5.08.05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and Capacity,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8: Volume of Solid Figures · Lesson 5 of 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MA.5.GR.3.3   ·   MTR.2.1   ·   MTR.5.1   ·   TX 5.4.G   ·   TX 5.4.H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find how much liquid a container holds by finding its volume in cubic centimeters, since 1 cubic centimeter equals 1 milliliter.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“Volume begins with one cube, then grows into layers.”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1-cm cube holds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mL of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mL equals how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liters?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05156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1887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box's volume is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x 10 x 10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1031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Fill in the blank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16052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1605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all three answers, in order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fish tank is 10 cm long, 10 cm wide, and 20 cm tall. How much water fills it?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78638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unit would you use for water -- cubic cm or milliliters?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Think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fish tank is 10 cm long, 10 cm wide, 20 cm tall -- its volume connects directly to how much water it holds.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Pour Water, One Layer at a Time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Physical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D8F"/>
                </a:solidFill>
              </a:rPr>
              <a:t>Pour water into a 4 x 3 x 3 tank one 1-cm layer at a time. Each layer holds length x width milliliters.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581708" y="3374230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7825" y="3576171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73942" y="3778113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81708" y="2954192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77825" y="3156133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942" y="3358075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81708" y="2534153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77825" y="2736095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942" y="2938036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403883" y="420038"/>
                </a:moveTo>
                <a:lnTo>
                  <a:pt x="0" y="621980"/>
                </a:lnTo>
                <a:lnTo>
                  <a:pt x="0" y="201942"/>
                </a:lnTo>
                <a:lnTo>
                  <a:pt x="403883" y="0"/>
                </a:lnTo>
                <a:close/>
              </a:path>
            </a:pathLst>
          </a:custGeom>
          <a:solidFill>
            <a:srgbClr val="2E6EA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8409" y="3172288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2292" y="3374230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6175" y="3576171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0058" y="3778113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58409" y="2752250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2292" y="2954192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66175" y="3156133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0058" y="3358075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58409" y="2332212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2292" y="2534153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6175" y="2736095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058" y="2938036"/>
            <a:ext cx="403883" cy="621980"/>
          </a:xfrm>
          <a:custGeom>
            <a:avLst/>
            <a:gdLst/>
            <a:ahLst/>
            <a:cxnLst/>
            <a:rect l="l" t="t" r="r" b="b"/>
            <a:pathLst>
              <a:path w="403883" h="621980">
                <a:moveTo>
                  <a:pt x="0" y="420038"/>
                </a:moveTo>
                <a:lnTo>
                  <a:pt x="403883" y="621980"/>
                </a:lnTo>
                <a:lnTo>
                  <a:pt x="403883" y="201942"/>
                </a:lnTo>
                <a:lnTo>
                  <a:pt x="0" y="0"/>
                </a:lnTo>
                <a:close/>
              </a:path>
            </a:pathLst>
          </a:custGeom>
          <a:solidFill>
            <a:srgbClr val="1E4D7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66175" y="1726387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058" y="1928329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942" y="2130270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77825" y="2332212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292" y="1928329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66175" y="2130270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70058" y="2332212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942" y="2534153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58409" y="2130270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2292" y="2332212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66175" y="2534153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70058" y="2736095"/>
            <a:ext cx="807766" cy="403883"/>
          </a:xfrm>
          <a:custGeom>
            <a:avLst/>
            <a:gdLst/>
            <a:ahLst/>
            <a:cxnLst/>
            <a:rect l="l" t="t" r="r" b="b"/>
            <a:pathLst>
              <a:path w="807766" h="403883">
                <a:moveTo>
                  <a:pt x="403883" y="0"/>
                </a:moveTo>
                <a:lnTo>
                  <a:pt x="807766" y="201942"/>
                </a:lnTo>
                <a:lnTo>
                  <a:pt x="403883" y="403883"/>
                </a:lnTo>
                <a:lnTo>
                  <a:pt x="0" y="201942"/>
                </a:lnTo>
                <a:close/>
              </a:path>
            </a:pathLst>
          </a:custGeom>
          <a:solidFill>
            <a:srgbClr val="AFD4EE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70058" y="1726387"/>
            <a:ext cx="1615532" cy="80776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773942" y="2534153"/>
            <a:ext cx="1211649" cy="60582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58409" y="2332212"/>
            <a:ext cx="1615532" cy="80776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158409" y="1726387"/>
            <a:ext cx="1211649" cy="60582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5985591" y="2534153"/>
            <a:ext cx="914" cy="126011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773942" y="3139978"/>
            <a:ext cx="914" cy="126011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158409" y="2332212"/>
            <a:ext cx="914" cy="126011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773942" y="3794268"/>
            <a:ext cx="1211649" cy="605825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8409" y="3592327"/>
            <a:ext cx="1615532" cy="807766"/>
          </a:xfrm>
          <a:prstGeom prst="line">
            <a:avLst/>
          </a:prstGeom>
          <a:noFill/>
          <a:ln w="28575">
            <a:solidFill>
              <a:srgbClr val="1B2A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4773942" y="3374230"/>
            <a:ext cx="1211649" cy="60582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158409" y="3172288"/>
            <a:ext cx="1615532" cy="80776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773942" y="2954192"/>
            <a:ext cx="1211649" cy="605825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8409" y="2752250"/>
            <a:ext cx="1615532" cy="80776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80375" y="4115082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80375" y="411508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4 cm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71206" y="4179477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71206" y="4179477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 cm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911102" y="3632875"/>
            <a:ext cx="12801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1102" y="363287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A3D8F"/>
                </a:solidFill>
              </a:rPr>
              <a:t>3 cm of water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828800" y="46542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Each 1-cm layer = 4 x 3 = 12 mL -- 3 layers poured = 36 mL total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Two Equivalences, Side by Side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cubic centimeter = 1 milliliter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920240"/>
            <a:ext cx="640080" cy="640080"/>
          </a:xfrm>
          <a:prstGeom prst="rect">
            <a:avLst/>
          </a:prstGeom>
          <a:solidFill>
            <a:srgbClr val="2E6EA6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=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1965960"/>
            <a:ext cx="548640" cy="548640"/>
          </a:xfrm>
          <a:prstGeom prst="ellipse">
            <a:avLst/>
          </a:prstGeom>
          <a:solidFill>
            <a:srgbClr val="AFD4EE"/>
          </a:solidFill>
          <a:ln w="19050">
            <a:solidFill>
              <a:srgbClr val="2E6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1 cube of water fills exactly 1 mL of space.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97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milliliters = 1 liter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6672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4144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1616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1504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8976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56448" y="1965960"/>
            <a:ext cx="329184" cy="640080"/>
          </a:xfrm>
          <a:prstGeom prst="rect">
            <a:avLst/>
          </a:prstGeom>
          <a:solidFill>
            <a:srgbClr val="2E6EA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10 groups of 100 mL = 1,000 mL = 1 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Volume in Cubic cm IS Capacity in mL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3108960"/>
          </a:xfrm>
          <a:prstGeom prst="roundRect">
            <a:avLst>
              <a:gd name="adj" fmla="val 294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43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find how much a container holds: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its volume in cubic centimeters: length x width x height.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cubic centimeter equals 1 milliliter, so that number is also the capacity in milliliters.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by 1,000 to convert milliliters into liters.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Say "milliliters" and "liters" -- never a bare letter.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How much liquid a container can hold.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The fish tank has a capacity of 2 liters.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milliliter (mL)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small unit of liquid capacity, equal to 1 cubic centimeter.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One layer of the tank holds 100 mL of water.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 (L)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unit of liquid capacity equal to 1,000 milliliters.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The tank holds 2 liters of water.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cubic centimeter (cm³)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 unit of volume -- a cube exactly 1 cm on every edge.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A"/>
                </a:solidFill>
              </a:rPr>
              <a:t>e.g., The tank's volume is 2,000 cubic centimeters.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The Fish Tank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Tank is 10 cm x 10 cm x 20 cm. How many liters of water fill it?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one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x 10 = 100 cm3 = 100 mL.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Count the layers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tank is 20 cm tall: 20 layers.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Multiply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x 100 = 2,000 mL.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Convert to liters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 mL divided by 1,000 = 2 L.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Capacity in Milliliters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tank is 20 cm x 10 cm x 15 cm. What is its capacity in milliliters?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Find the volume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x 10 x 15 = 3,000 cm3.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Convert to 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cm3 = 1 mL, so 3,000 cm3 = 3,000 mL.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No further conversion needed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only asks for milliliters.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capacity is 3,000 mL.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 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Starting From the Volume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container has a volume of 5,000 cm3. How many liters and how many milliliters does it hold?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Convert cm3 to 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cm3 = 5,000 mL (1 cm3 = 1 mL).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03911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0391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Convert mL to 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5780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 mL divided by 1,000 = 5 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Check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 x 1,000 = 5,000 mL. It matches!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29184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364992"/>
            <a:ext cx="347472" cy="347472"/>
          </a:xfrm>
          <a:prstGeom prst="ellipse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3364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D8F"/>
                </a:solidFill>
              </a:rPr>
              <a:t>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37033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liters, or 5,000 milliliters.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Applied · Sophia's Aquarium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YOUR TURN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8412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7955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Sophia's aquarium is 40 cm long, 25 cm wide, and 30 cm tall. How many liters of water can the aquarium hold?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volume in cubic cm AND the capacity in liters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Goes Next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up is 5.08.06: Volume and Capacity, Part 2 -- you'll work backward: know how much water goes in, and find how high it rises.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container has a volume of 2,000 cubic centimeters. How many liters does it hold?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 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2,000 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 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0.2 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container has a volume of 2,000 cubic centimeters. How many liters does it hold?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 L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2608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2,000 L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103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20 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94944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0.2 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2,000 cm3 = 2,000 mL, and 2,000 mL divided by 1,000 = 2 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cubic centimeters and milliliters are literally the same count -- I don't even need to do a calculation to switch between them.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checked my liter answer by converting it back to milliliters (multiplying by 1,000) and comparing it to my original volume.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each unit cube of the tank as a tiny one-milliliter splash of water filling in, exactly like the cubes we've been stacking all week.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capacity is measured in milliliters or liters, and 1 cubic centimeter of volume always equals 1 milliliter of capacity.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5.08.05 Independent Practice (5 problems).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Review today's key facts: 1 cubic cm = 1 mL, and 1,000 mL = 1 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 5.08.06 -- tomorrow you'll work backward from a poured amount to find water height.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5.08.05 Volume and Capacity, Part 1 — Teacher Slides</dc:title>
  <dc:subject>PptxGenJS Presentation</dc:subject>
  <dc:creator>PptxGenJS</dc:creator>
  <cp:lastModifiedBy>PptxGenJS</cp:lastModifiedBy>
  <cp:revision>1</cp:revision>
  <dcterms:created xsi:type="dcterms:W3CDTF">2026-09-24T15:15:30Z</dcterms:created>
  <dcterms:modified xsi:type="dcterms:W3CDTF">2026-09-24T15:15:30Z</dcterms:modified>
</cp:coreProperties>
</file>