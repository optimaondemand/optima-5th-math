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the tank. Ask for a rough estimate only -- no exact dividing yet. Collect a range of guesses.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the tank. Ask for a rough estimate only -- no exact dividing yet. Collect a range of guesses.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Reveal 8 cm. Compare to the guesses, then have students try the cousin tank on their own before confirming 10 cm.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Reveal 8 cm. Compare to the guesses, then have students try the cousin tank on their own before confirming 10 cm.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Title slide. Yesterday we knew the tank's size and found how much water it holds. Today we know how much water was poured and find how high it rises.
Transition: "Here's exactly what today's goal 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Read the I Can aloud. This is yesterday's cm-to-mL connection, run backward: divide the poured amount by the base area.
Common error: students think this needs a brand-new method instead of yesterday's division skill.
Transition: "Let's warm up on the base-area moves we'll need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These three moves are exactly what today's tank problem needs. Confirm all three before moving on.
Common error: dividing by only one of the two base dimensions.
Transition: "Let's see Kai's tank, where we know the water but not the height."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Read Kai's scenario aloud. We know the water amount already -- the height is the mystery this time.
Anticipated: students may suggest 'divide the water by the base area.'
Common error: guessing heights instead of dividing.
Transition: "Let's notice and wonder about Kai's tank before we solve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Give quiet think time, then share out. Students should notice this is the reverse of yesterday's problem -- water known, height missing.
Anticipated: 'I wonder if you divide the water by the bottom's area.'
Transition: "Let's pour water and count the layers it fills."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Physically pour water into the fixed 5x4 base: each 1-cm layer takes 20 mL. Pour 20, 40, then 60 mL -- exactly 3 layers before the water runs out. Count the layers: 3. That's the height.
Anticipated: students track the running mL total out loud as each layer fills.
Common error: continuing to add imaginary layers after the water is already gone.
Transition: "Let's see this same stopping point as a diagram."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Show the poured water as a bar split into equal groups of 20 mL -- the number of groups formed is the height, exactly matching division.
Common error: dividing by the wrong number (using only one base dimension).
Transition: "Let's name the general rule this always follows."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State the rule precisely: base area first, then divide the poured amount by it. This closes the loop on the whole unit's big idea.
Common error: dividing by only length or only width instead of the full base area.
Transition: "Let's put a name to the words we've been using."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Quick vocabulary check. Point out water level and rise both describe the same measurement -- how tall the poured water stands.
Transition: "Let's use all of this in a full worked example."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Model this step by step: 10x6=60 base area, then 600 divided by 60 = 10 cm.
Common error: dividing 600 by only 10 or only 6.
Transition: "What if the water is given in liters, not milliliters?"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Same rule, bigger numbers -- 20x10=200 base area, 1,600 divided by 200 = 8 cm.
Common error: losing track of place value while dividing 1,600 by 200.
Transition: "What if the tank isn't completely full?"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A multi-step problem: find the full volume first, then find the fraction of it that's actually filled. 15,000 x 3 divided by 5 = 9,000 mL.
Common error: forgetting to find the FULL volume first before taking the fraction.
Transition: "Now you try one on your own."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Students work independently, then respond in chat. 50x40x30=60,000 cm3=60,000 mL=60 L. 60 divided by 2 = 30 bottles.
Anticipated error: forgetting to convert to liters before dividing by 2-liter bottles.
Transition: "Here's where this skill leads next."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Preview the shift from Unit 8's volume work to Unit 9's deeper place-value work. This closes Unit 8 -- flag the unit assessment coming up.
Transition: "Let's check what you've got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Correct answer: 20 cm. Common error: forgetting to convert liters to milliliters before dividing by the base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Correct answer: 20 cm. Common error: forgetting to convert liters to milliliters before dividing by the base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5.08.06 · Estimate: How High Will the Water Rise?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 mL of water is poured into a tank with an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cm x 5 cm bottom. About how high will it rise?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Don't calculate exactly yet -- what's your best estimate?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 the Estimate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Estimate First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Estimate the base area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x 5 = 40.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layer holds about 40 mL.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Round to friendly numbers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 is already 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friendly number to work with.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Picture pouring layer by layer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Picture pouring 40 mL layers: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 80, 120... up toward 320.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Exact answer: 8 cm tall (320 divided by 40 = 8)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 mL of water is poured into a tank with 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cm x 5 cm bottom. About how high will it rise?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28800" y="37947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7947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estimate + exact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10 cm tall (450 divided by 45 = 10)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5.08.06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and Capacity, Part 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8: Volume of Solid Figures · Lesson 6 of 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MA.5.GR.3.3   ·   MTR.2.1   ·   MTR.5.1   ·   TX 5.4.G   ·   TX 5.4.H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find how high water rises in a tank when I know how much water was poured in and the tank's base.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“Volume begins with one cube, then grows into layers.”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tank's bottom is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cm by 6 cm. One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1-cm layer of water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how many mL?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430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divided by 60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429000" y="292608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1430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tank already has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cm of water. Bottom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10 x 6. How many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so far?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292608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416052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1605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all three answers, in order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 pours 600 mL of water into a tank with a bottom of 10 cm by 6 cm. How high does the water rise?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804672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204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how would you find the height without measuring with a ruler?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 pours 600 mL of water into a tank with a bottom of 10 cm by 6 cm -- the water amount is known, but the height is not.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Pour and Count the Layers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Physical 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Pour 60 mL into a tank with a 5 x 4 base. Each 1-cm layer holds 20 mL -- count layers until the water runs out.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7040" y="3333418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350880" y="364915"/>
                </a:moveTo>
                <a:lnTo>
                  <a:pt x="0" y="540355"/>
                </a:lnTo>
                <a:lnTo>
                  <a:pt x="0" y="175440"/>
                </a:lnTo>
                <a:lnTo>
                  <a:pt x="350880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86160" y="3508858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350880" y="364915"/>
                </a:moveTo>
                <a:lnTo>
                  <a:pt x="0" y="540355"/>
                </a:lnTo>
                <a:lnTo>
                  <a:pt x="0" y="175440"/>
                </a:lnTo>
                <a:lnTo>
                  <a:pt x="350880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5280" y="3684298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350880" y="364915"/>
                </a:moveTo>
                <a:lnTo>
                  <a:pt x="0" y="540355"/>
                </a:lnTo>
                <a:lnTo>
                  <a:pt x="0" y="175440"/>
                </a:lnTo>
                <a:lnTo>
                  <a:pt x="350880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84400" y="3859738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350880" y="364915"/>
                </a:moveTo>
                <a:lnTo>
                  <a:pt x="0" y="540355"/>
                </a:lnTo>
                <a:lnTo>
                  <a:pt x="0" y="175440"/>
                </a:lnTo>
                <a:lnTo>
                  <a:pt x="350880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7040" y="2968502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350880" y="364915"/>
                </a:moveTo>
                <a:lnTo>
                  <a:pt x="0" y="540355"/>
                </a:lnTo>
                <a:lnTo>
                  <a:pt x="0" y="175440"/>
                </a:lnTo>
                <a:lnTo>
                  <a:pt x="350880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86160" y="3143942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350880" y="364915"/>
                </a:moveTo>
                <a:lnTo>
                  <a:pt x="0" y="540355"/>
                </a:lnTo>
                <a:lnTo>
                  <a:pt x="0" y="175440"/>
                </a:lnTo>
                <a:lnTo>
                  <a:pt x="350880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35280" y="3319382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350880" y="364915"/>
                </a:moveTo>
                <a:lnTo>
                  <a:pt x="0" y="540355"/>
                </a:lnTo>
                <a:lnTo>
                  <a:pt x="0" y="175440"/>
                </a:lnTo>
                <a:lnTo>
                  <a:pt x="350880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84400" y="3494822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350880" y="364915"/>
                </a:moveTo>
                <a:lnTo>
                  <a:pt x="0" y="540355"/>
                </a:lnTo>
                <a:lnTo>
                  <a:pt x="0" y="175440"/>
                </a:lnTo>
                <a:lnTo>
                  <a:pt x="350880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7040" y="2603587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350880" y="364915"/>
                </a:moveTo>
                <a:lnTo>
                  <a:pt x="0" y="540355"/>
                </a:lnTo>
                <a:lnTo>
                  <a:pt x="0" y="175440"/>
                </a:lnTo>
                <a:lnTo>
                  <a:pt x="350880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86160" y="2779027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350880" y="364915"/>
                </a:moveTo>
                <a:lnTo>
                  <a:pt x="0" y="540355"/>
                </a:lnTo>
                <a:lnTo>
                  <a:pt x="0" y="175440"/>
                </a:lnTo>
                <a:lnTo>
                  <a:pt x="350880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35280" y="2954467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350880" y="364915"/>
                </a:moveTo>
                <a:lnTo>
                  <a:pt x="0" y="540355"/>
                </a:lnTo>
                <a:lnTo>
                  <a:pt x="0" y="175440"/>
                </a:lnTo>
                <a:lnTo>
                  <a:pt x="350880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84400" y="3129907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350880" y="364915"/>
                </a:moveTo>
                <a:lnTo>
                  <a:pt x="0" y="540355"/>
                </a:lnTo>
                <a:lnTo>
                  <a:pt x="0" y="175440"/>
                </a:lnTo>
                <a:lnTo>
                  <a:pt x="350880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30000" y="3157978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0" y="364915"/>
                </a:moveTo>
                <a:lnTo>
                  <a:pt x="350880" y="540355"/>
                </a:lnTo>
                <a:lnTo>
                  <a:pt x="350880" y="175440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80880" y="3333418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0" y="364915"/>
                </a:moveTo>
                <a:lnTo>
                  <a:pt x="350880" y="540355"/>
                </a:lnTo>
                <a:lnTo>
                  <a:pt x="350880" y="175440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31760" y="3508858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0" y="364915"/>
                </a:moveTo>
                <a:lnTo>
                  <a:pt x="350880" y="540355"/>
                </a:lnTo>
                <a:lnTo>
                  <a:pt x="350880" y="175440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82640" y="3684298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0" y="364915"/>
                </a:moveTo>
                <a:lnTo>
                  <a:pt x="350880" y="540355"/>
                </a:lnTo>
                <a:lnTo>
                  <a:pt x="350880" y="175440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33520" y="3859738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0" y="364915"/>
                </a:moveTo>
                <a:lnTo>
                  <a:pt x="350880" y="540355"/>
                </a:lnTo>
                <a:lnTo>
                  <a:pt x="350880" y="175440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30000" y="2793062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0" y="364915"/>
                </a:moveTo>
                <a:lnTo>
                  <a:pt x="350880" y="540355"/>
                </a:lnTo>
                <a:lnTo>
                  <a:pt x="350880" y="175440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80880" y="2968502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0" y="364915"/>
                </a:moveTo>
                <a:lnTo>
                  <a:pt x="350880" y="540355"/>
                </a:lnTo>
                <a:lnTo>
                  <a:pt x="350880" y="175440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31760" y="3143942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0" y="364915"/>
                </a:moveTo>
                <a:lnTo>
                  <a:pt x="350880" y="540355"/>
                </a:lnTo>
                <a:lnTo>
                  <a:pt x="350880" y="175440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82640" y="3319382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0" y="364915"/>
                </a:moveTo>
                <a:lnTo>
                  <a:pt x="350880" y="540355"/>
                </a:lnTo>
                <a:lnTo>
                  <a:pt x="350880" y="175440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33520" y="3494822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0" y="364915"/>
                </a:moveTo>
                <a:lnTo>
                  <a:pt x="350880" y="540355"/>
                </a:lnTo>
                <a:lnTo>
                  <a:pt x="350880" y="175440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30000" y="2428147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0" y="364915"/>
                </a:moveTo>
                <a:lnTo>
                  <a:pt x="350880" y="540355"/>
                </a:lnTo>
                <a:lnTo>
                  <a:pt x="350880" y="175440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80880" y="2603587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0" y="364915"/>
                </a:moveTo>
                <a:lnTo>
                  <a:pt x="350880" y="540355"/>
                </a:lnTo>
                <a:lnTo>
                  <a:pt x="350880" y="175440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31760" y="2779027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0" y="364915"/>
                </a:moveTo>
                <a:lnTo>
                  <a:pt x="350880" y="540355"/>
                </a:lnTo>
                <a:lnTo>
                  <a:pt x="350880" y="175440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82640" y="2954467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0" y="364915"/>
                </a:moveTo>
                <a:lnTo>
                  <a:pt x="350880" y="540355"/>
                </a:lnTo>
                <a:lnTo>
                  <a:pt x="350880" y="175440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33520" y="3129907"/>
            <a:ext cx="350880" cy="540355"/>
          </a:xfrm>
          <a:custGeom>
            <a:avLst/>
            <a:gdLst/>
            <a:ahLst/>
            <a:cxnLst/>
            <a:rect l="l" t="t" r="r" b="b"/>
            <a:pathLst>
              <a:path w="350880" h="540355">
                <a:moveTo>
                  <a:pt x="0" y="364915"/>
                </a:moveTo>
                <a:lnTo>
                  <a:pt x="350880" y="540355"/>
                </a:lnTo>
                <a:lnTo>
                  <a:pt x="350880" y="175440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82640" y="172638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33520" y="190182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84400" y="207726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35280" y="225270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86160" y="242814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31760" y="190182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82640" y="207726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33520" y="225270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84400" y="242814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35280" y="260358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80880" y="207726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31760" y="225270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82640" y="242814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33520" y="260358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84400" y="277902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30000" y="225270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80880" y="242814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31760" y="260358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82640" y="277902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33520" y="2954467"/>
            <a:ext cx="701760" cy="350880"/>
          </a:xfrm>
          <a:custGeom>
            <a:avLst/>
            <a:gdLst/>
            <a:ahLst/>
            <a:cxnLst/>
            <a:rect l="l" t="t" r="r" b="b"/>
            <a:pathLst>
              <a:path w="701760" h="350880">
                <a:moveTo>
                  <a:pt x="350880" y="0"/>
                </a:moveTo>
                <a:lnTo>
                  <a:pt x="701760" y="175440"/>
                </a:lnTo>
                <a:lnTo>
                  <a:pt x="350880" y="350880"/>
                </a:lnTo>
                <a:lnTo>
                  <a:pt x="0" y="175440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33520" y="1726387"/>
            <a:ext cx="1754400" cy="877200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3284400" y="2603587"/>
            <a:ext cx="1403520" cy="701760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530000" y="2428147"/>
            <a:ext cx="1754400" cy="877200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1530000" y="1726387"/>
            <a:ext cx="1403520" cy="701760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4687920" y="2603587"/>
            <a:ext cx="914" cy="1094746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3284400" y="3305347"/>
            <a:ext cx="914" cy="1094746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1530000" y="2428147"/>
            <a:ext cx="914" cy="1094746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3284400" y="3698333"/>
            <a:ext cx="1403520" cy="701760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530000" y="3522893"/>
            <a:ext cx="1754400" cy="877200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3284400" y="3333418"/>
            <a:ext cx="1403520" cy="7017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530000" y="3157978"/>
            <a:ext cx="1754400" cy="87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3284400" y="2968502"/>
            <a:ext cx="1403520" cy="7017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530000" y="2793062"/>
            <a:ext cx="1754400" cy="87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721400" y="4080365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721400" y="408036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5 cm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077600" y="4131509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77600" y="4131509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4 cm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3421560" y="37155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21560" y="3715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? -&gt; 3 cm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40080" y="46542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3 layers poured, then the water is gone -- height = 3 cm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760720" y="150876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43600" y="1581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EA6"/>
                </a:solidFill>
              </a:rPr>
              <a:t>Pour 1  (20 mL)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594360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poured so far: 20 mL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760720" y="256032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43600" y="2633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EA6"/>
                </a:solidFill>
              </a:rPr>
              <a:t>Pour 2  (+20 mL)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594360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poured so far: 40 mL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5760720" y="361188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DCEBF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943600" y="3685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EA6"/>
                </a:solidFill>
              </a:rPr>
              <a:t>Pour 3  (+20 mL)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594360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poured so far: 60 mL -- all water used!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Splitting Poured Water into Equal Layers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A6"/>
                </a:solidFill>
              </a:rPr>
              <a:t>60 mL poured, split into equal layers of 20 mL: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2377440" cy="822960"/>
          </a:xfrm>
          <a:prstGeom prst="rect">
            <a:avLst/>
          </a:prstGeom>
          <a:solidFill>
            <a:srgbClr val="AFD4EE"/>
          </a:solidFill>
          <a:ln w="19050">
            <a:solidFill>
              <a:srgbClr val="2E6E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D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mL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377440" cy="822960"/>
          </a:xfrm>
          <a:prstGeom prst="rect">
            <a:avLst/>
          </a:prstGeom>
          <a:solidFill>
            <a:srgbClr val="AFD4EE"/>
          </a:solidFill>
          <a:ln w="19050">
            <a:solidFill>
              <a:srgbClr val="2E6E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D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mL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852160" y="1691640"/>
            <a:ext cx="2377440" cy="822960"/>
          </a:xfrm>
          <a:prstGeom prst="rect">
            <a:avLst/>
          </a:prstGeom>
          <a:solidFill>
            <a:srgbClr val="AFD4EE"/>
          </a:solidFill>
          <a:ln w="19050">
            <a:solidFill>
              <a:srgbClr val="2E6E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D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mL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+ 20 + 20 = 60  --&gt;  3 equal layers  --&gt;  height = 3 cm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Same idea as division: 60 divided into groups of 20 makes 3 groups.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E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divided by 20 = 3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Divide the Water by the Base Area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8046720" cy="2834640"/>
          </a:xfrm>
          <a:prstGeom prst="roundRect">
            <a:avLst>
              <a:gd name="adj" fmla="val 322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34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find how high the water rises: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tank's base area: length times width.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the amount of water poured (in mL) by the base area. The quotient is the water's height, in centimeters.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This is the volume-and-capacity connection, used in reverse.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level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How high the water reaches inside a container.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Kai's tank has a water level of 10 cm.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area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The area of a tank's bottom -- length times width.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The tank's base area is 10 x 6 = 60 square cm.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To add a measured amount of liquid into a container.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Kai poured 600 mL into the tank.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246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To go up in level, as water fills a container.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The water will rise 10 cm after Kai pours it in.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Kai's Tank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mL poured into a tank with a 10 cm by 6 cm bottom. Height = ___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Find the base area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x 6 = 60 sq cm.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Divide the water by the 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divided by 60 = 10.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Check by multiplying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x 6 x 10 = 600. It matches!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water is 10 cm high.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 Different Tank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tank has a base 20 cm by 10 cm. It contains 1,600 mL of water. Height = ___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Find the base area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x 10 = 200 sq cm.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Divide the water by the 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1,600 divided by 200 = 8.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Check by multiplying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x 10 x 8 = 1,600. It matches!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water is 8 cm high.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 Tank That's Only Part Full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tank (30 cm x 20 cm x 25 cm) is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34840" y="1097280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95190" y="1380744"/>
            <a:ext cx="382219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380744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1704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of water. How many mL are inside?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3D8F"/>
                </a:solidFill>
              </a:rPr>
              <a:t>Find the full volume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x 20 x 25 = 15,000 cm3 = 15,000 mL.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3D8F"/>
                </a:solidFill>
              </a:rPr>
              <a:t>Find three-fifths of it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 x 3 = 45,000. Then 45,000 divided by 5 = 9,000.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3D8F"/>
                </a:solidFill>
              </a:rPr>
              <a:t>Check it's reasonable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9,000 is less than 15,000 -- the tank isn't full. That makes sense.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3D8F"/>
                </a:solidFill>
              </a:rPr>
              <a:t>Answer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are 9,000 mL of water inside.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Applied · Filling 2-Liter Bottles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YOUR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6304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Leo has a box 50 cm x 40 cm x 30 cm. He fills it completely with water, then pours the water into 2-liter bottles. How many 2-liter bottles can he fill completely?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841248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42900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total volume in liters AND how many 2-liter bottles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Goes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up is 5.09.01: Thousandths -- you'll zoom in on place value, one tiny piece at a time.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 pours 3 liters of water into a tank that is 15 cm long and 10 cm wide. How high will the water rise?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20 cm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4320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 cm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15 cm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30 cm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 pours 3 liters of water into a tank that is 15 cm long and 10 cm wide. How high will the water rise?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 cm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4320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 cm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15 cm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30 cm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3 L = 3,000 mL. Base area = 15 x 10 = 150 sq cm. 3,000 divided by 150 = 20 cm.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that no matter how much water is poured, dividing by the SAME fixed base area always gives the height -- the base never changes.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checked my height by multiplying it back with the base area -- if that rebuilds the amount of water poured, I know the height is right.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pouring water from a jug and watching it rise mark by mark, exactly like reading a measuring cup.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water level is found by dividing the poured volume by the base area -- the quotient, in centimeters.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5.08.06 Independent Practice (5 problems).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Review today's rule: water height = amount poured divided by the base area.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This closes Unit 8 -- review your volume, edge, complex-shape, and capacity notes before the unit assessment.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5.08.06 Volume and Capacity, Part 2 — Teacher Slides</dc:title>
  <dc:subject>PptxGenJS Presentation</dc:subject>
  <dc:creator>PptxGenJS</dc:creator>
  <cp:lastModifiedBy>PptxGenJS</cp:lastModifiedBy>
  <cp:revision>1</cp:revision>
  <dcterms:created xsi:type="dcterms:W3CDTF">2026-09-24T15:18:15Z</dcterms:created>
  <dcterms:modified xsi:type="dcterms:W3CDTF">2026-09-24T15:18:15Z</dcterms:modified>
</cp:coreProperties>
</file>