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(5-7 min). This string builds toward today's comparing-decimals lesson using different numbers than the 0.6 vs 0.57 example in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(5-7 min). This string builds toward today's comparing-decimals lesson using different numbers than the 0.6 vs 0.57 example in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Resolve the pattern: trailing zeros after the last nonzero digit don't change value; a zero in a place BEFORE other digits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Resolve the pattern: trailing zeros after the last nonzero digit don't change value; a zero in a place BEFORE other digits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(1 min)
Today: comparing decimals fairly by matching piece size.
Transition: "Let's look at today's goal."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(1 min)
Read the I Can aloud. Flag the misconception directly: more digits does NOT mean a bigger decimal.
Transition: "Let's check equivalent decimals."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WARM-UP (3 min)
Confirm equivalent decimals before comparing unequal ones.
Anticipated: 'equal'.
Common error: assuming 0.60 is greater because it has more digits.
Transition: "Let's look at a trickier pair."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(2 min)
Set up the core misconception: 0.57 looks 'bigger' by digit count.
Anticipated: mixed guesses.
Transition: "Let's notice and wonder."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&amp; WONDER (2 min)
Give silent think time before chat.
Anticipated notice: '0.57 has more digits'. Anticipated wonder: 'do the pieces match?'
Transition: "Let's line up the pieces with the Strip Aligner."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(4 min)
This is the physical subdivide action: the 0.6 tenths-bar visibly splits into a 100-piece hundredths-bar of the same total length -- nothing got bigger, just more precise. Now 60 shaded hundredths sits directly above 57 shaded hundredths for a fair compare.
Common error: thinking the bar got longer when it was subdivided.
Transition: "Let's see both as grids."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PICTORIAL (3 min)
Two matched hundredths grids make the comparison visible at a glance -- 60 shaded squares vs. 57 shaded squares.
Anticipated: '0.60, it has 3 more shaded squares'.
Transition: "Let's name the rule."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(2 min)
State the rule: match the piece size first, then compare.
Anticipated: '0.6 &gt; 0.57'.
Transition: "Let's name today's key words."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(2 min)
Read each term, pointing back to the Strip Aligner and grids.
Transition: "Let's work an example with thousandths."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(4 min)
Model writing 2.35 as 2.350 before comparing -- same trailing-zero idea from the warm-up, now with thousandths.
Common error: comparing 305 to 35 without adding the placeholder zero first.
Transition: "Now let's order more than two decimals."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B (3 min) -- gap-fill: the IP tests symbol comparisons and multi-decimal ordering, which the HTML lesson only demonstrates with two numbers. Walk through matching every decimal to the same number of places first.
Common error: ordering by digit count instead of matched place value.
Transition: "Your turn."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TRY (3 min)
Students solve independently, then share in chat.
Anticipated: Sophia (12.008), Kai (12.08), Leo (12.8).
Common error: ranking by digit count instead of matching places (thinking 12.008 is fastest because it 'looks longest' is wrong reasoning even if paired with right answer by luck -- probe for correct reasoning).
Transition: "Where does this lead next?"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FORWARD (1 min)
Preview tomorrow's rounding lesson -- same benchmark-comparison thinking, applied to choosing the closest value.
Transition: "Let's check what you know."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This checks whether students match place value before comparing, not just count digits.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This checks whether students match place value before comparing, not just count digits.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Give real think time before calling on students to share which crew member's approach matches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DISMISSAL (1 min)
Confirm the IP assignment and remind students to gather their journal before logging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37744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STRING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578608" y="164592"/>
            <a:ext cx="612648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78608" y="16459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5.09.03 · Comparing Warm-Up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 vs 0.40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899BB"/>
                </a:solidFill>
              </a:rPr>
              <a:t>Solve the first problem. What strategy did you use?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The String Unfolds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Number String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6012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 vs 0.40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9601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equal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1168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 vs 0.400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0" y="20116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equal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37160" y="1920240"/>
            <a:ext cx="0" cy="137160"/>
          </a:xfrm>
          <a:prstGeom prst="line">
            <a:avLst/>
          </a:prstGeom>
          <a:noFill/>
          <a:ln w="25400">
            <a:solidFill>
              <a:srgbClr val="D9941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" y="306324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06324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 vs 0.04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29200" y="30632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0.4 is greater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" y="2971800"/>
            <a:ext cx="0" cy="137160"/>
          </a:xfrm>
          <a:prstGeom prst="line">
            <a:avLst/>
          </a:prstGeom>
          <a:noFill/>
          <a:ln w="25400">
            <a:solidFill>
              <a:srgbClr val="D9941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371600" y="4279392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79392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what changed each time?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STRING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The Pattern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CCFF"/>
                </a:solidFill>
              </a:rPr>
              <a:t>Adding zeros at the end of a decimal ___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Zeros written at the very end of a decimal do not change its value -- but a zero right after the decimal point does.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86000" y="434340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4343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word for the pattern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STRING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the Next String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 vs 0.70 vs 0.07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828800" y="434340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434340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5.09.03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Decimals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9: Decimals · Lesson 3 of 8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MA.5.NSO.1.4   ·   TEKS 5.2.B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can compare decimals by aligning place value and equal-size pieces, and explain why digit count alone does not decide decimal size.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“Decimals are easiest to compare when the pieces are the same size.”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Warm-Up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Readiness Check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801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 and 0.60 name the same amount. The 0 at the end does not add more shaded space -- it shows 6 tenths as 60 hundredths.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3291840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29184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is 0.6 equal to, greater than, or less than 0.60?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Hook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Real-World Context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BFE8E3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430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runners' race times are 0.6 minutes and 0.57 minutes off the record pace -- which one is closer?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743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E7C7B"/>
                </a:solidFill>
              </a:rPr>
              <a:t>Why can 0.6 be greater than 0.57?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371600" y="393192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393192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first guess, greater or less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Comparing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looks bigger at first: 0.6 or 0.57?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 you need to check before deciding?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7A"/>
                </a:solidFill>
              </a:rPr>
              <a:t>Split 0.6 into hundredths so both strips use the same size piece.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</a:rPr>
              <a:t>0.6 as tenths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572768"/>
            <a:ext cx="804672" cy="502920"/>
          </a:xfrm>
          <a:prstGeom prst="rect">
            <a:avLst/>
          </a:prstGeom>
          <a:solidFill>
            <a:srgbClr val="0E7C7B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53312" y="1572768"/>
            <a:ext cx="804672" cy="502920"/>
          </a:xfrm>
          <a:prstGeom prst="rect">
            <a:avLst/>
          </a:prstGeom>
          <a:solidFill>
            <a:srgbClr val="0E7C7B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57984" y="1572768"/>
            <a:ext cx="804672" cy="502920"/>
          </a:xfrm>
          <a:prstGeom prst="rect">
            <a:avLst/>
          </a:prstGeom>
          <a:solidFill>
            <a:srgbClr val="0E7C7B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62656" y="1572768"/>
            <a:ext cx="804672" cy="502920"/>
          </a:xfrm>
          <a:prstGeom prst="rect">
            <a:avLst/>
          </a:prstGeom>
          <a:solidFill>
            <a:srgbClr val="0E7C7B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67328" y="1572768"/>
            <a:ext cx="804672" cy="502920"/>
          </a:xfrm>
          <a:prstGeom prst="rect">
            <a:avLst/>
          </a:prstGeom>
          <a:solidFill>
            <a:srgbClr val="0E7C7B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572768"/>
            <a:ext cx="804672" cy="502920"/>
          </a:xfrm>
          <a:prstGeom prst="rect">
            <a:avLst/>
          </a:prstGeom>
          <a:solidFill>
            <a:srgbClr val="0E7C7B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76672" y="1572768"/>
            <a:ext cx="804672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81344" y="1572768"/>
            <a:ext cx="804672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86016" y="1572768"/>
            <a:ext cx="804672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90688" y="1572768"/>
            <a:ext cx="804672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1572768"/>
            <a:ext cx="8046720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2148840"/>
            <a:ext cx="0" cy="320040"/>
          </a:xfrm>
          <a:prstGeom prst="line">
            <a:avLst/>
          </a:prstGeom>
          <a:noFill/>
          <a:ln w="31750">
            <a:solidFill>
              <a:srgbClr val="D9941A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4937760" y="2148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A7A"/>
                </a:solidFill>
              </a:rPr>
              <a:t>split each tenth into 10 hundredths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2560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</a:rPr>
              <a:t>0.60 as hundredths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9107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9574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0042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0509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0976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31443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11910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92378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72845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353312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433779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514246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594714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675181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755648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836115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16582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997050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077517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157984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238451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18918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399386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479853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560320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640787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21254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801722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882189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962656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043123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123590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204058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284525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364992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445459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525926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606394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686861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767328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847795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928262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008730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089197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169664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250131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330598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411066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491533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572000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652467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732934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813402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893869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974336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054803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135270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215738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296205" y="2852928"/>
            <a:ext cx="80467" cy="502920"/>
          </a:xfrm>
          <a:prstGeom prst="rect">
            <a:avLst/>
          </a:prstGeom>
          <a:solidFill>
            <a:srgbClr val="0E7C7B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376672" y="28529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457139" y="28529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537606" y="28529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618074" y="28529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698541" y="28529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779008" y="28529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859475" y="28529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939942" y="28529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020410" y="28529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100877" y="28529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181344" y="28529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261811" y="28529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342278" y="28529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422746" y="28529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503213" y="28529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583680" y="28529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664147" y="28529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744614" y="28529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825082" y="28529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905549" y="28529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986016" y="28529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7066483" y="28529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146950" y="28529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227418" y="28529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307885" y="28529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388352" y="28529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468819" y="28529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549286" y="28529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629754" y="28529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710221" y="28529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790688" y="28529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871155" y="28529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951622" y="28529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032090" y="28529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8112557" y="28529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8193024" y="28529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8273491" y="28529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353958" y="28529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8434426" y="28529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8514893" y="28529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48640" y="2852928"/>
            <a:ext cx="8046720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548640" y="3474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8A2E"/>
                </a:solidFill>
              </a:rPr>
              <a:t>0.57 as hundredths</a:t>
            </a:r>
            <a:endParaRPr lang="en-US" sz="1100" dirty="0"/>
          </a:p>
        </p:txBody>
      </p:sp>
      <p:sp>
        <p:nvSpPr>
          <p:cNvPr id="124" name="Shape 122"/>
          <p:cNvSpPr/>
          <p:nvPr/>
        </p:nvSpPr>
        <p:spPr>
          <a:xfrm>
            <a:off x="548640" y="3767328"/>
            <a:ext cx="80467" cy="502920"/>
          </a:xfrm>
          <a:prstGeom prst="rect">
            <a:avLst/>
          </a:prstGeom>
          <a:solidFill>
            <a:srgbClr val="C98A2E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29107" y="3767328"/>
            <a:ext cx="80467" cy="502920"/>
          </a:xfrm>
          <a:prstGeom prst="rect">
            <a:avLst/>
          </a:prstGeom>
          <a:solidFill>
            <a:srgbClr val="C98A2E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09574" y="3767328"/>
            <a:ext cx="80467" cy="502920"/>
          </a:xfrm>
          <a:prstGeom prst="rect">
            <a:avLst/>
          </a:prstGeom>
          <a:solidFill>
            <a:srgbClr val="C98A2E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790042" y="3767328"/>
            <a:ext cx="80467" cy="502920"/>
          </a:xfrm>
          <a:prstGeom prst="rect">
            <a:avLst/>
          </a:prstGeom>
          <a:solidFill>
            <a:srgbClr val="C98A2E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70509" y="3767328"/>
            <a:ext cx="80467" cy="502920"/>
          </a:xfrm>
          <a:prstGeom prst="rect">
            <a:avLst/>
          </a:prstGeom>
          <a:solidFill>
            <a:srgbClr val="C98A2E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950976" y="3767328"/>
            <a:ext cx="80467" cy="502920"/>
          </a:xfrm>
          <a:prstGeom prst="rect">
            <a:avLst/>
          </a:prstGeom>
          <a:solidFill>
            <a:srgbClr val="C98A2E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031443" y="3767328"/>
            <a:ext cx="80467" cy="502920"/>
          </a:xfrm>
          <a:prstGeom prst="rect">
            <a:avLst/>
          </a:prstGeom>
          <a:solidFill>
            <a:srgbClr val="C98A2E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111910" y="3767328"/>
            <a:ext cx="80467" cy="502920"/>
          </a:xfrm>
          <a:prstGeom prst="rect">
            <a:avLst/>
          </a:prstGeom>
          <a:solidFill>
            <a:srgbClr val="C98A2E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192378" y="3767328"/>
            <a:ext cx="80467" cy="502920"/>
          </a:xfrm>
          <a:prstGeom prst="rect">
            <a:avLst/>
          </a:prstGeom>
          <a:solidFill>
            <a:srgbClr val="C98A2E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272845" y="3767328"/>
            <a:ext cx="80467" cy="502920"/>
          </a:xfrm>
          <a:prstGeom prst="rect">
            <a:avLst/>
          </a:prstGeom>
          <a:solidFill>
            <a:srgbClr val="C98A2E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353312" y="3767328"/>
            <a:ext cx="80467" cy="502920"/>
          </a:xfrm>
          <a:prstGeom prst="rect">
            <a:avLst/>
          </a:prstGeom>
          <a:solidFill>
            <a:srgbClr val="C98A2E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433779" y="3767328"/>
            <a:ext cx="80467" cy="502920"/>
          </a:xfrm>
          <a:prstGeom prst="rect">
            <a:avLst/>
          </a:prstGeom>
          <a:solidFill>
            <a:srgbClr val="C98A2E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514246" y="3767328"/>
            <a:ext cx="80467" cy="502920"/>
          </a:xfrm>
          <a:prstGeom prst="rect">
            <a:avLst/>
          </a:prstGeom>
          <a:solidFill>
            <a:srgbClr val="C98A2E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1594714" y="3767328"/>
            <a:ext cx="80467" cy="502920"/>
          </a:xfrm>
          <a:prstGeom prst="rect">
            <a:avLst/>
          </a:prstGeom>
          <a:solidFill>
            <a:srgbClr val="C98A2E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675181" y="3767328"/>
            <a:ext cx="80467" cy="502920"/>
          </a:xfrm>
          <a:prstGeom prst="rect">
            <a:avLst/>
          </a:prstGeom>
          <a:solidFill>
            <a:srgbClr val="C98A2E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755648" y="3767328"/>
            <a:ext cx="80467" cy="502920"/>
          </a:xfrm>
          <a:prstGeom prst="rect">
            <a:avLst/>
          </a:prstGeom>
          <a:solidFill>
            <a:srgbClr val="C98A2E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836115" y="3767328"/>
            <a:ext cx="80467" cy="502920"/>
          </a:xfrm>
          <a:prstGeom prst="rect">
            <a:avLst/>
          </a:prstGeom>
          <a:solidFill>
            <a:srgbClr val="C98A2E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916582" y="3767328"/>
            <a:ext cx="80467" cy="502920"/>
          </a:xfrm>
          <a:prstGeom prst="rect">
            <a:avLst/>
          </a:prstGeom>
          <a:solidFill>
            <a:srgbClr val="C98A2E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997050" y="3767328"/>
            <a:ext cx="80467" cy="502920"/>
          </a:xfrm>
          <a:prstGeom prst="rect">
            <a:avLst/>
          </a:prstGeom>
          <a:solidFill>
            <a:srgbClr val="C98A2E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2077517" y="3767328"/>
            <a:ext cx="80467" cy="502920"/>
          </a:xfrm>
          <a:prstGeom prst="rect">
            <a:avLst/>
          </a:prstGeom>
          <a:solidFill>
            <a:srgbClr val="C98A2E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2157984" y="3767328"/>
            <a:ext cx="80467" cy="502920"/>
          </a:xfrm>
          <a:prstGeom prst="rect">
            <a:avLst/>
          </a:prstGeom>
          <a:solidFill>
            <a:srgbClr val="C98A2E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2238451" y="3767328"/>
            <a:ext cx="80467" cy="502920"/>
          </a:xfrm>
          <a:prstGeom prst="rect">
            <a:avLst/>
          </a:prstGeom>
          <a:solidFill>
            <a:srgbClr val="C98A2E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2318918" y="3767328"/>
            <a:ext cx="80467" cy="502920"/>
          </a:xfrm>
          <a:prstGeom prst="rect">
            <a:avLst/>
          </a:prstGeom>
          <a:solidFill>
            <a:srgbClr val="C98A2E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2399386" y="3767328"/>
            <a:ext cx="80467" cy="502920"/>
          </a:xfrm>
          <a:prstGeom prst="rect">
            <a:avLst/>
          </a:prstGeom>
          <a:solidFill>
            <a:srgbClr val="C98A2E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2479853" y="3767328"/>
            <a:ext cx="80467" cy="502920"/>
          </a:xfrm>
          <a:prstGeom prst="rect">
            <a:avLst/>
          </a:prstGeom>
          <a:solidFill>
            <a:srgbClr val="C98A2E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2560320" y="3767328"/>
            <a:ext cx="80467" cy="502920"/>
          </a:xfrm>
          <a:prstGeom prst="rect">
            <a:avLst/>
          </a:prstGeom>
          <a:solidFill>
            <a:srgbClr val="C98A2E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2640787" y="3767328"/>
            <a:ext cx="80467" cy="502920"/>
          </a:xfrm>
          <a:prstGeom prst="rect">
            <a:avLst/>
          </a:prstGeom>
          <a:solidFill>
            <a:srgbClr val="C98A2E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2721254" y="3767328"/>
            <a:ext cx="80467" cy="502920"/>
          </a:xfrm>
          <a:prstGeom prst="rect">
            <a:avLst/>
          </a:prstGeom>
          <a:solidFill>
            <a:srgbClr val="C98A2E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2801722" y="3767328"/>
            <a:ext cx="80467" cy="502920"/>
          </a:xfrm>
          <a:prstGeom prst="rect">
            <a:avLst/>
          </a:prstGeom>
          <a:solidFill>
            <a:srgbClr val="C98A2E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2882189" y="3767328"/>
            <a:ext cx="80467" cy="502920"/>
          </a:xfrm>
          <a:prstGeom prst="rect">
            <a:avLst/>
          </a:prstGeom>
          <a:solidFill>
            <a:srgbClr val="C98A2E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2962656" y="3767328"/>
            <a:ext cx="80467" cy="502920"/>
          </a:xfrm>
          <a:prstGeom prst="rect">
            <a:avLst/>
          </a:prstGeom>
          <a:solidFill>
            <a:srgbClr val="C98A2E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3043123" y="3767328"/>
            <a:ext cx="80467" cy="502920"/>
          </a:xfrm>
          <a:prstGeom prst="rect">
            <a:avLst/>
          </a:prstGeom>
          <a:solidFill>
            <a:srgbClr val="C98A2E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3123590" y="3767328"/>
            <a:ext cx="80467" cy="502920"/>
          </a:xfrm>
          <a:prstGeom prst="rect">
            <a:avLst/>
          </a:prstGeom>
          <a:solidFill>
            <a:srgbClr val="C98A2E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3204058" y="3767328"/>
            <a:ext cx="80467" cy="502920"/>
          </a:xfrm>
          <a:prstGeom prst="rect">
            <a:avLst/>
          </a:prstGeom>
          <a:solidFill>
            <a:srgbClr val="C98A2E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3284525" y="3767328"/>
            <a:ext cx="80467" cy="502920"/>
          </a:xfrm>
          <a:prstGeom prst="rect">
            <a:avLst/>
          </a:prstGeom>
          <a:solidFill>
            <a:srgbClr val="C98A2E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3364992" y="3767328"/>
            <a:ext cx="80467" cy="502920"/>
          </a:xfrm>
          <a:prstGeom prst="rect">
            <a:avLst/>
          </a:prstGeom>
          <a:solidFill>
            <a:srgbClr val="C98A2E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3445459" y="3767328"/>
            <a:ext cx="80467" cy="502920"/>
          </a:xfrm>
          <a:prstGeom prst="rect">
            <a:avLst/>
          </a:prstGeom>
          <a:solidFill>
            <a:srgbClr val="C98A2E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3525926" y="3767328"/>
            <a:ext cx="80467" cy="502920"/>
          </a:xfrm>
          <a:prstGeom prst="rect">
            <a:avLst/>
          </a:prstGeom>
          <a:solidFill>
            <a:srgbClr val="C98A2E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3606394" y="3767328"/>
            <a:ext cx="80467" cy="502920"/>
          </a:xfrm>
          <a:prstGeom prst="rect">
            <a:avLst/>
          </a:prstGeom>
          <a:solidFill>
            <a:srgbClr val="C98A2E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3686861" y="3767328"/>
            <a:ext cx="80467" cy="502920"/>
          </a:xfrm>
          <a:prstGeom prst="rect">
            <a:avLst/>
          </a:prstGeom>
          <a:solidFill>
            <a:srgbClr val="C98A2E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3767328" y="3767328"/>
            <a:ext cx="80467" cy="502920"/>
          </a:xfrm>
          <a:prstGeom prst="rect">
            <a:avLst/>
          </a:prstGeom>
          <a:solidFill>
            <a:srgbClr val="C98A2E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3847795" y="3767328"/>
            <a:ext cx="80467" cy="502920"/>
          </a:xfrm>
          <a:prstGeom prst="rect">
            <a:avLst/>
          </a:prstGeom>
          <a:solidFill>
            <a:srgbClr val="C98A2E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3928262" y="3767328"/>
            <a:ext cx="80467" cy="502920"/>
          </a:xfrm>
          <a:prstGeom prst="rect">
            <a:avLst/>
          </a:prstGeom>
          <a:solidFill>
            <a:srgbClr val="C98A2E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4008730" y="3767328"/>
            <a:ext cx="80467" cy="502920"/>
          </a:xfrm>
          <a:prstGeom prst="rect">
            <a:avLst/>
          </a:prstGeom>
          <a:solidFill>
            <a:srgbClr val="C98A2E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4089197" y="3767328"/>
            <a:ext cx="80467" cy="502920"/>
          </a:xfrm>
          <a:prstGeom prst="rect">
            <a:avLst/>
          </a:prstGeom>
          <a:solidFill>
            <a:srgbClr val="C98A2E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4169664" y="3767328"/>
            <a:ext cx="80467" cy="502920"/>
          </a:xfrm>
          <a:prstGeom prst="rect">
            <a:avLst/>
          </a:prstGeom>
          <a:solidFill>
            <a:srgbClr val="C98A2E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4250131" y="3767328"/>
            <a:ext cx="80467" cy="502920"/>
          </a:xfrm>
          <a:prstGeom prst="rect">
            <a:avLst/>
          </a:prstGeom>
          <a:solidFill>
            <a:srgbClr val="C98A2E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4330598" y="3767328"/>
            <a:ext cx="80467" cy="502920"/>
          </a:xfrm>
          <a:prstGeom prst="rect">
            <a:avLst/>
          </a:prstGeom>
          <a:solidFill>
            <a:srgbClr val="C98A2E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4411066" y="3767328"/>
            <a:ext cx="80467" cy="502920"/>
          </a:xfrm>
          <a:prstGeom prst="rect">
            <a:avLst/>
          </a:prstGeom>
          <a:solidFill>
            <a:srgbClr val="C98A2E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4491533" y="3767328"/>
            <a:ext cx="80467" cy="502920"/>
          </a:xfrm>
          <a:prstGeom prst="rect">
            <a:avLst/>
          </a:prstGeom>
          <a:solidFill>
            <a:srgbClr val="C98A2E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4572000" y="3767328"/>
            <a:ext cx="80467" cy="502920"/>
          </a:xfrm>
          <a:prstGeom prst="rect">
            <a:avLst/>
          </a:prstGeom>
          <a:solidFill>
            <a:srgbClr val="C98A2E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4652467" y="3767328"/>
            <a:ext cx="80467" cy="502920"/>
          </a:xfrm>
          <a:prstGeom prst="rect">
            <a:avLst/>
          </a:prstGeom>
          <a:solidFill>
            <a:srgbClr val="C98A2E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4732934" y="3767328"/>
            <a:ext cx="80467" cy="502920"/>
          </a:xfrm>
          <a:prstGeom prst="rect">
            <a:avLst/>
          </a:prstGeom>
          <a:solidFill>
            <a:srgbClr val="C98A2E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4813402" y="3767328"/>
            <a:ext cx="80467" cy="502920"/>
          </a:xfrm>
          <a:prstGeom prst="rect">
            <a:avLst/>
          </a:prstGeom>
          <a:solidFill>
            <a:srgbClr val="C98A2E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4893869" y="3767328"/>
            <a:ext cx="80467" cy="502920"/>
          </a:xfrm>
          <a:prstGeom prst="rect">
            <a:avLst/>
          </a:prstGeom>
          <a:solidFill>
            <a:srgbClr val="C98A2E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4974336" y="3767328"/>
            <a:ext cx="80467" cy="502920"/>
          </a:xfrm>
          <a:prstGeom prst="rect">
            <a:avLst/>
          </a:prstGeom>
          <a:solidFill>
            <a:srgbClr val="C98A2E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5054803" y="3767328"/>
            <a:ext cx="80467" cy="502920"/>
          </a:xfrm>
          <a:prstGeom prst="rect">
            <a:avLst/>
          </a:prstGeom>
          <a:solidFill>
            <a:srgbClr val="C98A2E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5135270" y="37673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5215738" y="37673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5296205" y="37673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5376672" y="37673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5457139" y="37673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5537606" y="37673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5618074" y="37673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5698541" y="37673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5779008" y="37673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5859475" y="37673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5939942" y="37673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020410" y="37673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100877" y="37673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6181344" y="37673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6261811" y="37673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6342278" y="37673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6422746" y="37673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6503213" y="37673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6583680" y="37673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6664147" y="37673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6744614" y="37673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6825082" y="37673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6905549" y="37673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6986016" y="37673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066483" y="37673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7146950" y="37673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7227418" y="37673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307885" y="37673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388352" y="37673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468819" y="37673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549286" y="37673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629754" y="37673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710221" y="37673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790688" y="37673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871155" y="37673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951622" y="37673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032090" y="37673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112557" y="37673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193024" y="37673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273491" y="37673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353958" y="37673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434426" y="37673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8514893" y="3767328"/>
            <a:ext cx="80467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AAAAAA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548640" y="3767328"/>
            <a:ext cx="8046720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1B2A4A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Diagram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3192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51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</a:rPr>
              <a:t>0.60 = 60 hundredths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463040" y="155448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55448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155448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155448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4560" y="155448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155448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0" y="155448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0" y="155448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26080" y="155448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08960" y="155448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63040" y="1737360"/>
            <a:ext cx="1828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63040" y="173736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0" y="173736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0" y="173736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11680" y="173736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94560" y="173736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0" y="173736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0" y="173736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0" y="173736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26080" y="173736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08960" y="173736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63040" y="1920240"/>
            <a:ext cx="1828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463040" y="192024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45920" y="192024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28800" y="192024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11680" y="192024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194560" y="192024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77440" y="192024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60320" y="192024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0" y="192024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192024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108960" y="192024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63040" y="2103120"/>
            <a:ext cx="1828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63040" y="210312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645920" y="210312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828800" y="210312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011680" y="210312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194560" y="210312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377440" y="210312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560320" y="210312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43200" y="210312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926080" y="210312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108960" y="210312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463040" y="2286000"/>
            <a:ext cx="1828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463040" y="228600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645920" y="228600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828800" y="228600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011680" y="228600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194560" y="228600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377440" y="228600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560320" y="228600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743200" y="228600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926080" y="228600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108960" y="228600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463040" y="2468880"/>
            <a:ext cx="1828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463040" y="246888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645920" y="246888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828800" y="246888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011680" y="246888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194560" y="246888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77440" y="246888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560320" y="246888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743200" y="246888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926080" y="246888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108960" y="2468880"/>
            <a:ext cx="182880" cy="182880"/>
          </a:xfrm>
          <a:prstGeom prst="rect">
            <a:avLst/>
          </a:prstGeom>
          <a:solidFill>
            <a:srgbClr val="0E7C7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463040" y="2651760"/>
            <a:ext cx="1828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463040" y="26517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645920" y="26517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828800" y="26517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011680" y="26517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194560" y="26517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377440" y="26517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560320" y="26517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743200" y="26517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926080" y="26517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108960" y="26517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463040" y="2834640"/>
            <a:ext cx="1828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463040" y="28346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645920" y="28346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828800" y="28346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011680" y="28346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194560" y="28346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377440" y="28346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560320" y="28346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743200" y="28346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926080" y="28346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108960" y="28346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463040" y="3017520"/>
            <a:ext cx="1828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463040" y="30175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645920" y="30175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828800" y="30175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011680" y="30175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194560" y="30175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377440" y="30175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560320" y="30175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0" y="30175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926080" y="30175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108960" y="30175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463040" y="3200400"/>
            <a:ext cx="1828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463040" y="32004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645920" y="32004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828800" y="32004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011680" y="32004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194560" y="32004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2377440" y="32004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2560320" y="32004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743200" y="32004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926080" y="32004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108960" y="32004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463040" y="3383280"/>
            <a:ext cx="1828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463040" y="1554480"/>
            <a:ext cx="182880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B2A4A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754880" y="960120"/>
            <a:ext cx="393192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4937760" y="1051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8A2E"/>
                </a:solidFill>
              </a:rPr>
              <a:t>0.57 = 57 hundredths</a:t>
            </a:r>
            <a:endParaRPr lang="en-US" sz="1300" dirty="0"/>
          </a:p>
        </p:txBody>
      </p:sp>
      <p:sp>
        <p:nvSpPr>
          <p:cNvPr id="121" name="Shape 119"/>
          <p:cNvSpPr/>
          <p:nvPr/>
        </p:nvSpPr>
        <p:spPr>
          <a:xfrm>
            <a:off x="5760720" y="155448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943600" y="155448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126480" y="155448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309360" y="155448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492240" y="155448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675120" y="155448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858000" y="155448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7040880" y="155448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7223760" y="155448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7406640" y="155448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760720" y="1737360"/>
            <a:ext cx="1828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760720" y="173736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5943600" y="173736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126480" y="173736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309360" y="173736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492240" y="173736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675120" y="173736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858000" y="173736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7040880" y="173736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7223760" y="173736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7406640" y="173736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760720" y="1920240"/>
            <a:ext cx="1828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760720" y="192024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943600" y="192024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6126480" y="192024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6309360" y="192024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6492240" y="192024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6675120" y="192024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858000" y="192024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7040880" y="192024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223760" y="192024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406640" y="192024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760720" y="2103120"/>
            <a:ext cx="1828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760720" y="210312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943600" y="210312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6126480" y="210312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6309360" y="210312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492240" y="210312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675120" y="210312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858000" y="210312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7040880" y="210312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7223760" y="210312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7406640" y="210312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760720" y="2286000"/>
            <a:ext cx="1828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760720" y="228600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943600" y="228600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126480" y="228600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309360" y="228600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492240" y="228600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675120" y="228600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858000" y="228600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7040880" y="228600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7223760" y="228600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7406640" y="228600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5760720" y="2468880"/>
            <a:ext cx="1828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5760720" y="246888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5943600" y="246888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126480" y="246888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309360" y="246888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492240" y="246888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675120" y="246888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858000" y="2468880"/>
            <a:ext cx="182880" cy="182880"/>
          </a:xfrm>
          <a:prstGeom prst="rect">
            <a:avLst/>
          </a:prstGeom>
          <a:solidFill>
            <a:srgbClr val="C98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040880" y="246888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223760" y="246888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406640" y="246888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5760720" y="2651760"/>
            <a:ext cx="1828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5760720" y="26517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5943600" y="26517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126480" y="26517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309360" y="26517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492240" y="26517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675120" y="26517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858000" y="26517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040880" y="26517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223760" y="26517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406640" y="265176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5760720" y="2834640"/>
            <a:ext cx="1828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5760720" y="28346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5943600" y="28346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6126480" y="28346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6309360" y="28346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6492240" y="28346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6675120" y="28346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6858000" y="28346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040880" y="28346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7223760" y="28346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7406640" y="283464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5760720" y="3017520"/>
            <a:ext cx="1828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5760720" y="30175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5943600" y="30175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6126480" y="30175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6309360" y="30175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6492240" y="30175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6675120" y="30175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6858000" y="30175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040880" y="30175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223760" y="30175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7406640" y="301752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5760720" y="3200400"/>
            <a:ext cx="1828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5760720" y="32004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5943600" y="32004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6126480" y="32004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6309360" y="32004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6492240" y="32004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6675120" y="32004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6858000" y="32004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7040880" y="32004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7223760" y="32004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7406640" y="3200400"/>
            <a:ext cx="1828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5760720" y="3383280"/>
            <a:ext cx="1828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5760720" y="1554480"/>
            <a:ext cx="182880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B2A4A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371600" y="457200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33" name="Text 231"/>
          <p:cNvSpPr/>
          <p:nvPr/>
        </p:nvSpPr>
        <p:spPr>
          <a:xfrm>
            <a:off x="1371600" y="457200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grid has more shaded squares?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Rule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BFE8E3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7160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Decimals are easiest to compare when the pieces are the same size. You can write 0.6 as 0.60 without changing its value, then compare 60 hundredths and 57 hundredths.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554480" y="3429000"/>
            <a:ext cx="603504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3429000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0.6 ___ 0.57 (use &gt;, &lt;, or =)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Key Terms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77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decide which value is greater, less, or equal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 0.6 compared to 0.57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3977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equivalent decimals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1417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decimals that look different but name the same value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 0.6 and 0.60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3977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subdivide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31089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split pieces into smaller equal pieces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657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 tenths split into hundredths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651760"/>
            <a:ext cx="3977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46320" y="31089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a value used to help judge size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657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 comparing to 0.5 or 1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WATCH &amp; FOLLOW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</a:rPr>
              <a:t>Compare 2.305 and 2.35.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4069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554480"/>
            <a:ext cx="347472" cy="3474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54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5544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</a:rPr>
              <a:t>Match the ones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0120" y="190195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numbers have 2 ones -- move on to the decimal part.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463040"/>
            <a:ext cx="4069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554480"/>
            <a:ext cx="347472" cy="3474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554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57800" y="15544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</a:rPr>
              <a:t>Match to thousandths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257800" y="190195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2.35 is the same as 2.350. Now both have 3 decimal digits.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880360"/>
            <a:ext cx="4069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971800"/>
            <a:ext cx="347472" cy="3474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971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29718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</a:rPr>
              <a:t>Compare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60120" y="331927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305 thousandths vs. 350 thousandths -- 350 is greater.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2880360"/>
            <a:ext cx="4069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2971800"/>
            <a:ext cx="347472" cy="3474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971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57800" y="29718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</a:rPr>
              <a:t>Answer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257800" y="331927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2.35 &gt; 2.305.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Symbols &amp; Ordering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97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0.72 ___ 0.720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7C7B"/>
                </a:solidFill>
              </a:rPr>
              <a:t>Answer: = (same amount, extra trailing zero)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097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3.059 ___ 3.06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937760" y="16002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7C7B"/>
                </a:solidFill>
              </a:rPr>
              <a:t>Answer: &lt; (3.060 has more hundredths than 3.059)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82296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697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</a:rPr>
              <a:t>Order from least to greatest: 4.5, 4.052, 4.502, 4.205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108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Rewrite to thousandths: 4.500, 4.052, 4.502, 4.205.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5204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Order: 4.052  &lt;  4.205  &lt;  4.5  &lt;  4.502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Students 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Your Turn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runners finished a race: Kai 12.08 seconds, Sophia 12.008 seconds, Leo 12.8 seconds. Order the times from fastest to slowest.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3832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TRY IT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188720" y="3886200"/>
            <a:ext cx="676656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3886200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the order, fastest to slowest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Where This Leads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BFE8E3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4592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Next, you will use a number line to round decimals to nearby benchmark values.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symbol makes this true?  0.3  ___  0.29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28600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&lt;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12064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&gt;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symbol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symbol makes this true?  0.3  ___  0.29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28600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&lt;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12064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&gt;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0.3 = 0.30 = 30 hundredths. 30 hundredths is greater than 29 hundredths, so 0.3 &gt; 0.29.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symbol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the strip didn't get longer when I split it into hundredths -- it just showed more detail in the same space.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test comparisons by rewriting both decimals with the same number of places before I look at the digits.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two matched grids stacked on top of each other so I can see exactly how many more squares one has shaded.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precise way to say it is: equivalent decimals name the same value with a different number of digits.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 thinks most like you today?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Finish the Independent Practice: comparing and ordering decimals.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Gather your Math Journal responses from today's lesson.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Preview tomorrow: rounding decimals on a number line.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5.09.03 Comparing Decimals — Teacher Slides</dc:title>
  <dc:subject>PptxGenJS Presentation</dc:subject>
  <dc:creator>PptxGenJS</dc:creator>
  <cp:lastModifiedBy>PptxGenJS</cp:lastModifiedBy>
  <cp:revision>1</cp:revision>
  <dcterms:created xsi:type="dcterms:W3CDTF">2026-09-24T15:37:49Z</dcterms:created>
  <dcterms:modified xsi:type="dcterms:W3CDTF">2026-09-24T15:37:49Z</dcterms:modified>
</cp:coreProperties>
</file>