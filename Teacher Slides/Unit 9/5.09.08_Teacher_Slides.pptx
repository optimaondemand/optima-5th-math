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(5-7 min). This string builds the doubling relationship students will use in today's Strategy Picker, using different numbers than the lesson's 4.5 x 20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 Talk (5-7 min). This string builds the doubling relationship students will use in today's Strategy Picker, using different numbers than the lesson's 4.5 x 20 example.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pattern: doubling a factor doubles the product. This is exactly the 'double then slide' mental strategy from today's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Name the pattern: doubling a factor doubles the product. This is exactly the 'double then slide' mental strategy from today's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(1 min)
Today: choosing a smart mental path for decimal calculations -- the capstone lesson for Unit 9.
Transition: "Let's look at today's goal."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 (1 min)
Read the I Can aloud. Emphasize: mental math is not a shortcut around understanding -- every step must keep the value the same.
Transition: "Let's compare two paths."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WARM-UP (3 min)
Surface prior thinking about breaking numbers apart.
Anticipated: 'the second one, because x2 then x10 is easier than x20 all at once'.
Transition: "Let's notice and wonder."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(2 min)
Ground mental math in an everyday scenario.
Anticipated: varied strategies.
Transition: "Let's notice and wonder about two paths."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NOTICE &amp; WONDER (2 min)
Give silent think time before chat.
Anticipated notice: 'they give the same answer'. Anticipated wonder: 'does breaking it apart always work?'
Transition: "Let's build the smart path."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CONCRETE (4 min)
Two physical actions in sequence: combining two equal bars (doubling), then sliding the result one place left (x10) -- the same slide mat from earlier in the unit, now used as a mental-math shortcut.
Common error: multiplying 4.5 by 2 correctly but forgetting the x10 slide afterward.
Transition: "Now let's try a different smart path."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PICTORIAL (3 min)
The two partial-product bars show the split visually before recombining -- same idea as breaking apart a rectangle's area.
Anticipated: 'the parts add back up to the original problem'.
Transition: "Let's name the rule."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ABSTRACT (2 min)
State the rule -- any strategy is valid as long as the value stays equal at every step.
Anticipated: 'double', 'break apart', 'slide'.
Transition: "Let's name today's key words."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VOCABULARY (2 min)
Read each term, pointing back to the Concrete and Pictorial slides.
Transition: "Let's work an example together."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(4 min)
Model choosing the friendliest factor pair before computing.
Common error: doubling correctly but sliding the wrong number of places for x100.
Transition: "Now let's try mental addition and subtraction."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GUIDED PRACTICE B (3 min) -- gap-fill: the IP tests mental addition and subtraction, which the HTML lesson's Strategy Picker centerpiece only demonstrates for multiplication. Walk through matching place values mentally for both operations.
Common error: forgetting to regroup the 10 tenths into 1 whole in the addition problem.
Transition: "Your turn."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TRY (3 min)
Students solve independently, then share in chat.
Anticipated: $9.25 (3 x $2.50 = $7.50, plus $1.75).
Common error: adding the pen price before multiplying, losing track of the order of steps.
Transition: "Where does this lead next?"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CONNECTION FORWARD (1 min)
Preview Unit 10 -- everything from this unit (place value, comparing, rounding, powers of 10) becomes the foundation for decimal operations.
Transition: "Let's check what you know."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QUESTION (give real think time before advancing; do not reveal yet)
This checks whether students can apply a compensation strategy, not just the standard algorithm.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EXIT CHECK -- REVEAL (advance only after students have responded in chat)
This checks whether students can apply a compensation strategy, not just the standard algorithm.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MATH CREW (~1-2 min)
Briefly read one or two cards — whichever matches where students are in their thinking.
Give real think time before calling on students to share which crew member's approach matches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DISMISSAL (1 min)
Confirm the IP assignment and celebrate finishing Unit 9 before logging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64592"/>
            <a:ext cx="2377440" cy="292608"/>
          </a:xfrm>
          <a:prstGeom prst="roundRect">
            <a:avLst>
              <a:gd name="adj" fmla="val 18750"/>
            </a:avLst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6459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2578608" y="164592"/>
            <a:ext cx="6126480" cy="292608"/>
          </a:xfrm>
          <a:prstGeom prst="roundRect">
            <a:avLst>
              <a:gd name="adj" fmla="val 18750"/>
            </a:avLst>
          </a:prstGeom>
          <a:solidFill>
            <a:srgbClr val="2A3B5A"/>
          </a:solidFill>
          <a:ln w="12700">
            <a:solidFill>
              <a:srgbClr val="2A3B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78608" y="164592"/>
            <a:ext cx="6126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  ·  5.09.08 · Mental Math Warm-Up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 x 2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8899BB"/>
                </a:solidFill>
              </a:rPr>
              <a:t>Solve the first problem. What strategy did you use?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 String Unfolds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Number String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96012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 x 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0" y="96012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01168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 x 4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10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137160" y="1920240"/>
            <a:ext cx="0" cy="137160"/>
          </a:xfrm>
          <a:prstGeom prst="line">
            <a:avLst/>
          </a:prstGeom>
          <a:noFill/>
          <a:ln w="2540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30632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632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 x 8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29200" y="3063240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20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" y="2971800"/>
            <a:ext cx="0" cy="137160"/>
          </a:xfrm>
          <a:prstGeom prst="line">
            <a:avLst/>
          </a:prstGeom>
          <a:noFill/>
          <a:ln w="25400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371600" y="4279392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79392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what changed each time?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The Pattern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8888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CCCFF"/>
                </a:solidFill>
              </a:rPr>
              <a:t>Each time the second factor doubles, the product ___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214884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Doubling one factor while keeping the other the same always doubles the product -- a shortcut for mental math.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2286000" y="4343400"/>
            <a:ext cx="45720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0" y="4343400"/>
            <a:ext cx="4572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word for the pattern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320040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000000">
              <a:alpha val="35000"/>
            </a:srgbClr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NUMBER STRING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FFFFF"/>
                </a:solidFill>
              </a:rPr>
              <a:t>Try the Next String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6350">
            <a:solidFill>
              <a:srgbClr val="55AA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554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x 2, then 1.5 x 4, then 1.5 x 8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828800" y="4343400"/>
            <a:ext cx="54864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4343400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4A3D8F"/>
          </a:solidFill>
          <a:ln w="12700">
            <a:solidFill>
              <a:srgbClr val="4A3D8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spc="200" kern="0" dirty="0">
                <a:solidFill>
                  <a:srgbClr val="FFFFFF"/>
                </a:solidFill>
              </a:rPr>
              <a:t>Optima Academy Online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00" kern="0" dirty="0">
                <a:solidFill>
                  <a:srgbClr val="D9941A"/>
                </a:solidFill>
              </a:rPr>
              <a:t>5.09.08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Mental Calculations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AACC"/>
                </a:solidFill>
              </a:rPr>
              <a:t>Unit 9: Decimals · Lesson 8 of 8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00" kern="0" dirty="0">
                <a:solidFill>
                  <a:srgbClr val="FFFFFF"/>
                </a:solidFill>
              </a:rPr>
              <a:t>MA.5.NSO.2.3   ·   TEKS 5.3.K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CCCEE"/>
                </a:solidFill>
              </a:rPr>
              <a:t>Teacher Slides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Today's Goal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Learning Objective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78992"/>
            <a:ext cx="7772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A3D8F"/>
                </a:solidFill>
              </a:rPr>
              <a:t>I can...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6304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can choose a mental strategy and explain why each step keeps the value equal.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8346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A5A7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can choosing a smart path make decimal calculations easier?”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Warm-Up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Readiness Check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280160"/>
            <a:ext cx="7772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seems easier: 4.5 x 20 or 4.5 x 2 x 10? Why?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88720" y="3291840"/>
            <a:ext cx="67665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329184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path you'd pick, and why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Hook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Real-World Context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1463040"/>
          </a:xfrm>
          <a:prstGeom prst="roundRect">
            <a:avLst>
              <a:gd name="adj" fmla="val 6250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430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You're splitting a $6.99 bill five ways in your head at the register -- no calculator, no paper.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0E7C7B"/>
                </a:solidFill>
              </a:rPr>
              <a:t>How can choosing a smart path make decimal calculations easier?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188720" y="3931920"/>
            <a:ext cx="67665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93192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mental trick you already use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Notice &amp; Wonder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Mental Math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5156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seems easier: 4.5 x 20 or 4.5 x 2 x 10?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3D8F"/>
                </a:solidFill>
              </a:rPr>
              <a:t>I notice...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3154680"/>
            <a:ext cx="3931920" cy="1508760"/>
          </a:xfrm>
          <a:prstGeom prst="roundRect">
            <a:avLst>
              <a:gd name="adj" fmla="val 6061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32461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6E44"/>
                </a:solidFill>
              </a:rPr>
              <a:t>I wonder...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Concrete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Model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4.5 x 20 = 4.5 x 2 x 10 -- double first, then slide.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325880"/>
            <a:ext cx="37490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Step 1: Double it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66420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 + 4.5 = 9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846320" y="1325880"/>
            <a:ext cx="37490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371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7C7B"/>
                </a:solidFill>
              </a:rPr>
              <a:t>Two 4.5-unit bars combine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0" y="1664208"/>
            <a:ext cx="1645920" cy="256032"/>
          </a:xfrm>
          <a:prstGeom prst="rect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20840" y="1664208"/>
            <a:ext cx="1645920" cy="256032"/>
          </a:xfrm>
          <a:prstGeom prst="rect">
            <a:avLst/>
          </a:prstGeom>
          <a:solidFill>
            <a:srgbClr val="C98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Step 2: slide the 9 one place left (x10)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468880" y="2606040"/>
            <a:ext cx="140208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2606040"/>
            <a:ext cx="140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Hundreds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70960" y="2606040"/>
            <a:ext cx="140208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70960" y="2606040"/>
            <a:ext cx="140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73040" y="2606040"/>
            <a:ext cx="140208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73040" y="2606040"/>
            <a:ext cx="140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Ones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468880" y="2971800"/>
            <a:ext cx="140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70960" y="2971800"/>
            <a:ext cx="140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73040" y="2971800"/>
            <a:ext cx="140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73040" y="2971800"/>
            <a:ext cx="140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2468880" y="4041648"/>
            <a:ext cx="140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70960" y="4041648"/>
            <a:ext cx="140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70960" y="4041648"/>
            <a:ext cx="140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5273040" y="4041648"/>
            <a:ext cx="14020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73040" y="4041648"/>
            <a:ext cx="1402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4A3D8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1463040" y="297180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A5A7A"/>
                </a:solidFill>
              </a:rPr>
              <a:t>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63040" y="404164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5A5A7A"/>
                </a:solidFill>
              </a:rPr>
              <a:t>x 10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 flipV="1">
            <a:off x="4572000" y="3538728"/>
            <a:ext cx="1402080" cy="502920"/>
          </a:xfrm>
          <a:prstGeom prst="line">
            <a:avLst/>
          </a:prstGeom>
          <a:noFill/>
          <a:ln w="28575">
            <a:solidFill>
              <a:srgbClr val="D9941A"/>
            </a:solidFill>
            <a:prstDash val="solid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2468880" y="4700016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A7A"/>
                </a:solidFill>
              </a:rPr>
              <a:t>9 slides one place left to become 90.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Pictorial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Diagram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5A7A"/>
                </a:solidFill>
              </a:rPr>
              <a:t>4.25 x 4 -- break 4.25 into 4 + 0.25, multiply each part, then combine.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00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x 4 = 16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3108960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517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the whole-number part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146304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600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98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x 0.25 = 1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29200" y="2194560"/>
            <a:ext cx="777240" cy="365760"/>
          </a:xfrm>
          <a:prstGeom prst="rect">
            <a:avLst/>
          </a:prstGeom>
          <a:solidFill>
            <a:srgbClr val="C98A2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2651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the tenths-and-hundredths part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0" y="3977640"/>
            <a:ext cx="3657600" cy="502920"/>
          </a:xfrm>
          <a:prstGeom prst="roundRect">
            <a:avLst>
              <a:gd name="adj" fmla="val 18182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0" y="3977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5A5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+ 1 = 17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Abstract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CPA · Rule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7160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Efficient mental math uses number relationships you already know. A strategy is correct when every step keeps the value equal and leads to the same answer.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554480" y="3429000"/>
            <a:ext cx="603504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54480" y="3429000"/>
            <a:ext cx="6035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one strategy word from today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Vocabulary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Key Terms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mental math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solving a problem in your head using number relationships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4.5 x 2 x 10 instead of the standard algorithm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96012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46320" y="1417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a chosen path for solving a problem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9659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double then slide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break a number apart into friendlier pieces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4.25 = 4 + 0.25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2651760"/>
            <a:ext cx="39776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743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equivalent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46320" y="31089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</a:rPr>
              <a:t>having the same value, even when written differently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6576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5A7A"/>
                </a:solidFill>
              </a:rPr>
              <a:t>e.g. 4.5 x 20 = 4.5 x 2 x 10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WATCH &amp; FOLLOW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 x 200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1463040"/>
            <a:ext cx="4069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5448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5544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</a:rPr>
              <a:t>Think of 200 as 2 x 100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60120" y="190195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 = 2 x 100, a friendlier pair of factors.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463040"/>
            <a:ext cx="4069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155448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5544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57800" y="15544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</a:rPr>
              <a:t>Double 0.75 first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257800" y="190195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 + 0.75 = 1.5.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4069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97180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29718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</a:rPr>
              <a:t>Then multiply by 100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60120" y="331927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 x 100 slides the digits two places left: 150.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63440" y="2880360"/>
            <a:ext cx="40690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2971800"/>
            <a:ext cx="347472" cy="34747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9718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57800" y="29718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</a:rPr>
              <a:t>Answer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257800" y="3319272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0.75 x 200 = 150.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Guided Practice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Mental Add &amp; Subtract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 + 2.4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508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the tenths first: 6 tenths + 4 tenths = 10 tenths, which is a whole one.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194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ones + 2 ones + 1 whole = 6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2743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6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393192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515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8.05 − 3.05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50876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numbers have the same hundredths digit (05), so it cancels out.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1945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ones − 3 ones = 5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37760" y="2743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5</a:t>
            </a:r>
            <a:endParaRPr lang="en-US" sz="2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Students Try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Your Turn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0584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Atlas buys 3 notebooks at $2.50 each and a pen for $1.75. Use mental math to find the total cost.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320040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200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</a:rPr>
              <a:t>TRY IT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188720" y="3749040"/>
            <a:ext cx="676656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88720" y="3749040"/>
            <a:ext cx="6766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total AND your strategy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Connection Forward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Where This Leads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1828800"/>
          </a:xfrm>
          <a:prstGeom prst="roundRect">
            <a:avLst>
              <a:gd name="adj" fmla="val 5000"/>
            </a:avLst>
          </a:prstGeom>
          <a:solidFill>
            <a:srgbClr val="BFE8E3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7680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Unit 10, you will use decimal models to add, subtract, multiply, and divide decimals.</a:t>
            </a:r>
            <a:endParaRPr lang="en-US" sz="1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mental math: 6.99 x 5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34.95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35.95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34.05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349.5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Exit Check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Mastery · 3 min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76809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051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mental math: 6.99 x 5 = 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E6E44"/>
          </a:solidFill>
          <a:ln w="12700">
            <a:solidFill>
              <a:srgbClr val="2E6E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34.95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83464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35.95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34.05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675120" y="210312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21031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A1A2E"/>
                </a:solidFill>
              </a:rPr>
              <a:t>349.5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14400" y="4773168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5A7A"/>
                </a:solidFill>
              </a:rPr>
              <a:t>Think of 6.99 as 7 minus 0.01. 7 x 5 = 35, then subtract 0.01 x 5 = 0.05: 35 - 0.05 = 34.95.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371600" y="4206240"/>
            <a:ext cx="64008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71600" y="4206240"/>
            <a:ext cx="6400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your answer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Math Crew — What Do They Think?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Student Perspectives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860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3D8F"/>
                </a:solidFill>
              </a:rPr>
              <a:t>Atlas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pattern-spotter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noticed both paths for 4.5 x 20 land on the exact same answer -- breaking a number apart never changes the value, only the steps.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E6F2EA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0058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6E44"/>
                </a:solidFill>
              </a:rPr>
              <a:t>Felix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method-tester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846320" y="1572768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645920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test a mental strategy by redoing it with the standard algorithm afterward to make sure both give the same result.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6E4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941A"/>
                </a:solidFill>
              </a:rPr>
              <a:t>Hazel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visual thinker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I picture the number splitting into two friendlier pieces, like snapping a stick, and then the pieces getting put back together at the end.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09160" y="2578608"/>
            <a:ext cx="4160520" cy="1554480"/>
          </a:xfrm>
          <a:prstGeom prst="roundRect">
            <a:avLst>
              <a:gd name="adj" fmla="val 5882"/>
            </a:avLst>
          </a:prstGeom>
          <a:solidFill>
            <a:srgbClr val="FEF0E6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26700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818"/>
                </a:solidFill>
              </a:rPr>
              <a:t>Cora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46320" y="2990088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A5A7A"/>
                </a:solidFill>
              </a:rPr>
              <a:t>precise explainer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3236976"/>
            <a:ext cx="38862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3310128"/>
            <a:ext cx="3886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</a:rPr>
              <a:t>The precise way to say it is: a mental strategy is valid whenever every step preserves the original value.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14400" y="4315968"/>
            <a:ext cx="7315200" cy="438912"/>
          </a:xfrm>
          <a:prstGeom prst="roundRect">
            <a:avLst>
              <a:gd name="adj" fmla="val 12500"/>
            </a:avLst>
          </a:prstGeom>
          <a:solidFill>
            <a:srgbClr val="464EB8"/>
          </a:solidFill>
          <a:ln w="12700">
            <a:solidFill>
              <a:srgbClr val="464E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315968"/>
            <a:ext cx="7315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Chat: which crew member thinks most like you today?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Before Next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132320" y="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Dismissal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777240"/>
            <a:ext cx="9144000" cy="4366260"/>
          </a:xfrm>
          <a:prstGeom prst="rect">
            <a:avLst/>
          </a:prstGeom>
          <a:solidFill>
            <a:srgbClr val="F5F5F8"/>
          </a:solidFill>
          <a:ln w="12700">
            <a:solidFill>
              <a:srgbClr val="F5F5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960120"/>
            <a:ext cx="8229600" cy="960120"/>
          </a:xfrm>
          <a:prstGeom prst="roundRect">
            <a:avLst>
              <a:gd name="adj" fmla="val 9524"/>
            </a:avLst>
          </a:prstGeom>
          <a:solidFill>
            <a:srgbClr val="EAE8F5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02412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3D8F"/>
                </a:solidFill>
              </a:rPr>
              <a:t>Complete before your next class: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103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1.  Finish the Independent Practice: mental strategies for decimal calculations.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971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2.  Gather your Math Journal responses from today's lesson.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3794760"/>
            <a:ext cx="822960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DDDD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8404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</a:rPr>
              <a:t>3.  Great work finishing Unit 9: Decimals -- Unit 10 builds on everything you learned this week.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5.09.08 Mental Calculations — Teacher Slides</dc:title>
  <dc:subject>PptxGenJS Presentation</dc:subject>
  <dc:creator>PptxGenJS</dc:creator>
  <cp:lastModifiedBy>PptxGenJS</cp:lastModifiedBy>
  <cp:revision>1</cp:revision>
  <dcterms:created xsi:type="dcterms:W3CDTF">2026-09-24T15:48:05Z</dcterms:created>
  <dcterms:modified xsi:type="dcterms:W3CDTF">2026-09-24T15:48:05Z</dcterms:modified>
</cp:coreProperties>
</file>